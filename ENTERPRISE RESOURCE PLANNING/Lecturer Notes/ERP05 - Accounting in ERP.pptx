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fntdata" ContentType="application/x-fontdata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311" r:id="rId6"/>
    <p:sldId id="260" r:id="rId7"/>
    <p:sldId id="261" r:id="rId8"/>
    <p:sldId id="262" r:id="rId9"/>
    <p:sldId id="263" r:id="rId10"/>
    <p:sldId id="310" r:id="rId11"/>
    <p:sldId id="264" r:id="rId12"/>
    <p:sldId id="265" r:id="rId13"/>
    <p:sldId id="309" r:id="rId14"/>
    <p:sldId id="266" r:id="rId15"/>
    <p:sldId id="307" r:id="rId16"/>
    <p:sldId id="267" r:id="rId17"/>
    <p:sldId id="268" r:id="rId18"/>
    <p:sldId id="269" r:id="rId19"/>
    <p:sldId id="270" r:id="rId20"/>
    <p:sldId id="271" r:id="rId21"/>
    <p:sldId id="308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12" r:id="rId56"/>
  </p:sldIdLst>
  <p:sldSz cx="9753600" cy="7315200"/>
  <p:notesSz cx="6858000" cy="9144000"/>
  <p:embeddedFontLst>
    <p:embeddedFont>
      <p:font typeface="Bahnschrift" panose="020B0502040204020203" pitchFamily="34" charset="0"/>
      <p:regular r:id="rId57"/>
      <p:bold r:id="rId5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53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65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F32C9A-4F2B-4BBA-98B1-A0F0B5893A04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MY"/>
        </a:p>
      </dgm:t>
    </dgm:pt>
    <dgm:pt modelId="{0C686CCC-466D-445B-AA9A-45399106D8DC}">
      <dgm:prSet phldrT="[Text]"/>
      <dgm:spPr/>
      <dgm:t>
        <a:bodyPr/>
        <a:lstStyle/>
        <a:p>
          <a:r>
            <a:rPr lang="en-MY" dirty="0"/>
            <a:t>Inconsistent Record Keeping</a:t>
          </a:r>
        </a:p>
      </dgm:t>
    </dgm:pt>
    <dgm:pt modelId="{7708BA38-80A2-4774-B09C-FA32189C0FE3}" type="parTrans" cxnId="{3D873DAA-EBEE-4F81-A86A-0CF4EE5D1042}">
      <dgm:prSet/>
      <dgm:spPr/>
      <dgm:t>
        <a:bodyPr/>
        <a:lstStyle/>
        <a:p>
          <a:endParaRPr lang="en-MY"/>
        </a:p>
      </dgm:t>
    </dgm:pt>
    <dgm:pt modelId="{0B947EC8-3DEC-4031-BD3B-E126B1E93654}" type="sibTrans" cxnId="{3D873DAA-EBEE-4F81-A86A-0CF4EE5D1042}">
      <dgm:prSet/>
      <dgm:spPr/>
      <dgm:t>
        <a:bodyPr/>
        <a:lstStyle/>
        <a:p>
          <a:endParaRPr lang="en-MY"/>
        </a:p>
      </dgm:t>
    </dgm:pt>
    <dgm:pt modelId="{96D44906-212C-45F9-8369-301FE22C5B84}">
      <dgm:prSet phldrT="[Text]" custT="1"/>
      <dgm:spPr/>
      <dgm:t>
        <a:bodyPr/>
        <a:lstStyle/>
        <a:p>
          <a:r>
            <a:rPr lang="en-US" sz="1800" dirty="0"/>
            <a:t>Different departments record data separately, leading to errors in profit calculations.</a:t>
          </a:r>
          <a:endParaRPr lang="en-MY" sz="1800" dirty="0"/>
        </a:p>
      </dgm:t>
    </dgm:pt>
    <dgm:pt modelId="{87C614CA-9BE0-4570-8424-1A98BC8AC67B}" type="parTrans" cxnId="{5D4DD9D4-DD6A-4CF0-B73A-5D66F89CDAF2}">
      <dgm:prSet/>
      <dgm:spPr/>
      <dgm:t>
        <a:bodyPr/>
        <a:lstStyle/>
        <a:p>
          <a:endParaRPr lang="en-MY"/>
        </a:p>
      </dgm:t>
    </dgm:pt>
    <dgm:pt modelId="{7FC11ECE-5F15-4948-878F-E34AE812234F}" type="sibTrans" cxnId="{5D4DD9D4-DD6A-4CF0-B73A-5D66F89CDAF2}">
      <dgm:prSet/>
      <dgm:spPr/>
      <dgm:t>
        <a:bodyPr/>
        <a:lstStyle/>
        <a:p>
          <a:endParaRPr lang="en-MY"/>
        </a:p>
      </dgm:t>
    </dgm:pt>
    <dgm:pt modelId="{82766B81-F698-432A-B2B9-49703EDA1412}">
      <dgm:prSet phldrT="[Text]" custT="1"/>
      <dgm:spPr/>
      <dgm:t>
        <a:bodyPr/>
        <a:lstStyle/>
        <a:p>
          <a:r>
            <a:rPr lang="en-US" sz="2000" dirty="0"/>
            <a:t>Outdated or mismatched inventory data results in inaccurate cost and profit figures.</a:t>
          </a:r>
          <a:endParaRPr lang="en-MY" sz="2000" dirty="0"/>
        </a:p>
      </dgm:t>
    </dgm:pt>
    <dgm:pt modelId="{FF62A349-E88A-42CB-AD8A-B0F7D941A485}" type="parTrans" cxnId="{921884E2-40CF-4C72-9BE1-BCC2EA0CBA85}">
      <dgm:prSet/>
      <dgm:spPr/>
      <dgm:t>
        <a:bodyPr/>
        <a:lstStyle/>
        <a:p>
          <a:endParaRPr lang="en-MY"/>
        </a:p>
      </dgm:t>
    </dgm:pt>
    <dgm:pt modelId="{03CA6353-9964-4602-A697-C382C193ACE9}" type="sibTrans" cxnId="{921884E2-40CF-4C72-9BE1-BCC2EA0CBA85}">
      <dgm:prSet/>
      <dgm:spPr/>
      <dgm:t>
        <a:bodyPr/>
        <a:lstStyle/>
        <a:p>
          <a:endParaRPr lang="en-MY"/>
        </a:p>
      </dgm:t>
    </dgm:pt>
    <dgm:pt modelId="{6870765A-A12E-48D4-AC96-999066606BCC}">
      <dgm:prSet phldrT="[Text]"/>
      <dgm:spPr/>
      <dgm:t>
        <a:bodyPr/>
        <a:lstStyle/>
        <a:p>
          <a:r>
            <a:rPr lang="en-MY" dirty="0"/>
            <a:t>Problems Consolidating Data from Subsidiaries</a:t>
          </a:r>
        </a:p>
      </dgm:t>
    </dgm:pt>
    <dgm:pt modelId="{0801A7B3-8E4A-49A3-8896-7BFC903F0A54}" type="parTrans" cxnId="{68D5D547-B2B3-482C-BA41-FD38CC6DB623}">
      <dgm:prSet/>
      <dgm:spPr/>
      <dgm:t>
        <a:bodyPr/>
        <a:lstStyle/>
        <a:p>
          <a:endParaRPr lang="en-MY"/>
        </a:p>
      </dgm:t>
    </dgm:pt>
    <dgm:pt modelId="{C358E199-D571-4DB1-9A07-D61B47868B7C}" type="sibTrans" cxnId="{68D5D547-B2B3-482C-BA41-FD38CC6DB623}">
      <dgm:prSet/>
      <dgm:spPr/>
      <dgm:t>
        <a:bodyPr/>
        <a:lstStyle/>
        <a:p>
          <a:endParaRPr lang="en-MY"/>
        </a:p>
      </dgm:t>
    </dgm:pt>
    <dgm:pt modelId="{998BAF86-A282-49DD-80EB-3771C9020B0A}">
      <dgm:prSet phldrT="[Text]"/>
      <dgm:spPr/>
      <dgm:t>
        <a:bodyPr/>
        <a:lstStyle/>
        <a:p>
          <a:r>
            <a:rPr lang="en-MY" dirty="0"/>
            <a:t>Incorrect Inventory Costing</a:t>
          </a:r>
        </a:p>
      </dgm:t>
    </dgm:pt>
    <dgm:pt modelId="{E1AD1744-2F66-4E95-853C-605874C4F537}" type="sibTrans" cxnId="{99368852-05CB-4FB1-87B1-19402563B3B1}">
      <dgm:prSet/>
      <dgm:spPr/>
      <dgm:t>
        <a:bodyPr/>
        <a:lstStyle/>
        <a:p>
          <a:endParaRPr lang="en-MY"/>
        </a:p>
      </dgm:t>
    </dgm:pt>
    <dgm:pt modelId="{F0C3B7FA-B3FF-4E7D-B736-DEBFDACD9DD2}" type="parTrans" cxnId="{99368852-05CB-4FB1-87B1-19402563B3B1}">
      <dgm:prSet/>
      <dgm:spPr/>
      <dgm:t>
        <a:bodyPr/>
        <a:lstStyle/>
        <a:p>
          <a:endParaRPr lang="en-MY"/>
        </a:p>
      </dgm:t>
    </dgm:pt>
    <dgm:pt modelId="{E1285C05-1147-4169-943C-8101EA094467}" type="pres">
      <dgm:prSet presAssocID="{BFF32C9A-4F2B-4BBA-98B1-A0F0B5893A04}" presName="linear" presStyleCnt="0">
        <dgm:presLayoutVars>
          <dgm:animLvl val="lvl"/>
          <dgm:resizeHandles val="exact"/>
        </dgm:presLayoutVars>
      </dgm:prSet>
      <dgm:spPr/>
    </dgm:pt>
    <dgm:pt modelId="{42474EA3-C2C5-416A-B20D-C828FDB5E953}" type="pres">
      <dgm:prSet presAssocID="{0C686CCC-466D-445B-AA9A-45399106D8D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AFA965D-925E-4AEB-96B9-6AC506528684}" type="pres">
      <dgm:prSet presAssocID="{0C686CCC-466D-445B-AA9A-45399106D8DC}" presName="childText" presStyleLbl="revTx" presStyleIdx="0" presStyleCnt="2">
        <dgm:presLayoutVars>
          <dgm:bulletEnabled val="1"/>
        </dgm:presLayoutVars>
      </dgm:prSet>
      <dgm:spPr/>
    </dgm:pt>
    <dgm:pt modelId="{C49AF8BB-CC52-4EE1-91F5-1DA918C11BEB}" type="pres">
      <dgm:prSet presAssocID="{998BAF86-A282-49DD-80EB-3771C9020B0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D09231A-D041-4CD4-A1C4-DFC0D9A0EFF8}" type="pres">
      <dgm:prSet presAssocID="{998BAF86-A282-49DD-80EB-3771C9020B0A}" presName="childText" presStyleLbl="revTx" presStyleIdx="1" presStyleCnt="2">
        <dgm:presLayoutVars>
          <dgm:bulletEnabled val="1"/>
        </dgm:presLayoutVars>
      </dgm:prSet>
      <dgm:spPr/>
    </dgm:pt>
    <dgm:pt modelId="{0D5C9033-C5B4-494A-8321-794744D91C04}" type="pres">
      <dgm:prSet presAssocID="{6870765A-A12E-48D4-AC96-999066606BC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BE1890E-3E1C-47F1-A0C3-0DA0C661B3FC}" type="presOf" srcId="{0C686CCC-466D-445B-AA9A-45399106D8DC}" destId="{42474EA3-C2C5-416A-B20D-C828FDB5E953}" srcOrd="0" destOrd="0" presId="urn:microsoft.com/office/officeart/2005/8/layout/vList2"/>
    <dgm:cxn modelId="{68D5D547-B2B3-482C-BA41-FD38CC6DB623}" srcId="{BFF32C9A-4F2B-4BBA-98B1-A0F0B5893A04}" destId="{6870765A-A12E-48D4-AC96-999066606BCC}" srcOrd="2" destOrd="0" parTransId="{0801A7B3-8E4A-49A3-8896-7BFC903F0A54}" sibTransId="{C358E199-D571-4DB1-9A07-D61B47868B7C}"/>
    <dgm:cxn modelId="{99368852-05CB-4FB1-87B1-19402563B3B1}" srcId="{BFF32C9A-4F2B-4BBA-98B1-A0F0B5893A04}" destId="{998BAF86-A282-49DD-80EB-3771C9020B0A}" srcOrd="1" destOrd="0" parTransId="{F0C3B7FA-B3FF-4E7D-B736-DEBFDACD9DD2}" sibTransId="{E1AD1744-2F66-4E95-853C-605874C4F537}"/>
    <dgm:cxn modelId="{694E2C84-F2D9-46EE-A6EE-6AFC6D5F7891}" type="presOf" srcId="{6870765A-A12E-48D4-AC96-999066606BCC}" destId="{0D5C9033-C5B4-494A-8321-794744D91C04}" srcOrd="0" destOrd="0" presId="urn:microsoft.com/office/officeart/2005/8/layout/vList2"/>
    <dgm:cxn modelId="{5715E18C-004C-45D6-A087-C12FFB90251B}" type="presOf" srcId="{998BAF86-A282-49DD-80EB-3771C9020B0A}" destId="{C49AF8BB-CC52-4EE1-91F5-1DA918C11BEB}" srcOrd="0" destOrd="0" presId="urn:microsoft.com/office/officeart/2005/8/layout/vList2"/>
    <dgm:cxn modelId="{3D873DAA-EBEE-4F81-A86A-0CF4EE5D1042}" srcId="{BFF32C9A-4F2B-4BBA-98B1-A0F0B5893A04}" destId="{0C686CCC-466D-445B-AA9A-45399106D8DC}" srcOrd="0" destOrd="0" parTransId="{7708BA38-80A2-4774-B09C-FA32189C0FE3}" sibTransId="{0B947EC8-3DEC-4031-BD3B-E126B1E93654}"/>
    <dgm:cxn modelId="{1E8753AB-F295-4CE0-8081-3F8E84EC32C4}" type="presOf" srcId="{82766B81-F698-432A-B2B9-49703EDA1412}" destId="{8D09231A-D041-4CD4-A1C4-DFC0D9A0EFF8}" srcOrd="0" destOrd="0" presId="urn:microsoft.com/office/officeart/2005/8/layout/vList2"/>
    <dgm:cxn modelId="{5D4DD9D4-DD6A-4CF0-B73A-5D66F89CDAF2}" srcId="{0C686CCC-466D-445B-AA9A-45399106D8DC}" destId="{96D44906-212C-45F9-8369-301FE22C5B84}" srcOrd="0" destOrd="0" parTransId="{87C614CA-9BE0-4570-8424-1A98BC8AC67B}" sibTransId="{7FC11ECE-5F15-4948-878F-E34AE812234F}"/>
    <dgm:cxn modelId="{921884E2-40CF-4C72-9BE1-BCC2EA0CBA85}" srcId="{998BAF86-A282-49DD-80EB-3771C9020B0A}" destId="{82766B81-F698-432A-B2B9-49703EDA1412}" srcOrd="0" destOrd="0" parTransId="{FF62A349-E88A-42CB-AD8A-B0F7D941A485}" sibTransId="{03CA6353-9964-4602-A697-C382C193ACE9}"/>
    <dgm:cxn modelId="{0A468EF3-C100-44C3-A6B8-BF2CECB4E5AA}" type="presOf" srcId="{BFF32C9A-4F2B-4BBA-98B1-A0F0B5893A04}" destId="{E1285C05-1147-4169-943C-8101EA094467}" srcOrd="0" destOrd="0" presId="urn:microsoft.com/office/officeart/2005/8/layout/vList2"/>
    <dgm:cxn modelId="{AD0DBFF7-FD1A-46A0-8E5B-74C4875EDB43}" type="presOf" srcId="{96D44906-212C-45F9-8369-301FE22C5B84}" destId="{4AFA965D-925E-4AEB-96B9-6AC506528684}" srcOrd="0" destOrd="0" presId="urn:microsoft.com/office/officeart/2005/8/layout/vList2"/>
    <dgm:cxn modelId="{266DF919-5894-4CD9-AC34-56C810C7C1BE}" type="presParOf" srcId="{E1285C05-1147-4169-943C-8101EA094467}" destId="{42474EA3-C2C5-416A-B20D-C828FDB5E953}" srcOrd="0" destOrd="0" presId="urn:microsoft.com/office/officeart/2005/8/layout/vList2"/>
    <dgm:cxn modelId="{931D8327-CE0C-4C7D-B04F-D76370C6A904}" type="presParOf" srcId="{E1285C05-1147-4169-943C-8101EA094467}" destId="{4AFA965D-925E-4AEB-96B9-6AC506528684}" srcOrd="1" destOrd="0" presId="urn:microsoft.com/office/officeart/2005/8/layout/vList2"/>
    <dgm:cxn modelId="{219DA1B3-00C8-4DE6-9BE4-7AA35F88F8F3}" type="presParOf" srcId="{E1285C05-1147-4169-943C-8101EA094467}" destId="{C49AF8BB-CC52-4EE1-91F5-1DA918C11BEB}" srcOrd="2" destOrd="0" presId="urn:microsoft.com/office/officeart/2005/8/layout/vList2"/>
    <dgm:cxn modelId="{C6100B31-CDE8-4540-9CAB-ACECE6582047}" type="presParOf" srcId="{E1285C05-1147-4169-943C-8101EA094467}" destId="{8D09231A-D041-4CD4-A1C4-DFC0D9A0EFF8}" srcOrd="3" destOrd="0" presId="urn:microsoft.com/office/officeart/2005/8/layout/vList2"/>
    <dgm:cxn modelId="{FF609347-912E-4CAF-A497-E8F2DF7D9094}" type="presParOf" srcId="{E1285C05-1147-4169-943C-8101EA094467}" destId="{0D5C9033-C5B4-494A-8321-794744D91C0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474EA3-C2C5-416A-B20D-C828FDB5E953}">
      <dsp:nvSpPr>
        <dsp:cNvPr id="0" name=""/>
        <dsp:cNvSpPr/>
      </dsp:nvSpPr>
      <dsp:spPr>
        <a:xfrm>
          <a:off x="0" y="391035"/>
          <a:ext cx="8382000" cy="79150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300" kern="1200" dirty="0"/>
            <a:t>Inconsistent Record Keeping</a:t>
          </a:r>
        </a:p>
      </dsp:txBody>
      <dsp:txXfrm>
        <a:off x="38638" y="429673"/>
        <a:ext cx="8304724" cy="714229"/>
      </dsp:txXfrm>
    </dsp:sp>
    <dsp:sp modelId="{4AFA965D-925E-4AEB-96B9-6AC506528684}">
      <dsp:nvSpPr>
        <dsp:cNvPr id="0" name=""/>
        <dsp:cNvSpPr/>
      </dsp:nvSpPr>
      <dsp:spPr>
        <a:xfrm>
          <a:off x="0" y="1182540"/>
          <a:ext cx="8382000" cy="563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129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Different departments record data separately, leading to errors in profit calculations.</a:t>
          </a:r>
          <a:endParaRPr lang="en-MY" sz="1800" kern="1200" dirty="0"/>
        </a:p>
      </dsp:txBody>
      <dsp:txXfrm>
        <a:off x="0" y="1182540"/>
        <a:ext cx="8382000" cy="563557"/>
      </dsp:txXfrm>
    </dsp:sp>
    <dsp:sp modelId="{C49AF8BB-CC52-4EE1-91F5-1DA918C11BEB}">
      <dsp:nvSpPr>
        <dsp:cNvPr id="0" name=""/>
        <dsp:cNvSpPr/>
      </dsp:nvSpPr>
      <dsp:spPr>
        <a:xfrm>
          <a:off x="0" y="1746097"/>
          <a:ext cx="8382000" cy="791505"/>
        </a:xfrm>
        <a:prstGeom prst="round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300" kern="1200" dirty="0"/>
            <a:t>Incorrect Inventory Costing</a:t>
          </a:r>
        </a:p>
      </dsp:txBody>
      <dsp:txXfrm>
        <a:off x="38638" y="1784735"/>
        <a:ext cx="8304724" cy="714229"/>
      </dsp:txXfrm>
    </dsp:sp>
    <dsp:sp modelId="{8D09231A-D041-4CD4-A1C4-DFC0D9A0EFF8}">
      <dsp:nvSpPr>
        <dsp:cNvPr id="0" name=""/>
        <dsp:cNvSpPr/>
      </dsp:nvSpPr>
      <dsp:spPr>
        <a:xfrm>
          <a:off x="0" y="2537602"/>
          <a:ext cx="8382000" cy="614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129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Outdated or mismatched inventory data results in inaccurate cost and profit figures.</a:t>
          </a:r>
          <a:endParaRPr lang="en-MY" sz="2000" kern="1200" dirty="0"/>
        </a:p>
      </dsp:txBody>
      <dsp:txXfrm>
        <a:off x="0" y="2537602"/>
        <a:ext cx="8382000" cy="614790"/>
      </dsp:txXfrm>
    </dsp:sp>
    <dsp:sp modelId="{0D5C9033-C5B4-494A-8321-794744D91C04}">
      <dsp:nvSpPr>
        <dsp:cNvPr id="0" name=""/>
        <dsp:cNvSpPr/>
      </dsp:nvSpPr>
      <dsp:spPr>
        <a:xfrm>
          <a:off x="0" y="3152392"/>
          <a:ext cx="8382000" cy="791505"/>
        </a:xfrm>
        <a:prstGeom prst="round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300" kern="1200" dirty="0"/>
            <a:t>Problems Consolidating Data from Subsidiaries</a:t>
          </a:r>
        </a:p>
      </dsp:txBody>
      <dsp:txXfrm>
        <a:off x="38638" y="3191030"/>
        <a:ext cx="8304724" cy="7142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sv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 dirty="0">
              <a:highlight>
                <a:srgbClr val="FFFF00"/>
              </a:highlight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B62D14-09A2-4BE5-ACFE-53E79F2BC0ED}"/>
              </a:ext>
            </a:extLst>
          </p:cNvPr>
          <p:cNvCxnSpPr/>
          <p:nvPr/>
        </p:nvCxnSpPr>
        <p:spPr>
          <a:xfrm>
            <a:off x="1371600" y="1905000"/>
            <a:ext cx="29718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63D16E-E98B-7942-B7FF-BEB698548664}"/>
              </a:ext>
            </a:extLst>
          </p:cNvPr>
          <p:cNvCxnSpPr/>
          <p:nvPr/>
        </p:nvCxnSpPr>
        <p:spPr>
          <a:xfrm>
            <a:off x="1371600" y="3886200"/>
            <a:ext cx="32766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546061-4513-D436-B35F-01EAF84837B8}"/>
              </a:ext>
            </a:extLst>
          </p:cNvPr>
          <p:cNvCxnSpPr/>
          <p:nvPr/>
        </p:nvCxnSpPr>
        <p:spPr>
          <a:xfrm>
            <a:off x="1447800" y="5867400"/>
            <a:ext cx="22098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01D9C-BAC3-675A-1A8D-5DBBCFB48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641B1F-E762-807F-1C8C-38E30432ADC6}"/>
              </a:ext>
            </a:extLst>
          </p:cNvPr>
          <p:cNvSpPr/>
          <p:nvPr/>
        </p:nvSpPr>
        <p:spPr>
          <a:xfrm>
            <a:off x="0" y="0"/>
            <a:ext cx="9753600" cy="9906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638462"/>
            </a:stretch>
          </a:blipFill>
        </p:spPr>
        <p:txBody>
          <a:bodyPr/>
          <a:lstStyle/>
          <a:p>
            <a:endParaRPr lang="en-MY" dirty="0">
              <a:highlight>
                <a:srgbClr val="FFFF0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141D01-9F8A-4CE5-3F66-EDA57ACDF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990600"/>
            <a:ext cx="8526065" cy="628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326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50C0FD1-308C-EE60-2D9C-834300D12583}"/>
              </a:ext>
            </a:extLst>
          </p:cNvPr>
          <p:cNvCxnSpPr/>
          <p:nvPr/>
        </p:nvCxnSpPr>
        <p:spPr>
          <a:xfrm>
            <a:off x="1371600" y="1981200"/>
            <a:ext cx="21336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D0AC1F-D31D-2406-657B-6AD1875AA49A}"/>
              </a:ext>
            </a:extLst>
          </p:cNvPr>
          <p:cNvCxnSpPr/>
          <p:nvPr/>
        </p:nvCxnSpPr>
        <p:spPr>
          <a:xfrm>
            <a:off x="1371600" y="4267200"/>
            <a:ext cx="27432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87C532-5D06-CEEB-CA28-1B288647AD0F}"/>
              </a:ext>
            </a:extLst>
          </p:cNvPr>
          <p:cNvSpPr/>
          <p:nvPr/>
        </p:nvSpPr>
        <p:spPr>
          <a:xfrm>
            <a:off x="762000" y="1905000"/>
            <a:ext cx="8382000" cy="3810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98FDF3-E435-24E7-ED04-412FD3832F94}"/>
              </a:ext>
            </a:extLst>
          </p:cNvPr>
          <p:cNvSpPr/>
          <p:nvPr/>
        </p:nvSpPr>
        <p:spPr>
          <a:xfrm>
            <a:off x="762000" y="3467100"/>
            <a:ext cx="8382000" cy="723900"/>
          </a:xfrm>
          <a:prstGeom prst="rect">
            <a:avLst/>
          </a:prstGeom>
          <a:noFill/>
          <a:ln>
            <a:solidFill>
              <a:srgbClr val="00B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01B03-DB65-69CD-7222-051848F3B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DF4A815-1820-E4BA-EAC4-2654591BAB32}"/>
              </a:ext>
            </a:extLst>
          </p:cNvPr>
          <p:cNvSpPr/>
          <p:nvPr/>
        </p:nvSpPr>
        <p:spPr>
          <a:xfrm>
            <a:off x="0" y="0"/>
            <a:ext cx="9753600" cy="10668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" b="-585713"/>
            </a:stretch>
          </a:blipFill>
        </p:spPr>
        <p:txBody>
          <a:bodyPr/>
          <a:lstStyle/>
          <a:p>
            <a:endParaRPr lang="en-MY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750996-C9A3-C3C4-A17D-EDBC66915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6400"/>
            <a:ext cx="97536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454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95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55A82D1-E31F-B18D-76E5-D7D3C870F562}"/>
              </a:ext>
            </a:extLst>
          </p:cNvPr>
          <p:cNvCxnSpPr/>
          <p:nvPr/>
        </p:nvCxnSpPr>
        <p:spPr>
          <a:xfrm>
            <a:off x="1371600" y="3276600"/>
            <a:ext cx="396240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F2F78B-5D9F-395B-7F23-1A7FD2FF82AE}"/>
              </a:ext>
            </a:extLst>
          </p:cNvPr>
          <p:cNvCxnSpPr/>
          <p:nvPr/>
        </p:nvCxnSpPr>
        <p:spPr>
          <a:xfrm>
            <a:off x="1371600" y="4572000"/>
            <a:ext cx="396240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E5CEB8-E078-9EDD-8400-D1BABCED8F69}"/>
              </a:ext>
            </a:extLst>
          </p:cNvPr>
          <p:cNvCxnSpPr>
            <a:cxnSpLocks/>
          </p:cNvCxnSpPr>
          <p:nvPr/>
        </p:nvCxnSpPr>
        <p:spPr>
          <a:xfrm>
            <a:off x="1346886" y="5486400"/>
            <a:ext cx="3529914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7DBD47D-1705-E271-05DF-6E21590CE45D}"/>
              </a:ext>
            </a:extLst>
          </p:cNvPr>
          <p:cNvSpPr/>
          <p:nvPr/>
        </p:nvSpPr>
        <p:spPr>
          <a:xfrm>
            <a:off x="838200" y="2362200"/>
            <a:ext cx="2743200" cy="380990"/>
          </a:xfrm>
          <a:prstGeom prst="rect">
            <a:avLst/>
          </a:prstGeom>
          <a:noFill/>
          <a:ln w="38100"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248A76-1D12-67B6-2637-6E35AD7138E6}"/>
              </a:ext>
            </a:extLst>
          </p:cNvPr>
          <p:cNvSpPr/>
          <p:nvPr/>
        </p:nvSpPr>
        <p:spPr>
          <a:xfrm>
            <a:off x="838200" y="1143000"/>
            <a:ext cx="2286000" cy="381000"/>
          </a:xfrm>
          <a:prstGeom prst="rect">
            <a:avLst/>
          </a:prstGeom>
          <a:noFill/>
          <a:ln w="38100"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841B0-D27F-7B82-79E9-DD17525C3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92D1176-33AE-BB10-F52B-7800871200BD}"/>
              </a:ext>
            </a:extLst>
          </p:cNvPr>
          <p:cNvSpPr/>
          <p:nvPr/>
        </p:nvSpPr>
        <p:spPr>
          <a:xfrm>
            <a:off x="0" y="0"/>
            <a:ext cx="9753600" cy="6934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" b="-5494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B60D19-E863-795E-C0C3-3120E9AF3DCE}"/>
              </a:ext>
            </a:extLst>
          </p:cNvPr>
          <p:cNvSpPr/>
          <p:nvPr/>
        </p:nvSpPr>
        <p:spPr>
          <a:xfrm>
            <a:off x="838200" y="1143000"/>
            <a:ext cx="2286000" cy="381000"/>
          </a:xfrm>
          <a:prstGeom prst="rect">
            <a:avLst/>
          </a:prstGeom>
          <a:noFill/>
          <a:ln w="38100"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1788BFD-A35B-3F37-92D2-628DCD9EA3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3"/>
          <a:stretch>
            <a:fillRect/>
          </a:stretch>
        </p:blipFill>
        <p:spPr bwMode="auto">
          <a:xfrm>
            <a:off x="838200" y="1126524"/>
            <a:ext cx="8468497" cy="5815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3D65A21-A7C6-61E2-979B-1D328682E0C4}"/>
              </a:ext>
            </a:extLst>
          </p:cNvPr>
          <p:cNvCxnSpPr>
            <a:cxnSpLocks/>
          </p:cNvCxnSpPr>
          <p:nvPr/>
        </p:nvCxnSpPr>
        <p:spPr>
          <a:xfrm flipH="1">
            <a:off x="4572000" y="2514600"/>
            <a:ext cx="3124200" cy="838200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376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12954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64706"/>
            </a:stretch>
          </a:blipFill>
        </p:spPr>
        <p:txBody>
          <a:bodyPr/>
          <a:lstStyle/>
          <a:p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ED2792-F7A9-F19A-A160-6E30173C74E0}"/>
              </a:ext>
            </a:extLst>
          </p:cNvPr>
          <p:cNvSpPr/>
          <p:nvPr/>
        </p:nvSpPr>
        <p:spPr>
          <a:xfrm>
            <a:off x="152400" y="1447800"/>
            <a:ext cx="9448800" cy="518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</a:rPr>
              <a:t>Many companies let customers buy on </a:t>
            </a:r>
            <a:r>
              <a:rPr lang="en-US" sz="3600" dirty="0">
                <a:solidFill>
                  <a:srgbClr val="00B050"/>
                </a:solidFill>
              </a:rPr>
              <a:t>credit</a:t>
            </a:r>
            <a:r>
              <a:rPr lang="en-US" sz="3600" dirty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1"/>
                </a:solidFill>
              </a:rPr>
              <a:t>Good credit management helps: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1"/>
                </a:solidFill>
              </a:rPr>
              <a:t>Increase sales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1"/>
                </a:solidFill>
              </a:rPr>
              <a:t>(by giving credit to trusted customers).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1"/>
                </a:solidFill>
              </a:rPr>
              <a:t>Reduce risk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1"/>
                </a:solidFill>
              </a:rPr>
              <a:t>(by not giving credit to risky customers).</a:t>
            </a:r>
            <a:endParaRPr lang="en-MY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DCC3C-0525-737B-9B27-82DD92749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BBF1CD1-89B7-AD4D-866A-AD29B72E5837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557967-B0D7-B828-0610-946393622590}"/>
              </a:ext>
            </a:extLst>
          </p:cNvPr>
          <p:cNvSpPr/>
          <p:nvPr/>
        </p:nvSpPr>
        <p:spPr>
          <a:xfrm>
            <a:off x="914400" y="1295400"/>
            <a:ext cx="8458200" cy="838200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64915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60C415-710F-83D5-F372-01394500B6E5}"/>
              </a:ext>
            </a:extLst>
          </p:cNvPr>
          <p:cNvSpPr/>
          <p:nvPr/>
        </p:nvSpPr>
        <p:spPr>
          <a:xfrm>
            <a:off x="990600" y="1752600"/>
            <a:ext cx="8763000" cy="5029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Original Credit Management Process Flow at Fitter Snacker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Weekly Printout Preparation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Sales clerk receives a </a:t>
            </a:r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weekly printout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of: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Customer balances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Credit limits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Order Evaluation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When a new customer order comes in: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The sales clerk checks the printout to decide whether to approve credit.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Data Delay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The printout may be </a:t>
            </a:r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outdated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(up to a week old).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Sales data is only sent to accounting 3 times a week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, causing further delay.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Impact on Decisions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Because the data is </a:t>
            </a:r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not real-time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Orders </a:t>
            </a:r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may be wrongly accepted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(if customer has already exceeded credit).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Orders </a:t>
            </a:r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may be wrongly denied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(if recent payments are not shown yet).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944F3C-3DE4-E30D-1491-934A86FBDB4F}"/>
              </a:ext>
            </a:extLst>
          </p:cNvPr>
          <p:cNvSpPr/>
          <p:nvPr/>
        </p:nvSpPr>
        <p:spPr>
          <a:xfrm>
            <a:off x="980303" y="1752600"/>
            <a:ext cx="8763000" cy="5029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Weekly Printout Preparation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Sales clerk receives a </a:t>
            </a:r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weekly printout from Accounting Department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of: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Customer balances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Credit limits</a:t>
            </a:r>
          </a:p>
          <a:p>
            <a:pPr lvl="2"/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Order Evaluation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When a new customer order comes in: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The sales clerk checks the printout to decide whether to approve credit.</a:t>
            </a:r>
          </a:p>
          <a:p>
            <a:pPr lvl="2"/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Data Delay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The printout may be </a:t>
            </a:r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outdated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(up to a week old).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Sales data is only sent to accounting 3 times a week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, causing further delay.</a:t>
            </a:r>
          </a:p>
          <a:p>
            <a:pPr lvl="1"/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Impact on Decisions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Because the data is </a:t>
            </a:r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not real-time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Orders </a:t>
            </a:r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may be wrongly accepted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(if customer has already exceeded credit).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Orders </a:t>
            </a:r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may be wrongly denied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(if recent payments are not shown yet).</a:t>
            </a:r>
          </a:p>
        </p:txBody>
      </p:sp>
      <p:pic>
        <p:nvPicPr>
          <p:cNvPr id="5" name="Picture 2" descr="Check and cross icon. Right and wrong icon. Yes or no ...">
            <a:extLst>
              <a:ext uri="{FF2B5EF4-FFF2-40B4-BE49-F238E27FC236}">
                <a16:creationId xmlns:a16="http://schemas.microsoft.com/office/drawing/2014/main" id="{D42259C6-46B6-1783-16DE-69FD7E6E13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44" t="22675" r="52734" b="22647"/>
          <a:stretch>
            <a:fillRect/>
          </a:stretch>
        </p:blipFill>
        <p:spPr bwMode="auto">
          <a:xfrm>
            <a:off x="1494859" y="5898392"/>
            <a:ext cx="419100" cy="424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heck and cross icon. Right and wrong icon. Yes or no ...">
            <a:extLst>
              <a:ext uri="{FF2B5EF4-FFF2-40B4-BE49-F238E27FC236}">
                <a16:creationId xmlns:a16="http://schemas.microsoft.com/office/drawing/2014/main" id="{7E807A29-F775-CD0B-55E2-467EB5510A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44" t="24491" r="14843" b="23434"/>
          <a:stretch>
            <a:fillRect/>
          </a:stretch>
        </p:blipFill>
        <p:spPr bwMode="auto">
          <a:xfrm>
            <a:off x="1464379" y="6362700"/>
            <a:ext cx="48006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F4F8D28-21C4-DDBD-E733-A8C905111C1A}"/>
              </a:ext>
            </a:extLst>
          </p:cNvPr>
          <p:cNvCxnSpPr/>
          <p:nvPr/>
        </p:nvCxnSpPr>
        <p:spPr>
          <a:xfrm>
            <a:off x="3581400" y="1828800"/>
            <a:ext cx="42672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00F1034-D000-B903-7D31-F729660BB83C}"/>
              </a:ext>
            </a:extLst>
          </p:cNvPr>
          <p:cNvCxnSpPr/>
          <p:nvPr/>
        </p:nvCxnSpPr>
        <p:spPr>
          <a:xfrm>
            <a:off x="3886200" y="2590800"/>
            <a:ext cx="762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6D8DAB5-1DC1-2D18-8478-D0F2BABBC60E}"/>
              </a:ext>
            </a:extLst>
          </p:cNvPr>
          <p:cNvCxnSpPr/>
          <p:nvPr/>
        </p:nvCxnSpPr>
        <p:spPr>
          <a:xfrm>
            <a:off x="3886200" y="3048000"/>
            <a:ext cx="762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572CC0-F6F3-9A95-D345-80CF8BA7D7C8}"/>
              </a:ext>
            </a:extLst>
          </p:cNvPr>
          <p:cNvCxnSpPr/>
          <p:nvPr/>
        </p:nvCxnSpPr>
        <p:spPr>
          <a:xfrm>
            <a:off x="3886200" y="3810000"/>
            <a:ext cx="762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2CF125-E5D9-27B7-D0DD-C31F6C75930C}"/>
              </a:ext>
            </a:extLst>
          </p:cNvPr>
          <p:cNvCxnSpPr>
            <a:cxnSpLocks/>
          </p:cNvCxnSpPr>
          <p:nvPr/>
        </p:nvCxnSpPr>
        <p:spPr>
          <a:xfrm>
            <a:off x="6781800" y="5410200"/>
            <a:ext cx="16002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30EF2B-1FB6-B818-6E1F-791A7F808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942975"/>
            <a:ext cx="9525000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543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AF6FC-E3F2-2101-1AFD-C231EDA6047A}"/>
              </a:ext>
            </a:extLst>
          </p:cNvPr>
          <p:cNvSpPr/>
          <p:nvPr/>
        </p:nvSpPr>
        <p:spPr>
          <a:xfrm>
            <a:off x="1447800" y="3352800"/>
            <a:ext cx="7772400" cy="167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31CF77F-7AAD-6C21-B5F2-E81D6DB33A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5900594"/>
              </p:ext>
            </p:extLst>
          </p:nvPr>
        </p:nvGraphicFramePr>
        <p:xfrm>
          <a:off x="1143000" y="2996743"/>
          <a:ext cx="8382000" cy="4334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A55C56-9089-B9FB-F34C-F16BD27A14D5}"/>
              </a:ext>
            </a:extLst>
          </p:cNvPr>
          <p:cNvGrpSpPr/>
          <p:nvPr/>
        </p:nvGrpSpPr>
        <p:grpSpPr>
          <a:xfrm>
            <a:off x="8458200" y="6019800"/>
            <a:ext cx="1143000" cy="1143000"/>
            <a:chOff x="8458200" y="381000"/>
            <a:chExt cx="1143000" cy="1143000"/>
          </a:xfrm>
        </p:grpSpPr>
        <p:pic>
          <p:nvPicPr>
            <p:cNvPr id="2050" name="Picture 2" descr="Erp - Free communications icons">
              <a:extLst>
                <a:ext uri="{FF2B5EF4-FFF2-40B4-BE49-F238E27FC236}">
                  <a16:creationId xmlns:a16="http://schemas.microsoft.com/office/drawing/2014/main" id="{006BD40A-48D4-EB72-35F2-78953BDF90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8200" y="381000"/>
              <a:ext cx="11430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C614573-3D9E-22A1-B745-2E236F5EE796}"/>
                </a:ext>
              </a:extLst>
            </p:cNvPr>
            <p:cNvCxnSpPr>
              <a:cxnSpLocks/>
            </p:cNvCxnSpPr>
            <p:nvPr/>
          </p:nvCxnSpPr>
          <p:spPr>
            <a:xfrm>
              <a:off x="8458200" y="457200"/>
              <a:ext cx="990600" cy="838200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2832429-F9F4-4057-0191-06212A6C23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4400" y="467497"/>
              <a:ext cx="990600" cy="838200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Graphic 9" descr="Badge 1 with solid fill">
            <a:extLst>
              <a:ext uri="{FF2B5EF4-FFF2-40B4-BE49-F238E27FC236}">
                <a16:creationId xmlns:a16="http://schemas.microsoft.com/office/drawing/2014/main" id="{9C96C356-F2D9-3BBC-44B6-613BC52FC6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0" y="152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9BEC94A-67AB-BBE8-706E-14B2F0AECF22}"/>
              </a:ext>
            </a:extLst>
          </p:cNvPr>
          <p:cNvGrpSpPr/>
          <p:nvPr/>
        </p:nvGrpSpPr>
        <p:grpSpPr>
          <a:xfrm>
            <a:off x="8382000" y="5943600"/>
            <a:ext cx="1143000" cy="1143000"/>
            <a:chOff x="8458200" y="381000"/>
            <a:chExt cx="1143000" cy="1143000"/>
          </a:xfrm>
        </p:grpSpPr>
        <p:pic>
          <p:nvPicPr>
            <p:cNvPr id="4" name="Picture 2" descr="Erp - Free communications icons">
              <a:extLst>
                <a:ext uri="{FF2B5EF4-FFF2-40B4-BE49-F238E27FC236}">
                  <a16:creationId xmlns:a16="http://schemas.microsoft.com/office/drawing/2014/main" id="{388490AB-2E83-83E7-01FC-5420A9674D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8200" y="381000"/>
              <a:ext cx="11430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39E77AB-EB08-9856-3A5B-CCA93C11E5A9}"/>
                </a:ext>
              </a:extLst>
            </p:cNvPr>
            <p:cNvCxnSpPr>
              <a:cxnSpLocks/>
            </p:cNvCxnSpPr>
            <p:nvPr/>
          </p:nvCxnSpPr>
          <p:spPr>
            <a:xfrm>
              <a:off x="8458200" y="457200"/>
              <a:ext cx="990600" cy="838200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E9B3E07-825B-0EFF-5FDD-C927E303C2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4400" y="467497"/>
              <a:ext cx="990600" cy="838200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8" name="Graphic 7" descr="Badge with solid fill">
            <a:extLst>
              <a:ext uri="{FF2B5EF4-FFF2-40B4-BE49-F238E27FC236}">
                <a16:creationId xmlns:a16="http://schemas.microsoft.com/office/drawing/2014/main" id="{6CCFD143-24D3-834C-EE02-DC473DF777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52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0C4615D-F849-6814-A3DF-F84F622D4823}"/>
              </a:ext>
            </a:extLst>
          </p:cNvPr>
          <p:cNvGrpSpPr/>
          <p:nvPr/>
        </p:nvGrpSpPr>
        <p:grpSpPr>
          <a:xfrm>
            <a:off x="8585886" y="6172200"/>
            <a:ext cx="1143000" cy="1143000"/>
            <a:chOff x="8458200" y="381000"/>
            <a:chExt cx="1143000" cy="1143000"/>
          </a:xfrm>
        </p:grpSpPr>
        <p:pic>
          <p:nvPicPr>
            <p:cNvPr id="4" name="Picture 2" descr="Erp - Free communications icons">
              <a:extLst>
                <a:ext uri="{FF2B5EF4-FFF2-40B4-BE49-F238E27FC236}">
                  <a16:creationId xmlns:a16="http://schemas.microsoft.com/office/drawing/2014/main" id="{B9E6663A-33BC-26FC-A65E-F20F9CAB84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8200" y="381000"/>
              <a:ext cx="11430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82BFBE5-5015-FC25-8B53-6C60B6ED6278}"/>
                </a:ext>
              </a:extLst>
            </p:cNvPr>
            <p:cNvCxnSpPr>
              <a:cxnSpLocks/>
            </p:cNvCxnSpPr>
            <p:nvPr/>
          </p:nvCxnSpPr>
          <p:spPr>
            <a:xfrm>
              <a:off x="8458200" y="457200"/>
              <a:ext cx="990600" cy="838200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AED459F-9180-05A3-3C1B-E56ED15747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4400" y="467497"/>
              <a:ext cx="990600" cy="838200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12445F4-D2B8-014D-D166-B0DF131F73DA}"/>
              </a:ext>
            </a:extLst>
          </p:cNvPr>
          <p:cNvCxnSpPr/>
          <p:nvPr/>
        </p:nvCxnSpPr>
        <p:spPr>
          <a:xfrm>
            <a:off x="6172200" y="2362200"/>
            <a:ext cx="17526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29A1B7-DB0E-B20F-ACD3-936AA9B3EFCA}"/>
              </a:ext>
            </a:extLst>
          </p:cNvPr>
          <p:cNvCxnSpPr/>
          <p:nvPr/>
        </p:nvCxnSpPr>
        <p:spPr>
          <a:xfrm>
            <a:off x="3657600" y="3657600"/>
            <a:ext cx="22098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DCECF7-970C-9868-98FC-B8F1B2B3FB96}"/>
              </a:ext>
            </a:extLst>
          </p:cNvPr>
          <p:cNvCxnSpPr/>
          <p:nvPr/>
        </p:nvCxnSpPr>
        <p:spPr>
          <a:xfrm>
            <a:off x="4114800" y="4572000"/>
            <a:ext cx="1905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B88CBC-82AC-F223-D482-53BA778DA882}"/>
              </a:ext>
            </a:extLst>
          </p:cNvPr>
          <p:cNvCxnSpPr/>
          <p:nvPr/>
        </p:nvCxnSpPr>
        <p:spPr>
          <a:xfrm>
            <a:off x="1828800" y="5791200"/>
            <a:ext cx="2286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pic>
        <p:nvPicPr>
          <p:cNvPr id="4" name="Graphic 3" descr="Badge 3 with solid fill">
            <a:extLst>
              <a:ext uri="{FF2B5EF4-FFF2-40B4-BE49-F238E27FC236}">
                <a16:creationId xmlns:a16="http://schemas.microsoft.com/office/drawing/2014/main" id="{7B0CF1D0-5B49-62A2-B10E-83BB70632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152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831340-3A91-E29A-F368-A5B2B7C10E1E}"/>
              </a:ext>
            </a:extLst>
          </p:cNvPr>
          <p:cNvCxnSpPr/>
          <p:nvPr/>
        </p:nvCxnSpPr>
        <p:spPr>
          <a:xfrm>
            <a:off x="4038600" y="1524000"/>
            <a:ext cx="48768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BFC1371-85C8-9E05-B8B3-121331F559EF}"/>
              </a:ext>
            </a:extLst>
          </p:cNvPr>
          <p:cNvCxnSpPr/>
          <p:nvPr/>
        </p:nvCxnSpPr>
        <p:spPr>
          <a:xfrm>
            <a:off x="990600" y="1981200"/>
            <a:ext cx="19812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1BF9B8-CC00-8E06-75CE-529B8274CF9C}"/>
              </a:ext>
            </a:extLst>
          </p:cNvPr>
          <p:cNvCxnSpPr/>
          <p:nvPr/>
        </p:nvCxnSpPr>
        <p:spPr>
          <a:xfrm>
            <a:off x="3505200" y="5486400"/>
            <a:ext cx="33528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8497E87-CFBF-68F2-A931-BF6EDEF89AE3}"/>
              </a:ext>
            </a:extLst>
          </p:cNvPr>
          <p:cNvCxnSpPr/>
          <p:nvPr/>
        </p:nvCxnSpPr>
        <p:spPr>
          <a:xfrm>
            <a:off x="6248400" y="1524000"/>
            <a:ext cx="2819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3AFC37-94C0-7AAD-94B0-B4C5581EAD75}"/>
              </a:ext>
            </a:extLst>
          </p:cNvPr>
          <p:cNvCxnSpPr/>
          <p:nvPr/>
        </p:nvCxnSpPr>
        <p:spPr>
          <a:xfrm>
            <a:off x="1676400" y="1905000"/>
            <a:ext cx="2667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BE8E8-AEA4-5214-9411-37C61A46561D}"/>
              </a:ext>
            </a:extLst>
          </p:cNvPr>
          <p:cNvSpPr/>
          <p:nvPr/>
        </p:nvSpPr>
        <p:spPr>
          <a:xfrm>
            <a:off x="838200" y="2743200"/>
            <a:ext cx="8458200" cy="83820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CB30C2-CC39-87C9-7F26-913037A088AC}"/>
              </a:ext>
            </a:extLst>
          </p:cNvPr>
          <p:cNvCxnSpPr/>
          <p:nvPr/>
        </p:nvCxnSpPr>
        <p:spPr>
          <a:xfrm>
            <a:off x="2819400" y="2286000"/>
            <a:ext cx="6248400" cy="762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51DC4C-2492-F44B-1B1C-D4BCC0CBC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-41347"/>
            <a:ext cx="7772400" cy="754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120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64C74F618614CA838BA6D6D72AB6C" ma:contentTypeVersion="5" ma:contentTypeDescription="Create a new document." ma:contentTypeScope="" ma:versionID="6d5f4807e556fbe766768ee3e6e64d73">
  <xsd:schema xmlns:xsd="http://www.w3.org/2001/XMLSchema" xmlns:xs="http://www.w3.org/2001/XMLSchema" xmlns:p="http://schemas.microsoft.com/office/2006/metadata/properties" xmlns:ns2="61210c74-7046-444b-9e6c-7757b62ea557" targetNamespace="http://schemas.microsoft.com/office/2006/metadata/properties" ma:root="true" ma:fieldsID="f9ebc22d833cc31d435be24bad7c7d13" ns2:_="">
    <xsd:import namespace="61210c74-7046-444b-9e6c-7757b62ea55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210c74-7046-444b-9e6c-7757b62ea55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9861408-688B-477C-ACBF-E063E4333F3B}"/>
</file>

<file path=customXml/itemProps2.xml><?xml version="1.0" encoding="utf-8"?>
<ds:datastoreItem xmlns:ds="http://schemas.openxmlformats.org/officeDocument/2006/customXml" ds:itemID="{3F82C6B6-393E-411C-BB25-447B1D1A473D}"/>
</file>

<file path=customXml/itemProps3.xml><?xml version="1.0" encoding="utf-8"?>
<ds:datastoreItem xmlns:ds="http://schemas.openxmlformats.org/officeDocument/2006/customXml" ds:itemID="{27156911-AD27-4C77-8228-81E37A5BABB3}"/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292</Words>
  <Application>Microsoft Office PowerPoint</Application>
  <PresentationFormat>Custom</PresentationFormat>
  <Paragraphs>43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9" baseType="lpstr">
      <vt:lpstr>Calibri</vt:lpstr>
      <vt:lpstr>Bahnschrift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chapter-5_-accounting-in-erp-systems.pdf</dc:title>
  <cp:lastModifiedBy>Nazleeni Samiha Bt Haron (FSMC/UTP)</cp:lastModifiedBy>
  <cp:revision>10</cp:revision>
  <dcterms:created xsi:type="dcterms:W3CDTF">2006-08-16T00:00:00Z</dcterms:created>
  <dcterms:modified xsi:type="dcterms:W3CDTF">2025-07-21T04:06:45Z</dcterms:modified>
  <dc:identifier>DAGrx-HWoSw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0x010100AF564C74F618614CA838BA6D6D72AB6C</vt:lpwstr>
  </property>
</Properties>
</file>