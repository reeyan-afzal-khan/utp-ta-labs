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72" r:id="rId7"/>
    <p:sldId id="259" r:id="rId8"/>
    <p:sldId id="263" r:id="rId9"/>
    <p:sldId id="260" r:id="rId10"/>
    <p:sldId id="265" r:id="rId11"/>
    <p:sldId id="266" r:id="rId12"/>
    <p:sldId id="267" r:id="rId13"/>
    <p:sldId id="268" r:id="rId14"/>
    <p:sldId id="269" r:id="rId15"/>
    <p:sldId id="270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111911-A518-478B-B46F-49A2C3571739}" v="5" dt="2021-01-25T09:05:10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8" autoAdjust="0"/>
    <p:restoredTop sz="94660"/>
  </p:normalViewPr>
  <p:slideViewPr>
    <p:cSldViewPr snapToGrid="0">
      <p:cViewPr>
        <p:scale>
          <a:sx n="120" d="100"/>
          <a:sy n="120" d="100"/>
        </p:scale>
        <p:origin x="23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058" y="639097"/>
            <a:ext cx="7453222" cy="4033642"/>
          </a:xfrm>
        </p:spPr>
        <p:txBody>
          <a:bodyPr>
            <a:normAutofit/>
          </a:bodyPr>
          <a:lstStyle/>
          <a:p>
            <a:r>
              <a:rPr lang="en-US" sz="7200" dirty="0"/>
              <a:t>COMPUTER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5247" y="4498925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 1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Introduction to </a:t>
            </a:r>
            <a:r>
              <a:rPr lang="en-US" sz="4800" i="1" dirty="0" err="1">
                <a:solidFill>
                  <a:srgbClr val="FFFFFF"/>
                </a:solidFill>
              </a:rPr>
              <a:t>eNSP</a:t>
            </a:r>
            <a:r>
              <a:rPr lang="en-US" sz="4800" i="1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66C16FB7-9AD5-4168-AE50-FF2C141A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064F62A-95D2-4E7D-AF2B-30E71EE6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9840" y="812799"/>
            <a:ext cx="6918960" cy="5294757"/>
          </a:xfrm>
        </p:spPr>
        <p:txBody>
          <a:bodyPr/>
          <a:lstStyle/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Set up and navigate the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eNSP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simulator application.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Establish a simple peer-to-peer network in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eNSP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Perform capture of IP packets using Wireshark within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eNSP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8886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B4A7-DE08-4AAA-BEC8-04594824ACA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9616" y="912296"/>
            <a:ext cx="11552270" cy="498027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tx1"/>
                </a:solidFill>
                <a:latin typeface="+mj-lt"/>
              </a:rPr>
              <a:t>eNSP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simulator application is a platform for implementation of a network and providing a comprehensive knowledge of IP network.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199616" y="142855"/>
            <a:ext cx="2973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F53A2-0AFD-4058-87A4-42F775BA76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41"/>
          <a:stretch/>
        </p:blipFill>
        <p:spPr>
          <a:xfrm>
            <a:off x="2073136" y="1996256"/>
            <a:ext cx="8045728" cy="427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9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7E0FBD-91E8-4108-8FD4-3D3204252D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84" t="13333" r="7582" b="12592"/>
          <a:stretch/>
        </p:blipFill>
        <p:spPr>
          <a:xfrm>
            <a:off x="1180038" y="906786"/>
            <a:ext cx="10152993" cy="5332455"/>
          </a:xfrm>
          <a:prstGeom prst="rect">
            <a:avLst/>
          </a:prstGeom>
        </p:spPr>
      </p:pic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A0C32F57-8608-472C-923A-21D1CDE260BC}"/>
              </a:ext>
            </a:extLst>
          </p:cNvPr>
          <p:cNvSpPr/>
          <p:nvPr/>
        </p:nvSpPr>
        <p:spPr>
          <a:xfrm>
            <a:off x="265637" y="840192"/>
            <a:ext cx="914401" cy="512821"/>
          </a:xfrm>
          <a:prstGeom prst="wedgeRectCallout">
            <a:avLst>
              <a:gd name="adj1" fmla="val 78834"/>
              <a:gd name="adj2" fmla="val 4942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New topology 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FBCE5284-4566-41E8-8393-41665F9C8B1F}"/>
              </a:ext>
            </a:extLst>
          </p:cNvPr>
          <p:cNvSpPr/>
          <p:nvPr/>
        </p:nvSpPr>
        <p:spPr>
          <a:xfrm>
            <a:off x="2094439" y="245300"/>
            <a:ext cx="914401" cy="661486"/>
          </a:xfrm>
          <a:prstGeom prst="wedgeRectCallout">
            <a:avLst>
              <a:gd name="adj1" fmla="val -39808"/>
              <a:gd name="adj2" fmla="val 12212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Open saved topology 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0B5EB471-E083-410C-B43B-AF99B1DCBB50}"/>
              </a:ext>
            </a:extLst>
          </p:cNvPr>
          <p:cNvSpPr/>
          <p:nvPr/>
        </p:nvSpPr>
        <p:spPr>
          <a:xfrm>
            <a:off x="2443959" y="1724581"/>
            <a:ext cx="733045" cy="318744"/>
          </a:xfrm>
          <a:prstGeom prst="wedgeRectCallout">
            <a:avLst>
              <a:gd name="adj1" fmla="val -46334"/>
              <a:gd name="adj2" fmla="val -13953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Save 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A49094F6-46F7-41BF-BEF2-12C807AD2B66}"/>
              </a:ext>
            </a:extLst>
          </p:cNvPr>
          <p:cNvSpPr/>
          <p:nvPr/>
        </p:nvSpPr>
        <p:spPr>
          <a:xfrm>
            <a:off x="3374124" y="1724581"/>
            <a:ext cx="914401" cy="318744"/>
          </a:xfrm>
          <a:prstGeom prst="wedgeRectCallout">
            <a:avLst>
              <a:gd name="adj1" fmla="val -102847"/>
              <a:gd name="adj2" fmla="val -13176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Save as </a:t>
            </a: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A2387C99-0C7C-4A31-B7C5-CCD94E40A4E7}"/>
              </a:ext>
            </a:extLst>
          </p:cNvPr>
          <p:cNvSpPr/>
          <p:nvPr/>
        </p:nvSpPr>
        <p:spPr>
          <a:xfrm>
            <a:off x="3303056" y="493340"/>
            <a:ext cx="914401" cy="413446"/>
          </a:xfrm>
          <a:prstGeom prst="wedgeRectCallout">
            <a:avLst>
              <a:gd name="adj1" fmla="val -50476"/>
              <a:gd name="adj2" fmla="val 16603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Print </a:t>
            </a: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31F96C26-263A-45B0-9470-3F9BFE43CC79}"/>
              </a:ext>
            </a:extLst>
          </p:cNvPr>
          <p:cNvSpPr/>
          <p:nvPr/>
        </p:nvSpPr>
        <p:spPr>
          <a:xfrm>
            <a:off x="7660648" y="493340"/>
            <a:ext cx="914401" cy="470684"/>
          </a:xfrm>
          <a:prstGeom prst="wedgeRectCallout">
            <a:avLst>
              <a:gd name="adj1" fmla="val -45879"/>
              <a:gd name="adj2" fmla="val 12765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Start device</a:t>
            </a: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9FBA6B7E-54CF-4D9F-8054-5D61CFACCDD9}"/>
              </a:ext>
            </a:extLst>
          </p:cNvPr>
          <p:cNvSpPr/>
          <p:nvPr/>
        </p:nvSpPr>
        <p:spPr>
          <a:xfrm>
            <a:off x="8774173" y="1746662"/>
            <a:ext cx="1305968" cy="593326"/>
          </a:xfrm>
          <a:prstGeom prst="wedgeRectCallout">
            <a:avLst>
              <a:gd name="adj1" fmla="val -43911"/>
              <a:gd name="adj2" fmla="val -9057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Show interfaces  </a:t>
            </a: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DDCAB435-3D84-4A54-BB80-0325D5A0B486}"/>
              </a:ext>
            </a:extLst>
          </p:cNvPr>
          <p:cNvSpPr/>
          <p:nvPr/>
        </p:nvSpPr>
        <p:spPr>
          <a:xfrm>
            <a:off x="5872723" y="1724581"/>
            <a:ext cx="1215846" cy="536036"/>
          </a:xfrm>
          <a:prstGeom prst="wedgeRectCallout">
            <a:avLst>
              <a:gd name="adj1" fmla="val -51012"/>
              <a:gd name="adj2" fmla="val -10064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Write comment </a:t>
            </a: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96CA5599-1F2A-4C33-8245-6F79086273A6}"/>
              </a:ext>
            </a:extLst>
          </p:cNvPr>
          <p:cNvSpPr/>
          <p:nvPr/>
        </p:nvSpPr>
        <p:spPr>
          <a:xfrm>
            <a:off x="7676418" y="1749332"/>
            <a:ext cx="914401" cy="470684"/>
          </a:xfrm>
          <a:prstGeom prst="wedgeRectCallout">
            <a:avLst>
              <a:gd name="adj1" fmla="val -3350"/>
              <a:gd name="adj2" fmla="val -10010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Stop device</a:t>
            </a: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9C8EA6CE-0859-48E8-8AC5-569168588973}"/>
              </a:ext>
            </a:extLst>
          </p:cNvPr>
          <p:cNvSpPr/>
          <p:nvPr/>
        </p:nvSpPr>
        <p:spPr>
          <a:xfrm>
            <a:off x="5427206" y="530130"/>
            <a:ext cx="1215846" cy="470684"/>
          </a:xfrm>
          <a:prstGeom prst="wedgeRectCallout">
            <a:avLst>
              <a:gd name="adj1" fmla="val -45879"/>
              <a:gd name="adj2" fmla="val 12765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Delete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All Lines</a:t>
            </a:r>
          </a:p>
        </p:txBody>
      </p:sp>
    </p:spTree>
    <p:extLst>
      <p:ext uri="{BB962C8B-B14F-4D97-AF65-F5344CB8AC3E}">
        <p14:creationId xmlns:p14="http://schemas.microsoft.com/office/powerpoint/2010/main" val="3214684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A67C67-80F0-4667-8C6F-2C475816E2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083" y="122829"/>
            <a:ext cx="10058400" cy="7016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b="0" i="0" kern="1200" cap="none" spc="-5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Build a topology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C88D8E-AEB8-4910-8063-811F1DAA519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0207" y="1143996"/>
            <a:ext cx="4640263" cy="48895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Select the end device icon in the top left panel to reveal a list of end devices that can be applied.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select the laptop icon and drag it to the canvas, release the icon to place it on the canvas.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87943-B4B4-4EB9-BBBD-DB671C811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83" t="20889" r="29250" b="21185"/>
          <a:stretch/>
        </p:blipFill>
        <p:spPr>
          <a:xfrm>
            <a:off x="5202620" y="988907"/>
            <a:ext cx="6888480" cy="51995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077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A67C67-80F0-4667-8C6F-2C475816E2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083" y="122829"/>
            <a:ext cx="10058400" cy="7016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b="0" i="0" kern="1200" cap="none" spc="-5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Establish a physical medium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C88D8E-AEB8-4910-8063-811F1DAA519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0207" y="1143996"/>
            <a:ext cx="4640263" cy="48895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Select the connection icon from the upper left panel to reveal a list of media that can be applied to the topology.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select the laptop icon and drag it to the canvas, release the icon to place it on the canvas.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732EE4-5371-4607-A6D9-4B458189BB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27" t="13220" r="20191" b="10963"/>
          <a:stretch/>
        </p:blipFill>
        <p:spPr>
          <a:xfrm>
            <a:off x="5113283" y="833924"/>
            <a:ext cx="7020560" cy="519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53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A67C67-80F0-4667-8C6F-2C475816E2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083" y="122829"/>
            <a:ext cx="10058400" cy="7016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b="0" i="0" kern="1200" cap="none" spc="-5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Access End system settings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C88D8E-AEB8-4910-8063-811F1DAA519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0207" y="1143996"/>
            <a:ext cx="4640263" cy="48895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Select the End system and use the right click to display properties menu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the setting option in the properties window reveals a set of four tabs for establishment of basic configuration.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8993AF-7169-45B6-8BAB-CF2FC139BD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87" t="11542" r="20689" b="12136"/>
          <a:stretch/>
        </p:blipFill>
        <p:spPr>
          <a:xfrm>
            <a:off x="5192110" y="799343"/>
            <a:ext cx="6915807" cy="523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4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A67C67-80F0-4667-8C6F-2C475816E2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083" y="122829"/>
            <a:ext cx="10058400" cy="7016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b="0" i="0" kern="1200" cap="none" spc="-5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Configure the end system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C88D8E-AEB8-4910-8063-811F1DAA519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0207" y="1143996"/>
            <a:ext cx="4640263" cy="48895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 it is recommended that the address (together with the subnet mask ) configured as shown in the example.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C89D4B-95AE-446E-BEE3-03AC700198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86" t="10881" r="20000" b="12022"/>
          <a:stretch/>
        </p:blipFill>
        <p:spPr>
          <a:xfrm>
            <a:off x="5113283" y="945115"/>
            <a:ext cx="6999890" cy="528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9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A67C67-80F0-4667-8C6F-2C475816E2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083" y="122829"/>
            <a:ext cx="10058400" cy="7016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b="0" i="0" kern="1200" cap="none" spc="-5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Initiate the end system devices 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C88D8E-AEB8-4910-8063-811F1DAA519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0207" y="1143996"/>
            <a:ext cx="4640263" cy="48895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The devices can be activated using one of two methods.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+mj-lt"/>
              </a:rPr>
              <a:t>using right click to open the properties menu and select start for the individual icon or highlight multiple devices.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+mj-lt"/>
              </a:rPr>
              <a:t>From the start button on the upper bar.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C89D4B-95AE-446E-BEE3-03AC700198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86" t="10881" r="20000" b="12022"/>
          <a:stretch/>
        </p:blipFill>
        <p:spPr>
          <a:xfrm>
            <a:off x="5113283" y="945115"/>
            <a:ext cx="6999890" cy="528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54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A67C67-80F0-4667-8C6F-2C475816E2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083" y="122829"/>
            <a:ext cx="10058400" cy="70167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0" i="0" kern="1200" cap="none" spc="-5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Implement the capture of packets on an interface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C88D8E-AEB8-4910-8063-811F1DAA519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0207" y="1143996"/>
            <a:ext cx="4640263" cy="48895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Select the device to for whose interface is to be monitored and use the right click option to display the setting menu.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Highlight the capture data option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FA7E0B-CF20-48F9-BB90-6916B0EE4E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87" t="10881" r="20000" b="12022"/>
          <a:stretch/>
        </p:blipFill>
        <p:spPr>
          <a:xfrm>
            <a:off x="5113283" y="746234"/>
            <a:ext cx="6999890" cy="528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49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A67C67-80F0-4667-8C6F-2C475816E2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083" y="122829"/>
            <a:ext cx="10058400" cy="70167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0" i="0" kern="1200" cap="none" spc="-50" baseline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Generate traffic on the interface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C88D8E-AEB8-4910-8063-811F1DAA519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0207" y="1143996"/>
            <a:ext cx="4640263" cy="48895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The most basic mean for generating traffic is through the ping command.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This can be achieved by entering ping &lt;IP address&gt;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D5A655-7F2E-4FFE-8C08-2C1CE76F61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0" t="14712" r="20345" b="12022"/>
          <a:stretch/>
        </p:blipFill>
        <p:spPr>
          <a:xfrm>
            <a:off x="5113283" y="1008992"/>
            <a:ext cx="6968359" cy="502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95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5107-E60A-463F-AECD-08D23E8C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177" y="5182134"/>
            <a:ext cx="10113645" cy="74368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20809463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9DE761D8C4448868F302D369B5C3D" ma:contentTypeVersion="13" ma:contentTypeDescription="Create a new document." ma:contentTypeScope="" ma:versionID="dfe36e3e778102bef2bd18c318dfc9a9">
  <xsd:schema xmlns:xsd="http://www.w3.org/2001/XMLSchema" xmlns:xs="http://www.w3.org/2001/XMLSchema" xmlns:p="http://schemas.microsoft.com/office/2006/metadata/properties" xmlns:ns3="9e1e26e7-5f7e-4989-b4fb-d31397fc098b" xmlns:ns4="596a0d73-a34e-4cf5-85d7-50d4e390f3c9" targetNamespace="http://schemas.microsoft.com/office/2006/metadata/properties" ma:root="true" ma:fieldsID="67e077d59bc089f988751e544093422b" ns3:_="" ns4:_="">
    <xsd:import namespace="9e1e26e7-5f7e-4989-b4fb-d31397fc098b"/>
    <xsd:import namespace="596a0d73-a34e-4cf5-85d7-50d4e390f3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e26e7-5f7e-4989-b4fb-d31397fc09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6a0d73-a34e-4cf5-85d7-50d4e390f3c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A306C0-5857-41A0-A45A-37184B633C1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8060EC3-C5C7-44FE-8A63-F1EF641E7A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036E87-846B-443D-85C4-0D17134E25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e26e7-5f7e-4989-b4fb-d31397fc098b"/>
    <ds:schemaRef ds:uri="596a0d73-a34e-4cf5-85d7-50d4e390f3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349</Words>
  <Application>Microsoft Macintosh PowerPoint</Application>
  <PresentationFormat>Widescreen</PresentationFormat>
  <Paragraphs>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Bookman Old Style</vt:lpstr>
      <vt:lpstr>Calibri</vt:lpstr>
      <vt:lpstr>Franklin Gothic Book</vt:lpstr>
      <vt:lpstr>Times New Roman</vt:lpstr>
      <vt:lpstr>Wingdings</vt:lpstr>
      <vt:lpstr>1_RetrospectVTI</vt:lpstr>
      <vt:lpstr>COMPUTER NETWORKING</vt:lpstr>
      <vt:lpstr>Introduction to eNSP </vt:lpstr>
      <vt:lpstr>OBJECTIVES</vt:lpstr>
      <vt:lpstr>PowerPoint Presentation</vt:lpstr>
      <vt:lpstr>PowerPoint Presentation</vt:lpstr>
      <vt:lpstr>Build a topology </vt:lpstr>
      <vt:lpstr>Establish a physical medium </vt:lpstr>
      <vt:lpstr>Access End system settings </vt:lpstr>
      <vt:lpstr>Configure the end system </vt:lpstr>
      <vt:lpstr>Initiate the end system devices  </vt:lpstr>
      <vt:lpstr>Implement the capture of packets on an interface </vt:lpstr>
      <vt:lpstr>Generate traffic on the interface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NETWORKING</dc:title>
  <dc:creator>Ranya Al-wajih</dc:creator>
  <cp:lastModifiedBy>Abdullahi Mujaheed Saleh</cp:lastModifiedBy>
  <cp:revision>10</cp:revision>
  <dcterms:created xsi:type="dcterms:W3CDTF">2020-12-22T02:57:04Z</dcterms:created>
  <dcterms:modified xsi:type="dcterms:W3CDTF">2024-02-08T03:58:44Z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0x010100ABE9DE761D8C4448868F302D369B5C3D</vt:lpwstr>
  </property>
</Properties>
</file>