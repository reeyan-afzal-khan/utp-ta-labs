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9"/>
  </p:notesMasterIdLst>
  <p:sldIdLst>
    <p:sldId id="257" r:id="rId5"/>
    <p:sldId id="258" r:id="rId6"/>
    <p:sldId id="278" r:id="rId7"/>
    <p:sldId id="281" r:id="rId8"/>
    <p:sldId id="259" r:id="rId9"/>
    <p:sldId id="263" r:id="rId10"/>
    <p:sldId id="273" r:id="rId11"/>
    <p:sldId id="272" r:id="rId12"/>
    <p:sldId id="275" r:id="rId13"/>
    <p:sldId id="274" r:id="rId14"/>
    <p:sldId id="276" r:id="rId15"/>
    <p:sldId id="277" r:id="rId16"/>
    <p:sldId id="279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4FC42-640B-4977-98CF-0B80AB66666D}" v="2" dt="2021-02-01T08:49:30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4A978-80D3-4E8E-AD1F-975D098D4FBA}" type="datetimeFigureOut">
              <a:rPr lang="en-US" smtClean="0"/>
              <a:t>2/8/24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E240F-B9B5-49C3-9B08-53B2754F5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7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058" y="639097"/>
            <a:ext cx="7453222" cy="4033642"/>
          </a:xfrm>
        </p:spPr>
        <p:txBody>
          <a:bodyPr>
            <a:normAutofit/>
          </a:bodyPr>
          <a:lstStyle/>
          <a:p>
            <a:r>
              <a:rPr lang="en-US" sz="7200" dirty="0"/>
              <a:t>COMPUTER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47" y="4498925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2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Basic device navigation and configuration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66C16FB7-9AD5-4168-AE50-FF2C141A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064F62A-95D2-4E7D-AF2B-30E71EE6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840" y="812799"/>
            <a:ext cx="6918960" cy="5294757"/>
          </a:xfrm>
        </p:spPr>
        <p:txBody>
          <a:bodyPr>
            <a:normAutofit fontScale="92500" lnSpcReduction="10000"/>
          </a:bodyPr>
          <a:lstStyle/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Configure device system parameters including device name and the system time.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Configure the console port idle timeout duration.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Configure the login information.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Configure the login password.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Save configuration files.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Configure IP addresses for router interfaces.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Test the connectivity between two directly connected routers.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Restart a device using VRP.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1234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A785-3FF7-4F96-A162-0FA29E925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745" y="98475"/>
            <a:ext cx="6660583" cy="6009082"/>
          </a:xfrm>
        </p:spPr>
        <p:txBody>
          <a:bodyPr/>
          <a:lstStyle/>
          <a:p>
            <a:r>
              <a:rPr lang="en-US" i="1" dirty="0"/>
              <a:t>Design a topo consist of </a:t>
            </a:r>
            <a:r>
              <a:rPr lang="en-US" b="1" i="1" dirty="0"/>
              <a:t>1</a:t>
            </a:r>
            <a:r>
              <a:rPr lang="en-US" i="1" dirty="0"/>
              <a:t> switch and </a:t>
            </a:r>
            <a:r>
              <a:rPr lang="en-US" b="1" i="1" dirty="0"/>
              <a:t>2</a:t>
            </a:r>
            <a:r>
              <a:rPr lang="en-US" i="1" dirty="0"/>
              <a:t> PCs: </a:t>
            </a:r>
          </a:p>
          <a:p>
            <a:r>
              <a:rPr lang="en-US" i="1" dirty="0"/>
              <a:t>- use ipconfig </a:t>
            </a:r>
          </a:p>
          <a:p>
            <a:r>
              <a:rPr lang="en-US" i="1" dirty="0"/>
              <a:t>-ping </a:t>
            </a:r>
          </a:p>
          <a:p>
            <a:r>
              <a:rPr lang="en-US" i="1" dirty="0"/>
              <a:t>The screenshot the command panel.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0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B4A7-DE08-4AAA-BEC8-04594824ACA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9616" y="912296"/>
            <a:ext cx="11552270" cy="4980271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516659" y="142855"/>
            <a:ext cx="233980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88FB4-3A74-4761-893C-FCE1BFB09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80" t="26207" r="9051" b="37625"/>
          <a:stretch/>
        </p:blipFill>
        <p:spPr>
          <a:xfrm>
            <a:off x="1881352" y="2056876"/>
            <a:ext cx="8786648" cy="24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366345"/>
            <a:ext cx="5481145" cy="3405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Run the </a:t>
            </a:r>
            <a:r>
              <a:rPr lang="en-US" sz="1900" b="1" dirty="0">
                <a:latin typeface="+mj-lt"/>
              </a:rPr>
              <a:t>system-view </a:t>
            </a:r>
            <a:r>
              <a:rPr lang="en-US" sz="1900" dirty="0">
                <a:latin typeface="+mj-lt"/>
              </a:rPr>
              <a:t>to access the system view to configure interfaces and protocols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Change the devices name based on the lab topology using </a:t>
            </a:r>
            <a:r>
              <a:rPr lang="en-US" sz="1900" b="1" dirty="0" err="1">
                <a:latin typeface="+mj-lt"/>
              </a:rPr>
              <a:t>sysname</a:t>
            </a:r>
            <a:r>
              <a:rPr lang="en-US" sz="1900" b="1" dirty="0">
                <a:latin typeface="+mj-lt"/>
              </a:rPr>
              <a:t> R1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FD29D85-4554-4CBD-8B76-15998A4636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65" t="31757" r="52345" b="53028"/>
          <a:stretch/>
        </p:blipFill>
        <p:spPr>
          <a:xfrm>
            <a:off x="5913120" y="1366345"/>
            <a:ext cx="6224015" cy="169148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C5DB3E-D739-4A27-ACE6-2A9A33A81F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24" t="74815" r="68333" b="17481"/>
          <a:stretch/>
        </p:blipFill>
        <p:spPr>
          <a:xfrm>
            <a:off x="6096000" y="3369045"/>
            <a:ext cx="3384790" cy="100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8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366345"/>
            <a:ext cx="5481145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Configure IP address for the </a:t>
            </a:r>
            <a:r>
              <a:rPr lang="en-US" sz="1900" dirty="0" err="1">
                <a:latin typeface="+mj-lt"/>
              </a:rPr>
              <a:t>Gigabitethernet</a:t>
            </a:r>
            <a:r>
              <a:rPr lang="en-US" sz="1900" dirty="0">
                <a:latin typeface="+mj-lt"/>
              </a:rPr>
              <a:t> 0/0/0 interface of R1 using </a:t>
            </a:r>
            <a:r>
              <a:rPr lang="en-US" sz="1900" b="1" dirty="0">
                <a:latin typeface="+mj-lt"/>
              </a:rPr>
              <a:t>int </a:t>
            </a:r>
            <a:r>
              <a:rPr lang="en-US" sz="1900" b="1" dirty="0" err="1">
                <a:latin typeface="+mj-lt"/>
              </a:rPr>
              <a:t>gigabitethernet</a:t>
            </a:r>
            <a:r>
              <a:rPr lang="en-US" sz="1900" b="1" dirty="0">
                <a:latin typeface="+mj-lt"/>
              </a:rPr>
              <a:t> 0/0/0</a:t>
            </a:r>
            <a:r>
              <a:rPr lang="en-US" sz="1900" dirty="0">
                <a:latin typeface="+mj-lt"/>
              </a:rPr>
              <a:t>. the subnet mask can be configured using </a:t>
            </a:r>
            <a:r>
              <a:rPr lang="en-US" sz="1900" b="1" dirty="0">
                <a:latin typeface="+mj-lt"/>
              </a:rPr>
              <a:t>255.255.255.0</a:t>
            </a:r>
            <a:r>
              <a:rPr lang="en-US" sz="1900" dirty="0">
                <a:latin typeface="+mj-lt"/>
              </a:rPr>
              <a:t> or base on the subnet mask prefix 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(int </a:t>
            </a:r>
            <a:r>
              <a:rPr lang="en-US" sz="1900" dirty="0" err="1">
                <a:latin typeface="+mj-lt"/>
              </a:rPr>
              <a:t>gigabitethernet</a:t>
            </a:r>
            <a:r>
              <a:rPr lang="en-US" sz="1900" dirty="0">
                <a:latin typeface="+mj-lt"/>
              </a:rPr>
              <a:t> 0/0/0) &gt; (</a:t>
            </a:r>
            <a:r>
              <a:rPr lang="en-US" sz="1900" dirty="0" err="1">
                <a:latin typeface="+mj-lt"/>
              </a:rPr>
              <a:t>ip</a:t>
            </a:r>
            <a:r>
              <a:rPr lang="en-US" sz="1900" dirty="0">
                <a:latin typeface="+mj-lt"/>
              </a:rPr>
              <a:t> address 10.0.13.1 24)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7553C4-6152-45BC-951F-A7175E458F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34" t="28148" r="36917" b="59735"/>
          <a:stretch/>
        </p:blipFill>
        <p:spPr>
          <a:xfrm>
            <a:off x="5591551" y="1366345"/>
            <a:ext cx="6513914" cy="9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7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366345"/>
            <a:ext cx="5897705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Run the </a:t>
            </a:r>
            <a:r>
              <a:rPr lang="en-US" sz="1900" b="1" dirty="0">
                <a:latin typeface="+mj-lt"/>
              </a:rPr>
              <a:t>display this </a:t>
            </a:r>
            <a:r>
              <a:rPr lang="en-US" sz="1900" dirty="0">
                <a:latin typeface="+mj-lt"/>
              </a:rPr>
              <a:t>to check the configuration results at the current interface view.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Run the </a:t>
            </a:r>
            <a:r>
              <a:rPr lang="en-US" sz="1900" b="1" dirty="0">
                <a:latin typeface="+mj-lt"/>
              </a:rPr>
              <a:t>display interface </a:t>
            </a:r>
            <a:r>
              <a:rPr lang="en-US" sz="1900" dirty="0">
                <a:latin typeface="+mj-lt"/>
              </a:rPr>
              <a:t>command to view the interface description. </a:t>
            </a:r>
            <a:endParaRPr lang="en-US" sz="1900" b="1" dirty="0">
              <a:latin typeface="+mj-lt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After completing the configuration, run ping command to test the connection between R1 and R3.  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05B4DB-540D-40AC-A57A-0A8B79DE1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19" y="1155080"/>
            <a:ext cx="5105225" cy="266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3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3964A-D8B8-47B9-ADD1-24244C1A8D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83" t="20444" r="29834" b="36000"/>
          <a:stretch/>
        </p:blipFill>
        <p:spPr>
          <a:xfrm>
            <a:off x="111759" y="1432559"/>
            <a:ext cx="9895841" cy="421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6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366345"/>
            <a:ext cx="11353625" cy="11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once the status has been verified, configure IP address and description for the interface of R3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C83DF-B45F-495C-B0A8-D292651015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34" t="52444" r="14834" b="35408"/>
          <a:stretch/>
        </p:blipFill>
        <p:spPr>
          <a:xfrm>
            <a:off x="419187" y="3172154"/>
            <a:ext cx="11353625" cy="11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9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366345"/>
            <a:ext cx="5897705" cy="4684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After completing the configuration, run </a:t>
            </a:r>
            <a:r>
              <a:rPr lang="en-US" sz="1900" b="1" dirty="0">
                <a:latin typeface="+mj-lt"/>
              </a:rPr>
              <a:t>ping</a:t>
            </a:r>
            <a:r>
              <a:rPr lang="en-US" sz="1900" dirty="0">
                <a:latin typeface="+mj-lt"/>
              </a:rPr>
              <a:t> command to test the connection between R1 and R3.  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Save the current configuration file using </a:t>
            </a:r>
            <a:r>
              <a:rPr lang="en-US" sz="1900" b="1" dirty="0">
                <a:latin typeface="+mj-lt"/>
              </a:rPr>
              <a:t>save</a:t>
            </a:r>
            <a:r>
              <a:rPr lang="en-US" sz="1900" dirty="0">
                <a:latin typeface="+mj-lt"/>
              </a:rPr>
              <a:t> then </a:t>
            </a:r>
            <a:r>
              <a:rPr lang="en-US" sz="1900" b="1" dirty="0">
                <a:latin typeface="+mj-lt"/>
              </a:rPr>
              <a:t>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Attempt to display the saved configuration files. (</a:t>
            </a:r>
            <a:r>
              <a:rPr lang="en-US" sz="1900" b="1" dirty="0">
                <a:latin typeface="+mj-lt"/>
              </a:rPr>
              <a:t>display saved-configuration</a:t>
            </a:r>
            <a:r>
              <a:rPr lang="en-US" sz="1900" dirty="0">
                <a:latin typeface="+mj-lt"/>
              </a:rPr>
              <a:t>)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BD66EB-DD4A-4D04-B6F8-747998A73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34" t="13185" r="40333" b="71852"/>
          <a:stretch/>
        </p:blipFill>
        <p:spPr>
          <a:xfrm>
            <a:off x="6482080" y="1366345"/>
            <a:ext cx="5542105" cy="11018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42336B-B245-48F2-92AB-D6694F9201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84" t="44480" r="40916" b="21630"/>
          <a:stretch/>
        </p:blipFill>
        <p:spPr>
          <a:xfrm>
            <a:off x="6512559" y="2245360"/>
            <a:ext cx="5422392" cy="253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9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198295" y="1569545"/>
            <a:ext cx="5897705" cy="2930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Save the current configuration file using </a:t>
            </a:r>
            <a:r>
              <a:rPr lang="en-US" sz="1900" b="1" dirty="0">
                <a:latin typeface="+mj-lt"/>
              </a:rPr>
              <a:t>save</a:t>
            </a:r>
            <a:r>
              <a:rPr lang="en-US" sz="1900" dirty="0">
                <a:latin typeface="+mj-lt"/>
              </a:rPr>
              <a:t> then </a:t>
            </a:r>
            <a:r>
              <a:rPr lang="en-US" sz="1900" b="1" dirty="0">
                <a:latin typeface="+mj-lt"/>
              </a:rPr>
              <a:t>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Attempt to display the saved configuration files. (</a:t>
            </a:r>
            <a:r>
              <a:rPr lang="en-US" sz="1900" b="1" dirty="0">
                <a:latin typeface="+mj-lt"/>
              </a:rPr>
              <a:t>display saved-configuration</a:t>
            </a:r>
            <a:r>
              <a:rPr lang="en-US" sz="1900" dirty="0">
                <a:latin typeface="+mj-lt"/>
              </a:rPr>
              <a:t>)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224135"/>
            <a:ext cx="714381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device configuration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19282-E78B-44DE-B8B8-06C5508C06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83" t="10963" r="59672" b="86224"/>
          <a:stretch/>
        </p:blipFill>
        <p:spPr>
          <a:xfrm>
            <a:off x="6324704" y="4559366"/>
            <a:ext cx="5003696" cy="411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CEC473-DA4C-47C4-A262-A6881D86B9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6" t="27408" r="46917" b="64592"/>
          <a:stretch/>
        </p:blipFill>
        <p:spPr>
          <a:xfrm>
            <a:off x="5574931" y="1581798"/>
            <a:ext cx="6078589" cy="830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FC3D2F-28DE-49DB-A13F-FF1CAE17EE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67" t="74667" r="40333" b="11556"/>
          <a:stretch/>
        </p:blipFill>
        <p:spPr>
          <a:xfrm>
            <a:off x="5943600" y="2412795"/>
            <a:ext cx="6248400" cy="129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66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6129" y="321090"/>
            <a:ext cx="707289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Command's abbreviations 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E51FC40-FDB6-48A2-82BE-7D14351F8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158981"/>
              </p:ext>
            </p:extLst>
          </p:nvPr>
        </p:nvGraphicFramePr>
        <p:xfrm>
          <a:off x="924560" y="1349586"/>
          <a:ext cx="10363200" cy="4461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596513738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608617556"/>
                    </a:ext>
                  </a:extLst>
                </a:gridCol>
              </a:tblGrid>
              <a:tr h="557742">
                <a:tc>
                  <a:txBody>
                    <a:bodyPr/>
                    <a:lstStyle/>
                    <a:p>
                      <a:r>
                        <a:rPr lang="en-US" sz="2400" b="1" dirty="0"/>
                        <a:t>Command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Abbreviation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03000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System-view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sys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165666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Interface </a:t>
                      </a:r>
                      <a:r>
                        <a:rPr lang="en-US" sz="2400" dirty="0" err="1">
                          <a:latin typeface="+mj-lt"/>
                        </a:rPr>
                        <a:t>gigabitethernet</a:t>
                      </a:r>
                      <a:r>
                        <a:rPr lang="en-US" sz="2400" dirty="0">
                          <a:latin typeface="+mj-lt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Int g (int g 0/0/0)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621647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Ip address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Ip add (</a:t>
                      </a:r>
                      <a:r>
                        <a:rPr lang="en-US" sz="2400" dirty="0" err="1">
                          <a:latin typeface="+mj-lt"/>
                        </a:rPr>
                        <a:t>ip</a:t>
                      </a:r>
                      <a:r>
                        <a:rPr lang="en-US" sz="2400" dirty="0">
                          <a:latin typeface="+mj-lt"/>
                        </a:rPr>
                        <a:t> add 10.0.13.1 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6115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Display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+mj-lt"/>
                        </a:rPr>
                        <a:t>Disp</a:t>
                      </a:r>
                      <a:r>
                        <a:rPr lang="en-US" sz="2400" dirty="0">
                          <a:latin typeface="+mj-lt"/>
                        </a:rPr>
                        <a:t> (</a:t>
                      </a:r>
                      <a:r>
                        <a:rPr lang="en-US" sz="2400" dirty="0" err="1">
                          <a:latin typeface="+mj-lt"/>
                        </a:rPr>
                        <a:t>disp</a:t>
                      </a:r>
                      <a:r>
                        <a:rPr lang="en-US" sz="2400" dirty="0">
                          <a:latin typeface="+mj-lt"/>
                        </a:rPr>
                        <a:t> interface)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17768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Quit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q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24910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Save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20179"/>
                  </a:ext>
                </a:extLst>
              </a:tr>
              <a:tr h="557742">
                <a:tc>
                  <a:txBody>
                    <a:bodyPr/>
                    <a:lstStyle/>
                    <a:p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92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28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5107-E60A-463F-AECD-08D23E8C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0809463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9DE761D8C4448868F302D369B5C3D" ma:contentTypeVersion="13" ma:contentTypeDescription="Create a new document." ma:contentTypeScope="" ma:versionID="dfe36e3e778102bef2bd18c318dfc9a9">
  <xsd:schema xmlns:xsd="http://www.w3.org/2001/XMLSchema" xmlns:xs="http://www.w3.org/2001/XMLSchema" xmlns:p="http://schemas.microsoft.com/office/2006/metadata/properties" xmlns:ns3="9e1e26e7-5f7e-4989-b4fb-d31397fc098b" xmlns:ns4="596a0d73-a34e-4cf5-85d7-50d4e390f3c9" targetNamespace="http://schemas.microsoft.com/office/2006/metadata/properties" ma:root="true" ma:fieldsID="67e077d59bc089f988751e544093422b" ns3:_="" ns4:_="">
    <xsd:import namespace="9e1e26e7-5f7e-4989-b4fb-d31397fc098b"/>
    <xsd:import namespace="596a0d73-a34e-4cf5-85d7-50d4e390f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e26e7-5f7e-4989-b4fb-d31397fc0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a0d73-a34e-4cf5-85d7-50d4e390f3c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060EC3-C5C7-44FE-8A63-F1EF641E7A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A306C0-5857-41A0-A45A-37184B633C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036E87-846B-443D-85C4-0D17134E2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e26e7-5f7e-4989-b4fb-d31397fc098b"/>
    <ds:schemaRef ds:uri="596a0d73-a34e-4cf5-85d7-50d4e390f3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11608</TotalTime>
  <Words>342</Words>
  <Application>Microsoft Macintosh PowerPoint</Application>
  <PresentationFormat>Widescreen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Bookman Old Style</vt:lpstr>
      <vt:lpstr>Calibri</vt:lpstr>
      <vt:lpstr>Franklin Gothic Book</vt:lpstr>
      <vt:lpstr>Times New Roman</vt:lpstr>
      <vt:lpstr>Wingdings</vt:lpstr>
      <vt:lpstr>1_RetrospectVTI</vt:lpstr>
      <vt:lpstr>COMPUTER NETWORKING</vt:lpstr>
      <vt:lpstr>Basic device navigation and configuration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</dc:title>
  <dc:creator>Ranya Al-wajih</dc:creator>
  <cp:lastModifiedBy>Abdullahi Mujaheed Saleh</cp:lastModifiedBy>
  <cp:revision>11</cp:revision>
  <dcterms:created xsi:type="dcterms:W3CDTF">2020-12-22T02:57:04Z</dcterms:created>
  <dcterms:modified xsi:type="dcterms:W3CDTF">2024-02-08T04:41:43Z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0x010100ABE9DE761D8C4448868F302D369B5C3D</vt:lpwstr>
  </property>
</Properties>
</file>