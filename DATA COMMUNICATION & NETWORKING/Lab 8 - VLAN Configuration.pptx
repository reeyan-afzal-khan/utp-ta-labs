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notesMasterIdLst>
    <p:notesMasterId r:id="rId25"/>
  </p:notesMasterIdLst>
  <p:sldIdLst>
    <p:sldId id="257" r:id="rId5"/>
    <p:sldId id="258" r:id="rId6"/>
    <p:sldId id="277" r:id="rId7"/>
    <p:sldId id="259" r:id="rId8"/>
    <p:sldId id="263" r:id="rId9"/>
    <p:sldId id="293" r:id="rId10"/>
    <p:sldId id="307" r:id="rId11"/>
    <p:sldId id="297" r:id="rId12"/>
    <p:sldId id="308" r:id="rId13"/>
    <p:sldId id="298" r:id="rId14"/>
    <p:sldId id="300" r:id="rId15"/>
    <p:sldId id="299" r:id="rId16"/>
    <p:sldId id="302" r:id="rId17"/>
    <p:sldId id="309" r:id="rId18"/>
    <p:sldId id="310" r:id="rId19"/>
    <p:sldId id="306" r:id="rId20"/>
    <p:sldId id="311" r:id="rId21"/>
    <p:sldId id="312" r:id="rId22"/>
    <p:sldId id="313" r:id="rId23"/>
    <p:sldId id="26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728449-C0DC-4CCF-B720-ACB091D3C3C7}" v="36" dt="2021-03-15T03:38:48.6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9" autoAdjust="0"/>
    <p:restoredTop sz="94660"/>
  </p:normalViewPr>
  <p:slideViewPr>
    <p:cSldViewPr snapToGrid="0">
      <p:cViewPr varScale="1">
        <p:scale>
          <a:sx n="68" d="100"/>
          <a:sy n="68" d="100"/>
        </p:scale>
        <p:origin x="69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D4A978-80D3-4E8E-AD1F-975D098D4FBA}" type="datetimeFigureOut">
              <a:rPr lang="en-US" smtClean="0"/>
              <a:t>2/14/2023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8E240F-B9B5-49C3-9B08-53B2754F55C6}" type="slidenum">
              <a:rPr lang="en-US" smtClean="0"/>
              <a:t>‹#›</a:t>
            </a:fld>
            <a:endParaRPr lang="en-US"/>
          </a:p>
        </p:txBody>
      </p:sp>
    </p:spTree>
    <p:extLst>
      <p:ext uri="{BB962C8B-B14F-4D97-AF65-F5344CB8AC3E}">
        <p14:creationId xmlns:p14="http://schemas.microsoft.com/office/powerpoint/2010/main" val="3257970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2/14/2023</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2/14/2023</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2/14/2023</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2/14/2023</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2/14/2023</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2/14/2023</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2/14/2023</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2/14/2023</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2/14/2023</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2/14/2023</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2/14/2023</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2/14/2023</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4917058" y="639097"/>
            <a:ext cx="7453222" cy="4033642"/>
          </a:xfrm>
        </p:spPr>
        <p:txBody>
          <a:bodyPr>
            <a:normAutofit/>
          </a:bodyPr>
          <a:lstStyle/>
          <a:p>
            <a:r>
              <a:rPr lang="en-US" sz="7200" dirty="0"/>
              <a:t>COMPUTER NETWORKING</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55247" y="4498925"/>
            <a:ext cx="6269347" cy="1021498"/>
          </a:xfrm>
        </p:spPr>
        <p:txBody>
          <a:bodyPr>
            <a:normAutofit/>
          </a:bodyPr>
          <a:lstStyle/>
          <a:p>
            <a:r>
              <a:rPr lang="en-US" sz="2400" dirty="0">
                <a:solidFill>
                  <a:schemeClr val="tx1">
                    <a:lumMod val="85000"/>
                    <a:lumOff val="15000"/>
                  </a:schemeClr>
                </a:solidFill>
              </a:rPr>
              <a:t>LAB 8</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pPr lvl="0"/>
            <a:r>
              <a:rPr lang="en-US" sz="4800" i="1" dirty="0">
                <a:solidFill>
                  <a:srgbClr val="FFFFFF"/>
                </a:solidFill>
              </a:rPr>
              <a:t>VLAN Configuration </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66C16FB7-9AD5-4168-AE50-FF2C141A1D0B}"/>
              </a:ext>
            </a:extLst>
          </p:cNvPr>
          <p:cNvSpPr>
            <a:spLocks noGrp="1"/>
          </p:cNvSpPr>
          <p:nvPr>
            <p:ph type="title"/>
          </p:nvPr>
        </p:nvSpPr>
        <p:spPr/>
        <p:txBody>
          <a:bodyPr/>
          <a:lstStyle/>
          <a:p>
            <a:r>
              <a:rPr lang="en-US" dirty="0"/>
              <a:t>OBJECTIVES</a:t>
            </a:r>
          </a:p>
        </p:txBody>
      </p:sp>
      <p:sp>
        <p:nvSpPr>
          <p:cNvPr id="19" name="Content Placeholder 18">
            <a:extLst>
              <a:ext uri="{FF2B5EF4-FFF2-40B4-BE49-F238E27FC236}">
                <a16:creationId xmlns:a16="http://schemas.microsoft.com/office/drawing/2014/main" id="{2064F62A-95D2-4E7D-AF2B-30E71EE60A5D}"/>
              </a:ext>
            </a:extLst>
          </p:cNvPr>
          <p:cNvSpPr>
            <a:spLocks noGrp="1"/>
          </p:cNvSpPr>
          <p:nvPr>
            <p:ph idx="1"/>
          </p:nvPr>
        </p:nvSpPr>
        <p:spPr>
          <a:xfrm>
            <a:off x="5069840" y="812799"/>
            <a:ext cx="6918960" cy="5294757"/>
          </a:xfrm>
        </p:spPr>
        <p:txBody>
          <a:bodyPr/>
          <a:lstStyle/>
          <a:p>
            <a:pPr lvl="0" fontAlgn="base">
              <a:lnSpc>
                <a:spcPct val="150000"/>
              </a:lnSpc>
              <a:buFont typeface="Wingdings" panose="05000000000000000000" pitchFamily="2" charset="2"/>
              <a:buChar char="Ø"/>
            </a:pPr>
            <a:r>
              <a:rPr lang="en-US" dirty="0">
                <a:solidFill>
                  <a:schemeClr val="tx1"/>
                </a:solidFill>
                <a:latin typeface="+mj-lt"/>
              </a:rPr>
              <a:t>Assign port interfaces to become access and trunk ports. Create VLANs.</a:t>
            </a:r>
          </a:p>
          <a:p>
            <a:pPr lvl="0" fontAlgn="base">
              <a:lnSpc>
                <a:spcPct val="150000"/>
              </a:lnSpc>
              <a:buFont typeface="Wingdings" panose="05000000000000000000" pitchFamily="2" charset="2"/>
              <a:buChar char="Ø"/>
            </a:pPr>
            <a:r>
              <a:rPr lang="en-US" dirty="0">
                <a:solidFill>
                  <a:schemeClr val="tx1"/>
                </a:solidFill>
                <a:latin typeface="+mj-lt"/>
              </a:rPr>
              <a:t>Configure VLAN tagging over ports using the hybrid port link type. Configure the default VLAN for an interface using the Port VLAN ID.</a:t>
            </a:r>
          </a:p>
          <a:p>
            <a:pPr lvl="0" fontAlgn="base">
              <a:lnSpc>
                <a:spcPct val="150000"/>
              </a:lnSpc>
              <a:buFont typeface="Wingdings" panose="05000000000000000000" pitchFamily="2" charset="2"/>
              <a:buChar char="Ø"/>
            </a:pPr>
            <a:endParaRPr lang="en-US" dirty="0">
              <a:solidFill>
                <a:schemeClr val="tx1"/>
              </a:solidFill>
              <a:latin typeface="+mj-lt"/>
            </a:endParaRPr>
          </a:p>
        </p:txBody>
      </p:sp>
    </p:spTree>
    <p:extLst>
      <p:ext uri="{BB962C8B-B14F-4D97-AF65-F5344CB8AC3E}">
        <p14:creationId xmlns:p14="http://schemas.microsoft.com/office/powerpoint/2010/main" val="3747472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2429A11-D47C-4726-A096-BDF0AAD33DEC}"/>
              </a:ext>
            </a:extLst>
          </p:cNvPr>
          <p:cNvSpPr/>
          <p:nvPr/>
        </p:nvSpPr>
        <p:spPr>
          <a:xfrm>
            <a:off x="516659" y="142855"/>
            <a:ext cx="2339808" cy="769441"/>
          </a:xfrm>
          <a:prstGeom prst="rect">
            <a:avLst/>
          </a:prstGeom>
          <a:noFill/>
        </p:spPr>
        <p:txBody>
          <a:bodyPr wrap="none" lIns="91440" tIns="45720" rIns="91440" bIns="45720">
            <a:spAutoFit/>
          </a:bodyPr>
          <a:lstStyle/>
          <a:p>
            <a:pPr algn="ctr"/>
            <a:r>
              <a:rPr lang="en-US" sz="4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Topology</a:t>
            </a:r>
          </a:p>
        </p:txBody>
      </p:sp>
      <p:pic>
        <p:nvPicPr>
          <p:cNvPr id="15" name="Picture 14">
            <a:extLst>
              <a:ext uri="{FF2B5EF4-FFF2-40B4-BE49-F238E27FC236}">
                <a16:creationId xmlns:a16="http://schemas.microsoft.com/office/drawing/2014/main" id="{106514A9-96D8-4846-84EC-D022C4DBB19C}"/>
              </a:ext>
            </a:extLst>
          </p:cNvPr>
          <p:cNvPicPr>
            <a:picLocks noChangeAspect="1"/>
          </p:cNvPicPr>
          <p:nvPr/>
        </p:nvPicPr>
        <p:blipFill rotWithShape="1">
          <a:blip r:embed="rId2"/>
          <a:srcRect l="29138" t="24369" r="27768" b="29205"/>
          <a:stretch/>
        </p:blipFill>
        <p:spPr>
          <a:xfrm>
            <a:off x="2856467" y="1446721"/>
            <a:ext cx="6542314" cy="3964558"/>
          </a:xfrm>
          <a:prstGeom prst="rect">
            <a:avLst/>
          </a:prstGeom>
        </p:spPr>
      </p:pic>
    </p:spTree>
    <p:extLst>
      <p:ext uri="{BB962C8B-B14F-4D97-AF65-F5344CB8AC3E}">
        <p14:creationId xmlns:p14="http://schemas.microsoft.com/office/powerpoint/2010/main" val="2868199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D3B5378-71E3-4A4C-B094-381AB0128277}"/>
              </a:ext>
            </a:extLst>
          </p:cNvPr>
          <p:cNvSpPr txBox="1"/>
          <p:nvPr/>
        </p:nvSpPr>
        <p:spPr>
          <a:xfrm>
            <a:off x="330373" y="1467101"/>
            <a:ext cx="5531947" cy="2345322"/>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sz="1900" dirty="0">
                <a:latin typeface="+mj-lt"/>
              </a:rPr>
              <a:t>establish an Eth-trunk link between S1 and S2</a:t>
            </a:r>
          </a:p>
          <a:p>
            <a:pPr marL="342900" indent="-342900">
              <a:lnSpc>
                <a:spcPct val="200000"/>
              </a:lnSpc>
              <a:buFont typeface="Wingdings" panose="05000000000000000000" pitchFamily="2" charset="2"/>
              <a:buChar char="ü"/>
            </a:pPr>
            <a:r>
              <a:rPr lang="en-US" sz="1900" dirty="0">
                <a:latin typeface="+mj-lt"/>
              </a:rPr>
              <a:t>On s2, add interfaces to an Eth-Trunk view</a:t>
            </a:r>
          </a:p>
        </p:txBody>
      </p:sp>
      <p:sp>
        <p:nvSpPr>
          <p:cNvPr id="26" name="Rectangle 25">
            <a:extLst>
              <a:ext uri="{FF2B5EF4-FFF2-40B4-BE49-F238E27FC236}">
                <a16:creationId xmlns:a16="http://schemas.microsoft.com/office/drawing/2014/main" id="{9B8944DA-4F4C-441B-875F-98A7A11EA176}"/>
              </a:ext>
            </a:extLst>
          </p:cNvPr>
          <p:cNvSpPr/>
          <p:nvPr/>
        </p:nvSpPr>
        <p:spPr>
          <a:xfrm>
            <a:off x="169747" y="123423"/>
            <a:ext cx="6378198"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Preparing the environment </a:t>
            </a:r>
          </a:p>
        </p:txBody>
      </p:sp>
      <p:pic>
        <p:nvPicPr>
          <p:cNvPr id="38" name="Picture 37">
            <a:extLst>
              <a:ext uri="{FF2B5EF4-FFF2-40B4-BE49-F238E27FC236}">
                <a16:creationId xmlns:a16="http://schemas.microsoft.com/office/drawing/2014/main" id="{AC94E08F-61F0-4779-A0BB-3593FB7E32E0}"/>
              </a:ext>
            </a:extLst>
          </p:cNvPr>
          <p:cNvPicPr>
            <a:picLocks noChangeAspect="1"/>
          </p:cNvPicPr>
          <p:nvPr/>
        </p:nvPicPr>
        <p:blipFill rotWithShape="1">
          <a:blip r:embed="rId2"/>
          <a:srcRect l="23190" t="36371" r="47930" b="35917"/>
          <a:stretch/>
        </p:blipFill>
        <p:spPr>
          <a:xfrm>
            <a:off x="6329682" y="1008992"/>
            <a:ext cx="4866289" cy="2626718"/>
          </a:xfrm>
          <a:prstGeom prst="rect">
            <a:avLst/>
          </a:prstGeom>
        </p:spPr>
      </p:pic>
      <p:pic>
        <p:nvPicPr>
          <p:cNvPr id="39" name="Picture 38">
            <a:extLst>
              <a:ext uri="{FF2B5EF4-FFF2-40B4-BE49-F238E27FC236}">
                <a16:creationId xmlns:a16="http://schemas.microsoft.com/office/drawing/2014/main" id="{94023E20-DDEC-4B51-9111-6857609C2305}"/>
              </a:ext>
            </a:extLst>
          </p:cNvPr>
          <p:cNvPicPr>
            <a:picLocks noChangeAspect="1"/>
          </p:cNvPicPr>
          <p:nvPr/>
        </p:nvPicPr>
        <p:blipFill rotWithShape="1">
          <a:blip r:embed="rId3"/>
          <a:srcRect t="67006" r="42874"/>
          <a:stretch/>
        </p:blipFill>
        <p:spPr>
          <a:xfrm>
            <a:off x="6316719" y="3942833"/>
            <a:ext cx="4221080" cy="1906175"/>
          </a:xfrm>
          <a:prstGeom prst="rect">
            <a:avLst/>
          </a:prstGeom>
        </p:spPr>
      </p:pic>
    </p:spTree>
    <p:extLst>
      <p:ext uri="{BB962C8B-B14F-4D97-AF65-F5344CB8AC3E}">
        <p14:creationId xmlns:p14="http://schemas.microsoft.com/office/powerpoint/2010/main" val="3214684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11948681"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Disable unused interfaces and establish a VLAN trunk</a:t>
            </a:r>
          </a:p>
        </p:txBody>
      </p:sp>
      <p:pic>
        <p:nvPicPr>
          <p:cNvPr id="3" name="Picture 2">
            <a:extLst>
              <a:ext uri="{FF2B5EF4-FFF2-40B4-BE49-F238E27FC236}">
                <a16:creationId xmlns:a16="http://schemas.microsoft.com/office/drawing/2014/main" id="{EFB362E4-3CAA-4314-B8A8-3CDD9766EC6A}"/>
              </a:ext>
            </a:extLst>
          </p:cNvPr>
          <p:cNvPicPr>
            <a:picLocks noChangeAspect="1"/>
          </p:cNvPicPr>
          <p:nvPr/>
        </p:nvPicPr>
        <p:blipFill rotWithShape="1">
          <a:blip r:embed="rId2"/>
          <a:srcRect l="22586" t="30416" r="51515" b="44926"/>
          <a:stretch/>
        </p:blipFill>
        <p:spPr>
          <a:xfrm>
            <a:off x="6373147" y="1016726"/>
            <a:ext cx="5083083" cy="2722154"/>
          </a:xfrm>
          <a:prstGeom prst="rect">
            <a:avLst/>
          </a:prstGeom>
        </p:spPr>
      </p:pic>
      <p:sp>
        <p:nvSpPr>
          <p:cNvPr id="4" name="TextBox 3">
            <a:extLst>
              <a:ext uri="{FF2B5EF4-FFF2-40B4-BE49-F238E27FC236}">
                <a16:creationId xmlns:a16="http://schemas.microsoft.com/office/drawing/2014/main" id="{A955F7C3-B4E7-406F-BC8B-27FC05A2C20B}"/>
              </a:ext>
            </a:extLst>
          </p:cNvPr>
          <p:cNvSpPr txBox="1"/>
          <p:nvPr/>
        </p:nvSpPr>
        <p:spPr>
          <a:xfrm>
            <a:off x="472966" y="1513490"/>
            <a:ext cx="5511274" cy="2810128"/>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2000" dirty="0">
                <a:latin typeface="+mj-lt"/>
              </a:rPr>
              <a:t>Unused interfaces must be disabled to ensure test result accuracy.</a:t>
            </a:r>
          </a:p>
          <a:p>
            <a:pPr marL="342900" indent="-342900">
              <a:lnSpc>
                <a:spcPct val="150000"/>
              </a:lnSpc>
              <a:buFont typeface="Wingdings" panose="05000000000000000000" pitchFamily="2" charset="2"/>
              <a:buChar char="ü"/>
            </a:pPr>
            <a:r>
              <a:rPr lang="en-US" sz="2000" dirty="0">
                <a:latin typeface="+mj-lt"/>
              </a:rPr>
              <a:t>In this lab, interfaces Ethernet 0/0/1 and Ethernet 0/0/7 on S3, Ethernet 0/0/1 and Ethernet 0/0/14 on S4 need to be shutdown.</a:t>
            </a:r>
          </a:p>
        </p:txBody>
      </p:sp>
      <p:pic>
        <p:nvPicPr>
          <p:cNvPr id="6" name="Picture 5">
            <a:extLst>
              <a:ext uri="{FF2B5EF4-FFF2-40B4-BE49-F238E27FC236}">
                <a16:creationId xmlns:a16="http://schemas.microsoft.com/office/drawing/2014/main" id="{F2ECC92B-C92F-49C4-8F88-ADF0453B50D3}"/>
              </a:ext>
            </a:extLst>
          </p:cNvPr>
          <p:cNvPicPr>
            <a:picLocks noChangeAspect="1"/>
          </p:cNvPicPr>
          <p:nvPr/>
        </p:nvPicPr>
        <p:blipFill rotWithShape="1">
          <a:blip r:embed="rId3"/>
          <a:srcRect l="24416" t="14216" r="59917" b="67852"/>
          <a:stretch/>
        </p:blipFill>
        <p:spPr>
          <a:xfrm>
            <a:off x="6373147" y="4033520"/>
            <a:ext cx="3489309" cy="2246588"/>
          </a:xfrm>
          <a:prstGeom prst="rect">
            <a:avLst/>
          </a:prstGeom>
        </p:spPr>
      </p:pic>
    </p:spTree>
    <p:extLst>
      <p:ext uri="{BB962C8B-B14F-4D97-AF65-F5344CB8AC3E}">
        <p14:creationId xmlns:p14="http://schemas.microsoft.com/office/powerpoint/2010/main" val="1516136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11948681"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Disable unused interfaces and establish a VLAN trunk</a:t>
            </a:r>
          </a:p>
        </p:txBody>
      </p:sp>
      <p:sp>
        <p:nvSpPr>
          <p:cNvPr id="4" name="TextBox 3">
            <a:extLst>
              <a:ext uri="{FF2B5EF4-FFF2-40B4-BE49-F238E27FC236}">
                <a16:creationId xmlns:a16="http://schemas.microsoft.com/office/drawing/2014/main" id="{A955F7C3-B4E7-406F-BC8B-27FC05A2C20B}"/>
              </a:ext>
            </a:extLst>
          </p:cNvPr>
          <p:cNvSpPr txBox="1"/>
          <p:nvPr/>
        </p:nvSpPr>
        <p:spPr>
          <a:xfrm>
            <a:off x="472966" y="1513490"/>
            <a:ext cx="5511274" cy="2810128"/>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2000" dirty="0">
                <a:latin typeface="+mj-lt"/>
              </a:rPr>
              <a:t>The link type of a switch port interface is hybrid by default. </a:t>
            </a:r>
          </a:p>
          <a:p>
            <a:pPr marL="342900" indent="-342900">
              <a:lnSpc>
                <a:spcPct val="150000"/>
              </a:lnSpc>
              <a:buFont typeface="Wingdings" panose="05000000000000000000" pitchFamily="2" charset="2"/>
              <a:buChar char="ü"/>
            </a:pPr>
            <a:r>
              <a:rPr lang="en-US" sz="2000" dirty="0">
                <a:latin typeface="+mj-lt"/>
              </a:rPr>
              <a:t>Configure the port link-type for Eth-Trunk 1 to become a trunk port. </a:t>
            </a:r>
          </a:p>
          <a:p>
            <a:pPr marL="342900" indent="-342900">
              <a:lnSpc>
                <a:spcPct val="150000"/>
              </a:lnSpc>
              <a:buFont typeface="Wingdings" panose="05000000000000000000" pitchFamily="2" charset="2"/>
              <a:buChar char="ü"/>
            </a:pPr>
            <a:r>
              <a:rPr lang="en-US" sz="2000" dirty="0">
                <a:latin typeface="+mj-lt"/>
              </a:rPr>
              <a:t>Additionally, allow all VLANS to be permitted over the trunk port.</a:t>
            </a:r>
          </a:p>
        </p:txBody>
      </p:sp>
      <p:pic>
        <p:nvPicPr>
          <p:cNvPr id="2" name="Picture 1">
            <a:extLst>
              <a:ext uri="{FF2B5EF4-FFF2-40B4-BE49-F238E27FC236}">
                <a16:creationId xmlns:a16="http://schemas.microsoft.com/office/drawing/2014/main" id="{0A5EC586-D4CF-4559-A749-839772CD1610}"/>
              </a:ext>
            </a:extLst>
          </p:cNvPr>
          <p:cNvPicPr>
            <a:picLocks noChangeAspect="1"/>
          </p:cNvPicPr>
          <p:nvPr/>
        </p:nvPicPr>
        <p:blipFill rotWithShape="1">
          <a:blip r:embed="rId2"/>
          <a:srcRect l="24917" t="43877" r="51333" b="33630"/>
          <a:stretch/>
        </p:blipFill>
        <p:spPr>
          <a:xfrm>
            <a:off x="6425674" y="1803399"/>
            <a:ext cx="5293360" cy="2819897"/>
          </a:xfrm>
          <a:prstGeom prst="rect">
            <a:avLst/>
          </a:prstGeom>
        </p:spPr>
      </p:pic>
    </p:spTree>
    <p:extLst>
      <p:ext uri="{BB962C8B-B14F-4D97-AF65-F5344CB8AC3E}">
        <p14:creationId xmlns:p14="http://schemas.microsoft.com/office/powerpoint/2010/main" val="3804013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4331133"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Configure VLANS</a:t>
            </a:r>
          </a:p>
        </p:txBody>
      </p:sp>
      <p:sp>
        <p:nvSpPr>
          <p:cNvPr id="36" name="TextBox 35">
            <a:extLst>
              <a:ext uri="{FF2B5EF4-FFF2-40B4-BE49-F238E27FC236}">
                <a16:creationId xmlns:a16="http://schemas.microsoft.com/office/drawing/2014/main" id="{5CCB090A-EFA5-4749-B317-190000441523}"/>
              </a:ext>
            </a:extLst>
          </p:cNvPr>
          <p:cNvSpPr txBox="1"/>
          <p:nvPr/>
        </p:nvSpPr>
        <p:spPr>
          <a:xfrm>
            <a:off x="477519" y="965954"/>
            <a:ext cx="11387959" cy="5541645"/>
          </a:xfrm>
          <a:prstGeom prst="rect">
            <a:avLst/>
          </a:prstGeom>
          <a:solidFill>
            <a:schemeClr val="bg1"/>
          </a:solidFill>
        </p:spPr>
        <p:txBody>
          <a:bodyPr wrap="square" rtlCol="0">
            <a:spAutoFit/>
          </a:bodyPr>
          <a:lstStyle/>
          <a:p>
            <a:pPr marL="342900" indent="-342900">
              <a:lnSpc>
                <a:spcPct val="200000"/>
              </a:lnSpc>
              <a:buFont typeface="Wingdings" panose="05000000000000000000" pitchFamily="2" charset="2"/>
              <a:buChar char="ü"/>
            </a:pPr>
            <a:r>
              <a:rPr lang="en-US" sz="2000" dirty="0">
                <a:latin typeface="+mj-lt"/>
              </a:rPr>
              <a:t>Use S3, R1 and S4 as non-VLAN aware hosts. </a:t>
            </a:r>
          </a:p>
          <a:p>
            <a:pPr marL="342900" indent="-342900">
              <a:lnSpc>
                <a:spcPct val="200000"/>
              </a:lnSpc>
              <a:buFont typeface="Wingdings" panose="05000000000000000000" pitchFamily="2" charset="2"/>
              <a:buChar char="ü"/>
            </a:pPr>
            <a:r>
              <a:rPr lang="en-US" sz="2000" dirty="0">
                <a:latin typeface="+mj-lt"/>
              </a:rPr>
              <a:t>There are two methods to create </a:t>
            </a:r>
            <a:r>
              <a:rPr lang="en-US" sz="2000" dirty="0" err="1">
                <a:latin typeface="+mj-lt"/>
              </a:rPr>
              <a:t>VLAns</a:t>
            </a:r>
            <a:r>
              <a:rPr lang="en-US" sz="2000" dirty="0">
                <a:latin typeface="+mj-lt"/>
              </a:rPr>
              <a:t> and two methods to bind interfaces to the created VLANs, S1 and S2 are used to demonstrate the two methods. </a:t>
            </a:r>
          </a:p>
          <a:p>
            <a:pPr marL="342900" indent="-342900">
              <a:lnSpc>
                <a:spcPct val="200000"/>
              </a:lnSpc>
              <a:buFont typeface="Wingdings" panose="05000000000000000000" pitchFamily="2" charset="2"/>
              <a:buChar char="ü"/>
            </a:pPr>
            <a:r>
              <a:rPr lang="en-US" sz="2000" dirty="0">
                <a:latin typeface="+mj-lt"/>
              </a:rPr>
              <a:t>All interfaces associated with hosts should be configured as access port. </a:t>
            </a:r>
          </a:p>
          <a:p>
            <a:pPr marL="342900" indent="-342900">
              <a:lnSpc>
                <a:spcPct val="200000"/>
              </a:lnSpc>
              <a:buFont typeface="Wingdings" panose="05000000000000000000" pitchFamily="2" charset="2"/>
              <a:buChar char="ü"/>
            </a:pPr>
            <a:r>
              <a:rPr lang="en-US" sz="2000" dirty="0">
                <a:latin typeface="+mj-lt"/>
              </a:rPr>
              <a:t> on S1, associate interface </a:t>
            </a:r>
            <a:r>
              <a:rPr lang="en-US" sz="2000" dirty="0" err="1">
                <a:latin typeface="+mj-lt"/>
              </a:rPr>
              <a:t>Gigabitethernet</a:t>
            </a:r>
            <a:r>
              <a:rPr lang="en-US" sz="2000" dirty="0">
                <a:latin typeface="+mj-lt"/>
              </a:rPr>
              <a:t> 0/0/13 with VLAN3, and interface </a:t>
            </a:r>
            <a:r>
              <a:rPr lang="en-US" sz="2000" dirty="0" err="1">
                <a:latin typeface="+mj-lt"/>
              </a:rPr>
              <a:t>Gigabitethernet</a:t>
            </a:r>
            <a:r>
              <a:rPr lang="en-US" sz="2000" dirty="0">
                <a:latin typeface="+mj-lt"/>
              </a:rPr>
              <a:t> 0/0/1 with VLAN4. </a:t>
            </a:r>
          </a:p>
          <a:p>
            <a:pPr marL="342900" indent="-342900">
              <a:lnSpc>
                <a:spcPct val="200000"/>
              </a:lnSpc>
              <a:buFont typeface="Wingdings" panose="05000000000000000000" pitchFamily="2" charset="2"/>
              <a:buChar char="ü"/>
            </a:pPr>
            <a:r>
              <a:rPr lang="en-US" sz="2000" dirty="0">
                <a:latin typeface="+mj-lt"/>
              </a:rPr>
              <a:t> on S2, associate interface </a:t>
            </a:r>
            <a:r>
              <a:rPr lang="en-US" sz="2000" dirty="0" err="1">
                <a:latin typeface="+mj-lt"/>
              </a:rPr>
              <a:t>Gigabitethernet</a:t>
            </a:r>
            <a:r>
              <a:rPr lang="en-US" sz="2000" dirty="0">
                <a:latin typeface="+mj-lt"/>
              </a:rPr>
              <a:t> 0/0/3 with VLAN4, and interface </a:t>
            </a:r>
            <a:r>
              <a:rPr lang="en-US" sz="2000" dirty="0" err="1">
                <a:latin typeface="+mj-lt"/>
              </a:rPr>
              <a:t>Gigabitethernet</a:t>
            </a:r>
            <a:r>
              <a:rPr lang="en-US" sz="2000" dirty="0">
                <a:latin typeface="+mj-lt"/>
              </a:rPr>
              <a:t> 0/0/6 with VLAN2</a:t>
            </a:r>
            <a:r>
              <a:rPr lang="en-US" sz="2000" dirty="0"/>
              <a:t>. </a:t>
            </a:r>
          </a:p>
          <a:p>
            <a:pPr marL="342900" indent="-342900">
              <a:lnSpc>
                <a:spcPct val="200000"/>
              </a:lnSpc>
              <a:buFont typeface="Wingdings" panose="05000000000000000000" pitchFamily="2" charset="2"/>
              <a:buChar char="ü"/>
            </a:pPr>
            <a:endParaRPr lang="en-US" sz="2000" dirty="0">
              <a:latin typeface="+mj-lt"/>
            </a:endParaRPr>
          </a:p>
        </p:txBody>
      </p:sp>
    </p:spTree>
    <p:extLst>
      <p:ext uri="{BB962C8B-B14F-4D97-AF65-F5344CB8AC3E}">
        <p14:creationId xmlns:p14="http://schemas.microsoft.com/office/powerpoint/2010/main" val="3468642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4331133"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Configure VLANS</a:t>
            </a:r>
          </a:p>
        </p:txBody>
      </p:sp>
      <p:pic>
        <p:nvPicPr>
          <p:cNvPr id="2" name="Picture 1">
            <a:extLst>
              <a:ext uri="{FF2B5EF4-FFF2-40B4-BE49-F238E27FC236}">
                <a16:creationId xmlns:a16="http://schemas.microsoft.com/office/drawing/2014/main" id="{605E101E-83E5-4074-9C69-8FE5D86277ED}"/>
              </a:ext>
            </a:extLst>
          </p:cNvPr>
          <p:cNvPicPr>
            <a:picLocks noChangeAspect="1"/>
          </p:cNvPicPr>
          <p:nvPr/>
        </p:nvPicPr>
        <p:blipFill rotWithShape="1">
          <a:blip r:embed="rId2"/>
          <a:srcRect l="24834" t="56373" r="51945" b="16297"/>
          <a:stretch/>
        </p:blipFill>
        <p:spPr>
          <a:xfrm>
            <a:off x="364008" y="1274564"/>
            <a:ext cx="5868626" cy="3885184"/>
          </a:xfrm>
          <a:prstGeom prst="rect">
            <a:avLst/>
          </a:prstGeom>
        </p:spPr>
      </p:pic>
      <p:pic>
        <p:nvPicPr>
          <p:cNvPr id="3" name="Picture 2">
            <a:extLst>
              <a:ext uri="{FF2B5EF4-FFF2-40B4-BE49-F238E27FC236}">
                <a16:creationId xmlns:a16="http://schemas.microsoft.com/office/drawing/2014/main" id="{971CBAF0-76C5-4783-B9CF-22BE311D5996}"/>
              </a:ext>
            </a:extLst>
          </p:cNvPr>
          <p:cNvPicPr>
            <a:picLocks noChangeAspect="1"/>
          </p:cNvPicPr>
          <p:nvPr/>
        </p:nvPicPr>
        <p:blipFill rotWithShape="1">
          <a:blip r:embed="rId3"/>
          <a:srcRect l="25225" t="17165" r="52860" b="51264"/>
          <a:stretch/>
        </p:blipFill>
        <p:spPr>
          <a:xfrm>
            <a:off x="6327225" y="1070202"/>
            <a:ext cx="5595357" cy="4534254"/>
          </a:xfrm>
          <a:prstGeom prst="rect">
            <a:avLst/>
          </a:prstGeom>
        </p:spPr>
      </p:pic>
    </p:spTree>
    <p:extLst>
      <p:ext uri="{BB962C8B-B14F-4D97-AF65-F5344CB8AC3E}">
        <p14:creationId xmlns:p14="http://schemas.microsoft.com/office/powerpoint/2010/main" val="3030394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3981839"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Configure VLANs</a:t>
            </a:r>
          </a:p>
        </p:txBody>
      </p:sp>
      <p:pic>
        <p:nvPicPr>
          <p:cNvPr id="3" name="Picture 2">
            <a:extLst>
              <a:ext uri="{FF2B5EF4-FFF2-40B4-BE49-F238E27FC236}">
                <a16:creationId xmlns:a16="http://schemas.microsoft.com/office/drawing/2014/main" id="{D31E08A9-3170-45E2-AC3F-89ADA9D3C15D}"/>
              </a:ext>
            </a:extLst>
          </p:cNvPr>
          <p:cNvPicPr>
            <a:picLocks noChangeAspect="1"/>
          </p:cNvPicPr>
          <p:nvPr/>
        </p:nvPicPr>
        <p:blipFill rotWithShape="1">
          <a:blip r:embed="rId2"/>
          <a:srcRect l="24656" t="19969" r="34828" b="14482"/>
          <a:stretch/>
        </p:blipFill>
        <p:spPr>
          <a:xfrm>
            <a:off x="262759" y="1231419"/>
            <a:ext cx="5707116" cy="5193510"/>
          </a:xfrm>
          <a:prstGeom prst="rect">
            <a:avLst/>
          </a:prstGeom>
        </p:spPr>
      </p:pic>
      <p:sp>
        <p:nvSpPr>
          <p:cNvPr id="4" name="TextBox 3">
            <a:extLst>
              <a:ext uri="{FF2B5EF4-FFF2-40B4-BE49-F238E27FC236}">
                <a16:creationId xmlns:a16="http://schemas.microsoft.com/office/drawing/2014/main" id="{6B95A38B-A4B8-4162-8B44-BAA97B6A67C2}"/>
              </a:ext>
            </a:extLst>
          </p:cNvPr>
          <p:cNvSpPr txBox="1"/>
          <p:nvPr/>
        </p:nvSpPr>
        <p:spPr>
          <a:xfrm flipH="1">
            <a:off x="395976" y="831309"/>
            <a:ext cx="11400047" cy="400110"/>
          </a:xfrm>
          <a:prstGeom prst="rect">
            <a:avLst/>
          </a:prstGeom>
          <a:noFill/>
        </p:spPr>
        <p:txBody>
          <a:bodyPr wrap="square" rtlCol="0">
            <a:spAutoFit/>
          </a:bodyPr>
          <a:lstStyle/>
          <a:p>
            <a:r>
              <a:rPr lang="en-US" sz="2000" dirty="0">
                <a:latin typeface="+mj-lt"/>
              </a:rPr>
              <a:t>Verify that the VLAN configuration has been correctly applied to S1 and S2.</a:t>
            </a:r>
            <a:endParaRPr lang="en-US" dirty="0">
              <a:latin typeface="+mj-lt"/>
            </a:endParaRPr>
          </a:p>
        </p:txBody>
      </p:sp>
      <p:pic>
        <p:nvPicPr>
          <p:cNvPr id="5" name="Picture 4">
            <a:extLst>
              <a:ext uri="{FF2B5EF4-FFF2-40B4-BE49-F238E27FC236}">
                <a16:creationId xmlns:a16="http://schemas.microsoft.com/office/drawing/2014/main" id="{C063CC5D-E8DC-40BC-9899-CF122B4F869E}"/>
              </a:ext>
            </a:extLst>
          </p:cNvPr>
          <p:cNvPicPr>
            <a:picLocks noChangeAspect="1"/>
          </p:cNvPicPr>
          <p:nvPr/>
        </p:nvPicPr>
        <p:blipFill rotWithShape="1">
          <a:blip r:embed="rId3"/>
          <a:srcRect l="25086" t="16399" r="35345" b="19387"/>
          <a:stretch/>
        </p:blipFill>
        <p:spPr>
          <a:xfrm>
            <a:off x="6222127" y="1381380"/>
            <a:ext cx="5475890" cy="4998688"/>
          </a:xfrm>
          <a:prstGeom prst="rect">
            <a:avLst/>
          </a:prstGeom>
        </p:spPr>
      </p:pic>
    </p:spTree>
    <p:extLst>
      <p:ext uri="{BB962C8B-B14F-4D97-AF65-F5344CB8AC3E}">
        <p14:creationId xmlns:p14="http://schemas.microsoft.com/office/powerpoint/2010/main" val="768985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7839136"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Configure IP address for each VLAN </a:t>
            </a:r>
          </a:p>
        </p:txBody>
      </p:sp>
      <p:pic>
        <p:nvPicPr>
          <p:cNvPr id="3" name="Picture 2">
            <a:extLst>
              <a:ext uri="{FF2B5EF4-FFF2-40B4-BE49-F238E27FC236}">
                <a16:creationId xmlns:a16="http://schemas.microsoft.com/office/drawing/2014/main" id="{7298D6DE-8D07-4871-B1E9-74E87EBBC57A}"/>
              </a:ext>
            </a:extLst>
          </p:cNvPr>
          <p:cNvPicPr>
            <a:picLocks noChangeAspect="1"/>
          </p:cNvPicPr>
          <p:nvPr/>
        </p:nvPicPr>
        <p:blipFill rotWithShape="1">
          <a:blip r:embed="rId2"/>
          <a:srcRect l="25518" t="33563" r="52154" b="44215"/>
          <a:stretch/>
        </p:blipFill>
        <p:spPr>
          <a:xfrm>
            <a:off x="6096000" y="1156138"/>
            <a:ext cx="4073881" cy="2280746"/>
          </a:xfrm>
          <a:prstGeom prst="rect">
            <a:avLst/>
          </a:prstGeom>
        </p:spPr>
      </p:pic>
      <p:sp>
        <p:nvSpPr>
          <p:cNvPr id="4" name="TextBox 3">
            <a:extLst>
              <a:ext uri="{FF2B5EF4-FFF2-40B4-BE49-F238E27FC236}">
                <a16:creationId xmlns:a16="http://schemas.microsoft.com/office/drawing/2014/main" id="{5D8C2604-F811-45FB-8976-BE3A043625B2}"/>
              </a:ext>
            </a:extLst>
          </p:cNvPr>
          <p:cNvSpPr txBox="1"/>
          <p:nvPr/>
        </p:nvSpPr>
        <p:spPr>
          <a:xfrm>
            <a:off x="462455" y="1156138"/>
            <a:ext cx="5318234" cy="3271793"/>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2000" dirty="0">
                <a:latin typeface="+mj-lt"/>
              </a:rPr>
              <a:t>Configure IP addresses on hosts, R1, S3, R3 and S4 as part of the respective VLANs.</a:t>
            </a:r>
          </a:p>
          <a:p>
            <a:pPr marL="342900" indent="-342900">
              <a:lnSpc>
                <a:spcPct val="150000"/>
              </a:lnSpc>
              <a:buFont typeface="Wingdings" panose="05000000000000000000" pitchFamily="2" charset="2"/>
              <a:buChar char="ü"/>
            </a:pPr>
            <a:r>
              <a:rPr lang="en-US" sz="2000" dirty="0">
                <a:latin typeface="+mj-lt"/>
              </a:rPr>
              <a:t>Physical port interfaces on switches cannot be configured the native management interface Vlanif1 with the IP address for the switch.</a:t>
            </a:r>
          </a:p>
        </p:txBody>
      </p:sp>
      <p:pic>
        <p:nvPicPr>
          <p:cNvPr id="5" name="Picture 4">
            <a:extLst>
              <a:ext uri="{FF2B5EF4-FFF2-40B4-BE49-F238E27FC236}">
                <a16:creationId xmlns:a16="http://schemas.microsoft.com/office/drawing/2014/main" id="{5A64BD64-B045-475D-9A76-07A4B1ABAEB9}"/>
              </a:ext>
            </a:extLst>
          </p:cNvPr>
          <p:cNvPicPr>
            <a:picLocks noChangeAspect="1"/>
          </p:cNvPicPr>
          <p:nvPr/>
        </p:nvPicPr>
        <p:blipFill rotWithShape="1">
          <a:blip r:embed="rId3"/>
          <a:srcRect l="25862" t="14100" r="51897" b="66130"/>
          <a:stretch/>
        </p:blipFill>
        <p:spPr>
          <a:xfrm>
            <a:off x="6014752" y="3761713"/>
            <a:ext cx="4561496" cy="2280746"/>
          </a:xfrm>
          <a:prstGeom prst="rect">
            <a:avLst/>
          </a:prstGeom>
        </p:spPr>
      </p:pic>
    </p:spTree>
    <p:extLst>
      <p:ext uri="{BB962C8B-B14F-4D97-AF65-F5344CB8AC3E}">
        <p14:creationId xmlns:p14="http://schemas.microsoft.com/office/powerpoint/2010/main" val="1353301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11286529"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Verify the configuration by checking the connectivity</a:t>
            </a:r>
          </a:p>
        </p:txBody>
      </p:sp>
      <p:sp>
        <p:nvSpPr>
          <p:cNvPr id="36" name="TextBox 35">
            <a:extLst>
              <a:ext uri="{FF2B5EF4-FFF2-40B4-BE49-F238E27FC236}">
                <a16:creationId xmlns:a16="http://schemas.microsoft.com/office/drawing/2014/main" id="{5CCB090A-EFA5-4749-B317-190000441523}"/>
              </a:ext>
            </a:extLst>
          </p:cNvPr>
          <p:cNvSpPr txBox="1"/>
          <p:nvPr/>
        </p:nvSpPr>
        <p:spPr>
          <a:xfrm>
            <a:off x="477519" y="965954"/>
            <a:ext cx="11286529" cy="1672637"/>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dirty="0">
                <a:latin typeface="+mj-lt"/>
              </a:rPr>
              <a:t>Use the </a:t>
            </a:r>
            <a:r>
              <a:rPr lang="en-US" b="1" dirty="0">
                <a:latin typeface="+mj-lt"/>
              </a:rPr>
              <a:t>ping</a:t>
            </a:r>
            <a:r>
              <a:rPr lang="en-US" dirty="0">
                <a:latin typeface="+mj-lt"/>
              </a:rPr>
              <a:t> command, R1 and R3 in VLAN 4 should be able to communicate with one another. </a:t>
            </a:r>
          </a:p>
          <a:p>
            <a:pPr marL="342900" indent="-342900">
              <a:lnSpc>
                <a:spcPct val="200000"/>
              </a:lnSpc>
              <a:buFont typeface="Wingdings" panose="05000000000000000000" pitchFamily="2" charset="2"/>
              <a:buChar char="ü"/>
            </a:pPr>
            <a:r>
              <a:rPr lang="en-US" dirty="0">
                <a:latin typeface="+mj-lt"/>
              </a:rPr>
              <a:t>Devices in other VLANs should be unable to communicate. </a:t>
            </a:r>
          </a:p>
        </p:txBody>
      </p:sp>
      <p:pic>
        <p:nvPicPr>
          <p:cNvPr id="4" name="Picture 3">
            <a:extLst>
              <a:ext uri="{FF2B5EF4-FFF2-40B4-BE49-F238E27FC236}">
                <a16:creationId xmlns:a16="http://schemas.microsoft.com/office/drawing/2014/main" id="{0E1A90C6-B452-4091-B517-8D00146F5193}"/>
              </a:ext>
            </a:extLst>
          </p:cNvPr>
          <p:cNvPicPr>
            <a:picLocks noChangeAspect="1"/>
          </p:cNvPicPr>
          <p:nvPr/>
        </p:nvPicPr>
        <p:blipFill rotWithShape="1">
          <a:blip r:embed="rId2"/>
          <a:srcRect l="25603" t="51954" r="44224" b="10804"/>
          <a:stretch/>
        </p:blipFill>
        <p:spPr>
          <a:xfrm>
            <a:off x="321617" y="2773236"/>
            <a:ext cx="5013435" cy="3480757"/>
          </a:xfrm>
          <a:prstGeom prst="rect">
            <a:avLst/>
          </a:prstGeom>
        </p:spPr>
      </p:pic>
      <p:pic>
        <p:nvPicPr>
          <p:cNvPr id="5" name="Picture 4">
            <a:extLst>
              <a:ext uri="{FF2B5EF4-FFF2-40B4-BE49-F238E27FC236}">
                <a16:creationId xmlns:a16="http://schemas.microsoft.com/office/drawing/2014/main" id="{049C53A8-C934-4B02-8BE9-F30EABA2D48B}"/>
              </a:ext>
            </a:extLst>
          </p:cNvPr>
          <p:cNvPicPr>
            <a:picLocks noChangeAspect="1"/>
          </p:cNvPicPr>
          <p:nvPr/>
        </p:nvPicPr>
        <p:blipFill rotWithShape="1">
          <a:blip r:embed="rId3"/>
          <a:srcRect l="25862" t="12122" r="48500" b="52184"/>
          <a:stretch/>
        </p:blipFill>
        <p:spPr>
          <a:xfrm>
            <a:off x="6978869" y="2747561"/>
            <a:ext cx="4477407" cy="3506432"/>
          </a:xfrm>
          <a:prstGeom prst="rect">
            <a:avLst/>
          </a:prstGeom>
        </p:spPr>
      </p:pic>
    </p:spTree>
    <p:extLst>
      <p:ext uri="{BB962C8B-B14F-4D97-AF65-F5344CB8AC3E}">
        <p14:creationId xmlns:p14="http://schemas.microsoft.com/office/powerpoint/2010/main" val="2045167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6451770"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Configured a hybrid interface </a:t>
            </a:r>
          </a:p>
        </p:txBody>
      </p:sp>
      <p:pic>
        <p:nvPicPr>
          <p:cNvPr id="2" name="Picture 1">
            <a:extLst>
              <a:ext uri="{FF2B5EF4-FFF2-40B4-BE49-F238E27FC236}">
                <a16:creationId xmlns:a16="http://schemas.microsoft.com/office/drawing/2014/main" id="{A2696F2F-D645-42E9-9BED-68F42AF71E41}"/>
              </a:ext>
            </a:extLst>
          </p:cNvPr>
          <p:cNvPicPr>
            <a:picLocks noChangeAspect="1"/>
          </p:cNvPicPr>
          <p:nvPr/>
        </p:nvPicPr>
        <p:blipFill rotWithShape="1">
          <a:blip r:embed="rId2"/>
          <a:srcRect l="25258" t="40550" r="48103" b="11264"/>
          <a:stretch/>
        </p:blipFill>
        <p:spPr>
          <a:xfrm>
            <a:off x="7427818" y="1252437"/>
            <a:ext cx="4594434" cy="4674912"/>
          </a:xfrm>
          <a:prstGeom prst="rect">
            <a:avLst/>
          </a:prstGeom>
        </p:spPr>
      </p:pic>
      <p:sp>
        <p:nvSpPr>
          <p:cNvPr id="5" name="TextBox 4">
            <a:extLst>
              <a:ext uri="{FF2B5EF4-FFF2-40B4-BE49-F238E27FC236}">
                <a16:creationId xmlns:a16="http://schemas.microsoft.com/office/drawing/2014/main" id="{0A0B6A88-B6A8-46EF-A174-0A45D97521D3}"/>
              </a:ext>
            </a:extLst>
          </p:cNvPr>
          <p:cNvSpPr txBox="1"/>
          <p:nvPr/>
        </p:nvSpPr>
        <p:spPr>
          <a:xfrm>
            <a:off x="169748" y="1178867"/>
            <a:ext cx="6987797" cy="51184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000" dirty="0">
                <a:latin typeface="+mj-lt"/>
              </a:rPr>
              <a:t>Use the hybrid port link type to allow VLAN tagging to be closely managed at a port interface level. </a:t>
            </a:r>
          </a:p>
          <a:p>
            <a:pPr marL="342900" indent="-342900" algn="just">
              <a:lnSpc>
                <a:spcPct val="150000"/>
              </a:lnSpc>
              <a:buFont typeface="Wingdings" panose="05000000000000000000" pitchFamily="2" charset="2"/>
              <a:buChar char="ü"/>
            </a:pPr>
            <a:r>
              <a:rPr lang="en-US" sz="2000" dirty="0">
                <a:latin typeface="+mj-lt"/>
              </a:rPr>
              <a:t>We shall use hybrid ports to allow tagged frames from VLAN 4 to be received by VLAN 2 and vice versa. </a:t>
            </a:r>
          </a:p>
          <a:p>
            <a:pPr marL="342900" indent="-342900" algn="just">
              <a:lnSpc>
                <a:spcPct val="150000"/>
              </a:lnSpc>
              <a:buFont typeface="Wingdings" panose="05000000000000000000" pitchFamily="2" charset="2"/>
              <a:buChar char="ü"/>
            </a:pPr>
            <a:r>
              <a:rPr lang="en-US" sz="2000" dirty="0">
                <a:latin typeface="+mj-lt"/>
              </a:rPr>
              <a:t>Set the port link type of port interface </a:t>
            </a:r>
            <a:r>
              <a:rPr lang="en-US" sz="2000" dirty="0" err="1">
                <a:latin typeface="+mj-lt"/>
              </a:rPr>
              <a:t>Gigabitethernet</a:t>
            </a:r>
            <a:r>
              <a:rPr lang="en-US" sz="2000" dirty="0">
                <a:latin typeface="+mj-lt"/>
              </a:rPr>
              <a:t> 0/0/1 of port S1 and the interfaces </a:t>
            </a:r>
            <a:r>
              <a:rPr lang="en-US" sz="2000" dirty="0" err="1">
                <a:latin typeface="+mj-lt"/>
              </a:rPr>
              <a:t>Gigabirethernet</a:t>
            </a:r>
            <a:r>
              <a:rPr lang="en-US" sz="2000" dirty="0">
                <a:latin typeface="+mj-lt"/>
              </a:rPr>
              <a:t> 0/0/3 and 0/0/6 of S2 as hybrid ports.</a:t>
            </a:r>
          </a:p>
          <a:p>
            <a:pPr marL="342900" indent="-342900" algn="just">
              <a:lnSpc>
                <a:spcPct val="150000"/>
              </a:lnSpc>
              <a:buFont typeface="Wingdings" panose="05000000000000000000" pitchFamily="2" charset="2"/>
              <a:buChar char="ü"/>
            </a:pPr>
            <a:r>
              <a:rPr lang="en-US" sz="2000" dirty="0">
                <a:latin typeface="+mj-lt"/>
              </a:rPr>
              <a:t>  additionally, set the hybrid ports to </a:t>
            </a:r>
            <a:r>
              <a:rPr lang="en-US" sz="2000" dirty="0" err="1">
                <a:latin typeface="+mj-lt"/>
              </a:rPr>
              <a:t>untag</a:t>
            </a:r>
            <a:r>
              <a:rPr lang="en-US" sz="2000" dirty="0">
                <a:latin typeface="+mj-lt"/>
              </a:rPr>
              <a:t> all frames associated with VLAN2 and 4.</a:t>
            </a:r>
          </a:p>
        </p:txBody>
      </p:sp>
    </p:spTree>
    <p:extLst>
      <p:ext uri="{BB962C8B-B14F-4D97-AF65-F5344CB8AC3E}">
        <p14:creationId xmlns:p14="http://schemas.microsoft.com/office/powerpoint/2010/main" val="339283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6451770"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Configured a hybrid interface </a:t>
            </a:r>
          </a:p>
        </p:txBody>
      </p:sp>
      <p:sp>
        <p:nvSpPr>
          <p:cNvPr id="5" name="TextBox 4">
            <a:extLst>
              <a:ext uri="{FF2B5EF4-FFF2-40B4-BE49-F238E27FC236}">
                <a16:creationId xmlns:a16="http://schemas.microsoft.com/office/drawing/2014/main" id="{0A0B6A88-B6A8-46EF-A174-0A45D97521D3}"/>
              </a:ext>
            </a:extLst>
          </p:cNvPr>
          <p:cNvSpPr txBox="1"/>
          <p:nvPr/>
        </p:nvSpPr>
        <p:spPr>
          <a:xfrm>
            <a:off x="169749" y="1178867"/>
            <a:ext cx="5674004" cy="373345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000" dirty="0">
                <a:latin typeface="+mj-lt"/>
              </a:rPr>
              <a:t>The port hybrid </a:t>
            </a:r>
            <a:r>
              <a:rPr lang="en-US" sz="2000" dirty="0" err="1">
                <a:latin typeface="+mj-lt"/>
              </a:rPr>
              <a:t>pvid</a:t>
            </a:r>
            <a:r>
              <a:rPr lang="en-US" sz="2000" dirty="0">
                <a:latin typeface="+mj-lt"/>
              </a:rPr>
              <a:t> </a:t>
            </a:r>
            <a:r>
              <a:rPr lang="en-US" sz="2000" dirty="0" err="1">
                <a:latin typeface="+mj-lt"/>
              </a:rPr>
              <a:t>vlan</a:t>
            </a:r>
            <a:r>
              <a:rPr lang="en-US" sz="2000" dirty="0">
                <a:latin typeface="+mj-lt"/>
              </a:rPr>
              <a:t> command will ensure frames received from the host are tagged with the appropriate VLAN tag. </a:t>
            </a:r>
          </a:p>
          <a:p>
            <a:pPr marL="342900" indent="-342900" algn="just">
              <a:lnSpc>
                <a:spcPct val="150000"/>
              </a:lnSpc>
              <a:buFont typeface="Wingdings" panose="05000000000000000000" pitchFamily="2" charset="2"/>
              <a:buChar char="ü"/>
            </a:pPr>
            <a:r>
              <a:rPr lang="en-US" sz="2000" dirty="0">
                <a:latin typeface="+mj-lt"/>
              </a:rPr>
              <a:t>frames received from VLAN 2 or 4 will be </a:t>
            </a:r>
            <a:r>
              <a:rPr lang="en-US" sz="2000" dirty="0" err="1">
                <a:latin typeface="+mj-lt"/>
              </a:rPr>
              <a:t>intagged</a:t>
            </a:r>
            <a:r>
              <a:rPr lang="en-US" sz="2000" dirty="0">
                <a:latin typeface="+mj-lt"/>
              </a:rPr>
              <a:t> at the interface before being forwarded to the host. </a:t>
            </a:r>
          </a:p>
          <a:p>
            <a:pPr marL="342900" indent="-342900" algn="just">
              <a:lnSpc>
                <a:spcPct val="150000"/>
              </a:lnSpc>
              <a:buFont typeface="Wingdings" panose="05000000000000000000" pitchFamily="2" charset="2"/>
              <a:buChar char="ü"/>
            </a:pPr>
            <a:r>
              <a:rPr lang="en-US" sz="2000" dirty="0">
                <a:latin typeface="+mj-lt"/>
              </a:rPr>
              <a:t>Use the ping command to verify that R3 in VLAN  4 is still reachable </a:t>
            </a:r>
          </a:p>
        </p:txBody>
      </p:sp>
      <p:pic>
        <p:nvPicPr>
          <p:cNvPr id="3" name="Picture 2">
            <a:extLst>
              <a:ext uri="{FF2B5EF4-FFF2-40B4-BE49-F238E27FC236}">
                <a16:creationId xmlns:a16="http://schemas.microsoft.com/office/drawing/2014/main" id="{5A481554-A44A-4701-8CC2-FA571BF24D18}"/>
              </a:ext>
            </a:extLst>
          </p:cNvPr>
          <p:cNvPicPr>
            <a:picLocks noChangeAspect="1"/>
          </p:cNvPicPr>
          <p:nvPr/>
        </p:nvPicPr>
        <p:blipFill rotWithShape="1">
          <a:blip r:embed="rId2"/>
          <a:srcRect l="29224" t="30139" r="44310" b="51930"/>
          <a:stretch/>
        </p:blipFill>
        <p:spPr>
          <a:xfrm>
            <a:off x="6253655" y="1095487"/>
            <a:ext cx="5674003" cy="2162404"/>
          </a:xfrm>
          <a:prstGeom prst="rect">
            <a:avLst/>
          </a:prstGeom>
        </p:spPr>
      </p:pic>
      <p:pic>
        <p:nvPicPr>
          <p:cNvPr id="6" name="Picture 5">
            <a:extLst>
              <a:ext uri="{FF2B5EF4-FFF2-40B4-BE49-F238E27FC236}">
                <a16:creationId xmlns:a16="http://schemas.microsoft.com/office/drawing/2014/main" id="{5F0B4632-0D1D-4B18-AC38-57F7E649BC93}"/>
              </a:ext>
            </a:extLst>
          </p:cNvPr>
          <p:cNvPicPr>
            <a:picLocks noChangeAspect="1"/>
          </p:cNvPicPr>
          <p:nvPr/>
        </p:nvPicPr>
        <p:blipFill rotWithShape="1">
          <a:blip r:embed="rId2"/>
          <a:srcRect l="29914" t="78320" r="53966" b="9272"/>
          <a:stretch/>
        </p:blipFill>
        <p:spPr>
          <a:xfrm>
            <a:off x="6484883" y="3257891"/>
            <a:ext cx="3436882" cy="1488074"/>
          </a:xfrm>
          <a:prstGeom prst="rect">
            <a:avLst/>
          </a:prstGeom>
        </p:spPr>
      </p:pic>
    </p:spTree>
    <p:extLst>
      <p:ext uri="{BB962C8B-B14F-4D97-AF65-F5344CB8AC3E}">
        <p14:creationId xmlns:p14="http://schemas.microsoft.com/office/powerpoint/2010/main" val="3509203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6451770"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Configured a hybrid interface </a:t>
            </a:r>
          </a:p>
        </p:txBody>
      </p:sp>
      <p:sp>
        <p:nvSpPr>
          <p:cNvPr id="5" name="TextBox 4">
            <a:extLst>
              <a:ext uri="{FF2B5EF4-FFF2-40B4-BE49-F238E27FC236}">
                <a16:creationId xmlns:a16="http://schemas.microsoft.com/office/drawing/2014/main" id="{0A0B6A88-B6A8-46EF-A174-0A45D97521D3}"/>
              </a:ext>
            </a:extLst>
          </p:cNvPr>
          <p:cNvSpPr txBox="1"/>
          <p:nvPr/>
        </p:nvSpPr>
        <p:spPr>
          <a:xfrm>
            <a:off x="304799" y="1357746"/>
            <a:ext cx="5654569" cy="373345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000" dirty="0">
                <a:latin typeface="+mj-lt"/>
              </a:rPr>
              <a:t>Use the ping command to test whether S4 in VLAN2 is now reachable from R1 in VLAN4.</a:t>
            </a:r>
          </a:p>
          <a:p>
            <a:pPr marL="342900" indent="-342900" algn="just">
              <a:lnSpc>
                <a:spcPct val="150000"/>
              </a:lnSpc>
              <a:buFont typeface="Wingdings" panose="05000000000000000000" pitchFamily="2" charset="2"/>
              <a:buChar char="ü"/>
            </a:pPr>
            <a:r>
              <a:rPr lang="en-US" sz="2000" dirty="0">
                <a:latin typeface="+mj-lt"/>
              </a:rPr>
              <a:t>In using the hybrid port link type, frames originating from VLAN4 are now able to be  received by VLAN2 and vice versa, whilst still being unable to reach the host address of 10.0.4.2 in VLAN3.</a:t>
            </a:r>
          </a:p>
        </p:txBody>
      </p:sp>
      <p:pic>
        <p:nvPicPr>
          <p:cNvPr id="2" name="Picture 1">
            <a:extLst>
              <a:ext uri="{FF2B5EF4-FFF2-40B4-BE49-F238E27FC236}">
                <a16:creationId xmlns:a16="http://schemas.microsoft.com/office/drawing/2014/main" id="{5A706312-ED63-4CD3-BF07-D889DF129787}"/>
              </a:ext>
            </a:extLst>
          </p:cNvPr>
          <p:cNvPicPr>
            <a:picLocks noChangeAspect="1"/>
          </p:cNvPicPr>
          <p:nvPr/>
        </p:nvPicPr>
        <p:blipFill rotWithShape="1">
          <a:blip r:embed="rId2"/>
          <a:srcRect l="20431" t="25951" r="42155" b="28613"/>
          <a:stretch/>
        </p:blipFill>
        <p:spPr>
          <a:xfrm>
            <a:off x="5959368" y="1362050"/>
            <a:ext cx="6053958" cy="4135650"/>
          </a:xfrm>
          <a:prstGeom prst="rect">
            <a:avLst/>
          </a:prstGeom>
        </p:spPr>
      </p:pic>
    </p:spTree>
    <p:extLst>
      <p:ext uri="{BB962C8B-B14F-4D97-AF65-F5344CB8AC3E}">
        <p14:creationId xmlns:p14="http://schemas.microsoft.com/office/powerpoint/2010/main" val="1047578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4778172"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Final configuration </a:t>
            </a:r>
          </a:p>
        </p:txBody>
      </p:sp>
      <p:pic>
        <p:nvPicPr>
          <p:cNvPr id="7" name="Picture 6">
            <a:extLst>
              <a:ext uri="{FF2B5EF4-FFF2-40B4-BE49-F238E27FC236}">
                <a16:creationId xmlns:a16="http://schemas.microsoft.com/office/drawing/2014/main" id="{BA0DDA33-AEEA-4A90-A6A7-B04FD919DABC}"/>
              </a:ext>
            </a:extLst>
          </p:cNvPr>
          <p:cNvPicPr>
            <a:picLocks noChangeAspect="1"/>
          </p:cNvPicPr>
          <p:nvPr/>
        </p:nvPicPr>
        <p:blipFill rotWithShape="1">
          <a:blip r:embed="rId2"/>
          <a:srcRect l="19310" t="13640" r="59417" b="45747"/>
          <a:stretch/>
        </p:blipFill>
        <p:spPr>
          <a:xfrm>
            <a:off x="304798" y="998483"/>
            <a:ext cx="3836576" cy="4120056"/>
          </a:xfrm>
          <a:prstGeom prst="rect">
            <a:avLst/>
          </a:prstGeom>
        </p:spPr>
      </p:pic>
      <p:pic>
        <p:nvPicPr>
          <p:cNvPr id="8" name="Picture 7">
            <a:extLst>
              <a:ext uri="{FF2B5EF4-FFF2-40B4-BE49-F238E27FC236}">
                <a16:creationId xmlns:a16="http://schemas.microsoft.com/office/drawing/2014/main" id="{B0BB4CDF-C851-4432-AD9B-1D515B0535F7}"/>
              </a:ext>
            </a:extLst>
          </p:cNvPr>
          <p:cNvPicPr>
            <a:picLocks noChangeAspect="1"/>
          </p:cNvPicPr>
          <p:nvPr/>
        </p:nvPicPr>
        <p:blipFill rotWithShape="1">
          <a:blip r:embed="rId3"/>
          <a:srcRect l="33968" t="10881" r="53190" b="55402"/>
          <a:stretch/>
        </p:blipFill>
        <p:spPr>
          <a:xfrm>
            <a:off x="4141374" y="746234"/>
            <a:ext cx="3622560" cy="5349766"/>
          </a:xfrm>
          <a:prstGeom prst="rect">
            <a:avLst/>
          </a:prstGeom>
        </p:spPr>
      </p:pic>
      <p:pic>
        <p:nvPicPr>
          <p:cNvPr id="10" name="Picture 9">
            <a:extLst>
              <a:ext uri="{FF2B5EF4-FFF2-40B4-BE49-F238E27FC236}">
                <a16:creationId xmlns:a16="http://schemas.microsoft.com/office/drawing/2014/main" id="{9C3CE3EE-6B78-47D9-AFA1-B7CA02CF4C42}"/>
              </a:ext>
            </a:extLst>
          </p:cNvPr>
          <p:cNvPicPr>
            <a:picLocks noChangeAspect="1"/>
          </p:cNvPicPr>
          <p:nvPr/>
        </p:nvPicPr>
        <p:blipFill rotWithShape="1">
          <a:blip r:embed="rId3"/>
          <a:srcRect l="33968" t="44598" r="53190" b="10038"/>
          <a:stretch/>
        </p:blipFill>
        <p:spPr>
          <a:xfrm>
            <a:off x="7977949" y="231226"/>
            <a:ext cx="3141995" cy="6243005"/>
          </a:xfrm>
          <a:prstGeom prst="rect">
            <a:avLst/>
          </a:prstGeom>
        </p:spPr>
      </p:pic>
    </p:spTree>
    <p:extLst>
      <p:ext uri="{BB962C8B-B14F-4D97-AF65-F5344CB8AC3E}">
        <p14:creationId xmlns:p14="http://schemas.microsoft.com/office/powerpoint/2010/main" val="872720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4778172"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Final configuration </a:t>
            </a:r>
          </a:p>
        </p:txBody>
      </p:sp>
      <p:pic>
        <p:nvPicPr>
          <p:cNvPr id="2" name="Picture 1">
            <a:extLst>
              <a:ext uri="{FF2B5EF4-FFF2-40B4-BE49-F238E27FC236}">
                <a16:creationId xmlns:a16="http://schemas.microsoft.com/office/drawing/2014/main" id="{9D72F3C0-72D7-4944-8712-0D70159504E0}"/>
              </a:ext>
            </a:extLst>
          </p:cNvPr>
          <p:cNvPicPr>
            <a:picLocks noChangeAspect="1"/>
          </p:cNvPicPr>
          <p:nvPr/>
        </p:nvPicPr>
        <p:blipFill rotWithShape="1">
          <a:blip r:embed="rId2"/>
          <a:srcRect l="34569" t="10728" r="52673" b="57548"/>
          <a:stretch/>
        </p:blipFill>
        <p:spPr>
          <a:xfrm>
            <a:off x="420413" y="1208690"/>
            <a:ext cx="3258359" cy="4557301"/>
          </a:xfrm>
          <a:prstGeom prst="rect">
            <a:avLst/>
          </a:prstGeom>
        </p:spPr>
      </p:pic>
      <p:pic>
        <p:nvPicPr>
          <p:cNvPr id="9" name="Picture 8">
            <a:extLst>
              <a:ext uri="{FF2B5EF4-FFF2-40B4-BE49-F238E27FC236}">
                <a16:creationId xmlns:a16="http://schemas.microsoft.com/office/drawing/2014/main" id="{12A3C3B1-EC8D-4308-BA56-614E81A1B91F}"/>
              </a:ext>
            </a:extLst>
          </p:cNvPr>
          <p:cNvPicPr>
            <a:picLocks noChangeAspect="1"/>
          </p:cNvPicPr>
          <p:nvPr/>
        </p:nvPicPr>
        <p:blipFill rotWithShape="1">
          <a:blip r:embed="rId2"/>
          <a:srcRect l="34569" t="43065" r="52673" b="28889"/>
          <a:stretch/>
        </p:blipFill>
        <p:spPr>
          <a:xfrm>
            <a:off x="4172606" y="1406254"/>
            <a:ext cx="3271763" cy="4045491"/>
          </a:xfrm>
          <a:prstGeom prst="rect">
            <a:avLst/>
          </a:prstGeom>
        </p:spPr>
      </p:pic>
      <p:pic>
        <p:nvPicPr>
          <p:cNvPr id="11" name="Picture 10">
            <a:extLst>
              <a:ext uri="{FF2B5EF4-FFF2-40B4-BE49-F238E27FC236}">
                <a16:creationId xmlns:a16="http://schemas.microsoft.com/office/drawing/2014/main" id="{291ADE15-FA5F-4018-9960-AE29B3664752}"/>
              </a:ext>
            </a:extLst>
          </p:cNvPr>
          <p:cNvPicPr>
            <a:picLocks noChangeAspect="1"/>
          </p:cNvPicPr>
          <p:nvPr/>
        </p:nvPicPr>
        <p:blipFill rotWithShape="1">
          <a:blip r:embed="rId2"/>
          <a:srcRect l="34569" t="65134" r="52673" b="10498"/>
          <a:stretch/>
        </p:blipFill>
        <p:spPr>
          <a:xfrm>
            <a:off x="7938203" y="1406254"/>
            <a:ext cx="3488639" cy="3747928"/>
          </a:xfrm>
          <a:prstGeom prst="rect">
            <a:avLst/>
          </a:prstGeom>
        </p:spPr>
      </p:pic>
    </p:spTree>
    <p:extLst>
      <p:ext uri="{BB962C8B-B14F-4D97-AF65-F5344CB8AC3E}">
        <p14:creationId xmlns:p14="http://schemas.microsoft.com/office/powerpoint/2010/main" val="2390665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4778172"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Final configuration </a:t>
            </a:r>
          </a:p>
        </p:txBody>
      </p:sp>
      <p:pic>
        <p:nvPicPr>
          <p:cNvPr id="3" name="Picture 2">
            <a:extLst>
              <a:ext uri="{FF2B5EF4-FFF2-40B4-BE49-F238E27FC236}">
                <a16:creationId xmlns:a16="http://schemas.microsoft.com/office/drawing/2014/main" id="{5C934463-679E-4B58-9292-F89E2B197445}"/>
              </a:ext>
            </a:extLst>
          </p:cNvPr>
          <p:cNvPicPr>
            <a:picLocks noChangeAspect="1"/>
          </p:cNvPicPr>
          <p:nvPr/>
        </p:nvPicPr>
        <p:blipFill rotWithShape="1">
          <a:blip r:embed="rId2"/>
          <a:srcRect l="26293" t="13487" r="56983" b="50000"/>
          <a:stretch/>
        </p:blipFill>
        <p:spPr>
          <a:xfrm>
            <a:off x="683172" y="1460938"/>
            <a:ext cx="3774196" cy="4635061"/>
          </a:xfrm>
          <a:prstGeom prst="rect">
            <a:avLst/>
          </a:prstGeom>
        </p:spPr>
      </p:pic>
      <p:pic>
        <p:nvPicPr>
          <p:cNvPr id="7" name="Picture 6">
            <a:extLst>
              <a:ext uri="{FF2B5EF4-FFF2-40B4-BE49-F238E27FC236}">
                <a16:creationId xmlns:a16="http://schemas.microsoft.com/office/drawing/2014/main" id="{B92C874C-EDB4-4F8B-8C71-8B79692F34BD}"/>
              </a:ext>
            </a:extLst>
          </p:cNvPr>
          <p:cNvPicPr>
            <a:picLocks noChangeAspect="1"/>
          </p:cNvPicPr>
          <p:nvPr/>
        </p:nvPicPr>
        <p:blipFill rotWithShape="1">
          <a:blip r:embed="rId2"/>
          <a:srcRect l="26293" t="50000" r="56983" b="15249"/>
          <a:stretch/>
        </p:blipFill>
        <p:spPr>
          <a:xfrm>
            <a:off x="5370785" y="1460938"/>
            <a:ext cx="3857297" cy="4508463"/>
          </a:xfrm>
          <a:prstGeom prst="rect">
            <a:avLst/>
          </a:prstGeom>
        </p:spPr>
      </p:pic>
    </p:spTree>
    <p:extLst>
      <p:ext uri="{BB962C8B-B14F-4D97-AF65-F5344CB8AC3E}">
        <p14:creationId xmlns:p14="http://schemas.microsoft.com/office/powerpoint/2010/main" val="786942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271E1-64AA-456B-A843-42001B1EA26B}"/>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0E0DC121-11AA-4414-815D-2214C6759800}"/>
              </a:ext>
            </a:extLst>
          </p:cNvPr>
          <p:cNvSpPr>
            <a:spLocks noGrp="1"/>
          </p:cNvSpPr>
          <p:nvPr>
            <p:ph idx="1"/>
          </p:nvPr>
        </p:nvSpPr>
        <p:spPr/>
        <p:txBody>
          <a:bodyPr/>
          <a:lstStyle/>
          <a:p>
            <a:pPr marL="0" indent="0">
              <a:buNone/>
            </a:pPr>
            <a:r>
              <a:rPr lang="en-US" sz="2000" dirty="0">
                <a:latin typeface="+mj-lt"/>
              </a:rPr>
              <a:t>Draw a topo consist of 2 switches , 2 routers and 2 pcs. </a:t>
            </a:r>
          </a:p>
          <a:p>
            <a:pPr>
              <a:buFontTx/>
              <a:buChar char="-"/>
            </a:pPr>
            <a:r>
              <a:rPr lang="en-US" sz="2000" dirty="0">
                <a:latin typeface="+mj-lt"/>
              </a:rPr>
              <a:t>Configure the routers and pcs as hosts. </a:t>
            </a:r>
          </a:p>
          <a:p>
            <a:pPr>
              <a:buFontTx/>
              <a:buChar char="-"/>
            </a:pPr>
            <a:r>
              <a:rPr lang="en-US" sz="2000" dirty="0">
                <a:latin typeface="+mj-lt"/>
              </a:rPr>
              <a:t> put the routers under vlan2 and the pcs under vlan3. </a:t>
            </a:r>
          </a:p>
          <a:p>
            <a:pPr>
              <a:buFontTx/>
              <a:buChar char="-"/>
            </a:pPr>
            <a:r>
              <a:rPr lang="en-US" sz="2000" dirty="0">
                <a:latin typeface="+mj-lt"/>
              </a:rPr>
              <a:t>Check the connectivity within same </a:t>
            </a:r>
            <a:r>
              <a:rPr lang="en-US" sz="2000" dirty="0" err="1">
                <a:latin typeface="+mj-lt"/>
              </a:rPr>
              <a:t>vlan</a:t>
            </a:r>
            <a:r>
              <a:rPr lang="en-US" sz="2000" dirty="0">
                <a:latin typeface="+mj-lt"/>
              </a:rPr>
              <a:t> and within different </a:t>
            </a:r>
            <a:r>
              <a:rPr lang="en-US" sz="2000" dirty="0" err="1">
                <a:latin typeface="+mj-lt"/>
              </a:rPr>
              <a:t>vlans</a:t>
            </a:r>
            <a:r>
              <a:rPr lang="en-US" sz="2000" dirty="0">
                <a:latin typeface="+mj-lt"/>
              </a:rPr>
              <a:t>. </a:t>
            </a:r>
          </a:p>
          <a:p>
            <a:pPr>
              <a:buFontTx/>
              <a:buChar char="-"/>
            </a:pPr>
            <a:r>
              <a:rPr lang="en-US" sz="2000" dirty="0">
                <a:latin typeface="+mj-lt"/>
              </a:rPr>
              <a:t>-screenshot the command prompt</a:t>
            </a:r>
            <a:r>
              <a:rPr lang="en-US" dirty="0"/>
              <a:t>.   </a:t>
            </a:r>
          </a:p>
        </p:txBody>
      </p:sp>
      <p:sp>
        <p:nvSpPr>
          <p:cNvPr id="4" name="Text Placeholder 3">
            <a:extLst>
              <a:ext uri="{FF2B5EF4-FFF2-40B4-BE49-F238E27FC236}">
                <a16:creationId xmlns:a16="http://schemas.microsoft.com/office/drawing/2014/main" id="{6CCB0B6C-9C99-4C3A-9B33-A6924809941F}"/>
              </a:ext>
            </a:extLst>
          </p:cNvPr>
          <p:cNvSpPr>
            <a:spLocks noGrp="1"/>
          </p:cNvSpPr>
          <p:nvPr>
            <p:ph type="body" sz="half" idx="2"/>
          </p:nvPr>
        </p:nvSpPr>
        <p:spPr/>
        <p:txBody>
          <a:bodyPr/>
          <a:lstStyle/>
          <a:p>
            <a:r>
              <a:rPr lang="en-US" dirty="0"/>
              <a:t>LAB 8</a:t>
            </a:r>
          </a:p>
        </p:txBody>
      </p:sp>
    </p:spTree>
    <p:extLst>
      <p:ext uri="{BB962C8B-B14F-4D97-AF65-F5344CB8AC3E}">
        <p14:creationId xmlns:p14="http://schemas.microsoft.com/office/powerpoint/2010/main" val="1862633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C5107-E60A-463F-AECD-08D23E8C443B}"/>
              </a:ext>
            </a:extLst>
          </p:cNvPr>
          <p:cNvSpPr>
            <a:spLocks noGrp="1"/>
          </p:cNvSpPr>
          <p:nvPr>
            <p:ph type="title"/>
          </p:nvPr>
        </p:nvSpPr>
        <p:spPr/>
        <p:txBody>
          <a:bodyPr/>
          <a:lstStyle/>
          <a:p>
            <a:r>
              <a:rPr lang="en-US" dirty="0"/>
              <a:t>Thank you </a:t>
            </a:r>
          </a:p>
        </p:txBody>
      </p:sp>
    </p:spTree>
    <p:extLst>
      <p:ext uri="{BB962C8B-B14F-4D97-AF65-F5344CB8AC3E}">
        <p14:creationId xmlns:p14="http://schemas.microsoft.com/office/powerpoint/2010/main" val="2208094632"/>
      </p:ext>
    </p:extLst>
  </p:cSld>
  <p:clrMapOvr>
    <a:masterClrMapping/>
  </p:clrMapOvr>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769520F8-BFE5-4C8C-A7AA-375C025A91CE}" vid="{AEAFD717-D3C8-4034-8F7E-D5220B0CCE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BE9DE761D8C4448868F302D369B5C3D" ma:contentTypeVersion="13" ma:contentTypeDescription="Create a new document." ma:contentTypeScope="" ma:versionID="dfe36e3e778102bef2bd18c318dfc9a9">
  <xsd:schema xmlns:xsd="http://www.w3.org/2001/XMLSchema" xmlns:xs="http://www.w3.org/2001/XMLSchema" xmlns:p="http://schemas.microsoft.com/office/2006/metadata/properties" xmlns:ns3="9e1e26e7-5f7e-4989-b4fb-d31397fc098b" xmlns:ns4="596a0d73-a34e-4cf5-85d7-50d4e390f3c9" targetNamespace="http://schemas.microsoft.com/office/2006/metadata/properties" ma:root="true" ma:fieldsID="67e077d59bc089f988751e544093422b" ns3:_="" ns4:_="">
    <xsd:import namespace="9e1e26e7-5f7e-4989-b4fb-d31397fc098b"/>
    <xsd:import namespace="596a0d73-a34e-4cf5-85d7-50d4e390f3c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e26e7-5f7e-4989-b4fb-d31397fc09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96a0d73-a34e-4cf5-85d7-50d4e390f3c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8060EC3-C5C7-44FE-8A63-F1EF641E7A99}">
  <ds:schemaRefs>
    <ds:schemaRef ds:uri="http://schemas.microsoft.com/sharepoint/v3/contenttype/forms"/>
  </ds:schemaRefs>
</ds:datastoreItem>
</file>

<file path=customXml/itemProps2.xml><?xml version="1.0" encoding="utf-8"?>
<ds:datastoreItem xmlns:ds="http://schemas.openxmlformats.org/officeDocument/2006/customXml" ds:itemID="{40036E87-846B-443D-85C4-0D17134E25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e26e7-5f7e-4989-b4fb-d31397fc098b"/>
    <ds:schemaRef ds:uri="596a0d73-a34e-4cf5-85d7-50d4e390f3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3A306C0-5857-41A0-A45A-37184B633C1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20786</TotalTime>
  <Words>619</Words>
  <Application>Microsoft Office PowerPoint</Application>
  <PresentationFormat>Widescreen</PresentationFormat>
  <Paragraphs>55</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1_RetrospectVTI</vt:lpstr>
      <vt:lpstr>COMPUTER NETWORKING</vt:lpstr>
      <vt:lpstr>VLAN Configuration </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ASSIGNMENT</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NETWORKING</dc:title>
  <dc:creator>Ranya Al-wajih</dc:creator>
  <cp:lastModifiedBy>Kumar Rishi</cp:lastModifiedBy>
  <cp:revision>9</cp:revision>
  <dcterms:created xsi:type="dcterms:W3CDTF">2020-12-22T02:57:04Z</dcterms:created>
  <dcterms:modified xsi:type="dcterms:W3CDTF">2023-02-14T11:31:51Z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0x010100ABE9DE761D8C4448868F302D369B5C3D</vt:lpwstr>
  </property>
</Properties>
</file>