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6" r:id="rId4"/>
  </p:sldMasterIdLst>
  <p:notesMasterIdLst>
    <p:notesMasterId r:id="rId18"/>
  </p:notesMasterIdLst>
  <p:sldIdLst>
    <p:sldId id="257" r:id="rId5"/>
    <p:sldId id="258" r:id="rId6"/>
    <p:sldId id="277" r:id="rId7"/>
    <p:sldId id="259" r:id="rId8"/>
    <p:sldId id="263" r:id="rId9"/>
    <p:sldId id="273" r:id="rId10"/>
    <p:sldId id="272" r:id="rId11"/>
    <p:sldId id="275" r:id="rId12"/>
    <p:sldId id="274" r:id="rId13"/>
    <p:sldId id="276" r:id="rId14"/>
    <p:sldId id="260" r:id="rId15"/>
    <p:sldId id="265" r:id="rId16"/>
    <p:sldId id="264"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A8B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47A81B1-9EEC-4C0B-BC08-1E2E95A58E00}" v="2" dt="2021-02-08T09:11:11.39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28" autoAdjust="0"/>
    <p:restoredTop sz="94660"/>
  </p:normalViewPr>
  <p:slideViewPr>
    <p:cSldViewPr snapToGrid="0">
      <p:cViewPr varScale="1">
        <p:scale>
          <a:sx n="113" d="100"/>
          <a:sy n="113" d="100"/>
        </p:scale>
        <p:origin x="496"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7D4A978-80D3-4E8E-AD1F-975D098D4FBA}" type="datetimeFigureOut">
              <a:rPr lang="en-US" smtClean="0"/>
              <a:t>6/6/24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8E240F-B9B5-49C3-9B08-53B2754F55C6}" type="slidenum">
              <a:rPr lang="en-US" smtClean="0"/>
              <a:t>‹#›</a:t>
            </a:fld>
            <a:endParaRPr lang="en-US"/>
          </a:p>
        </p:txBody>
      </p:sp>
    </p:spTree>
    <p:extLst>
      <p:ext uri="{BB962C8B-B14F-4D97-AF65-F5344CB8AC3E}">
        <p14:creationId xmlns:p14="http://schemas.microsoft.com/office/powerpoint/2010/main" val="32579706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6/6/24</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583314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6/6/24</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92670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6/6/24</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041625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6/6/24</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566630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6/6/24</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0681946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6/6/24</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118605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6/6/24</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01422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6/6/24</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9332822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6/6/24</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232677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7D5506EE-1026-4F35-9ACC-BD05BE0F9B36}"/>
              </a:ext>
            </a:extLst>
          </p:cNvPr>
          <p:cNvSpPr>
            <a:spLocks noGrp="1"/>
          </p:cNvSpPr>
          <p:nvPr>
            <p:ph type="dt" sz="half" idx="10"/>
          </p:nvPr>
        </p:nvSpPr>
        <p:spPr/>
        <p:txBody>
          <a:bodyPr/>
          <a:lstStyle/>
          <a:p>
            <a:fld id="{B612A279-0833-481D-8C56-F67FD0AC6C50}" type="datetime1">
              <a:rPr lang="en-US" smtClean="0"/>
              <a:t>6/6/24</a:t>
            </a:fld>
            <a:endParaRPr lang="en-US" dirty="0"/>
          </a:p>
        </p:txBody>
      </p:sp>
      <p:sp>
        <p:nvSpPr>
          <p:cNvPr id="8" name="Footer Placeholder 7">
            <a:extLst>
              <a:ext uri="{FF2B5EF4-FFF2-40B4-BE49-F238E27FC236}">
                <a16:creationId xmlns:a16="http://schemas.microsoft.com/office/drawing/2014/main" id="{B7696E5F-8D95-4450-AE52-5438E6EDE2BF}"/>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999B2253-74CC-409E-BEB0-F8EFCFCB562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722698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1B68A5B-D9FA-424B-A4EB-30E7223836B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F33D6B0-F070-45C4-A472-19F432BE3932}"/>
              </a:ext>
            </a:extLst>
          </p:cNvPr>
          <p:cNvSpPr>
            <a:spLocks noGrp="1"/>
          </p:cNvSpPr>
          <p:nvPr>
            <p:ph type="dt" sz="half" idx="10"/>
          </p:nvPr>
        </p:nvSpPr>
        <p:spPr/>
        <p:txBody>
          <a:bodyPr/>
          <a:lstStyle/>
          <a:p>
            <a:fld id="{6587DA83-5663-4C9C-B9AA-0B40A3DAFF81}" type="datetime1">
              <a:rPr lang="en-US" smtClean="0"/>
              <a:t>6/6/24</a:t>
            </a:fld>
            <a:endParaRPr lang="en-US" dirty="0"/>
          </a:p>
        </p:txBody>
      </p:sp>
      <p:sp>
        <p:nvSpPr>
          <p:cNvPr id="8" name="Footer Placeholder 7">
            <a:extLst>
              <a:ext uri="{FF2B5EF4-FFF2-40B4-BE49-F238E27FC236}">
                <a16:creationId xmlns:a16="http://schemas.microsoft.com/office/drawing/2014/main" id="{9975399F-DAB2-410D-967F-ED17E6F796E7}"/>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F762A46F-6BE5-4D12-9412-5CA7672EA8EC}"/>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618272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t>6/6/24</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4982234"/>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47" r:id="rId3"/>
    <p:sldLayoutId id="2147483743" r:id="rId4"/>
    <p:sldLayoutId id="2147483738" r:id="rId5"/>
    <p:sldLayoutId id="2147483732" r:id="rId6"/>
    <p:sldLayoutId id="2147483733" r:id="rId7"/>
    <p:sldLayoutId id="2147483734" r:id="rId8"/>
    <p:sldLayoutId id="2147483735" r:id="rId9"/>
    <p:sldLayoutId id="2147483736" r:id="rId10"/>
    <p:sldLayoutId id="2147483737" r:id="rId11"/>
  </p:sldLayoutIdLst>
  <p:hf sldNum="0"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A9286AD2-18A9-4868-A4E3-7A2097A208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1"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8FD68DA-43BA-4508-8DE2-BA9BB7B2FA5B}"/>
              </a:ext>
            </a:extLst>
          </p:cNvPr>
          <p:cNvSpPr>
            <a:spLocks noGrp="1"/>
          </p:cNvSpPr>
          <p:nvPr>
            <p:ph type="ctrTitle"/>
          </p:nvPr>
        </p:nvSpPr>
        <p:spPr>
          <a:xfrm>
            <a:off x="4917058" y="639097"/>
            <a:ext cx="7453222" cy="4033642"/>
          </a:xfrm>
        </p:spPr>
        <p:txBody>
          <a:bodyPr>
            <a:normAutofit/>
          </a:bodyPr>
          <a:lstStyle/>
          <a:p>
            <a:r>
              <a:rPr lang="en-US" sz="7200" dirty="0"/>
              <a:t>COMPUTER NETWORKING</a:t>
            </a:r>
          </a:p>
        </p:txBody>
      </p:sp>
      <p:sp>
        <p:nvSpPr>
          <p:cNvPr id="3" name="Subtitle 2">
            <a:extLst>
              <a:ext uri="{FF2B5EF4-FFF2-40B4-BE49-F238E27FC236}">
                <a16:creationId xmlns:a16="http://schemas.microsoft.com/office/drawing/2014/main" id="{A8E9CFF2-3777-4FF4-A759-8491175B0B7C}"/>
              </a:ext>
            </a:extLst>
          </p:cNvPr>
          <p:cNvSpPr>
            <a:spLocks noGrp="1"/>
          </p:cNvSpPr>
          <p:nvPr>
            <p:ph type="subTitle" idx="1"/>
          </p:nvPr>
        </p:nvSpPr>
        <p:spPr>
          <a:xfrm>
            <a:off x="5255247" y="4498925"/>
            <a:ext cx="6269347" cy="1021498"/>
          </a:xfrm>
        </p:spPr>
        <p:txBody>
          <a:bodyPr>
            <a:normAutofit/>
          </a:bodyPr>
          <a:lstStyle/>
          <a:p>
            <a:r>
              <a:rPr lang="en-US" sz="2400" dirty="0">
                <a:solidFill>
                  <a:schemeClr val="tx1">
                    <a:lumMod val="85000"/>
                    <a:lumOff val="15000"/>
                  </a:schemeClr>
                </a:solidFill>
              </a:rPr>
              <a:t>LAB 3</a:t>
            </a:r>
          </a:p>
        </p:txBody>
      </p:sp>
      <p:pic>
        <p:nvPicPr>
          <p:cNvPr id="5" name="Picture 4" descr="A picture containing building, sitting, bench, side&#10;&#10;Description automatically generated">
            <a:extLst>
              <a:ext uri="{FF2B5EF4-FFF2-40B4-BE49-F238E27FC236}">
                <a16:creationId xmlns:a16="http://schemas.microsoft.com/office/drawing/2014/main" id="{282CF6DD-7FE8-4063-9551-1B7BBCE92ABE}"/>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1" y="1"/>
            <a:ext cx="4635315" cy="6857999"/>
          </a:xfrm>
          <a:prstGeom prst="rect">
            <a:avLst/>
          </a:prstGeom>
        </p:spPr>
      </p:pic>
      <p:cxnSp>
        <p:nvCxnSpPr>
          <p:cNvPr id="24" name="Straight Connector 23">
            <a:extLst>
              <a:ext uri="{FF2B5EF4-FFF2-40B4-BE49-F238E27FC236}">
                <a16:creationId xmlns:a16="http://schemas.microsoft.com/office/drawing/2014/main" id="{E7A7CD63-7EC3-44F3-95D0-595C4019FF2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27754" y="4498925"/>
            <a:ext cx="5636107"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37378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FBDCECDC-EEE3-4128-AA5E-82A8C08796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AB2EA78-AEB3-469B-9025-3B17201A457B}"/>
              </a:ext>
            </a:extLst>
          </p:cNvPr>
          <p:cNvSpPr>
            <a:spLocks noGrp="1"/>
          </p:cNvSpPr>
          <p:nvPr>
            <p:ph type="ctrTitle"/>
          </p:nvPr>
        </p:nvSpPr>
        <p:spPr>
          <a:xfrm>
            <a:off x="1097280" y="758952"/>
            <a:ext cx="10058400" cy="3892168"/>
          </a:xfrm>
        </p:spPr>
        <p:txBody>
          <a:bodyPr anchor="ctr">
            <a:normAutofit/>
          </a:bodyPr>
          <a:lstStyle/>
          <a:p>
            <a:pPr lvl="0"/>
            <a:r>
              <a:rPr lang="en-US" sz="4800" i="1" dirty="0">
                <a:solidFill>
                  <a:srgbClr val="FFFFFF"/>
                </a:solidFill>
              </a:rPr>
              <a:t>Static Routing</a:t>
            </a:r>
          </a:p>
        </p:txBody>
      </p:sp>
      <p:sp>
        <p:nvSpPr>
          <p:cNvPr id="49" name="Rectangle 48">
            <a:extLst>
              <a:ext uri="{FF2B5EF4-FFF2-40B4-BE49-F238E27FC236}">
                <a16:creationId xmlns:a16="http://schemas.microsoft.com/office/drawing/2014/main" id="{4260EDE0-989C-4E16-AF94-F652294D82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917146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66C16FB7-9AD5-4168-AE50-FF2C141A1D0B}"/>
              </a:ext>
            </a:extLst>
          </p:cNvPr>
          <p:cNvSpPr>
            <a:spLocks noGrp="1"/>
          </p:cNvSpPr>
          <p:nvPr>
            <p:ph type="title"/>
          </p:nvPr>
        </p:nvSpPr>
        <p:spPr/>
        <p:txBody>
          <a:bodyPr/>
          <a:lstStyle/>
          <a:p>
            <a:r>
              <a:rPr lang="en-US" dirty="0"/>
              <a:t>OBJECTIVES</a:t>
            </a:r>
          </a:p>
        </p:txBody>
      </p:sp>
      <p:sp>
        <p:nvSpPr>
          <p:cNvPr id="19" name="Content Placeholder 18">
            <a:extLst>
              <a:ext uri="{FF2B5EF4-FFF2-40B4-BE49-F238E27FC236}">
                <a16:creationId xmlns:a16="http://schemas.microsoft.com/office/drawing/2014/main" id="{2064F62A-95D2-4E7D-AF2B-30E71EE60A5D}"/>
              </a:ext>
            </a:extLst>
          </p:cNvPr>
          <p:cNvSpPr>
            <a:spLocks noGrp="1"/>
          </p:cNvSpPr>
          <p:nvPr>
            <p:ph idx="1"/>
          </p:nvPr>
        </p:nvSpPr>
        <p:spPr>
          <a:xfrm>
            <a:off x="5069840" y="812799"/>
            <a:ext cx="6918960" cy="5294757"/>
          </a:xfrm>
        </p:spPr>
        <p:txBody>
          <a:bodyPr/>
          <a:lstStyle/>
          <a:p>
            <a:pPr lvl="0" fontAlgn="base">
              <a:lnSpc>
                <a:spcPct val="150000"/>
              </a:lnSpc>
              <a:buFont typeface="Wingdings" panose="05000000000000000000" pitchFamily="2" charset="2"/>
              <a:buChar char="Ø"/>
            </a:pPr>
            <a:r>
              <a:rPr lang="en-US" dirty="0">
                <a:solidFill>
                  <a:schemeClr val="tx1"/>
                </a:solidFill>
                <a:latin typeface="+mj-lt"/>
              </a:rPr>
              <a:t> Configuration of a static route using an interface and an IP address as the next hop.</a:t>
            </a:r>
          </a:p>
          <a:p>
            <a:pPr lvl="0" fontAlgn="base">
              <a:lnSpc>
                <a:spcPct val="150000"/>
              </a:lnSpc>
              <a:buFont typeface="Wingdings" panose="05000000000000000000" pitchFamily="2" charset="2"/>
              <a:buChar char="Ø"/>
            </a:pPr>
            <a:r>
              <a:rPr lang="en-US" dirty="0">
                <a:solidFill>
                  <a:schemeClr val="tx1"/>
                </a:solidFill>
                <a:latin typeface="+mj-lt"/>
              </a:rPr>
              <a:t> Verification of static route operation.</a:t>
            </a:r>
          </a:p>
          <a:p>
            <a:pPr lvl="0" fontAlgn="base">
              <a:lnSpc>
                <a:spcPct val="150000"/>
              </a:lnSpc>
              <a:buFont typeface="Wingdings" panose="05000000000000000000" pitchFamily="2" charset="2"/>
              <a:buChar char="Ø"/>
            </a:pPr>
            <a:r>
              <a:rPr lang="en-US" dirty="0">
                <a:solidFill>
                  <a:schemeClr val="tx1"/>
                </a:solidFill>
                <a:latin typeface="+mj-lt"/>
              </a:rPr>
              <a:t> Implementation of the interconnection between a local and external network using a default route.</a:t>
            </a:r>
          </a:p>
          <a:p>
            <a:pPr lvl="0" fontAlgn="base">
              <a:lnSpc>
                <a:spcPct val="150000"/>
              </a:lnSpc>
              <a:buFont typeface="Wingdings" panose="05000000000000000000" pitchFamily="2" charset="2"/>
              <a:buChar char="Ø"/>
            </a:pPr>
            <a:r>
              <a:rPr lang="en-US" dirty="0">
                <a:solidFill>
                  <a:schemeClr val="tx1"/>
                </a:solidFill>
                <a:latin typeface="+mj-lt"/>
              </a:rPr>
              <a:t> Configuration of a backup static route on a router.</a:t>
            </a:r>
          </a:p>
          <a:p>
            <a:pPr lvl="0" fontAlgn="base">
              <a:lnSpc>
                <a:spcPct val="150000"/>
              </a:lnSpc>
              <a:buFont typeface="Wingdings" panose="05000000000000000000" pitchFamily="2" charset="2"/>
              <a:buChar char="Ø"/>
            </a:pPr>
            <a:endParaRPr lang="en-US" dirty="0">
              <a:solidFill>
                <a:schemeClr val="tx1"/>
              </a:solidFill>
              <a:latin typeface="+mj-lt"/>
            </a:endParaRPr>
          </a:p>
        </p:txBody>
      </p:sp>
    </p:spTree>
    <p:extLst>
      <p:ext uri="{BB962C8B-B14F-4D97-AF65-F5344CB8AC3E}">
        <p14:creationId xmlns:p14="http://schemas.microsoft.com/office/powerpoint/2010/main" val="37474721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6655237B-C7AB-45E2-ACEF-5CD50688641D}"/>
              </a:ext>
            </a:extLst>
          </p:cNvPr>
          <p:cNvPicPr>
            <a:picLocks noGrp="1" noChangeAspect="1"/>
          </p:cNvPicPr>
          <p:nvPr>
            <p:ph idx="4294967295"/>
          </p:nvPr>
        </p:nvPicPr>
        <p:blipFill rotWithShape="1">
          <a:blip r:embed="rId2"/>
          <a:srcRect l="32878" t="21250" r="29825" b="21830"/>
          <a:stretch/>
        </p:blipFill>
        <p:spPr>
          <a:xfrm>
            <a:off x="3293347" y="1127760"/>
            <a:ext cx="5881133" cy="5048726"/>
          </a:xfrm>
          <a:prstGeom prst="rect">
            <a:avLst/>
          </a:prstGeom>
        </p:spPr>
      </p:pic>
      <p:sp>
        <p:nvSpPr>
          <p:cNvPr id="4" name="Rectangle 3">
            <a:extLst>
              <a:ext uri="{FF2B5EF4-FFF2-40B4-BE49-F238E27FC236}">
                <a16:creationId xmlns:a16="http://schemas.microsoft.com/office/drawing/2014/main" id="{A2429A11-D47C-4726-A096-BDF0AAD33DEC}"/>
              </a:ext>
            </a:extLst>
          </p:cNvPr>
          <p:cNvSpPr/>
          <p:nvPr/>
        </p:nvSpPr>
        <p:spPr>
          <a:xfrm>
            <a:off x="516659" y="142855"/>
            <a:ext cx="2339808" cy="769441"/>
          </a:xfrm>
          <a:prstGeom prst="rect">
            <a:avLst/>
          </a:prstGeom>
          <a:noFill/>
        </p:spPr>
        <p:txBody>
          <a:bodyPr wrap="none" lIns="91440" tIns="45720" rIns="91440" bIns="45720">
            <a:spAutoFit/>
          </a:bodyPr>
          <a:lstStyle/>
          <a:p>
            <a:pPr algn="ctr"/>
            <a:r>
              <a:rPr lang="en-US" sz="44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Topology</a:t>
            </a:r>
          </a:p>
        </p:txBody>
      </p:sp>
    </p:spTree>
    <p:extLst>
      <p:ext uri="{BB962C8B-B14F-4D97-AF65-F5344CB8AC3E}">
        <p14:creationId xmlns:p14="http://schemas.microsoft.com/office/powerpoint/2010/main" val="28681995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6D3B5378-71E3-4A4C-B094-381AB0128277}"/>
              </a:ext>
            </a:extLst>
          </p:cNvPr>
          <p:cNvSpPr txBox="1"/>
          <p:nvPr/>
        </p:nvSpPr>
        <p:spPr>
          <a:xfrm>
            <a:off x="340533" y="2018774"/>
            <a:ext cx="5867225" cy="1650901"/>
          </a:xfrm>
          <a:prstGeom prst="rect">
            <a:avLst/>
          </a:prstGeom>
          <a:noFill/>
        </p:spPr>
        <p:txBody>
          <a:bodyPr wrap="square" rtlCol="0">
            <a:spAutoFit/>
          </a:bodyPr>
          <a:lstStyle/>
          <a:p>
            <a:pPr marL="342900" indent="-342900">
              <a:lnSpc>
                <a:spcPct val="200000"/>
              </a:lnSpc>
              <a:buFont typeface="Wingdings" panose="05000000000000000000" pitchFamily="2" charset="2"/>
              <a:buChar char="ü"/>
            </a:pPr>
            <a:r>
              <a:rPr lang="en-US" sz="1900" dirty="0">
                <a:latin typeface="+mj-lt"/>
              </a:rPr>
              <a:t>Configure device name and IP addresses for R1, R2, and R3</a:t>
            </a:r>
          </a:p>
          <a:p>
            <a:pPr marL="342900" indent="-342900">
              <a:lnSpc>
                <a:spcPct val="150000"/>
              </a:lnSpc>
              <a:buFont typeface="Wingdings" panose="05000000000000000000" pitchFamily="2" charset="2"/>
              <a:buChar char="ü"/>
            </a:pPr>
            <a:endParaRPr lang="en-US" sz="1900" dirty="0">
              <a:latin typeface="+mj-lt"/>
            </a:endParaRPr>
          </a:p>
        </p:txBody>
      </p:sp>
      <p:sp>
        <p:nvSpPr>
          <p:cNvPr id="26" name="Rectangle 25">
            <a:extLst>
              <a:ext uri="{FF2B5EF4-FFF2-40B4-BE49-F238E27FC236}">
                <a16:creationId xmlns:a16="http://schemas.microsoft.com/office/drawing/2014/main" id="{9B8944DA-4F4C-441B-875F-98A7A11EA176}"/>
              </a:ext>
            </a:extLst>
          </p:cNvPr>
          <p:cNvSpPr/>
          <p:nvPr/>
        </p:nvSpPr>
        <p:spPr>
          <a:xfrm>
            <a:off x="70394" y="249767"/>
            <a:ext cx="6346545" cy="1446550"/>
          </a:xfrm>
          <a:prstGeom prst="rect">
            <a:avLst/>
          </a:prstGeom>
          <a:noFill/>
        </p:spPr>
        <p:txBody>
          <a:bodyPr wrap="none" lIns="91440" tIns="45720" rIns="91440" bIns="45720">
            <a:spAutoFit/>
          </a:bodyPr>
          <a:lstStyle/>
          <a:p>
            <a:pPr algn="ctr"/>
            <a:r>
              <a:rPr lang="en-US" sz="4400" b="0" cap="none" spc="0" dirty="0">
                <a:ln w="0"/>
                <a:solidFill>
                  <a:schemeClr val="tx1"/>
                </a:solidFill>
                <a:effectLst>
                  <a:outerShdw blurRad="38100" dist="19050" dir="2700000" algn="tl" rotWithShape="0">
                    <a:schemeClr val="dk1">
                      <a:alpha val="40000"/>
                    </a:schemeClr>
                  </a:outerShdw>
                </a:effectLst>
              </a:rPr>
              <a:t>Perform basic system and</a:t>
            </a:r>
          </a:p>
          <a:p>
            <a:pPr algn="ctr"/>
            <a:r>
              <a:rPr lang="en-US" sz="4400" b="0" cap="none" spc="0" dirty="0">
                <a:ln w="0"/>
                <a:solidFill>
                  <a:schemeClr val="tx1"/>
                </a:solidFill>
                <a:effectLst>
                  <a:outerShdw blurRad="38100" dist="19050" dir="2700000" algn="tl" rotWithShape="0">
                    <a:schemeClr val="dk1">
                      <a:alpha val="40000"/>
                    </a:schemeClr>
                  </a:outerShdw>
                </a:effectLst>
              </a:rPr>
              <a:t> IP address configuration</a:t>
            </a:r>
          </a:p>
        </p:txBody>
      </p:sp>
      <p:pic>
        <p:nvPicPr>
          <p:cNvPr id="30" name="Picture 29">
            <a:extLst>
              <a:ext uri="{FF2B5EF4-FFF2-40B4-BE49-F238E27FC236}">
                <a16:creationId xmlns:a16="http://schemas.microsoft.com/office/drawing/2014/main" id="{E7D70DCC-2D24-43BB-81CC-2E4ABFB0C0BB}"/>
              </a:ext>
            </a:extLst>
          </p:cNvPr>
          <p:cNvPicPr>
            <a:picLocks noChangeAspect="1"/>
          </p:cNvPicPr>
          <p:nvPr/>
        </p:nvPicPr>
        <p:blipFill rotWithShape="1">
          <a:blip r:embed="rId2"/>
          <a:srcRect l="21250" t="35259" r="51917" b="26962"/>
          <a:stretch/>
        </p:blipFill>
        <p:spPr>
          <a:xfrm>
            <a:off x="6416939" y="1452879"/>
            <a:ext cx="5002901" cy="3961925"/>
          </a:xfrm>
          <a:prstGeom prst="rect">
            <a:avLst/>
          </a:prstGeom>
        </p:spPr>
      </p:pic>
    </p:spTree>
    <p:extLst>
      <p:ext uri="{BB962C8B-B14F-4D97-AF65-F5344CB8AC3E}">
        <p14:creationId xmlns:p14="http://schemas.microsoft.com/office/powerpoint/2010/main" val="32146841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6D3B5378-71E3-4A4C-B094-381AB0128277}"/>
              </a:ext>
            </a:extLst>
          </p:cNvPr>
          <p:cNvSpPr txBox="1"/>
          <p:nvPr/>
        </p:nvSpPr>
        <p:spPr>
          <a:xfrm>
            <a:off x="159165" y="1805853"/>
            <a:ext cx="5481145" cy="1650901"/>
          </a:xfrm>
          <a:prstGeom prst="rect">
            <a:avLst/>
          </a:prstGeom>
          <a:noFill/>
        </p:spPr>
        <p:txBody>
          <a:bodyPr wrap="square" rtlCol="0">
            <a:spAutoFit/>
          </a:bodyPr>
          <a:lstStyle/>
          <a:p>
            <a:pPr marL="342900" indent="-342900">
              <a:lnSpc>
                <a:spcPct val="200000"/>
              </a:lnSpc>
              <a:buFont typeface="Wingdings" panose="05000000000000000000" pitchFamily="2" charset="2"/>
              <a:buChar char="ü"/>
            </a:pPr>
            <a:r>
              <a:rPr lang="en-US" sz="1900" dirty="0">
                <a:latin typeface="+mj-lt"/>
              </a:rPr>
              <a:t>Run the display current-configuration command to check the configuration </a:t>
            </a:r>
          </a:p>
          <a:p>
            <a:pPr marL="342900" indent="-342900">
              <a:lnSpc>
                <a:spcPct val="150000"/>
              </a:lnSpc>
              <a:buFont typeface="Wingdings" panose="05000000000000000000" pitchFamily="2" charset="2"/>
              <a:buChar char="ü"/>
            </a:pPr>
            <a:endParaRPr lang="en-US" sz="1900" dirty="0">
              <a:latin typeface="+mj-lt"/>
            </a:endParaRPr>
          </a:p>
        </p:txBody>
      </p:sp>
      <p:sp>
        <p:nvSpPr>
          <p:cNvPr id="26" name="Rectangle 25">
            <a:extLst>
              <a:ext uri="{FF2B5EF4-FFF2-40B4-BE49-F238E27FC236}">
                <a16:creationId xmlns:a16="http://schemas.microsoft.com/office/drawing/2014/main" id="{9B8944DA-4F4C-441B-875F-98A7A11EA176}"/>
              </a:ext>
            </a:extLst>
          </p:cNvPr>
          <p:cNvSpPr/>
          <p:nvPr/>
        </p:nvSpPr>
        <p:spPr>
          <a:xfrm>
            <a:off x="133332" y="236193"/>
            <a:ext cx="6907981" cy="1569660"/>
          </a:xfrm>
          <a:prstGeom prst="rect">
            <a:avLst/>
          </a:prstGeom>
          <a:noFill/>
        </p:spPr>
        <p:txBody>
          <a:bodyPr wrap="none" lIns="91440" tIns="45720" rIns="91440" bIns="45720">
            <a:spAutoFit/>
          </a:bodyPr>
          <a:lstStyle/>
          <a:p>
            <a:pPr algn="ctr"/>
            <a:r>
              <a:rPr lang="en-US" sz="4800" dirty="0">
                <a:ln w="0"/>
                <a:effectLst>
                  <a:outerShdw blurRad="38100" dist="19050" dir="2700000" algn="tl" rotWithShape="0">
                    <a:schemeClr val="dk1">
                      <a:alpha val="40000"/>
                    </a:schemeClr>
                  </a:outerShdw>
                </a:effectLst>
              </a:rPr>
              <a:t>Perform basic system and</a:t>
            </a:r>
          </a:p>
          <a:p>
            <a:pPr algn="ctr"/>
            <a:r>
              <a:rPr lang="en-US" sz="4800" dirty="0">
                <a:ln w="0"/>
                <a:effectLst>
                  <a:outerShdw blurRad="38100" dist="19050" dir="2700000" algn="tl" rotWithShape="0">
                    <a:schemeClr val="dk1">
                      <a:alpha val="40000"/>
                    </a:schemeClr>
                  </a:outerShdw>
                </a:effectLst>
              </a:rPr>
              <a:t> IP address configuration</a:t>
            </a:r>
          </a:p>
        </p:txBody>
      </p:sp>
      <p:pic>
        <p:nvPicPr>
          <p:cNvPr id="4" name="Picture 3">
            <a:extLst>
              <a:ext uri="{FF2B5EF4-FFF2-40B4-BE49-F238E27FC236}">
                <a16:creationId xmlns:a16="http://schemas.microsoft.com/office/drawing/2014/main" id="{0E472F8B-E61A-4B52-964C-1A1B6DF1530A}"/>
              </a:ext>
            </a:extLst>
          </p:cNvPr>
          <p:cNvPicPr>
            <a:picLocks noChangeAspect="1"/>
          </p:cNvPicPr>
          <p:nvPr/>
        </p:nvPicPr>
        <p:blipFill rotWithShape="1">
          <a:blip r:embed="rId2"/>
          <a:srcRect l="20916" t="37185" r="36545" b="36741"/>
          <a:stretch/>
        </p:blipFill>
        <p:spPr>
          <a:xfrm>
            <a:off x="2329298" y="3421172"/>
            <a:ext cx="7124149" cy="2456327"/>
          </a:xfrm>
          <a:prstGeom prst="rect">
            <a:avLst/>
          </a:prstGeom>
        </p:spPr>
      </p:pic>
    </p:spTree>
    <p:extLst>
      <p:ext uri="{BB962C8B-B14F-4D97-AF65-F5344CB8AC3E}">
        <p14:creationId xmlns:p14="http://schemas.microsoft.com/office/powerpoint/2010/main" val="40500717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6D3B5378-71E3-4A4C-B094-381AB0128277}"/>
              </a:ext>
            </a:extLst>
          </p:cNvPr>
          <p:cNvSpPr txBox="1"/>
          <p:nvPr/>
        </p:nvSpPr>
        <p:spPr>
          <a:xfrm>
            <a:off x="198295" y="1904825"/>
            <a:ext cx="5897705" cy="2087046"/>
          </a:xfrm>
          <a:prstGeom prst="rect">
            <a:avLst/>
          </a:prstGeom>
          <a:noFill/>
        </p:spPr>
        <p:txBody>
          <a:bodyPr wrap="square" rtlCol="0">
            <a:spAutoFit/>
          </a:bodyPr>
          <a:lstStyle/>
          <a:p>
            <a:pPr marL="342900" indent="-342900">
              <a:lnSpc>
                <a:spcPct val="200000"/>
              </a:lnSpc>
              <a:buFont typeface="Wingdings" panose="05000000000000000000" pitchFamily="2" charset="2"/>
              <a:buChar char="ü"/>
            </a:pPr>
            <a:r>
              <a:rPr lang="en-US" sz="1900" dirty="0">
                <a:latin typeface="+mj-lt"/>
              </a:rPr>
              <a:t>Use the </a:t>
            </a:r>
            <a:r>
              <a:rPr lang="en-US" sz="1900" b="1" dirty="0">
                <a:latin typeface="+mj-lt"/>
              </a:rPr>
              <a:t>ping</a:t>
            </a:r>
            <a:r>
              <a:rPr lang="en-US" sz="1900" dirty="0">
                <a:latin typeface="+mj-lt"/>
              </a:rPr>
              <a:t> command to test network connectivity from R1</a:t>
            </a:r>
          </a:p>
          <a:p>
            <a:pPr marL="342900" indent="-342900">
              <a:lnSpc>
                <a:spcPct val="150000"/>
              </a:lnSpc>
              <a:buFont typeface="Wingdings" panose="05000000000000000000" pitchFamily="2" charset="2"/>
              <a:buChar char="ü"/>
            </a:pPr>
            <a:r>
              <a:rPr lang="en-US" sz="1900" b="1" dirty="0">
                <a:latin typeface="+mj-lt"/>
              </a:rPr>
              <a:t>Ping 10.0.12.2 </a:t>
            </a:r>
          </a:p>
          <a:p>
            <a:pPr marL="342900" indent="-342900">
              <a:lnSpc>
                <a:spcPct val="150000"/>
              </a:lnSpc>
              <a:buFont typeface="Wingdings" panose="05000000000000000000" pitchFamily="2" charset="2"/>
              <a:buChar char="ü"/>
            </a:pPr>
            <a:r>
              <a:rPr lang="en-US" sz="1900" b="1" dirty="0">
                <a:latin typeface="+mj-lt"/>
              </a:rPr>
              <a:t>Ping 10.0.13.3</a:t>
            </a:r>
          </a:p>
        </p:txBody>
      </p:sp>
      <p:sp>
        <p:nvSpPr>
          <p:cNvPr id="26" name="Rectangle 25">
            <a:extLst>
              <a:ext uri="{FF2B5EF4-FFF2-40B4-BE49-F238E27FC236}">
                <a16:creationId xmlns:a16="http://schemas.microsoft.com/office/drawing/2014/main" id="{9B8944DA-4F4C-441B-875F-98A7A11EA176}"/>
              </a:ext>
            </a:extLst>
          </p:cNvPr>
          <p:cNvSpPr/>
          <p:nvPr/>
        </p:nvSpPr>
        <p:spPr>
          <a:xfrm>
            <a:off x="427972" y="224135"/>
            <a:ext cx="6907981" cy="1569660"/>
          </a:xfrm>
          <a:prstGeom prst="rect">
            <a:avLst/>
          </a:prstGeom>
          <a:noFill/>
        </p:spPr>
        <p:txBody>
          <a:bodyPr wrap="none" lIns="91440" tIns="45720" rIns="91440" bIns="45720">
            <a:spAutoFit/>
          </a:bodyPr>
          <a:lstStyle/>
          <a:p>
            <a:pPr algn="ctr"/>
            <a:r>
              <a:rPr lang="en-US" sz="4800" dirty="0">
                <a:ln w="0"/>
                <a:effectLst>
                  <a:outerShdw blurRad="38100" dist="19050" dir="2700000" algn="tl" rotWithShape="0">
                    <a:schemeClr val="dk1">
                      <a:alpha val="40000"/>
                    </a:schemeClr>
                  </a:outerShdw>
                </a:effectLst>
              </a:rPr>
              <a:t>Perform basic system and</a:t>
            </a:r>
          </a:p>
          <a:p>
            <a:pPr algn="ctr"/>
            <a:r>
              <a:rPr lang="en-US" sz="4800" dirty="0">
                <a:ln w="0"/>
                <a:effectLst>
                  <a:outerShdw blurRad="38100" dist="19050" dir="2700000" algn="tl" rotWithShape="0">
                    <a:schemeClr val="dk1">
                      <a:alpha val="40000"/>
                    </a:schemeClr>
                  </a:outerShdw>
                </a:effectLst>
              </a:rPr>
              <a:t> IP address configuration</a:t>
            </a:r>
          </a:p>
        </p:txBody>
      </p:sp>
      <p:pic>
        <p:nvPicPr>
          <p:cNvPr id="4" name="Picture 3">
            <a:extLst>
              <a:ext uri="{FF2B5EF4-FFF2-40B4-BE49-F238E27FC236}">
                <a16:creationId xmlns:a16="http://schemas.microsoft.com/office/drawing/2014/main" id="{B9D68CCB-E86F-4900-934F-3471D450BEFC}"/>
              </a:ext>
            </a:extLst>
          </p:cNvPr>
          <p:cNvPicPr>
            <a:picLocks noChangeAspect="1"/>
          </p:cNvPicPr>
          <p:nvPr/>
        </p:nvPicPr>
        <p:blipFill rotWithShape="1">
          <a:blip r:embed="rId2"/>
          <a:srcRect l="21250" t="22692" r="40902" b="31259"/>
          <a:stretch/>
        </p:blipFill>
        <p:spPr>
          <a:xfrm>
            <a:off x="6015177" y="1671145"/>
            <a:ext cx="5897248" cy="4035972"/>
          </a:xfrm>
          <a:prstGeom prst="rect">
            <a:avLst/>
          </a:prstGeom>
        </p:spPr>
      </p:pic>
    </p:spTree>
    <p:extLst>
      <p:ext uri="{BB962C8B-B14F-4D97-AF65-F5344CB8AC3E}">
        <p14:creationId xmlns:p14="http://schemas.microsoft.com/office/powerpoint/2010/main" val="26189231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9B8944DA-4F4C-441B-875F-98A7A11EA176}"/>
              </a:ext>
            </a:extLst>
          </p:cNvPr>
          <p:cNvSpPr/>
          <p:nvPr/>
        </p:nvSpPr>
        <p:spPr>
          <a:xfrm>
            <a:off x="261174" y="122535"/>
            <a:ext cx="4620304" cy="830997"/>
          </a:xfrm>
          <a:prstGeom prst="rect">
            <a:avLst/>
          </a:prstGeom>
          <a:noFill/>
        </p:spPr>
        <p:txBody>
          <a:bodyPr wrap="none" lIns="91440" tIns="45720" rIns="91440" bIns="45720">
            <a:spAutoFit/>
          </a:bodyPr>
          <a:lstStyle/>
          <a:p>
            <a:pPr algn="ctr"/>
            <a:r>
              <a:rPr lang="en-US" sz="4800" b="0" cap="none" spc="0" dirty="0">
                <a:ln w="0"/>
                <a:solidFill>
                  <a:schemeClr val="tx1"/>
                </a:solidFill>
                <a:effectLst>
                  <a:outerShdw blurRad="38100" dist="19050" dir="2700000" algn="tl" rotWithShape="0">
                    <a:schemeClr val="dk1">
                      <a:alpha val="40000"/>
                    </a:schemeClr>
                  </a:outerShdw>
                </a:effectLst>
              </a:rPr>
              <a:t>Test connectivity </a:t>
            </a:r>
          </a:p>
        </p:txBody>
      </p:sp>
      <p:pic>
        <p:nvPicPr>
          <p:cNvPr id="6" name="Picture 5">
            <a:extLst>
              <a:ext uri="{FF2B5EF4-FFF2-40B4-BE49-F238E27FC236}">
                <a16:creationId xmlns:a16="http://schemas.microsoft.com/office/drawing/2014/main" id="{639938DE-2141-441E-AED6-06AF67DAE8DC}"/>
              </a:ext>
            </a:extLst>
          </p:cNvPr>
          <p:cNvPicPr>
            <a:picLocks noChangeAspect="1"/>
          </p:cNvPicPr>
          <p:nvPr/>
        </p:nvPicPr>
        <p:blipFill rotWithShape="1">
          <a:blip r:embed="rId2"/>
          <a:srcRect l="25583" t="18060" r="47558" b="45711"/>
          <a:stretch/>
        </p:blipFill>
        <p:spPr>
          <a:xfrm>
            <a:off x="612449" y="2539663"/>
            <a:ext cx="4990762" cy="3786648"/>
          </a:xfrm>
          <a:prstGeom prst="rect">
            <a:avLst/>
          </a:prstGeom>
        </p:spPr>
      </p:pic>
      <p:sp>
        <p:nvSpPr>
          <p:cNvPr id="7" name="TextBox 6">
            <a:extLst>
              <a:ext uri="{FF2B5EF4-FFF2-40B4-BE49-F238E27FC236}">
                <a16:creationId xmlns:a16="http://schemas.microsoft.com/office/drawing/2014/main" id="{E03BF2CE-77EF-4457-A862-C47B3D9EE8FB}"/>
              </a:ext>
            </a:extLst>
          </p:cNvPr>
          <p:cNvSpPr txBox="1"/>
          <p:nvPr/>
        </p:nvSpPr>
        <p:spPr>
          <a:xfrm>
            <a:off x="612449" y="1135117"/>
            <a:ext cx="5222240" cy="1015663"/>
          </a:xfrm>
          <a:prstGeom prst="rect">
            <a:avLst/>
          </a:prstGeom>
          <a:noFill/>
        </p:spPr>
        <p:txBody>
          <a:bodyPr wrap="square" rtlCol="0">
            <a:spAutoFit/>
          </a:bodyPr>
          <a:lstStyle/>
          <a:p>
            <a:r>
              <a:rPr lang="en-US" sz="2000" dirty="0">
                <a:latin typeface="+mj-lt"/>
              </a:rPr>
              <a:t>Use the ping command to test network connectivity from R2 to networks  10.0.13.0/24 and 10.0.3.0/24 </a:t>
            </a:r>
          </a:p>
        </p:txBody>
      </p:sp>
      <p:pic>
        <p:nvPicPr>
          <p:cNvPr id="8" name="Picture 7">
            <a:extLst>
              <a:ext uri="{FF2B5EF4-FFF2-40B4-BE49-F238E27FC236}">
                <a16:creationId xmlns:a16="http://schemas.microsoft.com/office/drawing/2014/main" id="{5CB349AE-FEB4-449D-959D-1FB13AA3268D}"/>
              </a:ext>
            </a:extLst>
          </p:cNvPr>
          <p:cNvPicPr>
            <a:picLocks noChangeAspect="1"/>
          </p:cNvPicPr>
          <p:nvPr/>
        </p:nvPicPr>
        <p:blipFill rotWithShape="1">
          <a:blip r:embed="rId2"/>
          <a:srcRect l="25690" t="56245" r="48793" b="9246"/>
          <a:stretch/>
        </p:blipFill>
        <p:spPr>
          <a:xfrm>
            <a:off x="5956727" y="2539663"/>
            <a:ext cx="4977817" cy="3786648"/>
          </a:xfrm>
          <a:prstGeom prst="rect">
            <a:avLst/>
          </a:prstGeom>
        </p:spPr>
      </p:pic>
    </p:spTree>
    <p:extLst>
      <p:ext uri="{BB962C8B-B14F-4D97-AF65-F5344CB8AC3E}">
        <p14:creationId xmlns:p14="http://schemas.microsoft.com/office/powerpoint/2010/main" val="39392265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6D3B5378-71E3-4A4C-B094-381AB0128277}"/>
              </a:ext>
            </a:extLst>
          </p:cNvPr>
          <p:cNvSpPr txBox="1"/>
          <p:nvPr/>
        </p:nvSpPr>
        <p:spPr>
          <a:xfrm>
            <a:off x="310055" y="1366345"/>
            <a:ext cx="4934607" cy="2930098"/>
          </a:xfrm>
          <a:prstGeom prst="rect">
            <a:avLst/>
          </a:prstGeom>
          <a:noFill/>
        </p:spPr>
        <p:txBody>
          <a:bodyPr wrap="square" rtlCol="0">
            <a:spAutoFit/>
          </a:bodyPr>
          <a:lstStyle/>
          <a:p>
            <a:pPr marL="342900" indent="-342900">
              <a:lnSpc>
                <a:spcPct val="200000"/>
              </a:lnSpc>
              <a:buFont typeface="Wingdings" panose="05000000000000000000" pitchFamily="2" charset="2"/>
              <a:buChar char="ü"/>
            </a:pPr>
            <a:r>
              <a:rPr lang="en-US" sz="1900" dirty="0">
                <a:latin typeface="+mj-lt"/>
              </a:rPr>
              <a:t>Run the </a:t>
            </a:r>
            <a:r>
              <a:rPr lang="en-US" sz="1900" b="1" dirty="0">
                <a:latin typeface="+mj-lt"/>
              </a:rPr>
              <a:t>display </a:t>
            </a:r>
            <a:r>
              <a:rPr lang="en-US" sz="1900" b="1" dirty="0" err="1">
                <a:latin typeface="+mj-lt"/>
              </a:rPr>
              <a:t>ip</a:t>
            </a:r>
            <a:r>
              <a:rPr lang="en-US" sz="1900" b="1" dirty="0">
                <a:latin typeface="+mj-lt"/>
              </a:rPr>
              <a:t> routing-table </a:t>
            </a:r>
            <a:r>
              <a:rPr lang="en-US" sz="1900" dirty="0">
                <a:latin typeface="+mj-lt"/>
              </a:rPr>
              <a:t>command to view the routing table of R2. </a:t>
            </a:r>
          </a:p>
          <a:p>
            <a:pPr marL="342900" indent="-342900">
              <a:lnSpc>
                <a:spcPct val="200000"/>
              </a:lnSpc>
              <a:buFont typeface="Wingdings" panose="05000000000000000000" pitchFamily="2" charset="2"/>
              <a:buChar char="ü"/>
            </a:pPr>
            <a:r>
              <a:rPr lang="en-US" sz="1900" dirty="0">
                <a:latin typeface="+mj-lt"/>
              </a:rPr>
              <a:t>The routing table does not contain the routes of the two networks.  </a:t>
            </a:r>
          </a:p>
        </p:txBody>
      </p:sp>
      <p:sp>
        <p:nvSpPr>
          <p:cNvPr id="26" name="Rectangle 25">
            <a:extLst>
              <a:ext uri="{FF2B5EF4-FFF2-40B4-BE49-F238E27FC236}">
                <a16:creationId xmlns:a16="http://schemas.microsoft.com/office/drawing/2014/main" id="{9B8944DA-4F4C-441B-875F-98A7A11EA176}"/>
              </a:ext>
            </a:extLst>
          </p:cNvPr>
          <p:cNvSpPr/>
          <p:nvPr/>
        </p:nvSpPr>
        <p:spPr>
          <a:xfrm>
            <a:off x="310055" y="381790"/>
            <a:ext cx="4620304" cy="830997"/>
          </a:xfrm>
          <a:prstGeom prst="rect">
            <a:avLst/>
          </a:prstGeom>
          <a:noFill/>
        </p:spPr>
        <p:txBody>
          <a:bodyPr wrap="none" lIns="91440" tIns="45720" rIns="91440" bIns="45720">
            <a:spAutoFit/>
          </a:bodyPr>
          <a:lstStyle/>
          <a:p>
            <a:pPr algn="ctr"/>
            <a:r>
              <a:rPr lang="en-US" sz="4800" b="0" cap="none" spc="0" dirty="0">
                <a:ln w="0"/>
                <a:solidFill>
                  <a:schemeClr val="tx1"/>
                </a:solidFill>
                <a:effectLst>
                  <a:outerShdw blurRad="38100" dist="19050" dir="2700000" algn="tl" rotWithShape="0">
                    <a:schemeClr val="dk1">
                      <a:alpha val="40000"/>
                    </a:schemeClr>
                  </a:outerShdw>
                </a:effectLst>
              </a:rPr>
              <a:t>Test connectivity </a:t>
            </a:r>
          </a:p>
        </p:txBody>
      </p:sp>
      <p:pic>
        <p:nvPicPr>
          <p:cNvPr id="5" name="Picture 4">
            <a:extLst>
              <a:ext uri="{FF2B5EF4-FFF2-40B4-BE49-F238E27FC236}">
                <a16:creationId xmlns:a16="http://schemas.microsoft.com/office/drawing/2014/main" id="{102C0ECB-5EF6-474C-A910-2E9A57EAAD14}"/>
              </a:ext>
            </a:extLst>
          </p:cNvPr>
          <p:cNvPicPr>
            <a:picLocks noChangeAspect="1"/>
          </p:cNvPicPr>
          <p:nvPr/>
        </p:nvPicPr>
        <p:blipFill rotWithShape="1">
          <a:blip r:embed="rId2"/>
          <a:srcRect l="25172" t="22529" r="35590" b="22452"/>
          <a:stretch/>
        </p:blipFill>
        <p:spPr>
          <a:xfrm>
            <a:off x="5539085" y="1366345"/>
            <a:ext cx="6342860" cy="5002924"/>
          </a:xfrm>
          <a:prstGeom prst="rect">
            <a:avLst/>
          </a:prstGeom>
        </p:spPr>
      </p:pic>
    </p:spTree>
    <p:extLst>
      <p:ext uri="{BB962C8B-B14F-4D97-AF65-F5344CB8AC3E}">
        <p14:creationId xmlns:p14="http://schemas.microsoft.com/office/powerpoint/2010/main" val="20494910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6D3B5378-71E3-4A4C-B094-381AB0128277}"/>
              </a:ext>
            </a:extLst>
          </p:cNvPr>
          <p:cNvSpPr txBox="1"/>
          <p:nvPr/>
        </p:nvSpPr>
        <p:spPr>
          <a:xfrm>
            <a:off x="198295" y="794657"/>
            <a:ext cx="5897705" cy="5268686"/>
          </a:xfrm>
          <a:prstGeom prst="rect">
            <a:avLst/>
          </a:prstGeom>
          <a:noFill/>
        </p:spPr>
        <p:txBody>
          <a:bodyPr wrap="square" rtlCol="0">
            <a:spAutoFit/>
          </a:bodyPr>
          <a:lstStyle/>
          <a:p>
            <a:pPr marL="342900" indent="-342900">
              <a:lnSpc>
                <a:spcPct val="200000"/>
              </a:lnSpc>
              <a:buFont typeface="Wingdings" panose="05000000000000000000" pitchFamily="2" charset="2"/>
              <a:buChar char="ü"/>
            </a:pPr>
            <a:r>
              <a:rPr lang="en-US" sz="1900" dirty="0">
                <a:latin typeface="+mj-lt"/>
              </a:rPr>
              <a:t>Configure a static route for destination networks 10.0.13.0/24 and 10.0.3.0/24, with the next hop set as the IP address 10.0.23.3 of R3, a preference value of 60 is the default and need not be set. </a:t>
            </a:r>
          </a:p>
          <a:p>
            <a:pPr marL="342900" indent="-342900">
              <a:lnSpc>
                <a:spcPct val="200000"/>
              </a:lnSpc>
              <a:buFont typeface="Wingdings" panose="05000000000000000000" pitchFamily="2" charset="2"/>
              <a:buChar char="ü"/>
            </a:pPr>
            <a:r>
              <a:rPr lang="en-US" sz="1900" b="1" dirty="0">
                <a:solidFill>
                  <a:srgbClr val="FF0000"/>
                </a:solidFill>
                <a:latin typeface="+mj-lt"/>
              </a:rPr>
              <a:t>NOTE: </a:t>
            </a:r>
            <a:r>
              <a:rPr lang="en-US" sz="1900" dirty="0">
                <a:latin typeface="+mj-lt"/>
              </a:rPr>
              <a:t>in the </a:t>
            </a:r>
            <a:r>
              <a:rPr lang="en-US" sz="1900" b="1" dirty="0" err="1">
                <a:latin typeface="+mj-lt"/>
              </a:rPr>
              <a:t>ip</a:t>
            </a:r>
            <a:r>
              <a:rPr lang="en-US" sz="1900" b="1" dirty="0">
                <a:latin typeface="+mj-lt"/>
              </a:rPr>
              <a:t> route-static </a:t>
            </a:r>
            <a:r>
              <a:rPr lang="en-US" sz="1900" dirty="0">
                <a:latin typeface="+mj-lt"/>
              </a:rPr>
              <a:t>command, </a:t>
            </a:r>
            <a:r>
              <a:rPr lang="en-US" sz="1900" b="1" dirty="0">
                <a:latin typeface="+mj-lt"/>
              </a:rPr>
              <a:t>24</a:t>
            </a:r>
            <a:r>
              <a:rPr lang="en-US" sz="1900" dirty="0">
                <a:latin typeface="+mj-lt"/>
              </a:rPr>
              <a:t> indicates the subnet mask length, which can also be expressed using decimal format 255.255.25.0</a:t>
            </a:r>
            <a:endParaRPr lang="en-US" sz="1900" b="1" dirty="0">
              <a:solidFill>
                <a:srgbClr val="FF0000"/>
              </a:solidFill>
              <a:latin typeface="+mj-lt"/>
            </a:endParaRPr>
          </a:p>
        </p:txBody>
      </p:sp>
      <p:sp>
        <p:nvSpPr>
          <p:cNvPr id="26" name="Rectangle 25">
            <a:extLst>
              <a:ext uri="{FF2B5EF4-FFF2-40B4-BE49-F238E27FC236}">
                <a16:creationId xmlns:a16="http://schemas.microsoft.com/office/drawing/2014/main" id="{9B8944DA-4F4C-441B-875F-98A7A11EA176}"/>
              </a:ext>
            </a:extLst>
          </p:cNvPr>
          <p:cNvSpPr/>
          <p:nvPr/>
        </p:nvSpPr>
        <p:spPr>
          <a:xfrm>
            <a:off x="100899" y="168840"/>
            <a:ext cx="6797245" cy="738664"/>
          </a:xfrm>
          <a:prstGeom prst="rect">
            <a:avLst/>
          </a:prstGeom>
          <a:noFill/>
        </p:spPr>
        <p:txBody>
          <a:bodyPr wrap="none" lIns="91440" tIns="45720" rIns="91440" bIns="45720">
            <a:spAutoFit/>
          </a:bodyPr>
          <a:lstStyle/>
          <a:p>
            <a:pPr algn="ctr"/>
            <a:r>
              <a:rPr lang="en-US" sz="4200" b="0" cap="none" spc="0" dirty="0">
                <a:ln w="0"/>
                <a:solidFill>
                  <a:schemeClr val="tx1"/>
                </a:solidFill>
                <a:effectLst>
                  <a:outerShdw blurRad="38100" dist="19050" dir="2700000" algn="tl" rotWithShape="0">
                    <a:schemeClr val="dk1">
                      <a:alpha val="40000"/>
                    </a:schemeClr>
                  </a:outerShdw>
                </a:effectLst>
              </a:rPr>
              <a:t>Configure static routes on R2</a:t>
            </a:r>
          </a:p>
        </p:txBody>
      </p:sp>
      <p:pic>
        <p:nvPicPr>
          <p:cNvPr id="4" name="Picture 3">
            <a:extLst>
              <a:ext uri="{FF2B5EF4-FFF2-40B4-BE49-F238E27FC236}">
                <a16:creationId xmlns:a16="http://schemas.microsoft.com/office/drawing/2014/main" id="{2E02FE51-70C2-4C3C-8F54-164F4B87DA3D}"/>
              </a:ext>
            </a:extLst>
          </p:cNvPr>
          <p:cNvPicPr>
            <a:picLocks noChangeAspect="1"/>
          </p:cNvPicPr>
          <p:nvPr/>
        </p:nvPicPr>
        <p:blipFill rotWithShape="1">
          <a:blip r:embed="rId2"/>
          <a:srcRect l="21250" t="53707" r="55667" b="37404"/>
          <a:stretch/>
        </p:blipFill>
        <p:spPr>
          <a:xfrm>
            <a:off x="6695439" y="1086456"/>
            <a:ext cx="4925057" cy="1066801"/>
          </a:xfrm>
          <a:prstGeom prst="rect">
            <a:avLst/>
          </a:prstGeom>
        </p:spPr>
      </p:pic>
      <p:pic>
        <p:nvPicPr>
          <p:cNvPr id="5" name="Picture 4">
            <a:extLst>
              <a:ext uri="{FF2B5EF4-FFF2-40B4-BE49-F238E27FC236}">
                <a16:creationId xmlns:a16="http://schemas.microsoft.com/office/drawing/2014/main" id="{D96F1CCA-67BD-4C84-B3B5-6938B8623ADA}"/>
              </a:ext>
            </a:extLst>
          </p:cNvPr>
          <p:cNvPicPr>
            <a:picLocks noChangeAspect="1"/>
          </p:cNvPicPr>
          <p:nvPr/>
        </p:nvPicPr>
        <p:blipFill rotWithShape="1">
          <a:blip r:embed="rId2"/>
          <a:srcRect l="21584" t="74074" r="55333" b="15914"/>
          <a:stretch/>
        </p:blipFill>
        <p:spPr>
          <a:xfrm>
            <a:off x="6196327" y="2516851"/>
            <a:ext cx="3831475" cy="934805"/>
          </a:xfrm>
          <a:prstGeom prst="rect">
            <a:avLst/>
          </a:prstGeom>
        </p:spPr>
      </p:pic>
      <p:pic>
        <p:nvPicPr>
          <p:cNvPr id="6" name="Picture 5">
            <a:extLst>
              <a:ext uri="{FF2B5EF4-FFF2-40B4-BE49-F238E27FC236}">
                <a16:creationId xmlns:a16="http://schemas.microsoft.com/office/drawing/2014/main" id="{13AD903A-9BB3-4229-8883-D84D1E2DB4E1}"/>
              </a:ext>
            </a:extLst>
          </p:cNvPr>
          <p:cNvPicPr>
            <a:picLocks noChangeAspect="1"/>
          </p:cNvPicPr>
          <p:nvPr/>
        </p:nvPicPr>
        <p:blipFill rotWithShape="1">
          <a:blip r:embed="rId3"/>
          <a:srcRect l="21582" t="41481" r="30668" b="27260"/>
          <a:stretch/>
        </p:blipFill>
        <p:spPr>
          <a:xfrm>
            <a:off x="6128726" y="3327225"/>
            <a:ext cx="6058481" cy="2230959"/>
          </a:xfrm>
          <a:prstGeom prst="rect">
            <a:avLst/>
          </a:prstGeom>
        </p:spPr>
      </p:pic>
    </p:spTree>
    <p:extLst>
      <p:ext uri="{BB962C8B-B14F-4D97-AF65-F5344CB8AC3E}">
        <p14:creationId xmlns:p14="http://schemas.microsoft.com/office/powerpoint/2010/main" val="11557921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DA67C67-80F0-4667-8C6F-2C475816E290}"/>
              </a:ext>
            </a:extLst>
          </p:cNvPr>
          <p:cNvSpPr>
            <a:spLocks noGrp="1"/>
          </p:cNvSpPr>
          <p:nvPr>
            <p:ph type="title" idx="4294967295"/>
          </p:nvPr>
        </p:nvSpPr>
        <p:spPr>
          <a:xfrm>
            <a:off x="84083" y="122829"/>
            <a:ext cx="10058400" cy="701675"/>
          </a:xfrm>
        </p:spPr>
        <p:txBody>
          <a:bodyPr vert="horz" lIns="91440" tIns="45720" rIns="91440" bIns="45720" rtlCol="0" anchor="b">
            <a:normAutofit fontScale="90000"/>
          </a:bodyPr>
          <a:lstStyle/>
          <a:p>
            <a:r>
              <a:rPr lang="en-US" b="0" i="0" kern="1200" cap="none" spc="-50" baseline="0" dirty="0">
                <a:ln w="0"/>
                <a:effectLst>
                  <a:outerShdw blurRad="38100" dist="19050" dir="2700000" algn="tl" rotWithShape="0">
                    <a:schemeClr val="dk1">
                      <a:alpha val="40000"/>
                    </a:schemeClr>
                  </a:outerShdw>
                </a:effectLst>
                <a:latin typeface="+mj-lt"/>
                <a:ea typeface="+mj-ea"/>
                <a:cs typeface="+mj-cs"/>
              </a:rPr>
              <a:t>Configure backup static routes</a:t>
            </a:r>
          </a:p>
        </p:txBody>
      </p:sp>
      <p:sp>
        <p:nvSpPr>
          <p:cNvPr id="12" name="Content Placeholder 2">
            <a:extLst>
              <a:ext uri="{FF2B5EF4-FFF2-40B4-BE49-F238E27FC236}">
                <a16:creationId xmlns:a16="http://schemas.microsoft.com/office/drawing/2014/main" id="{BDC88D8E-AEB8-4910-8063-811F1DAA519E}"/>
              </a:ext>
            </a:extLst>
          </p:cNvPr>
          <p:cNvSpPr>
            <a:spLocks noGrp="1"/>
          </p:cNvSpPr>
          <p:nvPr>
            <p:ph sz="half" idx="4294967295"/>
          </p:nvPr>
        </p:nvSpPr>
        <p:spPr>
          <a:xfrm>
            <a:off x="210207" y="1143996"/>
            <a:ext cx="5722326" cy="4889500"/>
          </a:xfrm>
        </p:spPr>
        <p:txBody>
          <a:bodyPr>
            <a:normAutofit/>
          </a:bodyPr>
          <a:lstStyle/>
          <a:p>
            <a:pPr>
              <a:lnSpc>
                <a:spcPct val="150000"/>
              </a:lnSpc>
              <a:buFont typeface="Wingdings" panose="05000000000000000000" pitchFamily="2" charset="2"/>
              <a:buChar char="ü"/>
            </a:pPr>
            <a:r>
              <a:rPr lang="en-US" dirty="0">
                <a:solidFill>
                  <a:schemeClr val="tx1"/>
                </a:solidFill>
                <a:latin typeface="+mj-lt"/>
              </a:rPr>
              <a:t>The data exchanged between R2 and 10.0.13.3 and 10.0.3.3 is transmitted through the link between R2 and R3 fails to communicate with 10.0.13.3 and 10.0.3.3 if the link between R2 and R3 is faulty.</a:t>
            </a:r>
          </a:p>
          <a:p>
            <a:pPr>
              <a:lnSpc>
                <a:spcPct val="150000"/>
              </a:lnSpc>
              <a:buFont typeface="Wingdings" panose="05000000000000000000" pitchFamily="2" charset="2"/>
              <a:buChar char="ü"/>
            </a:pPr>
            <a:r>
              <a:rPr lang="en-US" dirty="0">
                <a:solidFill>
                  <a:schemeClr val="tx1"/>
                </a:solidFill>
                <a:latin typeface="+mj-lt"/>
              </a:rPr>
              <a:t>A backup static routes can be configured to enable this redundancy.</a:t>
            </a:r>
          </a:p>
          <a:p>
            <a:pPr>
              <a:lnSpc>
                <a:spcPct val="150000"/>
              </a:lnSpc>
              <a:buFont typeface="Wingdings" panose="05000000000000000000" pitchFamily="2" charset="2"/>
              <a:buChar char="ü"/>
            </a:pPr>
            <a:r>
              <a:rPr lang="en-US" dirty="0">
                <a:solidFill>
                  <a:schemeClr val="tx1"/>
                </a:solidFill>
                <a:latin typeface="+mj-lt"/>
              </a:rPr>
              <a:t>Amend the preferences for the backup static route to ensure that the routes are used only when the primary link fails. </a:t>
            </a:r>
          </a:p>
        </p:txBody>
      </p:sp>
      <p:pic>
        <p:nvPicPr>
          <p:cNvPr id="8" name="Picture 7">
            <a:extLst>
              <a:ext uri="{FF2B5EF4-FFF2-40B4-BE49-F238E27FC236}">
                <a16:creationId xmlns:a16="http://schemas.microsoft.com/office/drawing/2014/main" id="{A45ABE6F-9157-4DB2-AFF3-A5DD7281F23A}"/>
              </a:ext>
            </a:extLst>
          </p:cNvPr>
          <p:cNvPicPr>
            <a:picLocks noChangeAspect="1"/>
          </p:cNvPicPr>
          <p:nvPr/>
        </p:nvPicPr>
        <p:blipFill rotWithShape="1">
          <a:blip r:embed="rId2"/>
          <a:srcRect l="20250" t="60000" r="42701" b="16681"/>
          <a:stretch/>
        </p:blipFill>
        <p:spPr>
          <a:xfrm>
            <a:off x="5932533" y="1038586"/>
            <a:ext cx="6121020" cy="2167069"/>
          </a:xfrm>
          <a:prstGeom prst="rect">
            <a:avLst/>
          </a:prstGeom>
        </p:spPr>
      </p:pic>
    </p:spTree>
    <p:extLst>
      <p:ext uri="{BB962C8B-B14F-4D97-AF65-F5344CB8AC3E}">
        <p14:creationId xmlns:p14="http://schemas.microsoft.com/office/powerpoint/2010/main" val="9007799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DA67C67-80F0-4667-8C6F-2C475816E290}"/>
              </a:ext>
            </a:extLst>
          </p:cNvPr>
          <p:cNvSpPr>
            <a:spLocks noGrp="1"/>
          </p:cNvSpPr>
          <p:nvPr>
            <p:ph type="title" idx="4294967295"/>
          </p:nvPr>
        </p:nvSpPr>
        <p:spPr>
          <a:xfrm>
            <a:off x="84083" y="122829"/>
            <a:ext cx="10058400" cy="701675"/>
          </a:xfrm>
        </p:spPr>
        <p:txBody>
          <a:bodyPr vert="horz" lIns="91440" tIns="45720" rIns="91440" bIns="45720" rtlCol="0" anchor="b">
            <a:normAutofit fontScale="90000"/>
          </a:bodyPr>
          <a:lstStyle/>
          <a:p>
            <a:r>
              <a:rPr lang="en-US" b="0" i="0" kern="1200" cap="none" spc="-50" baseline="0" dirty="0">
                <a:ln w="0"/>
                <a:effectLst>
                  <a:outerShdw blurRad="38100" dist="19050" dir="2700000" algn="tl" rotWithShape="0">
                    <a:schemeClr val="dk1">
                      <a:alpha val="40000"/>
                    </a:schemeClr>
                  </a:outerShdw>
                </a:effectLst>
                <a:latin typeface="+mj-lt"/>
                <a:ea typeface="+mj-ea"/>
                <a:cs typeface="+mj-cs"/>
              </a:rPr>
              <a:t>Test the static routes </a:t>
            </a:r>
          </a:p>
        </p:txBody>
      </p:sp>
      <p:sp>
        <p:nvSpPr>
          <p:cNvPr id="12" name="Content Placeholder 2">
            <a:extLst>
              <a:ext uri="{FF2B5EF4-FFF2-40B4-BE49-F238E27FC236}">
                <a16:creationId xmlns:a16="http://schemas.microsoft.com/office/drawing/2014/main" id="{BDC88D8E-AEB8-4910-8063-811F1DAA519E}"/>
              </a:ext>
            </a:extLst>
          </p:cNvPr>
          <p:cNvSpPr>
            <a:spLocks noGrp="1"/>
          </p:cNvSpPr>
          <p:nvPr>
            <p:ph sz="half" idx="4294967295"/>
          </p:nvPr>
        </p:nvSpPr>
        <p:spPr>
          <a:xfrm>
            <a:off x="210207" y="1143996"/>
            <a:ext cx="4640263" cy="4889500"/>
          </a:xfrm>
        </p:spPr>
        <p:txBody>
          <a:bodyPr/>
          <a:lstStyle/>
          <a:p>
            <a:pPr>
              <a:lnSpc>
                <a:spcPct val="150000"/>
              </a:lnSpc>
              <a:buFont typeface="Wingdings" panose="05000000000000000000" pitchFamily="2" charset="2"/>
              <a:buChar char="ü"/>
            </a:pPr>
            <a:r>
              <a:rPr lang="en-US" dirty="0">
                <a:solidFill>
                  <a:schemeClr val="tx1"/>
                </a:solidFill>
                <a:latin typeface="+mj-lt"/>
              </a:rPr>
              <a:t>Test network connectivity to ensure the route between R2 and R3 exists. </a:t>
            </a:r>
          </a:p>
        </p:txBody>
      </p:sp>
      <p:pic>
        <p:nvPicPr>
          <p:cNvPr id="3" name="Picture 2">
            <a:extLst>
              <a:ext uri="{FF2B5EF4-FFF2-40B4-BE49-F238E27FC236}">
                <a16:creationId xmlns:a16="http://schemas.microsoft.com/office/drawing/2014/main" id="{11663DAF-C173-4481-9FCC-0437C3399F0A}"/>
              </a:ext>
            </a:extLst>
          </p:cNvPr>
          <p:cNvPicPr>
            <a:picLocks noChangeAspect="1"/>
          </p:cNvPicPr>
          <p:nvPr/>
        </p:nvPicPr>
        <p:blipFill rotWithShape="1">
          <a:blip r:embed="rId2"/>
          <a:srcRect l="26897" t="24981" r="42500" b="16681"/>
          <a:stretch/>
        </p:blipFill>
        <p:spPr>
          <a:xfrm>
            <a:off x="5959365" y="586195"/>
            <a:ext cx="5302414" cy="5685609"/>
          </a:xfrm>
          <a:prstGeom prst="rect">
            <a:avLst/>
          </a:prstGeom>
        </p:spPr>
      </p:pic>
    </p:spTree>
    <p:extLst>
      <p:ext uri="{BB962C8B-B14F-4D97-AF65-F5344CB8AC3E}">
        <p14:creationId xmlns:p14="http://schemas.microsoft.com/office/powerpoint/2010/main" val="10100534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C5107-E60A-463F-AECD-08D23E8C443B}"/>
              </a:ext>
            </a:extLst>
          </p:cNvPr>
          <p:cNvSpPr>
            <a:spLocks noGrp="1"/>
          </p:cNvSpPr>
          <p:nvPr>
            <p:ph type="title"/>
          </p:nvPr>
        </p:nvSpPr>
        <p:spPr/>
        <p:txBody>
          <a:bodyPr/>
          <a:lstStyle/>
          <a:p>
            <a:r>
              <a:rPr lang="en-US" dirty="0"/>
              <a:t>Thank you </a:t>
            </a:r>
          </a:p>
        </p:txBody>
      </p:sp>
    </p:spTree>
    <p:extLst>
      <p:ext uri="{BB962C8B-B14F-4D97-AF65-F5344CB8AC3E}">
        <p14:creationId xmlns:p14="http://schemas.microsoft.com/office/powerpoint/2010/main" val="2208094632"/>
      </p:ext>
    </p:extLst>
  </p:cSld>
  <p:clrMapOvr>
    <a:masterClrMapping/>
  </p:clrMapOvr>
</p:sld>
</file>

<file path=ppt/theme/theme1.xml><?xml version="1.0" encoding="utf-8"?>
<a:theme xmlns:a="http://schemas.openxmlformats.org/drawingml/2006/main" name="1_RetrospectVTI">
  <a:themeElements>
    <a:clrScheme name="Custom 37">
      <a:dk1>
        <a:srgbClr val="000000"/>
      </a:dk1>
      <a:lt1>
        <a:srgbClr val="FFFFFF"/>
      </a:lt1>
      <a:dk2>
        <a:srgbClr val="4A5356"/>
      </a:dk2>
      <a:lt2>
        <a:srgbClr val="E8E3CE"/>
      </a:lt2>
      <a:accent1>
        <a:srgbClr val="9BA8B7"/>
      </a:accent1>
      <a:accent2>
        <a:srgbClr val="E6A02E"/>
      </a:accent2>
      <a:accent3>
        <a:srgbClr val="BF6A3B"/>
      </a:accent3>
      <a:accent4>
        <a:srgbClr val="92987A"/>
      </a:accent4>
      <a:accent5>
        <a:srgbClr val="857659"/>
      </a:accent5>
      <a:accent6>
        <a:srgbClr val="A0988C"/>
      </a:accent6>
      <a:hlink>
        <a:srgbClr val="00B0F0"/>
      </a:hlink>
      <a:folHlink>
        <a:srgbClr val="738F97"/>
      </a:folHlink>
    </a:clrScheme>
    <a:fontScheme name="Retrospect">
      <a:majorFont>
        <a:latin typeface="Bookman Old Style"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TWO.pptx" id="{769520F8-BFE5-4C8C-A7AA-375C025A91CE}" vid="{AEAFD717-D3C8-4034-8F7E-D5220B0CCEB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ABE9DE761D8C4448868F302D369B5C3D" ma:contentTypeVersion="13" ma:contentTypeDescription="Create a new document." ma:contentTypeScope="" ma:versionID="dfe36e3e778102bef2bd18c318dfc9a9">
  <xsd:schema xmlns:xsd="http://www.w3.org/2001/XMLSchema" xmlns:xs="http://www.w3.org/2001/XMLSchema" xmlns:p="http://schemas.microsoft.com/office/2006/metadata/properties" xmlns:ns3="9e1e26e7-5f7e-4989-b4fb-d31397fc098b" xmlns:ns4="596a0d73-a34e-4cf5-85d7-50d4e390f3c9" targetNamespace="http://schemas.microsoft.com/office/2006/metadata/properties" ma:root="true" ma:fieldsID="67e077d59bc089f988751e544093422b" ns3:_="" ns4:_="">
    <xsd:import namespace="9e1e26e7-5f7e-4989-b4fb-d31397fc098b"/>
    <xsd:import namespace="596a0d73-a34e-4cf5-85d7-50d4e390f3c9"/>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OCR" minOccurs="0"/>
                <xsd:element ref="ns3:MediaServiceDateTaken" minOccurs="0"/>
                <xsd:element ref="ns3:MediaServiceLocation" minOccurs="0"/>
                <xsd:element ref="ns3:MediaServiceGenerationTime" minOccurs="0"/>
                <xsd:element ref="ns3:MediaServiceEventHashCode" minOccurs="0"/>
                <xsd:element ref="ns3:MediaServiceAutoKeyPoints" minOccurs="0"/>
                <xsd:element ref="ns3:MediaServiceKeyPoints" minOccurs="0"/>
                <xsd:element ref="ns4:SharedWithUsers" minOccurs="0"/>
                <xsd:element ref="ns4:SharedWithDetails" minOccurs="0"/>
                <xsd:element ref="ns4:SharingHintHash"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e1e26e7-5f7e-4989-b4fb-d31397fc098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Location" ma:index="13" nillable="true" ma:displayName="Location" ma:internalName="MediaServiceLocatio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596a0d73-a34e-4cf5-85d7-50d4e390f3c9"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3A306C0-5857-41A0-A45A-37184B633C10}">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F8060EC3-C5C7-44FE-8A63-F1EF641E7A99}">
  <ds:schemaRefs>
    <ds:schemaRef ds:uri="http://schemas.microsoft.com/sharepoint/v3/contenttype/forms"/>
  </ds:schemaRefs>
</ds:datastoreItem>
</file>

<file path=customXml/itemProps3.xml><?xml version="1.0" encoding="utf-8"?>
<ds:datastoreItem xmlns:ds="http://schemas.openxmlformats.org/officeDocument/2006/customXml" ds:itemID="{40036E87-846B-443D-85C4-0D17134E258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e1e26e7-5f7e-4989-b4fb-d31397fc098b"/>
    <ds:schemaRef ds:uri="596a0d73-a34e-4cf5-85d7-50d4e390f3c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9195</TotalTime>
  <Words>325</Words>
  <Application>Microsoft Macintosh PowerPoint</Application>
  <PresentationFormat>Widescreen</PresentationFormat>
  <Paragraphs>35</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Bookman Old Style</vt:lpstr>
      <vt:lpstr>Calibri</vt:lpstr>
      <vt:lpstr>Franklin Gothic Book</vt:lpstr>
      <vt:lpstr>Times New Roman</vt:lpstr>
      <vt:lpstr>Wingdings</vt:lpstr>
      <vt:lpstr>1_RetrospectVTI</vt:lpstr>
      <vt:lpstr>COMPUTER NETWORKING</vt:lpstr>
      <vt:lpstr>Static Routing</vt:lpstr>
      <vt:lpstr>OBJECTIVES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Configure backup static routes</vt:lpstr>
      <vt:lpstr>Test the static routes </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NETWORKING</dc:title>
  <dc:creator>Ranya Al-wajih</dc:creator>
  <cp:lastModifiedBy>Abdullahi Mujaheed Saleh</cp:lastModifiedBy>
  <cp:revision>9</cp:revision>
  <dcterms:created xsi:type="dcterms:W3CDTF">2020-12-22T02:57:04Z</dcterms:created>
  <dcterms:modified xsi:type="dcterms:W3CDTF">2024-06-05T18:34:58Z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0x010100ABE9DE761D8C4448868F302D369B5C3D</vt:lpwstr>
  </property>
</Properties>
</file>