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8"/>
  </p:notesMasterIdLst>
  <p:sldIdLst>
    <p:sldId id="257" r:id="rId5"/>
    <p:sldId id="258" r:id="rId6"/>
    <p:sldId id="277" r:id="rId7"/>
    <p:sldId id="259" r:id="rId8"/>
    <p:sldId id="280" r:id="rId9"/>
    <p:sldId id="279" r:id="rId10"/>
    <p:sldId id="263" r:id="rId11"/>
    <p:sldId id="273" r:id="rId12"/>
    <p:sldId id="272" r:id="rId13"/>
    <p:sldId id="275" r:id="rId14"/>
    <p:sldId id="274" r:id="rId15"/>
    <p:sldId id="276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079DDD-161C-4978-82F7-9607C4E848CC}" v="2" dt="2021-01-12T04:21:53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3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4A978-80D3-4E8E-AD1F-975D098D4FBA}" type="datetimeFigureOut">
              <a:rPr lang="en-US" smtClean="0"/>
              <a:t>2/22/24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E240F-B9B5-49C3-9B08-53B2754F5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70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058" y="639097"/>
            <a:ext cx="7453222" cy="4033642"/>
          </a:xfrm>
        </p:spPr>
        <p:txBody>
          <a:bodyPr>
            <a:normAutofit/>
          </a:bodyPr>
          <a:lstStyle/>
          <a:p>
            <a:r>
              <a:rPr lang="en-US" sz="7200" dirty="0"/>
              <a:t>COMPUTER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5247" y="4498925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 4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Dynamic Routing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971" y="350812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OSPf</a:t>
            </a:r>
            <a:r>
              <a:rPr lang="en-US" dirty="0">
                <a:solidFill>
                  <a:srgbClr val="FFFFFF"/>
                </a:solidFill>
              </a:rPr>
              <a:t> single-area configuration 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66C16FB7-9AD5-4168-AE50-FF2C141A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064F62A-95D2-4E7D-AF2B-30E71EE6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9840" y="812799"/>
            <a:ext cx="6918960" cy="5294757"/>
          </a:xfrm>
        </p:spPr>
        <p:txBody>
          <a:bodyPr/>
          <a:lstStyle/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Configuration of the Router-ID for OSPF.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Establish OSPF on a specified interface or network. View OSPF operations using display commands. Advertisement of default routes in OSPF.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Change of the OSPF hello interval and dead interval. Familiarization with DR or BDR election on multi-access networks. Change of the OSPF route priority to manipulate DR election.</a:t>
            </a:r>
          </a:p>
          <a:p>
            <a:pPr marL="0" lvl="0" indent="0" fontAlgn="base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747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b="0" i="0" kern="1200" cap="none" spc="-50" baseline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Illustration of Routing Protocols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b="0" i="0" kern="1200" cap="none" spc="-50" baseline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in Computer Network</a:t>
            </a:r>
          </a:p>
        </p:txBody>
      </p:sp>
      <p:pic>
        <p:nvPicPr>
          <p:cNvPr id="1026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8628AA6-6B1C-D985-8531-076B9CCF1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0634" y="2108201"/>
            <a:ext cx="5571691" cy="376089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1278D0-41C0-09CC-8635-3EC9666580B4}"/>
              </a:ext>
            </a:extLst>
          </p:cNvPr>
          <p:cNvSpPr txBox="1"/>
          <p:nvPr/>
        </p:nvSpPr>
        <p:spPr>
          <a:xfrm>
            <a:off x="-4762" y="6086044"/>
            <a:ext cx="61007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G" sz="1400" dirty="0"/>
              <a:t>Sources: https://www.geeksforgeeks.org</a:t>
            </a:r>
          </a:p>
        </p:txBody>
      </p:sp>
    </p:spTree>
    <p:extLst>
      <p:ext uri="{BB962C8B-B14F-4D97-AF65-F5344CB8AC3E}">
        <p14:creationId xmlns:p14="http://schemas.microsoft.com/office/powerpoint/2010/main" val="286819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364181" y="232796"/>
            <a:ext cx="402385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Dynamic routing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98F87-7451-9187-811C-440226DCACDF}"/>
              </a:ext>
            </a:extLst>
          </p:cNvPr>
          <p:cNvSpPr txBox="1"/>
          <p:nvPr/>
        </p:nvSpPr>
        <p:spPr>
          <a:xfrm>
            <a:off x="364182" y="1213645"/>
            <a:ext cx="50172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G" sz="2000" dirty="0"/>
              <a:t>Dynamic routing is a networking technique that provides optimal data routing. Unlike static routing, </a:t>
            </a:r>
            <a:r>
              <a:rPr lang="en-NG" sz="2000" dirty="0">
                <a:solidFill>
                  <a:srgbClr val="00B0F0"/>
                </a:solidFill>
              </a:rPr>
              <a:t>dynamic routing enables routers to select paths </a:t>
            </a:r>
            <a:r>
              <a:rPr lang="en-NG" sz="2000" dirty="0"/>
              <a:t>according to real-time logical network layout changes.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7065C5-9F90-1E9C-106C-51835806E1CE}"/>
              </a:ext>
            </a:extLst>
          </p:cNvPr>
          <p:cNvSpPr/>
          <p:nvPr/>
        </p:nvSpPr>
        <p:spPr>
          <a:xfrm>
            <a:off x="5909211" y="232796"/>
            <a:ext cx="591860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Advantages over routing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1EB34-CB50-F63C-9E99-CD7C795969CB}"/>
              </a:ext>
            </a:extLst>
          </p:cNvPr>
          <p:cNvSpPr txBox="1"/>
          <p:nvPr/>
        </p:nvSpPr>
        <p:spPr>
          <a:xfrm>
            <a:off x="6091004" y="1213645"/>
            <a:ext cx="61009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NG" dirty="0"/>
              <a:t>No need to know the destination networks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NG" dirty="0"/>
              <a:t>Updates the topology changes dynamically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NG" dirty="0"/>
              <a:t>Administrative work is reduced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NG" dirty="0"/>
              <a:t>Used for large organizations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2CE448-E794-411E-8781-EDBA4126CC0B}"/>
              </a:ext>
            </a:extLst>
          </p:cNvPr>
          <p:cNvSpPr/>
          <p:nvPr/>
        </p:nvSpPr>
        <p:spPr>
          <a:xfrm>
            <a:off x="364181" y="3243699"/>
            <a:ext cx="295876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OSPF Areas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50A262-759A-75C3-1560-863A8336E15F}"/>
              </a:ext>
            </a:extLst>
          </p:cNvPr>
          <p:cNvSpPr txBox="1"/>
          <p:nvPr/>
        </p:nvSpPr>
        <p:spPr>
          <a:xfrm>
            <a:off x="272560" y="4193771"/>
            <a:ext cx="50172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G" dirty="0"/>
              <a:t>The Open Shortest Path First (OSPF) protocol is a link-state hierarchical routing protocol primarily used within larger autonomous system networks.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713135-C1AA-B0DC-95D2-28361A7643A3}"/>
              </a:ext>
            </a:extLst>
          </p:cNvPr>
          <p:cNvSpPr/>
          <p:nvPr/>
        </p:nvSpPr>
        <p:spPr>
          <a:xfrm>
            <a:off x="5909211" y="3243699"/>
            <a:ext cx="517000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OSPF Rules Includes: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A4991-8303-98FA-D7DA-0914A30385EF}"/>
              </a:ext>
            </a:extLst>
          </p:cNvPr>
          <p:cNvSpPr txBox="1"/>
          <p:nvPr/>
        </p:nvSpPr>
        <p:spPr>
          <a:xfrm>
            <a:off x="6091238" y="4259361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NG" dirty="0"/>
              <a:t>Must have one area called as area 0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NG" dirty="0"/>
              <a:t>All areas must connect to area 0</a:t>
            </a:r>
          </a:p>
        </p:txBody>
      </p:sp>
    </p:spTree>
    <p:extLst>
      <p:ext uri="{BB962C8B-B14F-4D97-AF65-F5344CB8AC3E}">
        <p14:creationId xmlns:p14="http://schemas.microsoft.com/office/powerpoint/2010/main" val="2404247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516659" y="142855"/>
            <a:ext cx="233980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CAD2BC-EEFC-4D00-97FA-AC6F6B4855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584" t="31407" r="32667" b="24592"/>
          <a:stretch/>
        </p:blipFill>
        <p:spPr>
          <a:xfrm>
            <a:off x="3322320" y="1266840"/>
            <a:ext cx="5547360" cy="432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60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330373" y="1019208"/>
            <a:ext cx="5531947" cy="1175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900" dirty="0">
                <a:latin typeface="+mj-lt"/>
              </a:rPr>
              <a:t>Establish the basic system configuration and addressing for the lab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28139" y="249767"/>
            <a:ext cx="623106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Prepare the environment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869FD5E-3237-4F4D-91EE-42376EB89A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83" t="31703" r="49584" b="11260"/>
          <a:stretch/>
        </p:blipFill>
        <p:spPr>
          <a:xfrm>
            <a:off x="7081519" y="249767"/>
            <a:ext cx="4604061" cy="607042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E4DCC4A-3316-43E5-AAA4-C176132EE1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250" t="23556" r="50258" b="44741"/>
          <a:stretch/>
        </p:blipFill>
        <p:spPr>
          <a:xfrm>
            <a:off x="445460" y="2343752"/>
            <a:ext cx="4604061" cy="349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84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169324" y="985314"/>
            <a:ext cx="6902035" cy="5159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Assign the value 10.0.1.1 (as used on logical interface loopback 0 for simplicity) as the router ID.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Use OSPF process 1 (the default process ), and specify network segments 10.0.1.0/24, 10.0.12.0/24, and 10.0.13.0/24 as part of OSPF area 0.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Manually assign the value 10.0.2.2 as the router ID. Use OSPF process 1 and advertise network segments 10.0.12.0/24 and 10.0.2.0/24 into OSPF area 0.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9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552118" y="215873"/>
            <a:ext cx="40384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Configure OSPF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73580-E7ED-4D19-8D6E-3CF2B5CD44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83" t="73778" r="50334" b="10519"/>
          <a:stretch/>
        </p:blipFill>
        <p:spPr>
          <a:xfrm>
            <a:off x="7172960" y="1072360"/>
            <a:ext cx="4951317" cy="18947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5C8BF3-1688-43F1-B449-F65C16ED9B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749" t="45484" r="49834" b="41482"/>
          <a:stretch/>
        </p:blipFill>
        <p:spPr>
          <a:xfrm>
            <a:off x="7172960" y="3644721"/>
            <a:ext cx="5052918" cy="158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71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198295" y="1274905"/>
            <a:ext cx="5897705" cy="1175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After OSPF route convergence is complete, view routing tables of R1, R2 and R3.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98295" y="224879"/>
            <a:ext cx="61766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Verify OSPF configuration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718CC-268F-4A7F-B901-4CCB2503B3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00" t="22815" r="36001" b="12593"/>
          <a:stretch/>
        </p:blipFill>
        <p:spPr>
          <a:xfrm>
            <a:off x="6477944" y="756920"/>
            <a:ext cx="5515761" cy="53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23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261174" y="122535"/>
            <a:ext cx="462030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 connectivity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BF2CE-77EF-4457-A862-C47B3D9EE8FB}"/>
              </a:ext>
            </a:extLst>
          </p:cNvPr>
          <p:cNvSpPr txBox="1"/>
          <p:nvPr/>
        </p:nvSpPr>
        <p:spPr>
          <a:xfrm>
            <a:off x="369804" y="1044324"/>
            <a:ext cx="11452390" cy="1232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+mj-lt"/>
              </a:rPr>
              <a:t>Use the ping command to test network connectivity between and R1 and between R2 and R3 at 10.0.3.3.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DC49DF-C566-4791-A597-9852DFC772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06" t="18518" r="43322" b="45692"/>
          <a:stretch/>
        </p:blipFill>
        <p:spPr>
          <a:xfrm>
            <a:off x="282409" y="2367889"/>
            <a:ext cx="5600232" cy="40163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B64446-EA82-449B-B7A0-32F0AF0BB0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00" t="53629" r="43916" b="12296"/>
          <a:stretch/>
        </p:blipFill>
        <p:spPr>
          <a:xfrm>
            <a:off x="6095999" y="2403695"/>
            <a:ext cx="5638799" cy="391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26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310055" y="1366345"/>
            <a:ext cx="5785945" cy="4099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Run the </a:t>
            </a:r>
            <a:r>
              <a:rPr lang="en-US" sz="1900" b="1" dirty="0">
                <a:latin typeface="+mj-lt"/>
              </a:rPr>
              <a:t>display </a:t>
            </a:r>
            <a:r>
              <a:rPr lang="en-US" sz="1900" b="1" dirty="0" err="1">
                <a:latin typeface="+mj-lt"/>
              </a:rPr>
              <a:t>ospf</a:t>
            </a:r>
            <a:r>
              <a:rPr lang="en-US" sz="1900" b="1" dirty="0">
                <a:latin typeface="+mj-lt"/>
              </a:rPr>
              <a:t> peer </a:t>
            </a:r>
            <a:r>
              <a:rPr lang="en-US" sz="1900" dirty="0">
                <a:latin typeface="+mj-lt"/>
              </a:rPr>
              <a:t>command to view the OSPF neighbor status.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The routing table does not contain the routes of the two networks. 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The </a:t>
            </a:r>
            <a:r>
              <a:rPr lang="en-US" sz="1900" b="1" dirty="0">
                <a:latin typeface="+mj-lt"/>
              </a:rPr>
              <a:t>display </a:t>
            </a:r>
            <a:r>
              <a:rPr lang="en-US" sz="1900" b="1" dirty="0" err="1">
                <a:latin typeface="+mj-lt"/>
              </a:rPr>
              <a:t>ospf</a:t>
            </a:r>
            <a:r>
              <a:rPr lang="en-US" sz="1900" b="1" dirty="0">
                <a:latin typeface="+mj-lt"/>
              </a:rPr>
              <a:t> peer </a:t>
            </a:r>
            <a:r>
              <a:rPr lang="en-US" sz="1900" dirty="0">
                <a:latin typeface="+mj-lt"/>
              </a:rPr>
              <a:t>command displays detailed information about </a:t>
            </a:r>
            <a:r>
              <a:rPr lang="en-US" sz="1900" dirty="0" err="1">
                <a:latin typeface="+mj-lt"/>
              </a:rPr>
              <a:t>aany</a:t>
            </a:r>
            <a:r>
              <a:rPr lang="en-US" sz="1900" dirty="0">
                <a:latin typeface="+mj-lt"/>
              </a:rPr>
              <a:t> peering neighbors,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310055" y="381790"/>
            <a:ext cx="462030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 connectivity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AF2188-5B42-49B7-A4C9-3E64A3D547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16" t="19577" r="51917" b="71682"/>
          <a:stretch/>
        </p:blipFill>
        <p:spPr>
          <a:xfrm>
            <a:off x="6776719" y="947245"/>
            <a:ext cx="3352801" cy="83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111985-38D3-41BD-B675-420967C491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917" t="12741" r="44417" b="35852"/>
          <a:stretch/>
        </p:blipFill>
        <p:spPr>
          <a:xfrm>
            <a:off x="6776719" y="1617295"/>
            <a:ext cx="4196080" cy="455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9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198295" y="794657"/>
            <a:ext cx="5897705" cy="1760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The </a:t>
            </a:r>
            <a:r>
              <a:rPr lang="en-US" sz="1900" b="1" dirty="0">
                <a:latin typeface="+mj-lt"/>
              </a:rPr>
              <a:t>display </a:t>
            </a:r>
            <a:r>
              <a:rPr lang="en-US" sz="1900" b="1" dirty="0" err="1">
                <a:latin typeface="+mj-lt"/>
              </a:rPr>
              <a:t>ospf</a:t>
            </a:r>
            <a:r>
              <a:rPr lang="en-US" sz="1900" b="1" dirty="0">
                <a:latin typeface="+mj-lt"/>
              </a:rPr>
              <a:t> peer brief </a:t>
            </a:r>
            <a:r>
              <a:rPr lang="en-US" sz="1900" dirty="0">
                <a:latin typeface="+mj-lt"/>
              </a:rPr>
              <a:t>command can also be used to display a condensed version of the OSPF peer information.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516651" y="158680"/>
            <a:ext cx="3222549" cy="73866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 Routing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580692-D1C7-4CE1-A585-D2F531ECFD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69" t="11587" r="41750" b="61630"/>
          <a:stretch/>
        </p:blipFill>
        <p:spPr>
          <a:xfrm>
            <a:off x="6414356" y="559967"/>
            <a:ext cx="5252400" cy="2869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13F83B-0056-470F-8A4B-B381F5FE7C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00" t="64000" r="41583" b="11587"/>
          <a:stretch/>
        </p:blipFill>
        <p:spPr>
          <a:xfrm>
            <a:off x="6329680" y="3505200"/>
            <a:ext cx="5161280" cy="27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92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5107-E60A-463F-AECD-08D23E8C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20809463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9DE761D8C4448868F302D369B5C3D" ma:contentTypeVersion="13" ma:contentTypeDescription="Create a new document." ma:contentTypeScope="" ma:versionID="dfe36e3e778102bef2bd18c318dfc9a9">
  <xsd:schema xmlns:xsd="http://www.w3.org/2001/XMLSchema" xmlns:xs="http://www.w3.org/2001/XMLSchema" xmlns:p="http://schemas.microsoft.com/office/2006/metadata/properties" xmlns:ns3="9e1e26e7-5f7e-4989-b4fb-d31397fc098b" xmlns:ns4="596a0d73-a34e-4cf5-85d7-50d4e390f3c9" targetNamespace="http://schemas.microsoft.com/office/2006/metadata/properties" ma:root="true" ma:fieldsID="67e077d59bc089f988751e544093422b" ns3:_="" ns4:_="">
    <xsd:import namespace="9e1e26e7-5f7e-4989-b4fb-d31397fc098b"/>
    <xsd:import namespace="596a0d73-a34e-4cf5-85d7-50d4e390f3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e26e7-5f7e-4989-b4fb-d31397fc09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6a0d73-a34e-4cf5-85d7-50d4e390f3c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A306C0-5857-41A0-A45A-37184B633C1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0036E87-846B-443D-85C4-0D17134E25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e26e7-5f7e-4989-b4fb-d31397fc098b"/>
    <ds:schemaRef ds:uri="596a0d73-a34e-4cf5-85d7-50d4e390f3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060EC3-C5C7-44FE-8A63-F1EF641E7A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9334</TotalTime>
  <Words>382</Words>
  <Application>Microsoft Macintosh PowerPoint</Application>
  <PresentationFormat>Widescreen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Bookman Old Style</vt:lpstr>
      <vt:lpstr>Calibri</vt:lpstr>
      <vt:lpstr>Franklin Gothic Book</vt:lpstr>
      <vt:lpstr>Times New Roman</vt:lpstr>
      <vt:lpstr>Wingdings</vt:lpstr>
      <vt:lpstr>1_RetrospectVTI</vt:lpstr>
      <vt:lpstr>COMPUTER NETWORKING</vt:lpstr>
      <vt:lpstr>Dynamic Routing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NETWORKING</dc:title>
  <dc:creator>Ranya Al-wajih</dc:creator>
  <cp:lastModifiedBy>Abdullahi Mujaheed Saleh</cp:lastModifiedBy>
  <cp:revision>13</cp:revision>
  <dcterms:created xsi:type="dcterms:W3CDTF">2020-12-22T02:57:04Z</dcterms:created>
  <dcterms:modified xsi:type="dcterms:W3CDTF">2024-02-22T04:01:42Z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0x010100ABE9DE761D8C4448868F302D369B5C3D</vt:lpwstr>
  </property>
</Properties>
</file>