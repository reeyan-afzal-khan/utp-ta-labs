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58"/>
  </p:notesMasterIdLst>
  <p:handoutMasterIdLst>
    <p:handoutMasterId r:id="rId59"/>
  </p:handoutMasterIdLst>
  <p:sldIdLst>
    <p:sldId id="268" r:id="rId5"/>
    <p:sldId id="277" r:id="rId6"/>
    <p:sldId id="413" r:id="rId7"/>
    <p:sldId id="366" r:id="rId8"/>
    <p:sldId id="367" r:id="rId9"/>
    <p:sldId id="257" r:id="rId10"/>
    <p:sldId id="368" r:id="rId11"/>
    <p:sldId id="365" r:id="rId12"/>
    <p:sldId id="369" r:id="rId13"/>
    <p:sldId id="370" r:id="rId14"/>
    <p:sldId id="371" r:id="rId15"/>
    <p:sldId id="372" r:id="rId16"/>
    <p:sldId id="373" r:id="rId17"/>
    <p:sldId id="374" r:id="rId18"/>
    <p:sldId id="375" r:id="rId19"/>
    <p:sldId id="376" r:id="rId20"/>
    <p:sldId id="377" r:id="rId21"/>
    <p:sldId id="378" r:id="rId22"/>
    <p:sldId id="379" r:id="rId23"/>
    <p:sldId id="380" r:id="rId24"/>
    <p:sldId id="381" r:id="rId25"/>
    <p:sldId id="382" r:id="rId26"/>
    <p:sldId id="383" r:id="rId27"/>
    <p:sldId id="385" r:id="rId28"/>
    <p:sldId id="386" r:id="rId29"/>
    <p:sldId id="387" r:id="rId30"/>
    <p:sldId id="388" r:id="rId31"/>
    <p:sldId id="389" r:id="rId32"/>
    <p:sldId id="390" r:id="rId33"/>
    <p:sldId id="391" r:id="rId34"/>
    <p:sldId id="392" r:id="rId35"/>
    <p:sldId id="393" r:id="rId36"/>
    <p:sldId id="394" r:id="rId37"/>
    <p:sldId id="395" r:id="rId38"/>
    <p:sldId id="396" r:id="rId39"/>
    <p:sldId id="397" r:id="rId40"/>
    <p:sldId id="398" r:id="rId41"/>
    <p:sldId id="399" r:id="rId42"/>
    <p:sldId id="400" r:id="rId43"/>
    <p:sldId id="401" r:id="rId44"/>
    <p:sldId id="402" r:id="rId45"/>
    <p:sldId id="403" r:id="rId46"/>
    <p:sldId id="404" r:id="rId47"/>
    <p:sldId id="405" r:id="rId48"/>
    <p:sldId id="406" r:id="rId49"/>
    <p:sldId id="407" r:id="rId50"/>
    <p:sldId id="408" r:id="rId51"/>
    <p:sldId id="409" r:id="rId52"/>
    <p:sldId id="410" r:id="rId53"/>
    <p:sldId id="411" r:id="rId54"/>
    <p:sldId id="412" r:id="rId55"/>
    <p:sldId id="384" r:id="rId56"/>
    <p:sldId id="270" r:id="rId57"/>
  </p:sldIdLst>
  <p:sldSz cx="18288000" cy="10287000"/>
  <p:notesSz cx="6858000" cy="9144000"/>
  <p:embeddedFontLst>
    <p:embeddedFont>
      <p:font typeface="Museo Sans 300" panose="02000000000000000000" charset="0"/>
      <p:regular r:id="rId60"/>
      <p:bold r:id="rId61"/>
      <p:italic r:id="rId62"/>
    </p:embeddedFont>
    <p:embeddedFont>
      <p:font typeface="Segoe UI" panose="020B0502040204020203" pitchFamily="34" charset="0"/>
      <p:regular r:id="rId63"/>
      <p:bold r:id="rId64"/>
      <p:italic r:id="rId65"/>
      <p:boldItalic r:id="rId6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0" autoAdjust="0"/>
    <p:restoredTop sz="73957" autoAdjust="0"/>
  </p:normalViewPr>
  <p:slideViewPr>
    <p:cSldViewPr snapToGrid="0">
      <p:cViewPr varScale="1">
        <p:scale>
          <a:sx n="41" d="100"/>
          <a:sy n="41" d="100"/>
        </p:scale>
        <p:origin x="84" y="5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4.fntdata"/><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openxmlformats.org/officeDocument/2006/relationships/font" Target="fonts/font7.fntdata"/><Relationship Id="rId5" Type="http://schemas.openxmlformats.org/officeDocument/2006/relationships/slide" Target="slides/slide1.xml"/><Relationship Id="rId61" Type="http://schemas.openxmlformats.org/officeDocument/2006/relationships/font" Target="fonts/font2.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5.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3.fntdata"/><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421F-1FFD-309D-392B-3A298A67B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655BA-3562-CCC2-3B0A-A76A45F1034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43039D9-5D8A-08EB-927F-42F687248A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7744BFE9-F099-A181-A930-51446755DBB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1B73F87-7016-11D0-A704-1B4496DCDF4B}"/>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3391667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ACB70-6AC9-D4B7-0FC4-87C3A9190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9180F-5E40-513A-17C5-9B787CA1B6A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BD39EC2-399D-BE93-2A4A-BDD1234EF4B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72253D5-9CEB-AB4B-F2FE-8CBD55DC307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CDFA537-2D7C-4F96-27D8-D1971D97A48C}"/>
              </a:ext>
            </a:extLst>
          </p:cNvPr>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1234860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61EC-DF3E-073C-2C57-039C96147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C26CE-CBBA-C057-1B0E-6C01887A8DB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C0E5CE7-55C9-2A6F-F1AC-E388A0A587F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51A2067-77EA-83C4-2E57-0592B458BF5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82F9725-EF6B-6819-2FBB-70BF39CC303E}"/>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1516574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4F5E7-4C6B-0859-F477-89B69E6A6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8D2B0-C856-B5A2-8913-30CBE8D89BA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A95A063-3181-85D3-BD88-E391C60B741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AB51966-2FA1-5F89-3EAD-B16CAA4AED4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D47F691-671F-721D-95AD-4319B652BF57}"/>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380604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636D7-C9C6-D984-08C7-F00669D61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2F54D-16C6-C4EF-8DC9-5297AA5A98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0E755D6-09B9-C27D-EF40-7609450F1A0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02F0A18-9170-E9DE-7344-072E916EEA0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D8EFE13-F12E-D725-DF02-721C57C0B8DD}"/>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2184023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CE652-9115-C369-2EAE-F1D7DA879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4E786-1D7E-D662-D2AC-71ECA71A380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075E56D-3696-C529-417B-8698D4BF25E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C98C6D8-20B6-1A51-04A5-6EEF48CC15B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DCBD71E-06B3-C8D8-EAE0-5639BDEFF129}"/>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3263123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63C8-B389-691D-89A4-2C0FBB9E7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05463-9A24-23F5-07BB-2AB95166ED2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C520AD-EDED-712F-A218-E7387C238FB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FE96806-81C2-6B90-F9AE-DD457325072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5C47865-DA55-1C23-F9DA-354B40119F20}"/>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3684619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D8DD-69FC-D961-BE88-B94233775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3F6DF-8835-4994-A3FF-CB9B2792732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732E995-8409-00C6-926A-D083CBDEF81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1CF1947-F936-3C9D-2B1A-C74FB9E99BE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D41E23A-2117-E1FA-62CF-9BF823B8719F}"/>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3503634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DAE79-1EBD-6313-65BB-CB72D1809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39EA2-E2DC-D373-3D3B-5B44471A881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C6364A8-2949-938F-5BE5-DC6103A7B957}"/>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AC3DC0B3-656A-E25E-2FC7-D3EDB634F3C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033D4DA-F372-EC50-CE37-44183446670C}"/>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827917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7984D-32B3-CF7B-BFA8-6CB3A96A8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7F8EA-5239-D300-5454-6480176CA5C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41DAA15-2534-AA75-3727-016FF588B2E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6A3C63B-0E9D-E81D-BA9A-3D5B51E23E3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6AB6B62-D87D-0DCE-420C-7385193B3030}"/>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2915874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D9153-256D-FE7F-78D7-F4FB01AD8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4AAC8-7810-7C2A-019A-CA49F359229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0267FF5-C139-DAF5-CC50-ADED6662555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44866C1-4CCF-505E-9606-1051AAB33C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3011D25-5B74-D325-9D8B-DBEAF313CABA}"/>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3735466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1D07-7D85-8EAB-40C6-F20E59D73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3D453-02A4-21CA-256A-DDF507F707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6C7530E-BF6D-65CF-1F85-BF50D7BC484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7B10B9A-C1FB-65BA-FA49-30CDAD55C9C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A85C3CD-F05F-1165-7981-83510BDA8F2F}"/>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2156804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30A9-8345-4CE8-B392-1A8F22B4C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34C5E-7370-0D5F-7AC4-BA9FDAFC015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78DEA28-B357-C5BC-7E78-B53AF0A0600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DB3F9C7-44D2-C226-0237-553EED0F9AC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1BDC287-5BB2-28E7-1083-3604D2AE999C}"/>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60650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BF1E5-D894-A035-8C5A-CC8F7DC49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CD0C6-A7E4-D865-E28B-CAD9E00FB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CA6D9-9494-99DC-694A-CF92574A863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4FF8B8A2-0DF7-80D9-44F1-EB5A34EB9E7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EAFE82A-9C8E-66ED-F45B-42C2D29192E8}"/>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555239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EBF2-306F-144B-3B49-9B0BFC5AF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695BB-B175-5319-A4DA-F80CB83DD44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E7FACF5-B2C6-98E3-AF5D-2D01C9ACA00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EB43595-BD47-4A2B-AC50-1950493B408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AEC0E95-9A18-A770-93EC-07F7E3150EFC}"/>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2145694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C519D-53C6-21B9-67C2-3F3E2A34F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69CD3-8CD2-87B6-DD27-D7996D005AF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4B0A831-C9F6-FDF6-98F4-5A0C3A2DD7A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DE01C10-A629-A2AA-FBC3-5A57E0AD6AA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4638AA3-1CC6-E146-86AF-05E0A7BEA042}"/>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2197687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AA069-B86C-E3CF-E426-54040D287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C129C-45F6-0BAA-0FDE-0FE8321B3D6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173E08A-DBC0-8689-96EB-1C9490EF01B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B733EC1-45E7-0A17-7732-1CA5041B9AD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B892AA4-FE42-D383-1C31-93DC1FEC4999}"/>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3524029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DE5F-01D3-BDAB-8B2B-D6FEA367F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15ABD-5128-4801-58DC-8D8A44E19CA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97AACE7-2651-D9D0-1BE3-EB02EC32EE1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5EF4F82-3E7F-4C43-A8EB-1501CEA6BE3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C6E0498-11D7-81F5-28E5-CD9D24D12A16}"/>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2827329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95770-2F1D-36CD-BF5D-FB62D563F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84C2B-7905-9A48-626C-01B86DC2F40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64704CC-1D29-81EA-5459-DF918710A1D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2F334FC-9B65-0571-23A3-B53634FCF6C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B7D335E-49E0-A839-0DCD-A94BFDEE2AD8}"/>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187319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54F4B-8325-57CB-8727-C84E057D9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204AD-4E2C-BDE6-C25E-35FBF48AB71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8EDC731-08F9-7D7B-4B7D-0C38B630CA5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71CF5CB-DB4D-1DBE-5010-9D13D209A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09BF84F-941C-74B1-40BD-4004E34A45B2}"/>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1308966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DA974-AB9F-4967-4DE7-5333097AA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0DD5C-B932-D84A-3BA1-AEA013E2A30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F01D906-D856-003B-A36C-BEAF8DEFA65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ECD1D2F-584A-D560-B755-E321C038A73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F83A4ED-4F6F-4141-EAD8-0F7C48DE25F3}"/>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895934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A8CFB-BAC4-2FFA-F0ED-418F1BDFD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8A2B8-12FD-37A5-64F1-BC335118E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D4761-F7DB-A695-2DDD-5BC4BF34B5E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79656349-26F6-1834-F5A5-EC26E7F2D8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2858FF6-F482-D3B4-0A28-6B4B440F44DF}"/>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1155811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08FCB-DBA4-21A0-9798-C358887B1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0BB68-65D6-6829-17C6-7866B21DDD2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E5E2D95-911E-DEAA-6904-9FA87D64D22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5097B3A-2844-4A01-1C3A-57B2602CFAD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5B41D52-711F-654C-26FF-72083C0E766C}"/>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1669907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6F7AF-7C42-7FA2-CA48-7B4ED5767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1EB22-21CC-B152-2868-519D9678B0F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F40BD1D-78E4-2574-EB32-E7F746147F8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564DB91-523E-6045-3805-42ECE414410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961DAB2-62B7-4FB7-4183-8698353C37A4}"/>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3819508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59477-B6EB-C4AB-0091-E7DAC91F6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B083F-6F2D-F0E1-F929-1DC561C96A2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3F35980-7A9F-E3B6-14CA-580BF017B44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EC93075-2C9D-245E-610E-68FCDB6B855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B541C25-6BE6-2081-5B5C-5834F9190CE2}"/>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36589899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C4A5A-FFB5-6828-C015-A8C6D64AD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97A00-B800-769E-15EA-C8A61FBB861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2807DA9-5A29-60A7-2839-675D58C919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1409B09-2C5E-1B2C-44E1-1F38F2DE2DC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3AF48C6-C1EE-FF48-3C0E-3246A13DCAA2}"/>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1140644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B36EA-7458-B326-216A-61F5709F2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E844C-A556-059D-C488-28E3D3DA31A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1775E20-5089-8267-FA35-483AA611E82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E4A8580-B7E4-60A3-CC89-2AEEF023B9C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92C5597-F188-4AED-CF30-3A3180346DBB}"/>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4897574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B0D6-05D3-6C39-25AB-4330E221B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DBF5C-AADE-7895-7CAF-E3E4083F6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F82F5-1D58-9230-8C4B-12F4A99BF99A}"/>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1ACC44B-137A-B5CB-5E6C-40D01B4A274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12B4737-02D3-3B4F-9A20-7F22153B5EFB}"/>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2821308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437E-B753-15E5-4131-57D839ED8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10F62-877C-766B-AB51-AC96C6C17EC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7DC0C70-1833-AD27-9648-57D68FF771C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FB474DC-A75A-7185-FFC9-EAFA5A4974A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33DF0A9-25E2-EE69-AF1B-88EE879BCF14}"/>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32137609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EBB5A-5551-23C3-5F39-823E3F1AD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BDA78-0DEE-9A66-2140-DCF1CDA7FEA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7E8D1EE-BA43-A1C0-4927-4CBE20ACD11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D1663D3-F4B2-5A87-F2CF-F5ADA40002F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48A82A0-B5FF-3F40-921E-F9351092E069}"/>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31735709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4D8D-2FBC-3822-AFBF-F5819A960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0DAB4-1773-DC68-EBCD-50FD5EC38EF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D076BD4-4AC1-9683-27B8-601F2A5C9EF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5139E1A-99E5-263D-5674-5C0398C825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9F20AE6-342E-7F12-10A0-F13E1070C97F}"/>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16764333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BD99-C841-BB2C-159C-2C934CF96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BB3D8-C8AF-661A-C80D-F169886FB22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7858190-FBE1-BBE2-E587-897F5771A26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37FAC26-8287-E265-DEDA-B851BA67C58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AE8E58E-1D69-FB7B-66D8-9B69D1BB863A}"/>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39134536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EBE91-EE18-6953-510B-1E5F48CAB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F016E-789F-9DD2-3470-F60C287FC8B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0A8DDF8-A144-FE86-6FC8-DD13FA66A7C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FA8811F-391A-4E8E-203F-1CD4B2A714E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6035B18-3D24-5750-C8B4-0C574E29A5DB}"/>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14977152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7242-AFEB-4A11-6FB4-7FABA736A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17EC3-ABFA-6736-6B34-E663A7A06D4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7685DC2-A97D-5546-88FD-9ACB9A0BD1C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5AF8A0C-B44D-499F-5867-ABB2538EF12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0EB88DF-BCD5-957B-0582-CFB1BC69BA5C}"/>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42483346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31B6-DEB0-4CBD-79EB-1B60E8610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27BDE-F298-863E-130F-17695ED637E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4D42D45-775F-5700-EFF7-BA52014633E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511185B-F435-51CF-9209-B177542AF92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E9C4D97-A03D-C4D5-EC38-795AC64D9939}"/>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21987390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BFD4-44D1-B53E-C10F-36E6A58A9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85479-8C8A-985E-82A5-DA6309C2AC4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5CDBDC2-E7B4-4140-BD55-35DD862AFC2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6A4E6F4-A23C-43DB-9D51-E804AD5F6BE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84C7772-7692-917B-AA4B-4D906F8693FA}"/>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1799185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45ED6-38F7-050D-8F98-0DBA6BF6C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CB3C5-D784-7EFF-D6F1-80A4F9E7C6F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B3FB0FC-2875-BCB8-3FF2-56B2F9F0DF4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9B1D989-31F6-F709-14B5-B78D8994F9C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D4F5A6D-5B55-5FF3-F43A-BCFB0FFB3643}"/>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38732116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553BC-C47D-AD82-5829-6311BC61D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29AC6-50C0-72B0-50F9-08B6F5046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85023-6E98-C23D-A625-C91C31454314}"/>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3363555-BF5E-667F-C744-656E98DFCDF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83146A5-699D-1302-29BC-98DD866E1F86}"/>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1269716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9AB00-E152-C49E-EF3A-50F585FA0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B3791-35B8-6A83-1BB2-9FDA414FB08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3B15758-C401-433B-17CB-9F37B9F923E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B622026-67CD-D95C-E5EE-02EBA8159ED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95062E4-778A-9277-E2E4-2A5F9DC4C309}"/>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1498606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BCB5-051B-D634-E163-A5D259EDB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8655D-ECC1-1CC5-AE5F-A056BC15EA3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0D0C3B8-F192-C4BF-80A3-5F076057266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4F404E2-3590-D44F-DCA3-97BC39DAD6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CFD2FBE-352B-E45F-CAEA-179112F3F62E}"/>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4166919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D3A11-99FD-37B7-46C3-52984F785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3792C-D38C-9C2E-8FEC-A1A4EE5B84B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18A8E8E-CB07-D3BA-049F-6C57075A7CE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142D8CC-61F8-5493-150D-208CD5A081D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535A810-5EF9-546C-647E-B098CAA45A16}"/>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41668732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E130-2BB6-DCF9-CD9A-67F78EFF5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A2F0D-4CE4-07C9-E53A-AF09AF80BD7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D4CDE10-43EB-FA49-8BBD-6A938296731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18E8185-4F77-BD32-2B5C-AC7CF95932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EF5653-480C-2D14-2986-F628BFE29D4D}"/>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690695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E21-52C6-57BD-DADB-C8581F2A8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C18A9-D19B-E52A-113C-36E25CBE9E6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F288914-25E5-44F7-2982-A98117655CA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9915C92-833C-FD90-1CEA-388EF7F8657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0BE6FFC-BA2B-46BF-9BEB-6517E9EA0E58}"/>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4182352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0747-8198-5EA3-E0E6-64B0DB7D5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FDB36-33DB-DB97-45FC-2F46A3EA1CC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64B211C-35CF-3526-F0EF-56BB03B0AE6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9E61D30-8A6A-DA96-86EC-2987D98282A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A27935F-AB35-C8D2-869F-7C346037A3F8}"/>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36540778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957E4-7751-F7C6-36DD-58B5A58BD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21E3B-AFD6-390B-932B-08EA1D411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5111D-4AFB-27F4-F509-CC8A5C1C8745}"/>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43C831C-1FBF-18AE-2B04-7248F3BDA34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C97B028-B448-0F25-E0C6-F0661DF2413C}"/>
              </a:ext>
            </a:extLst>
          </p:cNvPr>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8446794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DCF57-18B3-6BA7-DB42-96B634546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416FB-A842-1368-C507-90EB4828DCF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29DD3CC-FE83-517E-395D-5FDF5C8C416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CFA044C-CA4C-C9DD-5261-08FD5A0E0FD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6EA0A7-F9F6-B7B6-C7A8-CFED6DB3C5B4}"/>
              </a:ext>
            </a:extLst>
          </p:cNvPr>
          <p:cNvSpPr>
            <a:spLocks noGrp="1"/>
          </p:cNvSpPr>
          <p:nvPr>
            <p:ph type="sldNum" sz="quarter" idx="5"/>
          </p:nvPr>
        </p:nvSpPr>
        <p:spPr/>
        <p:txBody>
          <a:bodyPr/>
          <a:lstStyle/>
          <a:p>
            <a:fld id="{D2061F1A-E494-4223-A600-C9DDF71EE410}" type="slidenum">
              <a:rPr lang="en-MY" smtClean="0"/>
              <a:t>50</a:t>
            </a:fld>
            <a:endParaRPr lang="en-MY"/>
          </a:p>
        </p:txBody>
      </p:sp>
    </p:spTree>
    <p:extLst>
      <p:ext uri="{BB962C8B-B14F-4D97-AF65-F5344CB8AC3E}">
        <p14:creationId xmlns:p14="http://schemas.microsoft.com/office/powerpoint/2010/main" val="471474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359C7-37EA-E23C-A78C-83A6A588E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1D004-1D34-90B8-ED92-753F278CBCB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79C0408-A251-04BB-699B-7D7C9CE0859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77A919D-7B08-E3B0-DE75-D261C0C685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A09EC96-D990-EB0E-B03F-61608695AC6F}"/>
              </a:ext>
            </a:extLst>
          </p:cNvPr>
          <p:cNvSpPr>
            <a:spLocks noGrp="1"/>
          </p:cNvSpPr>
          <p:nvPr>
            <p:ph type="sldNum" sz="quarter" idx="5"/>
          </p:nvPr>
        </p:nvSpPr>
        <p:spPr/>
        <p:txBody>
          <a:bodyPr/>
          <a:lstStyle/>
          <a:p>
            <a:fld id="{D2061F1A-E494-4223-A600-C9DDF71EE410}" type="slidenum">
              <a:rPr lang="en-MY" smtClean="0"/>
              <a:t>51</a:t>
            </a:fld>
            <a:endParaRPr lang="en-MY"/>
          </a:p>
        </p:txBody>
      </p:sp>
    </p:spTree>
    <p:extLst>
      <p:ext uri="{BB962C8B-B14F-4D97-AF65-F5344CB8AC3E}">
        <p14:creationId xmlns:p14="http://schemas.microsoft.com/office/powerpoint/2010/main" val="18159572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9F983-6C6A-391B-C020-84C87629B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7AD8D-8BBA-F3CF-12E7-10A2902F9F3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81A4D0B-0268-DF4C-9271-4CECAC5AFB72}"/>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6D4C303E-5892-2B00-CE59-6C0006BC1BA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AA00AE8-A2C8-1813-6047-F10ADDF9796B}"/>
              </a:ext>
            </a:extLst>
          </p:cNvPr>
          <p:cNvSpPr>
            <a:spLocks noGrp="1"/>
          </p:cNvSpPr>
          <p:nvPr>
            <p:ph type="sldNum" sz="quarter" idx="5"/>
          </p:nvPr>
        </p:nvSpPr>
        <p:spPr/>
        <p:txBody>
          <a:bodyPr/>
          <a:lstStyle/>
          <a:p>
            <a:fld id="{D2061F1A-E494-4223-A600-C9DDF71EE410}" type="slidenum">
              <a:rPr lang="en-MY" smtClean="0"/>
              <a:t>52</a:t>
            </a:fld>
            <a:endParaRPr lang="en-MY"/>
          </a:p>
        </p:txBody>
      </p:sp>
    </p:spTree>
    <p:extLst>
      <p:ext uri="{BB962C8B-B14F-4D97-AF65-F5344CB8AC3E}">
        <p14:creationId xmlns:p14="http://schemas.microsoft.com/office/powerpoint/2010/main" val="11082610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53</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III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P2P AND CROWDFUNDING</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436413"/>
            <a:ext cx="16773935" cy="7781489"/>
          </a:xfrm>
          <a:prstGeom prst="rect">
            <a:avLst/>
          </a:prstGeom>
          <a:noFill/>
        </p:spPr>
        <p:txBody>
          <a:bodyPr wrap="square" rtlCol="0">
            <a:spAutoFit/>
          </a:bodyPr>
          <a:lstStyle/>
          <a:p>
            <a:pPr marL="514350" indent="-514350" algn="just">
              <a:lnSpc>
                <a:spcPct val="150000"/>
              </a:lnSpc>
              <a:buFont typeface="+mj-lt"/>
              <a:buAutoNum type="arabicPeriod"/>
            </a:pPr>
            <a:r>
              <a:rPr lang="en-US" sz="2800" b="1" dirty="0"/>
              <a:t>The Unbanked Problem: </a:t>
            </a:r>
            <a:r>
              <a:rPr lang="en-US" sz="2800" dirty="0"/>
              <a:t>About 2.5 billion people worldwide are left out of the normal banking system. This is often because they do not have enough money, lack the right ID paperwork, or live too far from a bank branch.</a:t>
            </a:r>
          </a:p>
          <a:p>
            <a:pPr marL="514350" indent="-514350" algn="just">
              <a:lnSpc>
                <a:spcPct val="150000"/>
              </a:lnSpc>
              <a:buFont typeface="+mj-lt"/>
              <a:buAutoNum type="arabicPeriod"/>
            </a:pPr>
            <a:r>
              <a:rPr lang="en-US" sz="2800" b="1" dirty="0"/>
              <a:t>The Goal of Financial Inclusion:</a:t>
            </a:r>
            <a:r>
              <a:rPr lang="en-US" sz="2800" dirty="0"/>
              <a:t> The main aim is to make basic money services cheap, easy to reach, and useful for everyone, no matter how much money they have. </a:t>
            </a:r>
          </a:p>
          <a:p>
            <a:pPr marL="514350" indent="-514350" algn="just">
              <a:lnSpc>
                <a:spcPct val="150000"/>
              </a:lnSpc>
              <a:buFont typeface="+mj-lt"/>
              <a:buAutoNum type="arabicPeriod"/>
            </a:pPr>
            <a:r>
              <a:rPr lang="en-US" sz="2800" b="1" dirty="0"/>
              <a:t>The Digital Solution:</a:t>
            </a:r>
            <a:r>
              <a:rPr lang="en-US" sz="2800" dirty="0"/>
              <a:t> Digital financial services help solve this problem by cutting running costs, which leads to lower fees for users. They also allow people in remote areas to easily manage their money on their phones.</a:t>
            </a:r>
          </a:p>
          <a:p>
            <a:pPr marL="514350" indent="-514350" algn="just">
              <a:lnSpc>
                <a:spcPct val="150000"/>
              </a:lnSpc>
              <a:buFont typeface="+mj-lt"/>
              <a:buAutoNum type="arabicPeriod"/>
            </a:pPr>
            <a:r>
              <a:rPr lang="en-US" sz="2800" b="1" dirty="0"/>
              <a:t>Roadblocks to Progress:</a:t>
            </a:r>
            <a:r>
              <a:rPr lang="en-US" sz="2800" dirty="0"/>
              <a:t> Traditional banks have a hard time reaching these groups due to their high costs and outdated ways of doing business. On the customer side, a lack of financial knowledge and a general distrust of banks slow down progress.</a:t>
            </a:r>
          </a:p>
          <a:p>
            <a:pPr marL="514350" indent="-514350" algn="just">
              <a:lnSpc>
                <a:spcPct val="150000"/>
              </a:lnSpc>
              <a:buFont typeface="+mj-lt"/>
              <a:buAutoNum type="arabicPeriod"/>
            </a:pPr>
            <a:r>
              <a:rPr lang="en-US" sz="2800" b="1" dirty="0"/>
              <a:t>China's Success Story:</a:t>
            </a:r>
            <a:r>
              <a:rPr lang="en-US" sz="2800" dirty="0"/>
              <a:t> China has shown how well this works by using mobile apps and smart data to bring financial services to rural areas. This push has successfully helped reduce poverty and moved millions of low-income families into the middle class. </a:t>
            </a:r>
            <a:endParaRPr lang="en-MY" sz="2800" dirty="0"/>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C66E-2E03-0FC7-01CA-BE426E6B066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19294D1-E4C8-65E9-563D-67181A4CA70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CB86753-3BDC-3C81-09BC-9010124FA14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5C1D4DF-AEDD-B943-B36F-4E8309C5207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1AC87287-D725-B4F6-EFA5-B418D8E98F1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B086A9CA-EAA9-5CBE-8BA7-DF214C98C75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63FA658-FEC5-C416-4073-8BB8632E076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D58D287D-13B6-347B-0D2F-450E5F5849CC}"/>
              </a:ext>
            </a:extLst>
          </p:cNvPr>
          <p:cNvSpPr txBox="1"/>
          <p:nvPr/>
        </p:nvSpPr>
        <p:spPr>
          <a:xfrm>
            <a:off x="757618" y="1436413"/>
            <a:ext cx="16773935" cy="8202887"/>
          </a:xfrm>
          <a:prstGeom prst="rect">
            <a:avLst/>
          </a:prstGeom>
          <a:noFill/>
        </p:spPr>
        <p:txBody>
          <a:bodyPr wrap="square" rtlCol="0">
            <a:spAutoFit/>
          </a:bodyPr>
          <a:lstStyle/>
          <a:p>
            <a:pPr algn="just"/>
            <a:r>
              <a:rPr lang="en-US" sz="2800" dirty="0"/>
              <a:t>By the end of this session, students will be able to:</a:t>
            </a:r>
            <a:endParaRPr lang="en-MY" sz="2400" dirty="0"/>
          </a:p>
          <a:p>
            <a:pPr marL="514350" indent="-514350" algn="just">
              <a:buFont typeface="+mj-lt"/>
              <a:buAutoNum type="arabicPeriod"/>
            </a:pPr>
            <a:endParaRPr lang="en-MY" sz="2400" dirty="0"/>
          </a:p>
          <a:p>
            <a:pPr marL="514350" indent="-514350" algn="just">
              <a:lnSpc>
                <a:spcPct val="150000"/>
              </a:lnSpc>
              <a:buFont typeface="+mj-lt"/>
              <a:buAutoNum type="arabicPeriod"/>
            </a:pPr>
            <a:r>
              <a:rPr lang="en-US" sz="3200" b="1" dirty="0"/>
              <a:t>Contrast Lending Models:</a:t>
            </a:r>
            <a:r>
              <a:rPr lang="en-US" sz="3200" dirty="0"/>
              <a:t> Compare traditional bank lending with alternative Peer-to-Peer (P2P) platforms.</a:t>
            </a:r>
            <a:endParaRPr lang="en-US" sz="1050" b="1" dirty="0"/>
          </a:p>
          <a:p>
            <a:pPr marL="514350" indent="-514350" algn="just">
              <a:lnSpc>
                <a:spcPct val="150000"/>
              </a:lnSpc>
              <a:buFont typeface="+mj-lt"/>
              <a:buAutoNum type="arabicPeriod"/>
            </a:pPr>
            <a:r>
              <a:rPr lang="en-US" sz="3200" b="1" dirty="0"/>
              <a:t>Identify Crowdfunding Types:</a:t>
            </a:r>
            <a:r>
              <a:rPr lang="en-US" sz="3200" dirty="0"/>
              <a:t> Distinguish between the four main models: donation, reward, P2P lending, and equity crowdfunding. </a:t>
            </a:r>
            <a:endParaRPr lang="en-US" sz="1050" dirty="0"/>
          </a:p>
          <a:p>
            <a:pPr marL="514350" indent="-514350" algn="just">
              <a:lnSpc>
                <a:spcPct val="150000"/>
              </a:lnSpc>
              <a:buFont typeface="+mj-lt"/>
              <a:buAutoNum type="arabicPeriod"/>
            </a:pPr>
            <a:r>
              <a:rPr lang="en-US" sz="3200" b="1" dirty="0"/>
              <a:t>Evaluate Benefits:</a:t>
            </a:r>
            <a:r>
              <a:rPr lang="en-US" sz="3200" dirty="0"/>
              <a:t> Recognize how alternative lending fills funding gaps, lowers capital costs, and diversifies investor portfolios.</a:t>
            </a:r>
            <a:endParaRPr lang="en-US" sz="1050" dirty="0"/>
          </a:p>
          <a:p>
            <a:pPr marL="514350" indent="-514350" algn="just">
              <a:lnSpc>
                <a:spcPct val="150000"/>
              </a:lnSpc>
              <a:buFont typeface="+mj-lt"/>
              <a:buAutoNum type="arabicPeriod"/>
            </a:pPr>
            <a:r>
              <a:rPr lang="en-US" sz="3200" b="1" dirty="0"/>
              <a:t>Analyze Competitive Advantages:</a:t>
            </a:r>
            <a:r>
              <a:rPr lang="en-US" sz="3200" dirty="0"/>
              <a:t> Understand how P2P platforms leverage lower operational costs, speed, convenience, and alternative data sources. </a:t>
            </a:r>
            <a:endParaRPr lang="en-US" sz="1050" dirty="0"/>
          </a:p>
          <a:p>
            <a:pPr marL="514350" indent="-514350" algn="just">
              <a:lnSpc>
                <a:spcPct val="150000"/>
              </a:lnSpc>
              <a:buFont typeface="+mj-lt"/>
              <a:buAutoNum type="arabicPeriod"/>
            </a:pPr>
            <a:r>
              <a:rPr lang="en-US" sz="3200" b="1" dirty="0"/>
              <a:t>Assess Industry Disruption:</a:t>
            </a:r>
            <a:r>
              <a:rPr lang="en-US" sz="3200" dirty="0"/>
              <a:t> Examine the threat P2P lending poses to traditional banks and how these incumbent institutions are reacting.</a:t>
            </a:r>
            <a:endParaRPr lang="en-MY" sz="2800" dirty="0"/>
          </a:p>
        </p:txBody>
      </p:sp>
    </p:spTree>
    <p:extLst>
      <p:ext uri="{BB962C8B-B14F-4D97-AF65-F5344CB8AC3E}">
        <p14:creationId xmlns:p14="http://schemas.microsoft.com/office/powerpoint/2010/main" val="2050891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872F-ACB8-0F6B-A96A-98F65C5DE89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6D2CB2-1A17-8BFE-83FA-F164BDFF69B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0541E43-FBA5-9C47-1696-679B7DDF63E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EB83A37-2019-ECD5-3BDE-A4DA6521448F}"/>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774F851-A5FF-F84E-8AAF-610D5EED8FA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83E4DB4E-51E4-7A0C-0F07-A3AE0247BCD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B80A3C-2717-28B1-42C6-C4E684C73D0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73A71EFB-2E65-FE2D-128B-292FF715D287}"/>
              </a:ext>
            </a:extLst>
          </p:cNvPr>
          <p:cNvSpPr txBox="1"/>
          <p:nvPr/>
        </p:nvSpPr>
        <p:spPr>
          <a:xfrm>
            <a:off x="756447" y="1413960"/>
            <a:ext cx="13873953" cy="8279190"/>
          </a:xfrm>
          <a:prstGeom prst="rect">
            <a:avLst/>
          </a:prstGeom>
          <a:noFill/>
        </p:spPr>
        <p:txBody>
          <a:bodyPr wrap="square" rtlCol="0">
            <a:spAutoFit/>
          </a:bodyPr>
          <a:lstStyle/>
          <a:p>
            <a:pPr marL="514350" indent="-514350">
              <a:buFont typeface="+mj-lt"/>
              <a:buAutoNum type="arabicPeriod"/>
            </a:pPr>
            <a:r>
              <a:rPr lang="en-MY" sz="2800" b="1" dirty="0"/>
              <a:t>Lending &amp; Crowdfunding Introduction ?</a:t>
            </a:r>
          </a:p>
          <a:p>
            <a:pPr lvl="1"/>
            <a:r>
              <a:rPr lang="en-MY" sz="2400" dirty="0"/>
              <a:t>	1.1. Introduction to Lending</a:t>
            </a:r>
          </a:p>
          <a:p>
            <a:pPr lvl="1"/>
            <a:r>
              <a:rPr lang="en-MY" sz="2400" dirty="0"/>
              <a:t>	1.2. Crowdfunding</a:t>
            </a:r>
          </a:p>
          <a:p>
            <a:pPr lvl="1"/>
            <a:endParaRPr lang="en-MY" sz="2400" dirty="0"/>
          </a:p>
          <a:p>
            <a:r>
              <a:rPr lang="en-MY" sz="2800" b="1" dirty="0"/>
              <a:t>2. 	Alternative Models of Lending?</a:t>
            </a:r>
          </a:p>
          <a:p>
            <a:r>
              <a:rPr lang="en-MY" sz="2800" dirty="0"/>
              <a:t>		</a:t>
            </a:r>
            <a:r>
              <a:rPr lang="en-MY" sz="2400" dirty="0"/>
              <a:t>2.1. Traditional Lending Intermediaries?</a:t>
            </a:r>
          </a:p>
          <a:p>
            <a:r>
              <a:rPr lang="en-MY" sz="2400" dirty="0"/>
              <a:t>		2.2. Alternative Lending Platforms?</a:t>
            </a:r>
          </a:p>
          <a:p>
            <a:r>
              <a:rPr lang="en-MY" sz="2400" dirty="0"/>
              <a:t>		2.3. </a:t>
            </a:r>
            <a:r>
              <a:rPr lang="en-US" sz="2400" dirty="0"/>
              <a:t>Key Characteristics (Problems) of Traditional Lending Models</a:t>
            </a:r>
            <a:r>
              <a:rPr lang="en-MY" sz="2400" dirty="0"/>
              <a:t>?</a:t>
            </a:r>
          </a:p>
          <a:p>
            <a:r>
              <a:rPr lang="en-MY" sz="2400" dirty="0"/>
              <a:t>		2.4. </a:t>
            </a:r>
            <a:r>
              <a:rPr lang="en-US" sz="2400" dirty="0"/>
              <a:t>Key Characteristics of Alternative Lending Platforms</a:t>
            </a:r>
          </a:p>
          <a:p>
            <a:r>
              <a:rPr lang="en-US" sz="2400" dirty="0"/>
              <a:t>		2.5. </a:t>
            </a:r>
            <a:r>
              <a:rPr lang="en-MY" sz="2400" dirty="0"/>
              <a:t>Traditional vs. Alternative Lending Models (Advantages &amp; Limitations)</a:t>
            </a:r>
          </a:p>
          <a:p>
            <a:endParaRPr lang="en-MY" sz="2400" dirty="0"/>
          </a:p>
          <a:p>
            <a:pPr marL="514350" indent="-514350">
              <a:buAutoNum type="arabicPeriod" startAt="3"/>
            </a:pPr>
            <a:r>
              <a:rPr lang="en-MY" sz="2800" b="1" dirty="0"/>
              <a:t>Crowdfunding Models</a:t>
            </a:r>
          </a:p>
          <a:p>
            <a:r>
              <a:rPr lang="en-MY" sz="2800" dirty="0"/>
              <a:t>		</a:t>
            </a:r>
            <a:r>
              <a:rPr lang="en-MY" sz="2400" dirty="0"/>
              <a:t>3.1. Donation Crowdfunding</a:t>
            </a:r>
          </a:p>
          <a:p>
            <a:r>
              <a:rPr lang="en-MY" sz="2400" dirty="0"/>
              <a:t>		3.2. Reward Crowdfunding </a:t>
            </a:r>
          </a:p>
          <a:p>
            <a:r>
              <a:rPr lang="en-MY" sz="2400" dirty="0"/>
              <a:t>		3.3. P2P Lending</a:t>
            </a:r>
          </a:p>
          <a:p>
            <a:r>
              <a:rPr lang="en-MY" sz="2400" dirty="0"/>
              <a:t>		3.4. Equity Crowdfunding</a:t>
            </a:r>
          </a:p>
          <a:p>
            <a:endParaRPr lang="en-MY" sz="2400" dirty="0"/>
          </a:p>
          <a:p>
            <a:pPr marL="514350" indent="-514350">
              <a:buFont typeface="+mj-lt"/>
              <a:buAutoNum type="arabicPeriod" startAt="4"/>
            </a:pPr>
            <a:r>
              <a:rPr lang="en-MY" sz="2800" b="1" dirty="0"/>
              <a:t>Unbundling – Breaking Up the Value Chain</a:t>
            </a:r>
          </a:p>
          <a:p>
            <a:r>
              <a:rPr lang="en-MY" sz="2800" dirty="0"/>
              <a:t>		</a:t>
            </a:r>
            <a:r>
              <a:rPr lang="en-MY" sz="2400" dirty="0"/>
              <a:t>4.1. “fit-for-single-purpose” solutions</a:t>
            </a:r>
          </a:p>
          <a:p>
            <a:r>
              <a:rPr lang="en-MY" sz="2400" dirty="0"/>
              <a:t>		4.2. Breaking Up Traditional Bank Value Chain</a:t>
            </a:r>
          </a:p>
          <a:p>
            <a:r>
              <a:rPr lang="en-MY" sz="2400" dirty="0"/>
              <a:t>		4.3. Credit-Scoring Models &amp; Risk Mitigation</a:t>
            </a:r>
          </a:p>
        </p:txBody>
      </p:sp>
    </p:spTree>
    <p:extLst>
      <p:ext uri="{BB962C8B-B14F-4D97-AF65-F5344CB8AC3E}">
        <p14:creationId xmlns:p14="http://schemas.microsoft.com/office/powerpoint/2010/main" val="302673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fade">
                                      <p:cBhvr>
                                        <p:cTn id="13" dur="500"/>
                                        <p:tgtEl>
                                          <p:spTgt spid="4">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500"/>
                                        <p:tgtEl>
                                          <p:spTgt spid="4">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Effect transition="in" filter="fade">
                                      <p:cBhvr>
                                        <p:cTn id="19" dur="500"/>
                                        <p:tgtEl>
                                          <p:spTgt spid="4">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Effect transition="in" filter="fade">
                                      <p:cBhvr>
                                        <p:cTn id="22" dur="500"/>
                                        <p:tgtEl>
                                          <p:spTgt spid="4">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Effect transition="in" filter="fade">
                                      <p:cBhvr>
                                        <p:cTn id="27" dur="500"/>
                                        <p:tgtEl>
                                          <p:spTgt spid="4">
                                            <p:txEl>
                                              <p:pRg st="11" end="1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2" end="12"/>
                                            </p:txEl>
                                          </p:spTgt>
                                        </p:tgtEl>
                                        <p:attrNameLst>
                                          <p:attrName>style.visibility</p:attrName>
                                        </p:attrNameLst>
                                      </p:cBhvr>
                                      <p:to>
                                        <p:strVal val="visible"/>
                                      </p:to>
                                    </p:set>
                                    <p:animEffect transition="in" filter="fade">
                                      <p:cBhvr>
                                        <p:cTn id="30" dur="500"/>
                                        <p:tgtEl>
                                          <p:spTgt spid="4">
                                            <p:txEl>
                                              <p:pRg st="12" end="1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animEffect transition="in" filter="fade">
                                      <p:cBhvr>
                                        <p:cTn id="33" dur="500"/>
                                        <p:tgtEl>
                                          <p:spTgt spid="4">
                                            <p:txEl>
                                              <p:pRg st="13" end="13"/>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4" end="14"/>
                                            </p:txEl>
                                          </p:spTgt>
                                        </p:tgtEl>
                                        <p:attrNameLst>
                                          <p:attrName>style.visibility</p:attrName>
                                        </p:attrNameLst>
                                      </p:cBhvr>
                                      <p:to>
                                        <p:strVal val="visible"/>
                                      </p:to>
                                    </p:set>
                                    <p:animEffect transition="in" filter="fade">
                                      <p:cBhvr>
                                        <p:cTn id="36" dur="500"/>
                                        <p:tgtEl>
                                          <p:spTgt spid="4">
                                            <p:txEl>
                                              <p:pRg st="14" end="14"/>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animEffect transition="in" filter="fade">
                                      <p:cBhvr>
                                        <p:cTn id="39" dur="500"/>
                                        <p:tgtEl>
                                          <p:spTgt spid="4">
                                            <p:txEl>
                                              <p:pRg st="15" end="1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
                                            <p:txEl>
                                              <p:pRg st="17" end="17"/>
                                            </p:txEl>
                                          </p:spTgt>
                                        </p:tgtEl>
                                        <p:attrNameLst>
                                          <p:attrName>style.visibility</p:attrName>
                                        </p:attrNameLst>
                                      </p:cBhvr>
                                      <p:to>
                                        <p:strVal val="visible"/>
                                      </p:to>
                                    </p:set>
                                    <p:animEffect transition="in" filter="fade">
                                      <p:cBhvr>
                                        <p:cTn id="44" dur="500"/>
                                        <p:tgtEl>
                                          <p:spTgt spid="4">
                                            <p:txEl>
                                              <p:pRg st="17" end="17"/>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8" end="18"/>
                                            </p:txEl>
                                          </p:spTgt>
                                        </p:tgtEl>
                                        <p:attrNameLst>
                                          <p:attrName>style.visibility</p:attrName>
                                        </p:attrNameLst>
                                      </p:cBhvr>
                                      <p:to>
                                        <p:strVal val="visible"/>
                                      </p:to>
                                    </p:set>
                                    <p:animEffect transition="in" filter="fade">
                                      <p:cBhvr>
                                        <p:cTn id="47" dur="500"/>
                                        <p:tgtEl>
                                          <p:spTgt spid="4">
                                            <p:txEl>
                                              <p:pRg st="18" end="18"/>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4">
                                            <p:txEl>
                                              <p:pRg st="19" end="19"/>
                                            </p:txEl>
                                          </p:spTgt>
                                        </p:tgtEl>
                                        <p:attrNameLst>
                                          <p:attrName>style.visibility</p:attrName>
                                        </p:attrNameLst>
                                      </p:cBhvr>
                                      <p:to>
                                        <p:strVal val="visible"/>
                                      </p:to>
                                    </p:set>
                                    <p:animEffect transition="in" filter="fade">
                                      <p:cBhvr>
                                        <p:cTn id="50" dur="500"/>
                                        <p:tgtEl>
                                          <p:spTgt spid="4">
                                            <p:txEl>
                                              <p:pRg st="19" end="19"/>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4">
                                            <p:txEl>
                                              <p:pRg st="20" end="20"/>
                                            </p:txEl>
                                          </p:spTgt>
                                        </p:tgtEl>
                                        <p:attrNameLst>
                                          <p:attrName>style.visibility</p:attrName>
                                        </p:attrNameLst>
                                      </p:cBhvr>
                                      <p:to>
                                        <p:strVal val="visible"/>
                                      </p:to>
                                    </p:set>
                                    <p:animEffect transition="in" filter="fade">
                                      <p:cBhvr>
                                        <p:cTn id="53" dur="500"/>
                                        <p:tgtEl>
                                          <p:spTgt spid="4">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F9826-4B2C-2887-59D2-4F0653040A5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E8AC571-380C-7C4E-941D-EF3DD1E10CE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FF8C6D0-8E60-819E-3AD8-2F6F85FBFC4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82A8C98-FFD5-1AC8-6FC5-634921BE65E8}"/>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12D4CA7-F874-2955-B42E-91D67859CD2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AE608D85-CC6C-ABDC-555D-557551AF239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EDCB7FA-AFBD-A126-80AA-3B6A549F9C0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AF8481F6-AD2C-6C9D-8148-C5482A053F60}"/>
              </a:ext>
            </a:extLst>
          </p:cNvPr>
          <p:cNvSpPr txBox="1"/>
          <p:nvPr/>
        </p:nvSpPr>
        <p:spPr>
          <a:xfrm>
            <a:off x="756447" y="1413960"/>
            <a:ext cx="13873953" cy="7171194"/>
          </a:xfrm>
          <a:prstGeom prst="rect">
            <a:avLst/>
          </a:prstGeom>
          <a:noFill/>
        </p:spPr>
        <p:txBody>
          <a:bodyPr wrap="square" rtlCol="0">
            <a:spAutoFit/>
          </a:bodyPr>
          <a:lstStyle/>
          <a:p>
            <a:pPr marL="514350" indent="-514350">
              <a:buFont typeface="+mj-lt"/>
              <a:buAutoNum type="arabicPeriod" startAt="5"/>
            </a:pPr>
            <a:r>
              <a:rPr lang="en-MY" sz="2800" b="1" dirty="0"/>
              <a:t>Crowdfunding Motivations &amp; Benefits?</a:t>
            </a:r>
          </a:p>
          <a:p>
            <a:pPr lvl="1"/>
            <a:r>
              <a:rPr lang="en-MY" sz="2400" dirty="0"/>
              <a:t>	5.1. </a:t>
            </a:r>
            <a:r>
              <a:rPr lang="en-US" sz="2400" dirty="0"/>
              <a:t>Lower Cost of Capital &amp; Higher Returns </a:t>
            </a:r>
          </a:p>
          <a:p>
            <a:pPr lvl="1"/>
            <a:r>
              <a:rPr lang="en-MY" sz="2400" dirty="0"/>
              <a:t>	5.2. </a:t>
            </a:r>
            <a:r>
              <a:rPr lang="en-US" sz="2400" dirty="0"/>
              <a:t>Spreads Risk &amp; Helps Economic Recovery</a:t>
            </a:r>
          </a:p>
          <a:p>
            <a:pPr lvl="1"/>
            <a:r>
              <a:rPr lang="en-US" sz="2400" dirty="0"/>
              <a:t>	5.3. Fills a Gap Left by Banks</a:t>
            </a:r>
          </a:p>
          <a:p>
            <a:pPr lvl="1"/>
            <a:r>
              <a:rPr lang="en-US" sz="2400" dirty="0"/>
              <a:t>	5.4. Provides a New Product for Portfolio Diversification</a:t>
            </a:r>
          </a:p>
          <a:p>
            <a:pPr lvl="1"/>
            <a:r>
              <a:rPr lang="en-US" sz="2400" dirty="0"/>
              <a:t>	5.5. </a:t>
            </a:r>
            <a:r>
              <a:rPr lang="en-MY" sz="2400" dirty="0"/>
              <a:t>Increases Competition</a:t>
            </a:r>
            <a:endParaRPr lang="en-US" sz="2400" dirty="0"/>
          </a:p>
          <a:p>
            <a:pPr lvl="1"/>
            <a:endParaRPr lang="en-MY" sz="2400" dirty="0"/>
          </a:p>
          <a:p>
            <a:pPr marL="514350" indent="-514350">
              <a:buFont typeface="+mj-lt"/>
              <a:buAutoNum type="arabicPeriod" startAt="6"/>
            </a:pPr>
            <a:r>
              <a:rPr lang="en-US" sz="2800" b="1" dirty="0"/>
              <a:t>Where Did Disruption Occur? (Lending)</a:t>
            </a:r>
            <a:r>
              <a:rPr lang="en-MY" sz="2800" b="1" dirty="0"/>
              <a:t>?</a:t>
            </a:r>
          </a:p>
          <a:p>
            <a:r>
              <a:rPr lang="en-MY" sz="2800" dirty="0"/>
              <a:t>		6</a:t>
            </a:r>
            <a:r>
              <a:rPr lang="en-MY" sz="2400" dirty="0"/>
              <a:t>.1. </a:t>
            </a:r>
            <a:r>
              <a:rPr lang="en-US" sz="2400" dirty="0"/>
              <a:t>New Lending Techniques for Underbanked</a:t>
            </a:r>
            <a:endParaRPr lang="en-MY" sz="2400" dirty="0"/>
          </a:p>
          <a:p>
            <a:endParaRPr lang="en-MY" sz="2400" dirty="0"/>
          </a:p>
          <a:p>
            <a:pPr marL="514350" indent="-514350">
              <a:buFont typeface="+mj-lt"/>
              <a:buAutoNum type="arabicPeriod" startAt="7"/>
            </a:pPr>
            <a:r>
              <a:rPr lang="en-US" sz="2800" b="1" dirty="0"/>
              <a:t>Competitive Advantage of P2P Lending </a:t>
            </a:r>
            <a:endParaRPr lang="en-MY" sz="2800" b="1" dirty="0"/>
          </a:p>
          <a:p>
            <a:r>
              <a:rPr lang="en-MY" sz="2800" dirty="0"/>
              <a:t>		7</a:t>
            </a:r>
            <a:r>
              <a:rPr lang="en-MY" sz="2400" dirty="0"/>
              <a:t>.1. </a:t>
            </a:r>
            <a:r>
              <a:rPr lang="en-US" sz="2400" dirty="0"/>
              <a:t>More Cost-Efficient Funding Source &amp; Cost Structure</a:t>
            </a:r>
            <a:endParaRPr lang="en-MY" sz="2400" dirty="0"/>
          </a:p>
          <a:p>
            <a:r>
              <a:rPr lang="en-MY" sz="2400" dirty="0"/>
              <a:t>		7.2. Speed &amp; Convenience</a:t>
            </a:r>
          </a:p>
          <a:p>
            <a:r>
              <a:rPr lang="en-MY" sz="2400" dirty="0"/>
              <a:t>		7.3. Lenders' Responsiveness</a:t>
            </a:r>
          </a:p>
          <a:p>
            <a:r>
              <a:rPr lang="en-MY" sz="2400" dirty="0"/>
              <a:t>	</a:t>
            </a:r>
          </a:p>
          <a:p>
            <a:pPr marL="514350" indent="-514350">
              <a:buFont typeface="+mj-lt"/>
              <a:buAutoNum type="arabicPeriod" startAt="8"/>
            </a:pPr>
            <a:r>
              <a:rPr lang="en-US" sz="2800" b="1" dirty="0"/>
              <a:t>Strategies: Competitive Reactions of Banks and Other FIs </a:t>
            </a:r>
          </a:p>
          <a:p>
            <a:r>
              <a:rPr lang="en-MY" sz="2800" dirty="0"/>
              <a:t>		</a:t>
            </a:r>
            <a:r>
              <a:rPr lang="en-MY" sz="2400" dirty="0"/>
              <a:t>8.1. </a:t>
            </a:r>
            <a:r>
              <a:rPr lang="en-US" sz="2400" dirty="0"/>
              <a:t>P2P Lending – Why Banks Should be Worried</a:t>
            </a:r>
            <a:endParaRPr lang="en-MY" sz="2400" dirty="0"/>
          </a:p>
          <a:p>
            <a:r>
              <a:rPr lang="en-MY" sz="2400" dirty="0"/>
              <a:t>		8.2. Competitive Reactions of Incumbents</a:t>
            </a:r>
          </a:p>
        </p:txBody>
      </p:sp>
    </p:spTree>
    <p:extLst>
      <p:ext uri="{BB962C8B-B14F-4D97-AF65-F5344CB8AC3E}">
        <p14:creationId xmlns:p14="http://schemas.microsoft.com/office/powerpoint/2010/main" val="284232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fade">
                                      <p:cBhvr>
                                        <p:cTn id="10" dur="500"/>
                                        <p:tgtEl>
                                          <p:spTgt spid="4">
                                            <p:txEl>
                                              <p:pRg st="8"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animEffect transition="in" filter="fade">
                                      <p:cBhvr>
                                        <p:cTn id="15" dur="500"/>
                                        <p:tgtEl>
                                          <p:spTgt spid="4">
                                            <p:txEl>
                                              <p:pRg st="10" end="1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11" end="11"/>
                                            </p:txEl>
                                          </p:spTgt>
                                        </p:tgtEl>
                                        <p:attrNameLst>
                                          <p:attrName>style.visibility</p:attrName>
                                        </p:attrNameLst>
                                      </p:cBhvr>
                                      <p:to>
                                        <p:strVal val="visible"/>
                                      </p:to>
                                    </p:set>
                                    <p:animEffect transition="in" filter="fade">
                                      <p:cBhvr>
                                        <p:cTn id="18" dur="500"/>
                                        <p:tgtEl>
                                          <p:spTgt spid="4">
                                            <p:txEl>
                                              <p:pRg st="11" end="1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animEffect transition="in" filter="fade">
                                      <p:cBhvr>
                                        <p:cTn id="21" dur="500"/>
                                        <p:tgtEl>
                                          <p:spTgt spid="4">
                                            <p:txEl>
                                              <p:pRg st="12" end="1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13" end="13"/>
                                            </p:txEl>
                                          </p:spTgt>
                                        </p:tgtEl>
                                        <p:attrNameLst>
                                          <p:attrName>style.visibility</p:attrName>
                                        </p:attrNameLst>
                                      </p:cBhvr>
                                      <p:to>
                                        <p:strVal val="visible"/>
                                      </p:to>
                                    </p:set>
                                    <p:animEffect transition="in" filter="fade">
                                      <p:cBhvr>
                                        <p:cTn id="24" dur="500"/>
                                        <p:tgtEl>
                                          <p:spTgt spid="4">
                                            <p:txEl>
                                              <p:pRg st="13" end="1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animEffect transition="in" filter="fade">
                                      <p:cBhvr>
                                        <p:cTn id="27" dur="500"/>
                                        <p:tgtEl>
                                          <p:spTgt spid="4">
                                            <p:txEl>
                                              <p:pRg st="14" end="1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5" end="15"/>
                                            </p:txEl>
                                          </p:spTgt>
                                        </p:tgtEl>
                                        <p:attrNameLst>
                                          <p:attrName>style.visibility</p:attrName>
                                        </p:attrNameLst>
                                      </p:cBhvr>
                                      <p:to>
                                        <p:strVal val="visible"/>
                                      </p:to>
                                    </p:set>
                                    <p:animEffect transition="in" filter="fade">
                                      <p:cBhvr>
                                        <p:cTn id="32" dur="500"/>
                                        <p:tgtEl>
                                          <p:spTgt spid="4">
                                            <p:txEl>
                                              <p:pRg st="15" end="1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6" end="16"/>
                                            </p:txEl>
                                          </p:spTgt>
                                        </p:tgtEl>
                                        <p:attrNameLst>
                                          <p:attrName>style.visibility</p:attrName>
                                        </p:attrNameLst>
                                      </p:cBhvr>
                                      <p:to>
                                        <p:strVal val="visible"/>
                                      </p:to>
                                    </p:set>
                                    <p:animEffect transition="in" filter="fade">
                                      <p:cBhvr>
                                        <p:cTn id="37" dur="500"/>
                                        <p:tgtEl>
                                          <p:spTgt spid="4">
                                            <p:txEl>
                                              <p:pRg st="16" end="1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7" end="17"/>
                                            </p:txEl>
                                          </p:spTgt>
                                        </p:tgtEl>
                                        <p:attrNameLst>
                                          <p:attrName>style.visibility</p:attrName>
                                        </p:attrNameLst>
                                      </p:cBhvr>
                                      <p:to>
                                        <p:strVal val="visible"/>
                                      </p:to>
                                    </p:set>
                                    <p:animEffect transition="in" filter="fade">
                                      <p:cBhvr>
                                        <p:cTn id="40"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P2P LENDING &amp; CROWDFUNDING</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Introduction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8B658-8940-7D5D-CE97-9EAFCAFF559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73F1317-D910-3093-FFBB-94D1539C7FD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1ADBBFF-4CE9-B141-D781-32BE762CBFC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393FA88-6237-2386-002B-30D7ED86A069}"/>
              </a:ext>
            </a:extLst>
          </p:cNvPr>
          <p:cNvSpPr txBox="1"/>
          <p:nvPr/>
        </p:nvSpPr>
        <p:spPr>
          <a:xfrm>
            <a:off x="990600" y="300719"/>
            <a:ext cx="9356377" cy="621902"/>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(Fintech) P2P Lending &amp; Crowdfunding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4C3CAF5-6106-5E85-9A1B-0AC56FBBFCF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98A30F83-B0AA-24EA-064E-1E6BD7AAA0E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1365CB2-DA42-3B08-FC81-81E858C6FC7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6FBBF58-20E8-5CD3-5B5A-2DDDEA202E7A}"/>
              </a:ext>
            </a:extLst>
          </p:cNvPr>
          <p:cNvSpPr txBox="1"/>
          <p:nvPr/>
        </p:nvSpPr>
        <p:spPr>
          <a:xfrm>
            <a:off x="756447" y="2644758"/>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Banks use mostly centralized legacy technology infrastructure and rely heavily on expensive branches and manual processes. Moreover, given their role in the recent financial crisis, they will keep facing increasing capital and regulatory constraints</a:t>
            </a:r>
          </a:p>
          <a:p>
            <a:pPr marL="514350" indent="-514350" algn="just">
              <a:lnSpc>
                <a:spcPct val="200000"/>
              </a:lnSpc>
              <a:buFont typeface="Wingdings" panose="05000000000000000000" pitchFamily="2" charset="2"/>
              <a:buChar char="§"/>
            </a:pPr>
            <a:r>
              <a:rPr lang="en-US" sz="2400" dirty="0"/>
              <a:t>For Banks will continue to pull away from lending to “risky” clients. Given their high-cost base, banks cannot afford to underwrite and lend money in small amounts, as would be convenient for clients.</a:t>
            </a:r>
          </a:p>
          <a:p>
            <a:pPr marL="514350" indent="-514350" algn="just">
              <a:lnSpc>
                <a:spcPct val="200000"/>
              </a:lnSpc>
              <a:buFont typeface="Wingdings" panose="05000000000000000000" pitchFamily="2" charset="2"/>
              <a:buChar char="§"/>
            </a:pPr>
            <a:r>
              <a:rPr lang="en-US" sz="2400" dirty="0"/>
              <a:t> Uncertainty and delay in loan disbursement, high processing fees, lock-in periods, pre-closure charges (the process when one repays the loan before the loan tenure ends) make access to credit near impossible to many entrepreneurs.</a:t>
            </a:r>
          </a:p>
          <a:p>
            <a:pPr marL="514350" indent="-514350" algn="just">
              <a:lnSpc>
                <a:spcPct val="200000"/>
              </a:lnSpc>
              <a:buFont typeface="Wingdings" panose="05000000000000000000" pitchFamily="2" charset="2"/>
              <a:buChar char="§"/>
            </a:pPr>
            <a:r>
              <a:rPr lang="en-US" sz="2400" dirty="0"/>
              <a:t>The cost of enforcing loan repayments is an important component of total financial intermediation cost. To reduce enforcement problems banks usually require borrowers to pledge tangible assets, such as real estate, as collateral to increase recovery rates in the case of default.</a:t>
            </a:r>
          </a:p>
        </p:txBody>
      </p:sp>
      <p:sp>
        <p:nvSpPr>
          <p:cNvPr id="4" name="TextBox 6">
            <a:extLst>
              <a:ext uri="{FF2B5EF4-FFF2-40B4-BE49-F238E27FC236}">
                <a16:creationId xmlns:a16="http://schemas.microsoft.com/office/drawing/2014/main" id="{5F95FFC0-E813-E7DB-C037-52C77A018F3A}"/>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Lending - Introduction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8948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1902"/>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(Fintech) P2P Lending &amp; Crowdfunding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Crowd-funding</a:t>
            </a:r>
            <a:r>
              <a:rPr lang="en-US" sz="2800" dirty="0"/>
              <a:t> is an umbrella term describing the use of small amounts of money, obtained from a large number of individuals or organizations, to fund a project, a business or personal loan, and other needs through an online web-based platform.</a:t>
            </a:r>
          </a:p>
          <a:p>
            <a:pPr marL="514350" indent="-514350" algn="just">
              <a:lnSpc>
                <a:spcPct val="200000"/>
              </a:lnSpc>
              <a:buFont typeface="Wingdings" panose="05000000000000000000" pitchFamily="2" charset="2"/>
              <a:buChar char="§"/>
            </a:pPr>
            <a:r>
              <a:rPr lang="en-US" sz="2800" b="1" dirty="0"/>
              <a:t>Crowdfunding</a:t>
            </a:r>
            <a:r>
              <a:rPr lang="en-US" sz="2800" dirty="0"/>
              <a:t> describes a form of financing in which a large number of contributors (often called “backers”) provide the financial resources to achieve a common goal. In the place of a traditional bank, a crowdfunding portal acts as an intermediary (</a:t>
            </a:r>
            <a:r>
              <a:rPr lang="en-US" sz="2800" dirty="0" err="1"/>
              <a:t>Belleflamme</a:t>
            </a:r>
            <a:r>
              <a:rPr lang="en-US" sz="2800" dirty="0"/>
              <a:t> et al. 2014; </a:t>
            </a:r>
            <a:r>
              <a:rPr lang="en-US" sz="2800" dirty="0" err="1"/>
              <a:t>Kl€ohn</a:t>
            </a:r>
            <a:r>
              <a:rPr lang="en-US" sz="2800" dirty="0"/>
              <a:t> and </a:t>
            </a:r>
            <a:r>
              <a:rPr lang="en-US" sz="2800" dirty="0" err="1"/>
              <a:t>Hornuf</a:t>
            </a:r>
            <a:r>
              <a:rPr lang="en-US" sz="2800" dirty="0"/>
              <a:t> 2012).</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Crowdfunding- Defined</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C6B8-AE3F-478E-654E-2B86F27A4F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3D75C7-9B7C-EB4B-770E-5C870B19B64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2DC143D-CDE2-0DD5-9919-CC592F46513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6EB7A81-582A-A7AB-115A-3A9E37FFBECB}"/>
              </a:ext>
            </a:extLst>
          </p:cNvPr>
          <p:cNvSpPr txBox="1"/>
          <p:nvPr/>
        </p:nvSpPr>
        <p:spPr>
          <a:xfrm>
            <a:off x="990600" y="300719"/>
            <a:ext cx="9356377" cy="621902"/>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Alternative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BF5805F-590F-BA07-209B-14873BE6FFA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785A03E3-AE5C-1AE7-3E10-CC6F36D47E2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17DE7DB-8431-F73C-C1AA-69CDCE1270A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EC193F-0A46-ECBF-8B63-CAF9F982DBDC}"/>
              </a:ext>
            </a:extLst>
          </p:cNvPr>
          <p:cNvSpPr txBox="1"/>
          <p:nvPr/>
        </p:nvSpPr>
        <p:spPr>
          <a:xfrm>
            <a:off x="756447" y="5864010"/>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 Lenders’ savings are protected by the intermediaries’ reserves and by deposit insurance schemes</a:t>
            </a:r>
          </a:p>
          <a:p>
            <a:pPr marL="514350" indent="-514350" algn="just">
              <a:lnSpc>
                <a:spcPct val="200000"/>
              </a:lnSpc>
              <a:buFont typeface="Wingdings" panose="05000000000000000000" pitchFamily="2" charset="2"/>
              <a:buChar char="§"/>
            </a:pPr>
            <a:r>
              <a:rPr lang="en-US" sz="2800" dirty="0"/>
              <a:t>++ The complete pooling of savings and loans most effectively mitigates individual default risks</a:t>
            </a:r>
          </a:p>
          <a:p>
            <a:pPr marL="514350" indent="-514350" algn="just">
              <a:lnSpc>
                <a:spcPct val="200000"/>
              </a:lnSpc>
              <a:buFont typeface="Wingdings" panose="05000000000000000000" pitchFamily="2" charset="2"/>
              <a:buChar char="§"/>
            </a:pPr>
            <a:r>
              <a:rPr lang="en-US" sz="2800" dirty="0"/>
              <a:t>-- Lenders do not have flexibility to determine the desired level of risk and return</a:t>
            </a:r>
          </a:p>
          <a:p>
            <a:pPr marL="514350" indent="-514350" algn="just">
              <a:lnSpc>
                <a:spcPct val="200000"/>
              </a:lnSpc>
              <a:buFont typeface="Wingdings" panose="05000000000000000000" pitchFamily="2" charset="2"/>
              <a:buChar char="§"/>
            </a:pPr>
            <a:r>
              <a:rPr lang="en-US" sz="2800" dirty="0"/>
              <a:t>-- Primary focus on low-risk loans exclude higher risk borrowers, depending on the market conditions</a:t>
            </a:r>
          </a:p>
        </p:txBody>
      </p:sp>
      <p:sp>
        <p:nvSpPr>
          <p:cNvPr id="4" name="TextBox 6">
            <a:extLst>
              <a:ext uri="{FF2B5EF4-FFF2-40B4-BE49-F238E27FC236}">
                <a16:creationId xmlns:a16="http://schemas.microsoft.com/office/drawing/2014/main" id="{BFF8672A-FBC2-7A02-17E1-DB6540FE318F}"/>
              </a:ext>
            </a:extLst>
          </p:cNvPr>
          <p:cNvSpPr txBox="1"/>
          <p:nvPr/>
        </p:nvSpPr>
        <p:spPr>
          <a:xfrm>
            <a:off x="756447" y="1371591"/>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Traditional Lending Intermediaries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2A39739B-E1C4-ADA0-5FF9-46319F86AD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4296" y="2107783"/>
            <a:ext cx="9759408" cy="3904000"/>
          </a:xfrm>
          <a:prstGeom prst="rect">
            <a:avLst/>
          </a:prstGeom>
        </p:spPr>
      </p:pic>
    </p:spTree>
    <p:extLst>
      <p:ext uri="{BB962C8B-B14F-4D97-AF65-F5344CB8AC3E}">
        <p14:creationId xmlns:p14="http://schemas.microsoft.com/office/powerpoint/2010/main" val="33096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23355-47D6-3738-F45F-A1A6220207A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71950CF-87F1-8C65-C37C-CEB432AE508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EAB0E19-B2AE-14B9-6519-40FDB69818C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FB18F4D-5B23-53EB-5A3A-8827F34361E6}"/>
              </a:ext>
            </a:extLst>
          </p:cNvPr>
          <p:cNvSpPr txBox="1"/>
          <p:nvPr/>
        </p:nvSpPr>
        <p:spPr>
          <a:xfrm>
            <a:off x="990600" y="300719"/>
            <a:ext cx="9356377" cy="621902"/>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Alternative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9D64BBE-4349-8B44-6248-EF0EB98FD0E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35AE9AF8-0EFA-0A9D-D45F-411EDDF729B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B86C6CC-B842-D6CB-1205-B2A9CB96F07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93CB91F-FF72-07F5-53B3-82123AAA9E38}"/>
              </a:ext>
            </a:extLst>
          </p:cNvPr>
          <p:cNvSpPr txBox="1"/>
          <p:nvPr/>
        </p:nvSpPr>
        <p:spPr>
          <a:xfrm>
            <a:off x="756447" y="5864010"/>
            <a:ext cx="16775106" cy="294356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 Reduction of transaction costs</a:t>
            </a:r>
          </a:p>
          <a:p>
            <a:pPr marL="514350" indent="-514350" algn="just">
              <a:lnSpc>
                <a:spcPct val="200000"/>
              </a:lnSpc>
              <a:buFont typeface="Wingdings" panose="05000000000000000000" pitchFamily="2" charset="2"/>
              <a:buChar char="§"/>
            </a:pPr>
            <a:r>
              <a:rPr lang="en-US" sz="2400" dirty="0"/>
              <a:t>++ Traditionally underserved borrowers gain access to loans and diverse risk appetite of lenders is met</a:t>
            </a:r>
          </a:p>
          <a:p>
            <a:pPr marL="514350" indent="-514350" algn="just">
              <a:lnSpc>
                <a:spcPct val="200000"/>
              </a:lnSpc>
              <a:buFont typeface="Wingdings" panose="05000000000000000000" pitchFamily="2" charset="2"/>
              <a:buChar char="§"/>
            </a:pPr>
            <a:r>
              <a:rPr lang="en-US" sz="2400" dirty="0"/>
              <a:t>-- Investments may be more susceptible to individual default risks even with portfolio approach, especially for smaller investments</a:t>
            </a:r>
          </a:p>
          <a:p>
            <a:pPr marL="514350" indent="-514350" algn="just">
              <a:lnSpc>
                <a:spcPct val="200000"/>
              </a:lnSpc>
              <a:buFont typeface="Wingdings" panose="05000000000000000000" pitchFamily="2" charset="2"/>
              <a:buChar char="§"/>
            </a:pPr>
            <a:r>
              <a:rPr lang="en-US" sz="2400" dirty="0"/>
              <a:t>-- Guarantees on the investments are limited</a:t>
            </a:r>
          </a:p>
        </p:txBody>
      </p:sp>
      <p:sp>
        <p:nvSpPr>
          <p:cNvPr id="4" name="TextBox 6">
            <a:extLst>
              <a:ext uri="{FF2B5EF4-FFF2-40B4-BE49-F238E27FC236}">
                <a16:creationId xmlns:a16="http://schemas.microsoft.com/office/drawing/2014/main" id="{C5918F31-AA5D-9409-1178-07F6EFFC173B}"/>
              </a:ext>
            </a:extLst>
          </p:cNvPr>
          <p:cNvSpPr txBox="1"/>
          <p:nvPr/>
        </p:nvSpPr>
        <p:spPr>
          <a:xfrm>
            <a:off x="756447" y="1371591"/>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Alternative Lending Intermediaries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74EDB2F1-0B06-83C0-68DA-98C33CAE6A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88541" y="2107783"/>
            <a:ext cx="9110918" cy="3904000"/>
          </a:xfrm>
          <a:prstGeom prst="rect">
            <a:avLst/>
          </a:prstGeom>
        </p:spPr>
      </p:pic>
    </p:spTree>
    <p:extLst>
      <p:ext uri="{BB962C8B-B14F-4D97-AF65-F5344CB8AC3E}">
        <p14:creationId xmlns:p14="http://schemas.microsoft.com/office/powerpoint/2010/main" val="342950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EA267-551D-0201-1F5D-00068857114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1910B74-9E0A-AB14-9E74-AFA3BDCD8B7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A73DE58-A858-2D34-B504-EB3560AC784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CDB0C3A-8DBD-97A5-B1E3-CAA57917AC54}"/>
              </a:ext>
            </a:extLst>
          </p:cNvPr>
          <p:cNvSpPr txBox="1"/>
          <p:nvPr/>
        </p:nvSpPr>
        <p:spPr>
          <a:xfrm>
            <a:off x="990600" y="300719"/>
            <a:ext cx="114554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7BE7E0D-A47C-E2A0-24FD-3126E9A3CCA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AB9E0C48-54CE-240A-3144-9EDABFA7D7A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FD3CDC2-26AC-077D-1AF0-C09DDCED639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D064A32-20FE-A425-C1AA-E3E248C6A5DE}"/>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P2P loans are sponsored by private investors who sign up for accounts and choose which loans to fund, unlike large financial institutions that fund loans with huge pockets.</a:t>
            </a:r>
          </a:p>
          <a:p>
            <a:pPr marL="514350" indent="-514350" algn="just">
              <a:lnSpc>
                <a:spcPct val="200000"/>
              </a:lnSpc>
              <a:buFont typeface="Wingdings" panose="05000000000000000000" pitchFamily="2" charset="2"/>
              <a:buChar char="§"/>
            </a:pPr>
            <a:r>
              <a:rPr lang="en-US" sz="2800" dirty="0"/>
              <a:t>P2P lending, in laymen’s terms, is a monetary agreement between a lender and borrower without the involvement of any financial institutions in between, such as a bank.</a:t>
            </a:r>
          </a:p>
          <a:p>
            <a:pPr marL="514350" indent="-514350" algn="just">
              <a:lnSpc>
                <a:spcPct val="200000"/>
              </a:lnSpc>
              <a:buFont typeface="Wingdings" panose="05000000000000000000" pitchFamily="2" charset="2"/>
              <a:buChar char="§"/>
            </a:pPr>
            <a:r>
              <a:rPr lang="en-US" sz="2800" dirty="0"/>
              <a:t>The online company facilitating this Peer-to-Peer exchange will act as the risk mitigator between these two parties by adequately assessing their eligibility in these digital transactions.</a:t>
            </a:r>
          </a:p>
        </p:txBody>
      </p:sp>
      <p:sp>
        <p:nvSpPr>
          <p:cNvPr id="4" name="TextBox 6">
            <a:extLst>
              <a:ext uri="{FF2B5EF4-FFF2-40B4-BE49-F238E27FC236}">
                <a16:creationId xmlns:a16="http://schemas.microsoft.com/office/drawing/2014/main" id="{42C6AD9B-37B3-0535-D76C-00DDA5A59013}"/>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P2P Lending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9030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298CF-9B2D-2CF9-D159-59C662E7D39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5D6DC15-0CB5-E832-19B6-782BDBFAB89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22E92B2-51B3-2AB1-12C5-CD5DD63819D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4100414-D863-BAEF-8ABB-2B60EDFA672F}"/>
              </a:ext>
            </a:extLst>
          </p:cNvPr>
          <p:cNvSpPr txBox="1"/>
          <p:nvPr/>
        </p:nvSpPr>
        <p:spPr>
          <a:xfrm>
            <a:off x="990600" y="300719"/>
            <a:ext cx="114554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67F5205-CCF9-24B6-0996-9E1586F864E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0F760FC-7F7A-6994-3582-77FCD2FC58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291DEB4-8AE0-E22B-D531-E4319B50BD9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B965499-579B-AB7D-5C27-03D21288C760}"/>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Limited Access. </a:t>
            </a:r>
            <a:r>
              <a:rPr lang="en-US" sz="2800" dirty="0"/>
              <a:t>A growing lending gap limits the availability of loans to individuals and companies with higher risk profiles.</a:t>
            </a:r>
          </a:p>
          <a:p>
            <a:pPr marL="514350" indent="-514350" algn="just">
              <a:lnSpc>
                <a:spcPct val="200000"/>
              </a:lnSpc>
              <a:buFont typeface="Wingdings" panose="05000000000000000000" pitchFamily="2" charset="2"/>
              <a:buChar char="§"/>
            </a:pPr>
            <a:r>
              <a:rPr lang="en-US" sz="2800" b="1" dirty="0"/>
              <a:t>Slow Speed. </a:t>
            </a:r>
            <a:r>
              <a:rPr lang="en-US" sz="2800" dirty="0"/>
              <a:t>Traditional adjudication processes with multiple layers of approval limits the banks’ ability to process loans in timely manner.</a:t>
            </a:r>
          </a:p>
          <a:p>
            <a:pPr marL="514350" indent="-514350" algn="just">
              <a:lnSpc>
                <a:spcPct val="200000"/>
              </a:lnSpc>
              <a:buFont typeface="Wingdings" panose="05000000000000000000" pitchFamily="2" charset="2"/>
              <a:buChar char="§"/>
            </a:pPr>
            <a:r>
              <a:rPr lang="en-US" sz="2800" b="1" dirty="0"/>
              <a:t>Margin for Error. </a:t>
            </a:r>
            <a:r>
              <a:rPr lang="en-US" sz="2800" dirty="0"/>
              <a:t>Traditional adjudication models and credit scores tend to miss suitable lending opportunities in a virtual economy.</a:t>
            </a:r>
          </a:p>
          <a:p>
            <a:pPr marL="514350" indent="-514350" algn="just">
              <a:lnSpc>
                <a:spcPct val="200000"/>
              </a:lnSpc>
              <a:buFont typeface="Wingdings" panose="05000000000000000000" pitchFamily="2" charset="2"/>
              <a:buChar char="§"/>
            </a:pPr>
            <a:r>
              <a:rPr lang="en-US" sz="2800" b="1" dirty="0"/>
              <a:t>Poor Customer Experience. </a:t>
            </a:r>
            <a:r>
              <a:rPr lang="en-US" sz="2800" dirty="0"/>
              <a:t>Highly manual adjudication processes and requirements fall short of increasing expectations on customer experiences.</a:t>
            </a:r>
          </a:p>
        </p:txBody>
      </p:sp>
      <p:sp>
        <p:nvSpPr>
          <p:cNvPr id="4" name="TextBox 6">
            <a:extLst>
              <a:ext uri="{FF2B5EF4-FFF2-40B4-BE49-F238E27FC236}">
                <a16:creationId xmlns:a16="http://schemas.microsoft.com/office/drawing/2014/main" id="{5786981B-2211-6B2D-625D-E85BA20289C0}"/>
              </a:ext>
            </a:extLst>
          </p:cNvPr>
          <p:cNvSpPr txBox="1"/>
          <p:nvPr/>
        </p:nvSpPr>
        <p:spPr>
          <a:xfrm>
            <a:off x="756447" y="1805216"/>
            <a:ext cx="15728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Key characteristics (Problems) of traditional Lending models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5364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665F-AE11-1FBE-0A47-214006416D6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DB59D8C-B7E9-8AEA-A87C-5AB031CCDEF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6A005D2-2D92-7E97-58AA-430FD868935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14B2F3A-631F-D6DF-14DA-9413E9193627}"/>
              </a:ext>
            </a:extLst>
          </p:cNvPr>
          <p:cNvSpPr txBox="1"/>
          <p:nvPr/>
        </p:nvSpPr>
        <p:spPr>
          <a:xfrm>
            <a:off x="990600" y="300719"/>
            <a:ext cx="1409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p>
        </p:txBody>
      </p:sp>
      <p:sp>
        <p:nvSpPr>
          <p:cNvPr id="9" name="Date Placeholder 8">
            <a:extLst>
              <a:ext uri="{FF2B5EF4-FFF2-40B4-BE49-F238E27FC236}">
                <a16:creationId xmlns:a16="http://schemas.microsoft.com/office/drawing/2014/main" id="{94ACD906-35F2-8EAE-9663-AFD9D9A81D5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CC63B9E5-8619-0664-3674-A9F864E0085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037F0D9-957F-00EB-18C3-21523000EFB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45B6068F-2BE3-998D-856F-163A350B2068}"/>
              </a:ext>
            </a:extLst>
          </p:cNvPr>
          <p:cNvSpPr txBox="1"/>
          <p:nvPr/>
        </p:nvSpPr>
        <p:spPr>
          <a:xfrm>
            <a:off x="757618" y="1790700"/>
            <a:ext cx="16773935" cy="1384995"/>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t>Limited Control. </a:t>
            </a:r>
            <a:r>
              <a:rPr lang="en-US" sz="2800" dirty="0"/>
              <a:t>Borrowers have limited visibility and control over the uses of funds and interest rates earned.</a:t>
            </a:r>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r>
              <a:rPr lang="en-US" sz="2800" b="1" dirty="0"/>
              <a:t>Low Return. </a:t>
            </a:r>
            <a:r>
              <a:rPr lang="en-US" sz="2800" dirty="0"/>
              <a:t>Operational inefficiency and reduced risk appetite of banks result in low returns on savings.</a:t>
            </a:r>
          </a:p>
        </p:txBody>
      </p:sp>
    </p:spTree>
    <p:extLst>
      <p:ext uri="{BB962C8B-B14F-4D97-AF65-F5344CB8AC3E}">
        <p14:creationId xmlns:p14="http://schemas.microsoft.com/office/powerpoint/2010/main" val="3809164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331E3-8DB7-7125-9F7C-ACE6C495C6F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9060782-E346-007F-AB37-E60CBF620DF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9908B4-8B9F-A709-B923-50ED02CA677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ABC1748-7E75-6221-2504-CB1A07AAA3BA}"/>
              </a:ext>
            </a:extLst>
          </p:cNvPr>
          <p:cNvSpPr txBox="1"/>
          <p:nvPr/>
        </p:nvSpPr>
        <p:spPr>
          <a:xfrm>
            <a:off x="990600" y="300719"/>
            <a:ext cx="114554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94A9F7A-F803-BE13-AA77-632251600A2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DF902EA9-F415-A794-7A35-6D6BA37DF79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44B9DB0-DA1A-885F-149C-CF85435050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71FEF6D-88BC-2ADE-62DB-4EFD606CF899}"/>
              </a:ext>
            </a:extLst>
          </p:cNvPr>
          <p:cNvSpPr txBox="1"/>
          <p:nvPr/>
        </p:nvSpPr>
        <p:spPr>
          <a:xfrm>
            <a:off x="756447" y="1830295"/>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How do financial institutions facilitate lending activities today? (continue…)</a:t>
            </a:r>
          </a:p>
        </p:txBody>
      </p:sp>
      <p:sp>
        <p:nvSpPr>
          <p:cNvPr id="4" name="TextBox 6">
            <a:extLst>
              <a:ext uri="{FF2B5EF4-FFF2-40B4-BE49-F238E27FC236}">
                <a16:creationId xmlns:a16="http://schemas.microsoft.com/office/drawing/2014/main" id="{065A7B74-ABE4-72B0-0E31-F5CAC417BA5F}"/>
              </a:ext>
            </a:extLst>
          </p:cNvPr>
          <p:cNvSpPr txBox="1"/>
          <p:nvPr/>
        </p:nvSpPr>
        <p:spPr>
          <a:xfrm>
            <a:off x="756447" y="1425909"/>
            <a:ext cx="14889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Alternative Models of Lending- Core Capabilities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96E9916D-8016-6766-D1A6-801A4CD04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295" y="2849418"/>
            <a:ext cx="8776452" cy="6582338"/>
          </a:xfrm>
          <a:prstGeom prst="rect">
            <a:avLst/>
          </a:prstGeom>
        </p:spPr>
      </p:pic>
    </p:spTree>
    <p:extLst>
      <p:ext uri="{BB962C8B-B14F-4D97-AF65-F5344CB8AC3E}">
        <p14:creationId xmlns:p14="http://schemas.microsoft.com/office/powerpoint/2010/main" val="191089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D2C2-6958-8AF8-C3A9-2CC7464A26D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B181F48-C79C-D075-8FD7-513EEC27CC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10790E-44B1-93C6-36F3-5773BF82DAB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2108444-EDC3-A5EE-F599-E1D5062B8D3D}"/>
              </a:ext>
            </a:extLst>
          </p:cNvPr>
          <p:cNvSpPr txBox="1"/>
          <p:nvPr/>
        </p:nvSpPr>
        <p:spPr>
          <a:xfrm>
            <a:off x="990600" y="300719"/>
            <a:ext cx="114554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D5F6290-6193-A6D8-2C25-34F628E12DD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2C54E304-ACFC-3335-219B-EA0BF838DAE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A7E3D0C-BDAB-BF24-D644-5E313323B65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381D990-17C4-DDF2-37CC-C97DE53AEAE8}"/>
              </a:ext>
            </a:extLst>
          </p:cNvPr>
          <p:cNvSpPr txBox="1"/>
          <p:nvPr/>
        </p:nvSpPr>
        <p:spPr>
          <a:xfrm>
            <a:off x="756447" y="1830295"/>
            <a:ext cx="16775106"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Description of alternative lending models (continue...)</a:t>
            </a:r>
          </a:p>
        </p:txBody>
      </p:sp>
      <p:sp>
        <p:nvSpPr>
          <p:cNvPr id="4" name="TextBox 6">
            <a:extLst>
              <a:ext uri="{FF2B5EF4-FFF2-40B4-BE49-F238E27FC236}">
                <a16:creationId xmlns:a16="http://schemas.microsoft.com/office/drawing/2014/main" id="{6F13899D-6CCA-0E90-C281-E040CFEF88B4}"/>
              </a:ext>
            </a:extLst>
          </p:cNvPr>
          <p:cNvSpPr txBox="1"/>
          <p:nvPr/>
        </p:nvSpPr>
        <p:spPr>
          <a:xfrm>
            <a:off x="756447" y="1425909"/>
            <a:ext cx="14889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Alternative Models of Lending- Core Capabilities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CFBBA5F5-818A-7A3C-0F4E-68AB4BD948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10806" y="2849418"/>
            <a:ext cx="8251430" cy="6582338"/>
          </a:xfrm>
          <a:prstGeom prst="rect">
            <a:avLst/>
          </a:prstGeom>
        </p:spPr>
      </p:pic>
    </p:spTree>
    <p:extLst>
      <p:ext uri="{BB962C8B-B14F-4D97-AF65-F5344CB8AC3E}">
        <p14:creationId xmlns:p14="http://schemas.microsoft.com/office/powerpoint/2010/main" val="102911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5808E-B19B-6EBA-95D6-A5C95064978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EE78C9B-35F3-982C-E039-C8CFBE26920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61B2C45-7B45-323F-6E95-ADCAF8C1CCC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2B6300-7888-1AEB-B75D-23EC1A9E01AE}"/>
              </a:ext>
            </a:extLst>
          </p:cNvPr>
          <p:cNvSpPr txBox="1"/>
          <p:nvPr/>
        </p:nvSpPr>
        <p:spPr>
          <a:xfrm>
            <a:off x="990600" y="300719"/>
            <a:ext cx="1333924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8AB8B96-EA72-870C-F22C-FCF90418AC9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01D8FECA-9615-7CBB-68AD-66031BFAEAD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9954B0F-C57A-DB11-4D32-643D6B0B569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8F5520E-4B7D-714B-71D1-8E098D129F35}"/>
              </a:ext>
            </a:extLst>
          </p:cNvPr>
          <p:cNvSpPr txBox="1"/>
          <p:nvPr/>
        </p:nvSpPr>
        <p:spPr>
          <a:xfrm>
            <a:off x="756447" y="2644758"/>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b="1" dirty="0"/>
              <a:t>P2P</a:t>
            </a:r>
          </a:p>
          <a:p>
            <a:pPr marL="514350" indent="-514350" algn="just">
              <a:lnSpc>
                <a:spcPct val="200000"/>
              </a:lnSpc>
              <a:buFont typeface="Wingdings" panose="05000000000000000000" pitchFamily="2" charset="2"/>
              <a:buChar char="§"/>
            </a:pPr>
            <a:r>
              <a:rPr lang="en-GB" sz="2400" dirty="0"/>
              <a:t>Alternative lenders leverage online platforms and legal contracts to provide direct matching of funds between savers and borrower.</a:t>
            </a:r>
          </a:p>
          <a:p>
            <a:pPr marL="514350" indent="-514350" algn="just">
              <a:lnSpc>
                <a:spcPct val="200000"/>
              </a:lnSpc>
              <a:buFont typeface="Wingdings" panose="05000000000000000000" pitchFamily="2" charset="2"/>
              <a:buChar char="§"/>
            </a:pPr>
            <a:r>
              <a:rPr lang="en-GB" sz="2400" dirty="0"/>
              <a:t>By acting as online marketplaces P2P lenders facing lower funding costs than traditional depository lenders</a:t>
            </a:r>
          </a:p>
          <a:p>
            <a:pPr marL="514350" indent="-514350" algn="just">
              <a:lnSpc>
                <a:spcPct val="200000"/>
              </a:lnSpc>
              <a:buFont typeface="Wingdings" panose="05000000000000000000" pitchFamily="2" charset="2"/>
              <a:buChar char="§"/>
            </a:pPr>
            <a:r>
              <a:rPr lang="en-GB" sz="2400" b="1" dirty="0"/>
              <a:t>Alternative processes and metrics</a:t>
            </a:r>
          </a:p>
          <a:p>
            <a:pPr marL="514350" indent="-514350" algn="just">
              <a:lnSpc>
                <a:spcPct val="200000"/>
              </a:lnSpc>
              <a:buFont typeface="Wingdings" panose="05000000000000000000" pitchFamily="2" charset="2"/>
              <a:buChar char="§"/>
            </a:pPr>
            <a:r>
              <a:rPr lang="en-GB" sz="2400" dirty="0"/>
              <a:t>Alternative lending platforms assess the creditworthiness of borrowers based on metrics beyond the credit scores used by traditional lenders (e.g., social data).</a:t>
            </a:r>
          </a:p>
          <a:p>
            <a:pPr marL="514350" indent="-514350" algn="just">
              <a:lnSpc>
                <a:spcPct val="200000"/>
              </a:lnSpc>
              <a:buFont typeface="Wingdings" panose="05000000000000000000" pitchFamily="2" charset="2"/>
              <a:buChar char="§"/>
            </a:pPr>
            <a:r>
              <a:rPr lang="en-GB" sz="2400" dirty="0"/>
              <a:t>Most alternative lenders also refine their risk engine more frequently than traditional lenders to incorporate feedback based on empirical analysis.</a:t>
            </a:r>
          </a:p>
        </p:txBody>
      </p:sp>
      <p:sp>
        <p:nvSpPr>
          <p:cNvPr id="4" name="TextBox 6">
            <a:extLst>
              <a:ext uri="{FF2B5EF4-FFF2-40B4-BE49-F238E27FC236}">
                <a16:creationId xmlns:a16="http://schemas.microsoft.com/office/drawing/2014/main" id="{6F34D287-0B6C-C7A5-BEB1-E26EC11AFC48}"/>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Key characteristics of alternative lending platforms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0200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A608-CD27-A74D-1C46-AE6DCE2D33B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1BC86D4-BB7B-BCAD-CFB0-DE0BC4770BA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D2BE4D4-DAE9-6A78-90EF-0E351BE21F5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D33719A-63AC-F8A0-AA90-874FFACA752C}"/>
              </a:ext>
            </a:extLst>
          </p:cNvPr>
          <p:cNvSpPr txBox="1"/>
          <p:nvPr/>
        </p:nvSpPr>
        <p:spPr>
          <a:xfrm>
            <a:off x="990600" y="300719"/>
            <a:ext cx="1333924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17330D4-2176-8816-23C9-8D511DD9E13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DAD37FA4-DD7D-8EB1-107B-1EE9D884485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37EFC55-B79B-02FE-94B4-B3F63068CF3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E8ADD4C-24FD-96EE-9D05-58FF50CD8DA8}"/>
              </a:ext>
            </a:extLst>
          </p:cNvPr>
          <p:cNvSpPr txBox="1"/>
          <p:nvPr/>
        </p:nvSpPr>
        <p:spPr>
          <a:xfrm>
            <a:off x="756447" y="159198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Lean, automated processes</a:t>
            </a:r>
          </a:p>
          <a:p>
            <a:pPr marL="514350" indent="-514350" algn="just">
              <a:lnSpc>
                <a:spcPct val="200000"/>
              </a:lnSpc>
              <a:buFont typeface="Wingdings" panose="05000000000000000000" pitchFamily="2" charset="2"/>
              <a:buChar char="§"/>
            </a:pPr>
            <a:r>
              <a:rPr lang="en-GB" sz="2800" dirty="0"/>
              <a:t>Alternative lending platforms are free of legacy processes and technologies, allowing them to onboard and assess borrowers and lenders in a more streamlined fashion</a:t>
            </a:r>
          </a:p>
          <a:p>
            <a:pPr algn="just">
              <a:lnSpc>
                <a:spcPct val="200000"/>
              </a:lnSpc>
            </a:pPr>
            <a:r>
              <a:rPr lang="en-GB" sz="2800" dirty="0"/>
              <a:t>	(quick and efficient manner)</a:t>
            </a:r>
          </a:p>
          <a:p>
            <a:pPr marL="514350" indent="-514350" algn="just">
              <a:lnSpc>
                <a:spcPct val="200000"/>
              </a:lnSpc>
              <a:buFont typeface="Wingdings" panose="05000000000000000000" pitchFamily="2" charset="2"/>
              <a:buChar char="§"/>
            </a:pPr>
            <a:r>
              <a:rPr lang="en-GB" sz="2800" dirty="0"/>
              <a:t>At most alternative platforms, assessment of borrowers is at least partly automated against predefined rules for fast, transparent processing.</a:t>
            </a:r>
          </a:p>
          <a:p>
            <a:pPr marL="514350"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252643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BA9A6-6F18-E76C-4549-6CED17CAAAB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A055F370-B1FB-BA46-2C26-9121BCBCE999}"/>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CROWDFUNDING</a:t>
            </a:r>
          </a:p>
        </p:txBody>
      </p:sp>
      <p:pic>
        <p:nvPicPr>
          <p:cNvPr id="14" name="Picture 13">
            <a:extLst>
              <a:ext uri="{FF2B5EF4-FFF2-40B4-BE49-F238E27FC236}">
                <a16:creationId xmlns:a16="http://schemas.microsoft.com/office/drawing/2014/main" id="{52E3DD61-3A8E-80D3-6D29-A1BF6429C7DB}"/>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B1E4F031-ECE2-AD4E-3347-587016CE6108}"/>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Crowdfunding</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Models</a:t>
            </a:r>
          </a:p>
        </p:txBody>
      </p:sp>
    </p:spTree>
    <p:extLst>
      <p:ext uri="{BB962C8B-B14F-4D97-AF65-F5344CB8AC3E}">
        <p14:creationId xmlns:p14="http://schemas.microsoft.com/office/powerpoint/2010/main" val="260891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0B8CE-3AB5-559F-3457-7A501FD9CF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4269FAF-E1F0-A44E-7E90-4110CC94F25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BC5D3E8-C264-D098-754C-AFD193C290F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5492883-128A-449A-7111-BE3A0F1EB3B8}"/>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6A940151-0013-6D87-4338-C8355D3B233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69C613C4-69D3-0C28-746A-6762FCDBC14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C6EB443-6E75-72C9-70BC-19A84D4B218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9A2AACD1-5945-D982-B1A4-27E932DB8BCD}"/>
              </a:ext>
            </a:extLst>
          </p:cNvPr>
          <p:cNvSpPr txBox="1"/>
          <p:nvPr/>
        </p:nvSpPr>
        <p:spPr>
          <a:xfrm>
            <a:off x="756447" y="1425909"/>
            <a:ext cx="14889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Crowdfunding Models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E146EB87-0E38-49AE-670B-632A20176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083" y="2209899"/>
            <a:ext cx="15517833" cy="6617037"/>
          </a:xfrm>
          <a:prstGeom prst="rect">
            <a:avLst/>
          </a:prstGeom>
        </p:spPr>
      </p:pic>
    </p:spTree>
    <p:extLst>
      <p:ext uri="{BB962C8B-B14F-4D97-AF65-F5344CB8AC3E}">
        <p14:creationId xmlns:p14="http://schemas.microsoft.com/office/powerpoint/2010/main" val="2903463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46C26-D925-4531-1CCC-90B4C41606F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C574001-0C3F-3A0C-C205-16A1554B21F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AB49C49-B09F-E667-4E42-0ED1B182F67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4BC446A-DED4-22AB-204B-06B979BEE0F8}"/>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D2E05608-7E3D-0C9A-3459-51C33EAC04C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C93D56D1-0BBC-C636-B854-70D3945DBF5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19A8838-D1F6-2E7A-E9E2-B7170C347DB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4105FFD-3AF7-B654-1E1E-DF2F8646F2C9}"/>
              </a:ext>
            </a:extLst>
          </p:cNvPr>
          <p:cNvSpPr txBox="1"/>
          <p:nvPr/>
        </p:nvSpPr>
        <p:spPr>
          <a:xfrm>
            <a:off x="756447" y="2644758"/>
            <a:ext cx="16775106" cy="3154069"/>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People give their money to a project or idea and do not expect anything in exchange for the money (as the word ‘donation’ suggests). This is the typical form of crowdfunding used by not-for-profit and charitable organisations, including disaster-relief campaigns and election campaigns</a:t>
            </a:r>
          </a:p>
          <a:p>
            <a:pPr marL="514350" indent="-514350" algn="just">
              <a:lnSpc>
                <a:spcPct val="200000"/>
              </a:lnSpc>
              <a:buFont typeface="Wingdings" panose="05000000000000000000" pitchFamily="2" charset="2"/>
              <a:buChar char="§"/>
            </a:pPr>
            <a:endParaRPr lang="en-GB" dirty="0"/>
          </a:p>
        </p:txBody>
      </p:sp>
      <p:sp>
        <p:nvSpPr>
          <p:cNvPr id="4" name="TextBox 6">
            <a:extLst>
              <a:ext uri="{FF2B5EF4-FFF2-40B4-BE49-F238E27FC236}">
                <a16:creationId xmlns:a16="http://schemas.microsoft.com/office/drawing/2014/main" id="{47152C82-A64A-0061-C83D-039BE206CA65}"/>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Donation Crowdfunding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467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9D524-5C16-764D-F707-6B08206B4F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25A0175-CCD0-AE21-08DA-E6719A2F3A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53947C7-7412-DDED-CB52-CB595B35460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04DD91D-B843-AC7F-B587-AB79682052EF}"/>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FECB0685-FF5D-93F6-6941-D35E0A16D45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2AACEA54-A341-706C-16ED-011A9A14D5B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FA10AF0-4A71-A841-ED67-9F001EBB29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695A478-18F0-79D7-FAAC-D773350A6A30}"/>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As with donation crowdfunding, people give their money to a project or idea, but they obtain a gift in return for the investment. This gift can take several types of material (tangible) forms, but it can never be financial.</a:t>
            </a:r>
          </a:p>
          <a:p>
            <a:pPr marL="514350" indent="-514350" algn="just">
              <a:lnSpc>
                <a:spcPct val="200000"/>
              </a:lnSpc>
              <a:buFont typeface="Wingdings" panose="05000000000000000000" pitchFamily="2" charset="2"/>
              <a:buChar char="§"/>
            </a:pPr>
            <a:r>
              <a:rPr lang="en-GB" sz="2800" dirty="0"/>
              <a:t>Reward based: donating small amounts to meet the larger funding aim of a specific project with the expectation of receiving a tangible (but non-financial) reward or product in return.</a:t>
            </a:r>
          </a:p>
          <a:p>
            <a:pPr marL="514350" indent="-514350" algn="just">
              <a:lnSpc>
                <a:spcPct val="200000"/>
              </a:lnSpc>
              <a:buFont typeface="Wingdings" panose="05000000000000000000" pitchFamily="2" charset="2"/>
              <a:buChar char="§"/>
            </a:pPr>
            <a:r>
              <a:rPr lang="en-GB" sz="2800" dirty="0"/>
              <a:t>Social lending/donation crowd-funding and reward crowd-funding are a way of fundraising for charitable causes, for example through angel investors, or pre-paying for a product from a business, for example </a:t>
            </a:r>
            <a:r>
              <a:rPr lang="en-GB" sz="2800" dirty="0" err="1"/>
              <a:t>NakedWines.com</a:t>
            </a:r>
            <a:r>
              <a:rPr lang="en-GB" sz="2800" dirty="0"/>
              <a:t>.</a:t>
            </a:r>
          </a:p>
          <a:p>
            <a:pPr marL="514350" indent="-514350" algn="just">
              <a:lnSpc>
                <a:spcPct val="200000"/>
              </a:lnSpc>
              <a:buFont typeface="Wingdings" panose="05000000000000000000" pitchFamily="2" charset="2"/>
              <a:buChar char="§"/>
            </a:pPr>
            <a:r>
              <a:rPr lang="en-GB" sz="2800" dirty="0"/>
              <a:t>These two categories of crowd-funding can be collectively referred to as “community crowd-funding” </a:t>
            </a:r>
            <a:endParaRPr lang="en-GB" dirty="0"/>
          </a:p>
        </p:txBody>
      </p:sp>
      <p:sp>
        <p:nvSpPr>
          <p:cNvPr id="4" name="TextBox 6">
            <a:extLst>
              <a:ext uri="{FF2B5EF4-FFF2-40B4-BE49-F238E27FC236}">
                <a16:creationId xmlns:a16="http://schemas.microsoft.com/office/drawing/2014/main" id="{666C4552-8EA2-9D33-AE82-CDCA9F5C68A2}"/>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Reward Crowdfunding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8166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BB65-FB8B-AA9B-03F5-0EAEA746254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C884E10-40A8-6A65-975D-B2591347BD6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97029D3-04C1-AD9C-60FD-6F6B9938965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9EFBED5-E8C1-3CF5-6AEA-7AFEFC344ABB}"/>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1281E324-EC7C-3D7E-2BE1-FD69C2D2877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C172E30D-8E9C-0C2A-8B59-0DC8DE5CDD3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0BE9D15-E1E6-B45E-F14A-588B6B97829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F3DC870-9590-BD07-E5AE-C3D7E4634810}"/>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As with Peer-to-peer lending is a form of crowd-funding used to fund loans which are paid back with interest. Equity crowd-funding is the raising of capital through the issuance of stock to a number of individual investors using the same method as crowd-funding.</a:t>
            </a:r>
          </a:p>
          <a:p>
            <a:pPr marL="514350" indent="-514350" algn="just">
              <a:lnSpc>
                <a:spcPct val="200000"/>
              </a:lnSpc>
              <a:buFont typeface="Wingdings" panose="05000000000000000000" pitchFamily="2" charset="2"/>
              <a:buChar char="§"/>
            </a:pPr>
            <a:r>
              <a:rPr lang="en-GB" sz="2800" dirty="0"/>
              <a:t>Peer-to-peer lending and equity crowd-funding platforms are of particular interest because they are growing rapidly and are accessible easily to both retail and sophisticated investors alike.</a:t>
            </a:r>
            <a:endParaRPr lang="en-GB" dirty="0"/>
          </a:p>
        </p:txBody>
      </p:sp>
      <p:sp>
        <p:nvSpPr>
          <p:cNvPr id="4" name="TextBox 6">
            <a:extLst>
              <a:ext uri="{FF2B5EF4-FFF2-40B4-BE49-F238E27FC236}">
                <a16:creationId xmlns:a16="http://schemas.microsoft.com/office/drawing/2014/main" id="{B7F50287-76DA-0301-8F37-1B0BE4AFC11E}"/>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P2P Lending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8465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82AF-D629-4C66-0D56-156D9B3CAA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55311E0-4378-BE1B-C426-AD9027CDB7D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3EBDBEC-63BA-1A8C-BE9E-3D5474DF487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D68B2C5-8515-56AE-D66A-CFDFA7780FAE}"/>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3A95F6DA-6F0F-42D8-12FE-1C5B19B423A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D69F75BB-3889-1251-FCCD-8DCC00E3470F}"/>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ECD2C3D-3ADD-61D2-451C-703E084CC5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944440D-0700-233A-5F98-9ACF0EAB2769}"/>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this form of crowdfunding, the crowd is asked to support a project or idea by buying stakes of the company that may or may not include voting rights. The financial return is in the form of the dividends and/or the capital gain. Contrary to other forms of crowdfunding in which projects or ideas can originate from individuals as well as from companies, equity crowdfunding is exclusively for either start-up firms or existing companies seeing risk capital.</a:t>
            </a:r>
          </a:p>
          <a:p>
            <a:pPr marL="514350" indent="-514350" algn="just">
              <a:lnSpc>
                <a:spcPct val="200000"/>
              </a:lnSpc>
              <a:buFont typeface="Wingdings" panose="05000000000000000000" pitchFamily="2" charset="2"/>
              <a:buChar char="§"/>
            </a:pPr>
            <a:r>
              <a:rPr lang="en-GB" sz="2800" dirty="0"/>
              <a:t>Recently, equity crowdfunding has sometimes been named </a:t>
            </a:r>
            <a:r>
              <a:rPr lang="en-GB" sz="2800" dirty="0" err="1"/>
              <a:t>crowdinvesting</a:t>
            </a:r>
            <a:r>
              <a:rPr lang="en-GB" sz="2800" dirty="0"/>
              <a:t> to distinguish it from other forms of crowdfunding..</a:t>
            </a:r>
          </a:p>
        </p:txBody>
      </p:sp>
      <p:sp>
        <p:nvSpPr>
          <p:cNvPr id="4" name="TextBox 6">
            <a:extLst>
              <a:ext uri="{FF2B5EF4-FFF2-40B4-BE49-F238E27FC236}">
                <a16:creationId xmlns:a16="http://schemas.microsoft.com/office/drawing/2014/main" id="{6A413B77-8B95-265C-D66E-1067948B7802}"/>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Equity Crowdfunding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7072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332E-0932-5964-3932-E69253B5E8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67E66CB-B1E7-4B99-4716-7993140E989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D1CBB1B-5CE5-A32B-88D5-56E0C3423D1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9BC706B-5CDC-4E2A-E5F0-070314B32D50}"/>
              </a:ext>
            </a:extLst>
          </p:cNvPr>
          <p:cNvSpPr txBox="1"/>
          <p:nvPr/>
        </p:nvSpPr>
        <p:spPr>
          <a:xfrm>
            <a:off x="990600" y="300719"/>
            <a:ext cx="1333924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Deposits &amp; Lending (Alternative Models of Lending)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8972942-6781-9D78-EA5F-0C0FD3ED75D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E8376891-8F44-0734-F5EE-9C930E8FBF8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1036914-1E6C-70E0-E6E1-B3DC3E9CE8C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8BA34AC-80BD-1B77-49A8-4595F27800C9}"/>
              </a:ext>
            </a:extLst>
          </p:cNvPr>
          <p:cNvSpPr txBox="1"/>
          <p:nvPr/>
        </p:nvSpPr>
        <p:spPr>
          <a:xfrm>
            <a:off x="756447" y="159198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Equity crowdfunding is typically employed by companies seeking seed capital they cannot obtain through traditional funding channels. Two forms of equity crowdfunding can be distinguished, depending on the types of peer involved in the relationship:</a:t>
            </a:r>
          </a:p>
          <a:p>
            <a:pPr marL="971550" lvl="1" indent="-514350" algn="just">
              <a:lnSpc>
                <a:spcPct val="200000"/>
              </a:lnSpc>
              <a:buFont typeface="Wingdings" panose="05000000000000000000" pitchFamily="2" charset="2"/>
              <a:buChar char="§"/>
            </a:pPr>
            <a:r>
              <a:rPr lang="en-GB" sz="2800" dirty="0"/>
              <a:t>P2B equity crowdfunding, whereby individuals give financial resources to start-up or existing firms.</a:t>
            </a:r>
          </a:p>
          <a:p>
            <a:pPr marL="971550" lvl="1" indent="-514350" algn="just">
              <a:lnSpc>
                <a:spcPct val="200000"/>
              </a:lnSpc>
              <a:buFont typeface="Wingdings" panose="05000000000000000000" pitchFamily="2" charset="2"/>
              <a:buChar char="§"/>
            </a:pPr>
            <a:r>
              <a:rPr lang="en-GB" sz="2800" dirty="0"/>
              <a:t>business-to-business (B2B) equity crowdfunding, whereby the crowd of investors comprises other companies, which may or may not also act as angel investors</a:t>
            </a:r>
          </a:p>
          <a:p>
            <a:pPr marL="971550" lvl="1"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299565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7FE85-1614-9DAE-95CE-1F5353394A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DFBB55E-B537-F5EC-83AC-1D999114FE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E77EDC3-771B-A41B-E96F-EF1B2A64000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0EAFF8F-2A8F-2FC9-7A6B-B368CCC27C8F}"/>
              </a:ext>
            </a:extLst>
          </p:cNvPr>
          <p:cNvSpPr txBox="1"/>
          <p:nvPr/>
        </p:nvSpPr>
        <p:spPr>
          <a:xfrm>
            <a:off x="990600" y="300719"/>
            <a:ext cx="13339240" cy="621902"/>
          </a:xfrm>
          <a:prstGeom prst="rect">
            <a:avLst/>
          </a:prstGeom>
        </p:spPr>
        <p:txBody>
          <a:bodyPr wrap="square" lIns="0" tIns="0" rIns="0" bIns="0" rtlCol="0" anchor="t">
            <a:spAutoFit/>
          </a:bodyPr>
          <a:lstStyle/>
          <a:p>
            <a:pPr lvl="0">
              <a:lnSpc>
                <a:spcPts val="5472"/>
              </a:lnSpc>
              <a:defRPr/>
            </a:pPr>
            <a:r>
              <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The Largest Players in the Crowdfunding Landscape (2013)</a:t>
            </a:r>
          </a:p>
        </p:txBody>
      </p:sp>
      <p:sp>
        <p:nvSpPr>
          <p:cNvPr id="9" name="Date Placeholder 8">
            <a:extLst>
              <a:ext uri="{FF2B5EF4-FFF2-40B4-BE49-F238E27FC236}">
                <a16:creationId xmlns:a16="http://schemas.microsoft.com/office/drawing/2014/main" id="{15E729E6-F2E1-3FEB-8DD0-5383D9A779A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896321D4-D003-90EC-475A-87D92808C9D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0344193-4019-1355-EF9A-62E29A58D56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2652AF2-06AD-E711-643D-B290F68A5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467265"/>
            <a:ext cx="16775106" cy="7940217"/>
          </a:xfrm>
          <a:prstGeom prst="rect">
            <a:avLst/>
          </a:prstGeom>
        </p:spPr>
      </p:pic>
    </p:spTree>
    <p:extLst>
      <p:ext uri="{BB962C8B-B14F-4D97-AF65-F5344CB8AC3E}">
        <p14:creationId xmlns:p14="http://schemas.microsoft.com/office/powerpoint/2010/main" val="4021596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B7A2C-1323-EA47-DCF9-FF1C9206782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0B781937-1085-1B87-C599-8F4ECDCF3F71}"/>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CROWDFUNDING</a:t>
            </a:r>
          </a:p>
        </p:txBody>
      </p:sp>
      <p:pic>
        <p:nvPicPr>
          <p:cNvPr id="14" name="Picture 13">
            <a:extLst>
              <a:ext uri="{FF2B5EF4-FFF2-40B4-BE49-F238E27FC236}">
                <a16:creationId xmlns:a16="http://schemas.microsoft.com/office/drawing/2014/main" id="{85DCFA76-286B-9987-3DB6-A03CE5DAD0BE}"/>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CC3C2169-2659-74F4-04AE-3DD121E1D551}"/>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Facts / Considerations</a:t>
            </a:r>
          </a:p>
        </p:txBody>
      </p:sp>
    </p:spTree>
    <p:extLst>
      <p:ext uri="{BB962C8B-B14F-4D97-AF65-F5344CB8AC3E}">
        <p14:creationId xmlns:p14="http://schemas.microsoft.com/office/powerpoint/2010/main" val="2593787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98AE-4A0C-9D69-756E-C6B78C7BB7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5752689-BC75-725A-7617-E865704F30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F15FFED-38C2-474E-9E9B-23FA3F9E047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C0F430D-D87D-F76C-77A8-DFA4861132BD}"/>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5F3D664E-FC1B-53EF-6C50-150D5F08867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4CDC778-F059-D341-C57A-1C807F4182F9}"/>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D5FDBF9-DE2C-B03B-559E-2DCA976E158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553A9D9-97C8-BCD4-BD6B-A010E1F5E870}"/>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Generally, there are no costs to individuals for initiating projects in the reward-based and donation based crowdfunding subsegments. Some portals charge a fee of between 5% and 11% of the total amount of funding in the case of a successful campaign. Other portals gain revenue through voluntary donations from investors and the initiators of the projects</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699474EB-5074-6BBA-4FE4-310BC25A914F}"/>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Crowdfunding – Fees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8908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44307-6C51-A39F-20B0-900BB06F577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5F1FD0B-F1B9-97A0-EA9D-7D73663F065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830BDCF-15A0-0370-9F8F-C2205F8EDF2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D6C9330-9A61-1EED-2871-B65B9FCF15B8}"/>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ED2043A2-0930-E4B4-7A11-0A6332FCDC4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A2235449-7953-14CE-44D1-085B08316773}"/>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C2785B2-026B-9980-F2ED-F89D283DB69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222D622-522A-A20C-4498-A4C08CEEF33A}"/>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majority of crowdfunding platforms are for-profit organisations. If a project is successfully funded, platforms will take a percentage of the total amount raised. The percentage varies from platform to platform and ranges between 3% and 12% of total raised.</a:t>
            </a:r>
          </a:p>
          <a:p>
            <a:pPr marL="514350" indent="-514350" algn="just">
              <a:lnSpc>
                <a:spcPct val="200000"/>
              </a:lnSpc>
              <a:buFont typeface="Wingdings" panose="05000000000000000000" pitchFamily="2" charset="2"/>
              <a:buChar char="§"/>
            </a:pPr>
            <a:r>
              <a:rPr lang="en-GB" sz="2800" dirty="0"/>
              <a:t>Note that the success fee will vary depending on the fundraising model chosen. For instance, a higher fee is usually charged on the “Take it all” model. There are also platforms that charge no success fee, however these are rarer. (Receive all funds regardless whether </a:t>
            </a:r>
            <a:r>
              <a:rPr lang="en-GB" sz="2800" dirty="0" err="1"/>
              <a:t>fundraishing</a:t>
            </a:r>
            <a:r>
              <a:rPr lang="en-GB" sz="2800" dirty="0"/>
              <a:t> goal is met)</a:t>
            </a:r>
          </a:p>
          <a:p>
            <a:pPr marL="514350" indent="-514350" algn="just">
              <a:lnSpc>
                <a:spcPct val="200000"/>
              </a:lnSpc>
              <a:buFont typeface="Wingdings" panose="05000000000000000000" pitchFamily="2" charset="2"/>
              <a:buChar char="§"/>
            </a:pPr>
            <a:endParaRPr lang="en-GB" sz="2800" dirty="0"/>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819C3FF6-650C-6513-A508-746977088387}"/>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Crowdfunding – Costs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4761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3A3DF-0691-BFDA-78BB-389A9D0BD6F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3BF78C7-7A87-3765-4E54-8142CC0517A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A516E67-05A6-0CE1-393F-21F7BF90BB8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004019F-2355-954D-7530-A7DEE9223CF9}"/>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213920EE-98D7-0F1A-8833-C21C660D6F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4B35E0F8-B7D0-1F38-7AB6-E124920DA5D0}"/>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8BE497E-4E19-0E81-3B81-7279ACE87AB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8CF3BA2-DA15-F9C9-D0F7-C932BAA98B72}"/>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When they receive applications, P2P lending platforms make specific formal checks aimed at complying with legal requirements, for example, on money laundering, and at identifying opportunistic </a:t>
            </a:r>
            <a:r>
              <a:rPr lang="en-GB" sz="2800" dirty="0" err="1"/>
              <a:t>behavior</a:t>
            </a:r>
            <a:r>
              <a:rPr lang="en-GB" sz="2800" dirty="0"/>
              <a:t> on the part of individuals or firms with questionable or fraudulent purposes.</a:t>
            </a:r>
          </a:p>
          <a:p>
            <a:pPr marL="514350" indent="-514350" algn="just">
              <a:lnSpc>
                <a:spcPct val="200000"/>
              </a:lnSpc>
              <a:buFont typeface="Wingdings" panose="05000000000000000000" pitchFamily="2" charset="2"/>
              <a:buChar char="§"/>
            </a:pPr>
            <a:r>
              <a:rPr lang="en-GB" sz="2800" dirty="0"/>
              <a:t>Besides, the essentially domestic nature of P2P lending, the relatively undeveloped </a:t>
            </a:r>
            <a:r>
              <a:rPr lang="en-GB" sz="2800" dirty="0" err="1"/>
              <a:t>crossborder</a:t>
            </a:r>
            <a:r>
              <a:rPr lang="en-GB" sz="2800" dirty="0"/>
              <a:t> activity and the promotion of proximity relationships, that is, between individuals or firms belonging to groups or virtual communities, tend to limit damage from adverse-selection and moral hazard.</a:t>
            </a:r>
          </a:p>
        </p:txBody>
      </p:sp>
      <p:sp>
        <p:nvSpPr>
          <p:cNvPr id="4" name="TextBox 6">
            <a:extLst>
              <a:ext uri="{FF2B5EF4-FFF2-40B4-BE49-F238E27FC236}">
                <a16:creationId xmlns:a16="http://schemas.microsoft.com/office/drawing/2014/main" id="{DE5C47B4-B69F-8444-C7B2-8EA413C2635B}"/>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Crowdfunding – Facts / Considerations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955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4B7FB-83F2-4F32-A788-3B8A8D7C184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E49E658-0DC0-BAB6-5A93-112F39DBE9F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35EEF04-AE6F-9CB4-9A90-3012D2B7950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A8339CC-0724-0511-A5CD-55D54C30FCB9}"/>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C237FD03-EF0F-E837-EF83-4DC3C35199C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BD9AD568-5F31-1E75-69E6-34457C59FE9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C5430D1-2FFA-AF85-FC88-F289472007E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8930D66-ACEB-3CB7-5FA5-AA4C2F776E4C}"/>
              </a:ext>
            </a:extLst>
          </p:cNvPr>
          <p:cNvSpPr txBox="1"/>
          <p:nvPr/>
        </p:nvSpPr>
        <p:spPr>
          <a:xfrm>
            <a:off x="756447" y="159198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the creditworthiness assessment process, P2P lending platforms use credit-scoring models or algorithms, the details of which are not publicly known, but which presumably follow the logic of models used in consumer credit and financing of firms. The efficacy of these models is therefore crucial and the competitive advantage of P2P lending platforms is based on the creation of algorithms that make widespread use of ‘soft’ information.</a:t>
            </a:r>
          </a:p>
          <a:p>
            <a:pPr marL="514350" indent="-514350" algn="just">
              <a:lnSpc>
                <a:spcPct val="200000"/>
              </a:lnSpc>
              <a:buFont typeface="Wingdings" panose="05000000000000000000" pitchFamily="2" charset="2"/>
              <a:buChar char="§"/>
            </a:pPr>
            <a:r>
              <a:rPr lang="en-GB" sz="2800" dirty="0"/>
              <a:t>In this regard, while it is reasonable to assume that big data will influence credit-scoring models and that P2P lending platforms are, by nature, inclined to use them, it is difficult to determine whether and to what extent using big data can be a long lasting advantage for P2P lending platforms. Furthermore, big data may be used also by financial institutions, reducing the competitive advantage of P2P lending platforms.</a:t>
            </a:r>
          </a:p>
        </p:txBody>
      </p:sp>
    </p:spTree>
    <p:extLst>
      <p:ext uri="{BB962C8B-B14F-4D97-AF65-F5344CB8AC3E}">
        <p14:creationId xmlns:p14="http://schemas.microsoft.com/office/powerpoint/2010/main" val="273921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A572-14D1-2D52-1E8A-7D9B6D486FB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6AC9623-B761-3416-6DE9-628E9C323BA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419CFE9-751C-23FF-F431-7CB55E7D04B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5B30CEB-568D-B759-2EF4-152D9463AF19}"/>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Lending – Crowdfunding Models</a:t>
            </a:r>
          </a:p>
        </p:txBody>
      </p:sp>
      <p:sp>
        <p:nvSpPr>
          <p:cNvPr id="9" name="Date Placeholder 8">
            <a:extLst>
              <a:ext uri="{FF2B5EF4-FFF2-40B4-BE49-F238E27FC236}">
                <a16:creationId xmlns:a16="http://schemas.microsoft.com/office/drawing/2014/main" id="{762C2ECC-C1DF-7D35-EE8A-C81FCB64E6F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35CFF0C6-2459-7857-9587-19F8C3C770A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4747529-1AEC-BD3B-2954-1E35C0951C5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22A1CF4-2118-F0C4-46EA-C5D7B5F25E49}"/>
              </a:ext>
            </a:extLst>
          </p:cNvPr>
          <p:cNvSpPr txBox="1"/>
          <p:nvPr/>
        </p:nvSpPr>
        <p:spPr>
          <a:xfrm>
            <a:off x="756447" y="159198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Some platforms favour lenders’ portfolio diversification through risk mitigation measures. These actions include quantitative limits to the amounts invested per project and compulsory loan diversification. The latter entails forcing lenders to commit money to several loans, to avoid the complete loss of lenders’ capital in case a borrower defaults.</a:t>
            </a:r>
          </a:p>
          <a:p>
            <a:pPr marL="514350"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391952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AAC41-4474-CA2A-156D-5FB41FB5BCB5}"/>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A66721C-13C2-EA2B-9643-1D7822CFB360}"/>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CROWDFUNDING</a:t>
            </a:r>
          </a:p>
        </p:txBody>
      </p:sp>
      <p:pic>
        <p:nvPicPr>
          <p:cNvPr id="14" name="Picture 13">
            <a:extLst>
              <a:ext uri="{FF2B5EF4-FFF2-40B4-BE49-F238E27FC236}">
                <a16:creationId xmlns:a16="http://schemas.microsoft.com/office/drawing/2014/main" id="{43A0DA06-41F2-51DF-6AC9-0062BCB3606E}"/>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81E74D1D-25D0-287E-41BF-A09578F53DD4}"/>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Motivations &amp; Benefits</a:t>
            </a:r>
          </a:p>
        </p:txBody>
      </p:sp>
    </p:spTree>
    <p:extLst>
      <p:ext uri="{BB962C8B-B14F-4D97-AF65-F5344CB8AC3E}">
        <p14:creationId xmlns:p14="http://schemas.microsoft.com/office/powerpoint/2010/main" val="4282940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C3EBD-5788-708D-3BDB-A4067BE9B66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EB4347D-E425-BF23-22E8-8E1AFCA3FFA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3A14B05-C196-8341-D7FB-DD4D7C8E7C5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3A467B9-438A-C233-8A4C-D521A3F842CA}"/>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Crowdfunding – Motivations / Benefits</a:t>
            </a:r>
          </a:p>
        </p:txBody>
      </p:sp>
      <p:sp>
        <p:nvSpPr>
          <p:cNvPr id="9" name="Date Placeholder 8">
            <a:extLst>
              <a:ext uri="{FF2B5EF4-FFF2-40B4-BE49-F238E27FC236}">
                <a16:creationId xmlns:a16="http://schemas.microsoft.com/office/drawing/2014/main" id="{291D9E45-2F52-1042-5E4E-9A947FA2A6D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28885E53-0B14-EE6E-A62B-B15CB7C87AF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55DFA1A-9C4C-30C3-C5BA-ED8BD3DDBA6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3F353E0-857B-DB9D-551C-00F4ACEDAFB8}"/>
              </a:ext>
            </a:extLst>
          </p:cNvPr>
          <p:cNvSpPr txBox="1"/>
          <p:nvPr/>
        </p:nvSpPr>
        <p:spPr>
          <a:xfrm>
            <a:off x="756447" y="1591980"/>
            <a:ext cx="16775106" cy="746294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the Benefit → represent an opportunity to obtain funding through a channel other than traditional channels of credit (in all forms of crowdfunding but equity crowdfunding and semi-equity crowdfunding) and early-stage financing, which fills a financing gap, particularly for SMEs &amp; micro-businesses.</a:t>
            </a:r>
          </a:p>
          <a:p>
            <a:pPr marL="514350" indent="-514350" algn="just">
              <a:lnSpc>
                <a:spcPct val="200000"/>
              </a:lnSpc>
              <a:buFont typeface="Wingdings" panose="05000000000000000000" pitchFamily="2" charset="2"/>
              <a:buChar char="§"/>
            </a:pPr>
            <a:r>
              <a:rPr lang="en-GB" sz="2800" dirty="0"/>
              <a:t>Crowdfunding allows a rapid manner (the application to the platform and the fundraising process are rapid) in which to collect money from many small investors (rather than from few large investors).</a:t>
            </a:r>
          </a:p>
          <a:p>
            <a:pPr marL="514350" indent="-514350" algn="just">
              <a:lnSpc>
                <a:spcPct val="200000"/>
              </a:lnSpc>
              <a:buFont typeface="Wingdings" panose="05000000000000000000" pitchFamily="2" charset="2"/>
              <a:buChar char="§"/>
            </a:pPr>
            <a:r>
              <a:rPr lang="en-GB" sz="2800" dirty="0"/>
              <a:t>f the platform applies the keep-it-all fundraising model, money is collected in a more certain manner with respect to applying for grants, because the capital seeker receives all the money collected, while grants may not be approved</a:t>
            </a:r>
          </a:p>
          <a:p>
            <a:pPr marL="514350" indent="-514350" algn="just">
              <a:lnSpc>
                <a:spcPct val="200000"/>
              </a:lnSpc>
              <a:buFont typeface="Wingdings" panose="05000000000000000000" pitchFamily="2" charset="2"/>
              <a:buChar char="§"/>
            </a:pPr>
            <a:endParaRPr lang="en-GB" dirty="0"/>
          </a:p>
        </p:txBody>
      </p:sp>
    </p:spTree>
    <p:extLst>
      <p:ext uri="{BB962C8B-B14F-4D97-AF65-F5344CB8AC3E}">
        <p14:creationId xmlns:p14="http://schemas.microsoft.com/office/powerpoint/2010/main" val="347073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A9EC-7769-5BC0-A935-0BE3CAD4FA2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DB0502-1384-DABB-C4E9-1CA58653F10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F55B2A8-AA62-87B6-3723-24D5112D086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EB6F0A3-2D6E-7CC4-671A-C9DD908D2101}"/>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FinTech Credit - Benefits</a:t>
            </a:r>
          </a:p>
        </p:txBody>
      </p:sp>
      <p:sp>
        <p:nvSpPr>
          <p:cNvPr id="9" name="Date Placeholder 8">
            <a:extLst>
              <a:ext uri="{FF2B5EF4-FFF2-40B4-BE49-F238E27FC236}">
                <a16:creationId xmlns:a16="http://schemas.microsoft.com/office/drawing/2014/main" id="{55ECE933-7C90-E303-74DE-B0D9522494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594D7FD5-5D7F-B061-B087-FC385D3B33A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6379452-4A32-96BD-0C16-64088D07F5A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8BCF25C-5770-3572-16D7-D7841D477FCD}"/>
              </a:ext>
            </a:extLst>
          </p:cNvPr>
          <p:cNvSpPr txBox="1"/>
          <p:nvPr/>
        </p:nvSpPr>
        <p:spPr>
          <a:xfrm>
            <a:off x="756447" y="1591980"/>
            <a:ext cx="16775106" cy="573939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primary benefit of FR (financial return) crowd-funding to entrepreneurs seeking to raise funds as a form of market-based finance is the ability to raise capital, in most cases without giving up large parcels of equity interest.</a:t>
            </a:r>
          </a:p>
          <a:p>
            <a:pPr marL="514350" indent="-514350" algn="just">
              <a:lnSpc>
                <a:spcPct val="200000"/>
              </a:lnSpc>
              <a:buFont typeface="Wingdings" panose="05000000000000000000" pitchFamily="2" charset="2"/>
              <a:buChar char="§"/>
            </a:pPr>
            <a:r>
              <a:rPr lang="en-GB" sz="2800" dirty="0"/>
              <a:t>Benefit → access to alternative funding sources in the economy. A lower concentration of credit in the traditional banking system could be helpful in the event there are idiosyncratic problems at banks.</a:t>
            </a:r>
          </a:p>
          <a:p>
            <a:pPr marL="514350" indent="-514350" algn="just">
              <a:lnSpc>
                <a:spcPct val="200000"/>
              </a:lnSpc>
              <a:buFont typeface="Wingdings" panose="05000000000000000000" pitchFamily="2" charset="2"/>
              <a:buChar char="§"/>
            </a:pPr>
            <a:r>
              <a:rPr lang="en-GB" sz="2800" dirty="0"/>
              <a:t>FinTech platforms may also pressure incumbent banks to be more efficient in their credit provision.</a:t>
            </a:r>
          </a:p>
          <a:p>
            <a:pPr marL="514350" indent="-514350" algn="just">
              <a:lnSpc>
                <a:spcPct val="200000"/>
              </a:lnSpc>
              <a:buFont typeface="Wingdings" panose="05000000000000000000" pitchFamily="2" charset="2"/>
              <a:buChar char="§"/>
            </a:pPr>
            <a:endParaRPr lang="en-GB" dirty="0"/>
          </a:p>
        </p:txBody>
      </p:sp>
    </p:spTree>
    <p:extLst>
      <p:ext uri="{BB962C8B-B14F-4D97-AF65-F5344CB8AC3E}">
        <p14:creationId xmlns:p14="http://schemas.microsoft.com/office/powerpoint/2010/main" val="307180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840A-2093-83D3-E870-FC1D69E282B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C060DB4-011C-5618-58F5-BB5D063A3CB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20E8ECE-FE0D-D48C-29A7-09BBE71C9E2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FDFFEBD-C35D-8DAE-75BC-826983C4A951}"/>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Crowdfunding – Key Benefits</a:t>
            </a:r>
          </a:p>
        </p:txBody>
      </p:sp>
      <p:sp>
        <p:nvSpPr>
          <p:cNvPr id="9" name="Date Placeholder 8">
            <a:extLst>
              <a:ext uri="{FF2B5EF4-FFF2-40B4-BE49-F238E27FC236}">
                <a16:creationId xmlns:a16="http://schemas.microsoft.com/office/drawing/2014/main" id="{1AFD1B78-FD03-7C25-8CB0-7C244991A50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28B22C5-825F-E8BC-AE06-F4793A8E6EA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6FE745B-4E03-FA10-0FCC-5C31F67DF60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55227B0-8575-54F4-0B60-65928206C917}"/>
              </a:ext>
            </a:extLst>
          </p:cNvPr>
          <p:cNvSpPr txBox="1"/>
          <p:nvPr/>
        </p:nvSpPr>
        <p:spPr>
          <a:xfrm>
            <a:off x="756447" y="159198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Benefit → lower cost of capital and higher returns to investors Crowd-funding provides a low-cost alternative to channelling savings to the real economy, usually at rates lower than those attainable through traditional funding avenues. Additionally, venture and seed capital requests are difficult to access in the current economic environment. Crowd-funding alternatives provide an affordable and attainable option for raising capital.</a:t>
            </a:r>
          </a:p>
          <a:p>
            <a:pPr marL="514350" indent="-514350" algn="just">
              <a:lnSpc>
                <a:spcPct val="200000"/>
              </a:lnSpc>
              <a:buFont typeface="Wingdings" panose="05000000000000000000" pitchFamily="2" charset="2"/>
              <a:buChar char="§"/>
            </a:pPr>
            <a:r>
              <a:rPr lang="en-GB" sz="2800" dirty="0"/>
              <a:t>Peer-to-peer financing (P2P platforms) have given Small and Medium-sized Enterprises (SMEs) &amp; micro-businesses an invaluable advantage by giving them a distinctive alternative with practical repayment alternatives. These platforms and their capacity to provide loans electronically have become more well-known due to the pandemic.</a:t>
            </a:r>
            <a:endParaRPr lang="en-GB" dirty="0"/>
          </a:p>
        </p:txBody>
      </p:sp>
    </p:spTree>
    <p:extLst>
      <p:ext uri="{BB962C8B-B14F-4D97-AF65-F5344CB8AC3E}">
        <p14:creationId xmlns:p14="http://schemas.microsoft.com/office/powerpoint/2010/main" val="373296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88FD8-CE8F-AF59-68F0-656E9F0EDFD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B88F70B-4322-BCBB-4869-1BF52BC8F0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63D7E8B-EAFF-A97D-89FF-D58600AD309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332C874-1C2E-317A-9C1A-0CBDDD165D90}"/>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Crowdfunding – Key Benefits</a:t>
            </a:r>
          </a:p>
        </p:txBody>
      </p:sp>
      <p:sp>
        <p:nvSpPr>
          <p:cNvPr id="9" name="Date Placeholder 8">
            <a:extLst>
              <a:ext uri="{FF2B5EF4-FFF2-40B4-BE49-F238E27FC236}">
                <a16:creationId xmlns:a16="http://schemas.microsoft.com/office/drawing/2014/main" id="{0E0E2B86-9FF5-436D-3AE6-9EFDE49ACCD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6496E274-4B01-D067-5A68-6EB9E95643D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D283403-0C1A-5C99-C6A4-75BDA7C4F6B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3176050-1297-966C-DD69-A525FE99181C}"/>
              </a:ext>
            </a:extLst>
          </p:cNvPr>
          <p:cNvSpPr txBox="1"/>
          <p:nvPr/>
        </p:nvSpPr>
        <p:spPr>
          <a:xfrm>
            <a:off x="756447" y="1591980"/>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dirty="0"/>
              <a:t>Benefit → FR crowd-funding spreads risk. The majority of investors are individuals (although some institutional investors are beginning to enter the market) with funding requests filled in much smaller incremental amounts.</a:t>
            </a:r>
          </a:p>
          <a:p>
            <a:pPr marL="514350" indent="-514350" algn="just">
              <a:lnSpc>
                <a:spcPct val="200000"/>
              </a:lnSpc>
              <a:buFont typeface="Wingdings" panose="05000000000000000000" pitchFamily="2" charset="2"/>
              <a:buChar char="§"/>
            </a:pPr>
            <a:r>
              <a:rPr lang="en-GB" sz="2400" dirty="0"/>
              <a:t>Benefit → FR crowd-funding can help economic  recovery by financing small and medium enterprises (SMEs) &amp; micro-businesses which are a key engine of economic growth. Helping those entities more efficiently access capital for their development and expansion can contribute to job creation and economic recovery.</a:t>
            </a:r>
          </a:p>
          <a:p>
            <a:pPr marL="514350" indent="-514350" algn="just">
              <a:lnSpc>
                <a:spcPct val="200000"/>
              </a:lnSpc>
              <a:buFont typeface="Wingdings" panose="05000000000000000000" pitchFamily="2" charset="2"/>
              <a:buChar char="§"/>
            </a:pPr>
            <a:r>
              <a:rPr lang="en-GB" sz="2400" dirty="0"/>
              <a:t>Benefit → Fills a gap left by banks ▪ The tighter restrictions on traditional lenders through higher capital requirements have reduced their appetite to issue uncollateralised credit, for personal loans or other loans.</a:t>
            </a:r>
          </a:p>
          <a:p>
            <a:pPr marL="514350" indent="-514350" algn="just">
              <a:lnSpc>
                <a:spcPct val="200000"/>
              </a:lnSpc>
              <a:buFont typeface="Wingdings" panose="05000000000000000000" pitchFamily="2" charset="2"/>
              <a:buChar char="§"/>
            </a:pPr>
            <a:r>
              <a:rPr lang="en-GB" sz="2400" dirty="0"/>
              <a:t>Market-based finance is an alternative to traditional lending and peer-to-peer lending and equity crowd-funding platforms have moved in to serve this niche market, and as a result have grown exponentially since the crisis.</a:t>
            </a:r>
          </a:p>
        </p:txBody>
      </p:sp>
    </p:spTree>
    <p:extLst>
      <p:ext uri="{BB962C8B-B14F-4D97-AF65-F5344CB8AC3E}">
        <p14:creationId xmlns:p14="http://schemas.microsoft.com/office/powerpoint/2010/main" val="228020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CD10F-0382-DACD-D065-F98BF71FD3D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5DE4382-AC9C-500E-946A-59DFA36DA7B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1E89931-3B35-E0E5-E24C-4FBD79A358E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1C97294-C10D-CA4D-5EFC-5CBCEF40BBE2}"/>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Crowdfunding – Key Benefits</a:t>
            </a:r>
          </a:p>
        </p:txBody>
      </p:sp>
      <p:sp>
        <p:nvSpPr>
          <p:cNvPr id="9" name="Date Placeholder 8">
            <a:extLst>
              <a:ext uri="{FF2B5EF4-FFF2-40B4-BE49-F238E27FC236}">
                <a16:creationId xmlns:a16="http://schemas.microsoft.com/office/drawing/2014/main" id="{FB568251-599A-E060-A9D7-4204B1EC431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53CC7D88-8478-33E5-1AAB-407C68618C3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A30D0BE-E4C5-DE02-2683-8DD27DF0741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4D6B3B7-DF22-7E95-DEDA-F7E4C675B146}"/>
              </a:ext>
            </a:extLst>
          </p:cNvPr>
          <p:cNvSpPr txBox="1"/>
          <p:nvPr/>
        </p:nvSpPr>
        <p:spPr>
          <a:xfrm>
            <a:off x="756447" y="159198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Benefit → Provides a new product for portfolio diversification.</a:t>
            </a:r>
          </a:p>
          <a:p>
            <a:pPr marL="514350" indent="-514350" algn="just">
              <a:lnSpc>
                <a:spcPct val="200000"/>
              </a:lnSpc>
              <a:buFont typeface="Wingdings" panose="05000000000000000000" pitchFamily="2" charset="2"/>
              <a:buChar char="§"/>
            </a:pPr>
            <a:r>
              <a:rPr lang="en-GB" sz="2800" dirty="0"/>
              <a:t>Peer-to-peer lending platforms have in effect provided investors with a brand new asset in the form of un-collateralised debt. (loan that without any underlying assets pledged as security for the loan)</a:t>
            </a:r>
          </a:p>
          <a:p>
            <a:pPr marL="514350" indent="-514350" algn="just">
              <a:lnSpc>
                <a:spcPct val="200000"/>
              </a:lnSpc>
              <a:buFont typeface="Wingdings" panose="05000000000000000000" pitchFamily="2" charset="2"/>
              <a:buChar char="§"/>
            </a:pPr>
            <a:r>
              <a:rPr lang="en-GB" sz="2800" dirty="0"/>
              <a:t>This innovation enables investors to further diversify their portfolios. The diversification of assets can reduce the build-up of systemic risk, as it reduces the overreliance of investors on a single asset and reduces the amount each one invests in each product. Instead, funding requests are met by many investors, each investing a proportionately smaller amount.</a:t>
            </a:r>
          </a:p>
        </p:txBody>
      </p:sp>
    </p:spTree>
    <p:extLst>
      <p:ext uri="{BB962C8B-B14F-4D97-AF65-F5344CB8AC3E}">
        <p14:creationId xmlns:p14="http://schemas.microsoft.com/office/powerpoint/2010/main" val="219175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17D11-B28C-8F93-E785-6A7ACAD6B5A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C84ECC-96F3-F3F1-9060-86B66399C27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7ADDA1E-0135-B02A-9396-4156055E71B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BA241D7-43D6-C86B-F2A8-40ABBC382F63}"/>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Crowdfunding – Key Benefits</a:t>
            </a:r>
          </a:p>
        </p:txBody>
      </p:sp>
      <p:sp>
        <p:nvSpPr>
          <p:cNvPr id="9" name="Date Placeholder 8">
            <a:extLst>
              <a:ext uri="{FF2B5EF4-FFF2-40B4-BE49-F238E27FC236}">
                <a16:creationId xmlns:a16="http://schemas.microsoft.com/office/drawing/2014/main" id="{D6AFBD87-9D89-CA77-AB69-6676D8C6525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2350731F-0B60-A84A-4871-BFE8837D500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8311EDD-CA38-0377-246B-96140143B5B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4302335-D046-04C2-9706-0486B596E1DE}"/>
              </a:ext>
            </a:extLst>
          </p:cNvPr>
          <p:cNvSpPr txBox="1"/>
          <p:nvPr/>
        </p:nvSpPr>
        <p:spPr>
          <a:xfrm>
            <a:off x="756447" y="159198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Benefit → Increases competition in a space traditionally dominated by a few providers</a:t>
            </a:r>
          </a:p>
          <a:p>
            <a:pPr marL="514350" indent="-514350" algn="just">
              <a:lnSpc>
                <a:spcPct val="200000"/>
              </a:lnSpc>
              <a:buFont typeface="Wingdings" panose="05000000000000000000" pitchFamily="2" charset="2"/>
              <a:buChar char="§"/>
            </a:pPr>
            <a:r>
              <a:rPr lang="en-GB" sz="2800" dirty="0"/>
              <a:t>Increased competition benefits borrowers and lenders, as well as the economy as a whole. It lowers costs and helps establish value. In addition, it creates the incentive for traditional entities to innovate, reduce cost and increases efficiency. This will not only help borrowers to access credit in a timely manner, but will also reduce the cost of contracting a loan: Traditional entities will compete with the effective credit assessment techniques currently used by the lower cost rivals, namely the online platforms. In addition, the competition of traditional investments with online platforms can result in higher returns for investors and lower costs for business ventures or other borrowers</a:t>
            </a:r>
          </a:p>
          <a:p>
            <a:pPr marL="514350"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229888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D692-2162-9732-C513-64F911163F0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D58B1FA-C68B-7953-5E89-3634C9FA138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6242704-1D46-0E87-807A-B4B3EF8444F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540F5D3-05AC-6BC0-7AC0-C65E81FDCB82}"/>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Where Did Disruption Occur ? (Lending)</a:t>
            </a:r>
          </a:p>
        </p:txBody>
      </p:sp>
      <p:sp>
        <p:nvSpPr>
          <p:cNvPr id="9" name="Date Placeholder 8">
            <a:extLst>
              <a:ext uri="{FF2B5EF4-FFF2-40B4-BE49-F238E27FC236}">
                <a16:creationId xmlns:a16="http://schemas.microsoft.com/office/drawing/2014/main" id="{27809C70-0F7E-E4B7-BB6D-713ED49DAF0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D297CC0F-5E67-A011-D61B-5CF632C35C62}"/>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35E7CC8-3C5A-5145-61B3-48DD1605E8E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BCBC055-2A5C-03D1-162A-393882354044}"/>
              </a:ext>
            </a:extLst>
          </p:cNvPr>
          <p:cNvSpPr txBox="1"/>
          <p:nvPr/>
        </p:nvSpPr>
        <p:spPr>
          <a:xfrm>
            <a:off x="756447" y="2644758"/>
            <a:ext cx="16775106" cy="554613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000" dirty="0"/>
              <a:t>In this form New Sources of Data. New sources of data have emerged for use in adjudicating credit, such as social and mobile data for individuals, and payments or accounting data for businesses. While this data has had limited effectiveness in improving the underwriting of established customers, it has proven to.</a:t>
            </a:r>
          </a:p>
          <a:p>
            <a:pPr marL="514350" indent="-514350" algn="just">
              <a:lnSpc>
                <a:spcPct val="200000"/>
              </a:lnSpc>
              <a:buFont typeface="Wingdings" panose="05000000000000000000" pitchFamily="2" charset="2"/>
              <a:buChar char="§"/>
            </a:pPr>
            <a:r>
              <a:rPr lang="en-GB" sz="2000" dirty="0"/>
              <a:t>Using Data More Effectively. Incumbent lenders are looking to their existing stores of data to bolster their underwriting models, especially for underbanked customers. However, that data is often unstructured and siloed, making it difficult to be put to use. To address these challenges, incumbents are investing heavily in data transformation, automation and new analytics.</a:t>
            </a:r>
          </a:p>
          <a:p>
            <a:pPr marL="514350" indent="-514350" algn="just">
              <a:lnSpc>
                <a:spcPct val="200000"/>
              </a:lnSpc>
              <a:buFont typeface="Wingdings" panose="05000000000000000000" pitchFamily="2" charset="2"/>
              <a:buChar char="§"/>
            </a:pPr>
            <a:r>
              <a:rPr lang="en-GB" sz="2000" dirty="0"/>
              <a:t>More Agile Credit Models. New entrants improve on their credit models using short iteration cycles, while incumbents are constrained to making adjustments much more slowly. This lag in implementing best‐in‐class methodologies provides new entrants a temporary competitive advantage in understanding the credit risk of underbanked and “thin‐file” customers, especially as new sources of data become available.</a:t>
            </a:r>
          </a:p>
        </p:txBody>
      </p:sp>
      <p:sp>
        <p:nvSpPr>
          <p:cNvPr id="4" name="TextBox 6">
            <a:extLst>
              <a:ext uri="{FF2B5EF4-FFF2-40B4-BE49-F238E27FC236}">
                <a16:creationId xmlns:a16="http://schemas.microsoft.com/office/drawing/2014/main" id="{2D9022C9-4BE1-8778-AED8-8154C9E51A71}"/>
              </a:ext>
            </a:extLst>
          </p:cNvPr>
          <p:cNvSpPr txBox="1"/>
          <p:nvPr/>
        </p:nvSpPr>
        <p:spPr>
          <a:xfrm>
            <a:off x="756447" y="1805216"/>
            <a:ext cx="125785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New lending techniques for underbanked</a:t>
            </a:r>
          </a:p>
        </p:txBody>
      </p:sp>
    </p:spTree>
    <p:extLst>
      <p:ext uri="{BB962C8B-B14F-4D97-AF65-F5344CB8AC3E}">
        <p14:creationId xmlns:p14="http://schemas.microsoft.com/office/powerpoint/2010/main" val="270132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E26A-0E46-48A1-D2D7-FFFCCE9E6B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2258A1-214A-C629-396B-8DB55224410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6C8C1FA-6C69-CD09-1CD0-757CE23419D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F10E07C-71F7-ACE2-9F12-CB72315095B7}"/>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Deposits &amp; Lending (Alternative Models of Lending)</a:t>
            </a:r>
          </a:p>
        </p:txBody>
      </p:sp>
      <p:sp>
        <p:nvSpPr>
          <p:cNvPr id="9" name="Date Placeholder 8">
            <a:extLst>
              <a:ext uri="{FF2B5EF4-FFF2-40B4-BE49-F238E27FC236}">
                <a16:creationId xmlns:a16="http://schemas.microsoft.com/office/drawing/2014/main" id="{84201541-DFBF-5C6D-89DF-4D92ED33A67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35EDD442-7164-7D45-3D56-FB898DB6D20F}"/>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43BF303-7AE2-8204-8C84-6E5431153B7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8696A27-2F08-B619-73AB-8A5ED61CE3BC}"/>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Traditional Lending Intermediaries (Banks)</a:t>
            </a:r>
          </a:p>
          <a:p>
            <a:pPr marL="514350" indent="-514350" algn="just">
              <a:lnSpc>
                <a:spcPct val="200000"/>
              </a:lnSpc>
              <a:buFont typeface="Wingdings" panose="05000000000000000000" pitchFamily="2" charset="2"/>
              <a:buChar char="§"/>
            </a:pPr>
            <a:r>
              <a:rPr lang="en-GB" sz="2800" dirty="0"/>
              <a:t>Lenders’ savings are protected by the intermediaries’ reserves and by deposit insurance schemes.</a:t>
            </a:r>
          </a:p>
          <a:p>
            <a:pPr marL="514350" indent="-514350" algn="just">
              <a:lnSpc>
                <a:spcPct val="200000"/>
              </a:lnSpc>
              <a:buFont typeface="Wingdings" panose="05000000000000000000" pitchFamily="2" charset="2"/>
              <a:buChar char="§"/>
            </a:pPr>
            <a:r>
              <a:rPr lang="en-GB" sz="2800" dirty="0"/>
              <a:t>The complete pooling of savings and loans most effectively mitigates individual default risks.</a:t>
            </a:r>
          </a:p>
          <a:p>
            <a:pPr marL="514350" indent="-514350" algn="just">
              <a:lnSpc>
                <a:spcPct val="200000"/>
              </a:lnSpc>
              <a:buFont typeface="Wingdings" panose="05000000000000000000" pitchFamily="2" charset="2"/>
              <a:buChar char="§"/>
            </a:pPr>
            <a:r>
              <a:rPr lang="en-GB" sz="2800" b="1" dirty="0"/>
              <a:t>Alternative Lending Platforms</a:t>
            </a:r>
          </a:p>
          <a:p>
            <a:pPr marL="514350" indent="-514350" algn="just">
              <a:lnSpc>
                <a:spcPct val="200000"/>
              </a:lnSpc>
              <a:buFont typeface="Wingdings" panose="05000000000000000000" pitchFamily="2" charset="2"/>
              <a:buChar char="§"/>
            </a:pPr>
            <a:r>
              <a:rPr lang="en-GB" sz="2800" dirty="0"/>
              <a:t>Lending processes and risk profiles are transparent to both borrowers and lenders.</a:t>
            </a:r>
          </a:p>
          <a:p>
            <a:pPr marL="514350" indent="-514350" algn="just">
              <a:lnSpc>
                <a:spcPct val="200000"/>
              </a:lnSpc>
              <a:buFont typeface="Wingdings" panose="05000000000000000000" pitchFamily="2" charset="2"/>
              <a:buChar char="§"/>
            </a:pPr>
            <a:r>
              <a:rPr lang="en-GB" sz="2800" dirty="0"/>
              <a:t>Traditionally underserved borrowers gain access to loans and diverse risk appetite of lenders is met.</a:t>
            </a:r>
          </a:p>
          <a:p>
            <a:pPr marL="514350" indent="-514350" algn="just">
              <a:lnSpc>
                <a:spcPct val="200000"/>
              </a:lnSpc>
              <a:buFont typeface="Wingdings" panose="05000000000000000000" pitchFamily="2" charset="2"/>
              <a:buChar char="§"/>
            </a:pPr>
            <a:r>
              <a:rPr lang="en-GB" sz="2800" dirty="0"/>
              <a:t>Reduction of transaction costs.</a:t>
            </a:r>
          </a:p>
        </p:txBody>
      </p:sp>
      <p:sp>
        <p:nvSpPr>
          <p:cNvPr id="4" name="TextBox 6">
            <a:extLst>
              <a:ext uri="{FF2B5EF4-FFF2-40B4-BE49-F238E27FC236}">
                <a16:creationId xmlns:a16="http://schemas.microsoft.com/office/drawing/2014/main" id="{D407DA97-19AA-1940-7778-530BA98112B1}"/>
              </a:ext>
            </a:extLst>
          </p:cNvPr>
          <p:cNvSpPr txBox="1"/>
          <p:nvPr/>
        </p:nvSpPr>
        <p:spPr>
          <a:xfrm>
            <a:off x="756447" y="1805216"/>
            <a:ext cx="14127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vs. Alternative Lending Models (Advantages)</a:t>
            </a:r>
          </a:p>
        </p:txBody>
      </p:sp>
    </p:spTree>
    <p:extLst>
      <p:ext uri="{BB962C8B-B14F-4D97-AF65-F5344CB8AC3E}">
        <p14:creationId xmlns:p14="http://schemas.microsoft.com/office/powerpoint/2010/main" val="316988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061E9-1548-0144-B60C-EA70E87321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8EB42E-2644-546A-45E1-5770EA97919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AADFF5C-68E7-6853-FA04-28EFFF4BB5C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AE20613-56BD-EBCA-C163-E27D2A1A4B1D}"/>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Deposits &amp; Lending (Alternative Models of Lending)</a:t>
            </a:r>
          </a:p>
        </p:txBody>
      </p:sp>
      <p:sp>
        <p:nvSpPr>
          <p:cNvPr id="9" name="Date Placeholder 8">
            <a:extLst>
              <a:ext uri="{FF2B5EF4-FFF2-40B4-BE49-F238E27FC236}">
                <a16:creationId xmlns:a16="http://schemas.microsoft.com/office/drawing/2014/main" id="{E4E96045-1156-669C-1C29-A7A560BFA6A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FF43CDEF-FE07-7F9D-EB91-231FAEC1BA6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F8409FB-4985-70BA-7625-6DA00F9164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6D596B1-91AC-DADE-338C-C14540610A3C}"/>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Traditional Lending Intermediaries (Banks)</a:t>
            </a:r>
          </a:p>
          <a:p>
            <a:pPr marL="514350" indent="-514350" algn="just">
              <a:lnSpc>
                <a:spcPct val="200000"/>
              </a:lnSpc>
              <a:buFont typeface="Wingdings" panose="05000000000000000000" pitchFamily="2" charset="2"/>
              <a:buChar char="§"/>
            </a:pPr>
            <a:r>
              <a:rPr lang="en-GB" sz="2800" dirty="0"/>
              <a:t>Lenders do not have flexibility to determine the desired level of risk and return</a:t>
            </a:r>
          </a:p>
          <a:p>
            <a:pPr marL="514350" indent="-514350" algn="just">
              <a:lnSpc>
                <a:spcPct val="200000"/>
              </a:lnSpc>
              <a:buFont typeface="Wingdings" panose="05000000000000000000" pitchFamily="2" charset="2"/>
              <a:buChar char="§"/>
            </a:pPr>
            <a:r>
              <a:rPr lang="en-GB" sz="2800" dirty="0"/>
              <a:t>Primary focus on low risk loans exclude higher risk borrowers, depending on the market conditions.</a:t>
            </a:r>
          </a:p>
          <a:p>
            <a:pPr marL="514350" indent="-514350" algn="just">
              <a:lnSpc>
                <a:spcPct val="200000"/>
              </a:lnSpc>
              <a:buFont typeface="Wingdings" panose="05000000000000000000" pitchFamily="2" charset="2"/>
              <a:buChar char="§"/>
            </a:pPr>
            <a:r>
              <a:rPr lang="en-GB" sz="2800" b="1" dirty="0"/>
              <a:t>Alternative Lending Platforms</a:t>
            </a:r>
          </a:p>
          <a:p>
            <a:pPr marL="514350" indent="-514350" algn="just">
              <a:lnSpc>
                <a:spcPct val="200000"/>
              </a:lnSpc>
              <a:buFont typeface="Wingdings" panose="05000000000000000000" pitchFamily="2" charset="2"/>
              <a:buChar char="§"/>
            </a:pPr>
            <a:r>
              <a:rPr lang="en-GB" sz="2800" dirty="0"/>
              <a:t>Investments may be more susceptible to individual default risks even with portfolio approach, especially for smaller investments.</a:t>
            </a:r>
          </a:p>
          <a:p>
            <a:pPr marL="514350" indent="-514350" algn="just">
              <a:lnSpc>
                <a:spcPct val="200000"/>
              </a:lnSpc>
              <a:buFont typeface="Wingdings" panose="05000000000000000000" pitchFamily="2" charset="2"/>
              <a:buChar char="§"/>
            </a:pPr>
            <a:r>
              <a:rPr lang="en-GB" sz="2800" dirty="0"/>
              <a:t>Guarantees on the investments are limited.</a:t>
            </a:r>
          </a:p>
        </p:txBody>
      </p:sp>
      <p:sp>
        <p:nvSpPr>
          <p:cNvPr id="4" name="TextBox 6">
            <a:extLst>
              <a:ext uri="{FF2B5EF4-FFF2-40B4-BE49-F238E27FC236}">
                <a16:creationId xmlns:a16="http://schemas.microsoft.com/office/drawing/2014/main" id="{003F62EB-74C0-40EE-EC7B-E3D4DB833C09}"/>
              </a:ext>
            </a:extLst>
          </p:cNvPr>
          <p:cNvSpPr txBox="1"/>
          <p:nvPr/>
        </p:nvSpPr>
        <p:spPr>
          <a:xfrm>
            <a:off x="756447" y="1805216"/>
            <a:ext cx="14127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vs. Alternative Lending Models (Limitations)</a:t>
            </a:r>
          </a:p>
        </p:txBody>
      </p:sp>
    </p:spTree>
    <p:extLst>
      <p:ext uri="{BB962C8B-B14F-4D97-AF65-F5344CB8AC3E}">
        <p14:creationId xmlns:p14="http://schemas.microsoft.com/office/powerpoint/2010/main" val="388232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FC892-325F-D76C-5423-CCF726394E7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1D05AFF6-AA06-5671-8CBC-CC3AED58EA33}"/>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P2P LENDING</a:t>
            </a:r>
          </a:p>
        </p:txBody>
      </p:sp>
      <p:pic>
        <p:nvPicPr>
          <p:cNvPr id="14" name="Picture 13">
            <a:extLst>
              <a:ext uri="{FF2B5EF4-FFF2-40B4-BE49-F238E27FC236}">
                <a16:creationId xmlns:a16="http://schemas.microsoft.com/office/drawing/2014/main" id="{ADED4491-FA09-522A-4CA7-D0D641B4E41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3866AE81-CC0C-09B9-5290-FE34AD904088}"/>
              </a:ext>
            </a:extLst>
          </p:cNvPr>
          <p:cNvSpPr txBox="1"/>
          <p:nvPr/>
        </p:nvSpPr>
        <p:spPr>
          <a:xfrm>
            <a:off x="0" y="2952868"/>
            <a:ext cx="7670800"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Competitive Advantage of P2P Lending</a:t>
            </a:r>
          </a:p>
        </p:txBody>
      </p:sp>
    </p:spTree>
    <p:extLst>
      <p:ext uri="{BB962C8B-B14F-4D97-AF65-F5344CB8AC3E}">
        <p14:creationId xmlns:p14="http://schemas.microsoft.com/office/powerpoint/2010/main" val="3805323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4E25B-CDA7-19C8-9BE8-816625F69C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FE43222-76C5-B90B-9028-6DC5F1A91C5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A489F47-0BB8-C3BF-7D16-558671B2ACF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63583CD-DDE2-5571-131B-B81DA85E770A}"/>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Crowdfunding</a:t>
            </a:r>
          </a:p>
        </p:txBody>
      </p:sp>
      <p:sp>
        <p:nvSpPr>
          <p:cNvPr id="9" name="Date Placeholder 8">
            <a:extLst>
              <a:ext uri="{FF2B5EF4-FFF2-40B4-BE49-F238E27FC236}">
                <a16:creationId xmlns:a16="http://schemas.microsoft.com/office/drawing/2014/main" id="{F01A2764-E9B5-E8D1-D2A4-4A1D9010BDE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F896ED3-B7BE-8CBA-60D2-F5018CF141F5}"/>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23AD878-263E-31BC-B066-1F3D4340227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9785ED4-A894-63C6-2547-203F09A5B370}"/>
              </a:ext>
            </a:extLst>
          </p:cNvPr>
          <p:cNvSpPr txBox="1"/>
          <p:nvPr/>
        </p:nvSpPr>
        <p:spPr>
          <a:xfrm>
            <a:off x="756447" y="2644758"/>
            <a:ext cx="16775106" cy="589821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dirty="0"/>
              <a:t>P2P lending is considered a more efficient funding source than the traditional banking channel because of its lower costs and this represents the first advantage usually associated to it.</a:t>
            </a:r>
          </a:p>
          <a:p>
            <a:pPr marL="514350" indent="-514350" algn="just">
              <a:lnSpc>
                <a:spcPct val="200000"/>
              </a:lnSpc>
              <a:buFont typeface="Wingdings" panose="05000000000000000000" pitchFamily="2" charset="2"/>
              <a:buChar char="§"/>
            </a:pPr>
            <a:r>
              <a:rPr lang="en-GB" sz="2400" dirty="0"/>
              <a:t>Easier (cheaper, better, faster) for small businesses to obtain funds for their small businesses. Unlike banks, they have little need for a physical presence in a locale. This, coupled with the streamlined cost of using algorithms to determine the creditworthiness of applicants, allows for the platform to operate with a relatively low infrastructure cost.</a:t>
            </a:r>
          </a:p>
          <a:p>
            <a:pPr marL="514350" indent="-514350" algn="just">
              <a:lnSpc>
                <a:spcPct val="200000"/>
              </a:lnSpc>
              <a:buFont typeface="Wingdings" panose="05000000000000000000" pitchFamily="2" charset="2"/>
              <a:buChar char="§"/>
            </a:pPr>
            <a:r>
              <a:rPr lang="en-GB" sz="2400" dirty="0"/>
              <a:t>Hence, online platforms may be more cost efficient than traditional lenders who need a physical presence and manpower to operate effectively. Lower overhead reduces the cost of the loan for the borrower but also increases the return rate for investors as the administrative costs are lower.</a:t>
            </a:r>
          </a:p>
        </p:txBody>
      </p:sp>
      <p:sp>
        <p:nvSpPr>
          <p:cNvPr id="4" name="TextBox 6">
            <a:extLst>
              <a:ext uri="{FF2B5EF4-FFF2-40B4-BE49-F238E27FC236}">
                <a16:creationId xmlns:a16="http://schemas.microsoft.com/office/drawing/2014/main" id="{CF24DEEB-7ABC-0DBB-3B41-B49D55470B45}"/>
              </a:ext>
            </a:extLst>
          </p:cNvPr>
          <p:cNvSpPr txBox="1"/>
          <p:nvPr/>
        </p:nvSpPr>
        <p:spPr>
          <a:xfrm>
            <a:off x="756447" y="1805216"/>
            <a:ext cx="14127953"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More Cost Efficient Funding Source</a:t>
            </a:r>
          </a:p>
          <a:p>
            <a:pPr>
              <a:lnSpc>
                <a:spcPts val="5472"/>
              </a:lnSpc>
              <a:defRPr/>
            </a:pP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21907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099B4-28F3-8B01-D8FF-37B525DB0F3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8307A0-126B-F3A8-103C-7E9ED4895FB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8F01D4C-8DCC-9F79-E7EE-58D90BDCE50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F2C454E-9906-01E3-E1E1-A9C892E657B8}"/>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Cost Structure</a:t>
            </a:r>
          </a:p>
        </p:txBody>
      </p:sp>
      <p:sp>
        <p:nvSpPr>
          <p:cNvPr id="9" name="Date Placeholder 8">
            <a:extLst>
              <a:ext uri="{FF2B5EF4-FFF2-40B4-BE49-F238E27FC236}">
                <a16:creationId xmlns:a16="http://schemas.microsoft.com/office/drawing/2014/main" id="{8460B1DD-700E-85F2-1693-7D467644B56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4AEF5411-A683-6715-324B-1E4A5B1BA9C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3E1C49A-ADEE-55E7-F895-4B66F5C1E5C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C98E771-D91D-D736-75BB-5F6C37666EAA}"/>
              </a:ext>
            </a:extLst>
          </p:cNvPr>
          <p:cNvSpPr txBox="1"/>
          <p:nvPr/>
        </p:nvSpPr>
        <p:spPr>
          <a:xfrm>
            <a:off x="756447" y="159198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P2P lending platforms have strong competitive advantages in terms of cost structure because:</a:t>
            </a:r>
          </a:p>
          <a:p>
            <a:pPr marL="971550" lvl="1" indent="-514350" algn="just">
              <a:lnSpc>
                <a:spcPct val="200000"/>
              </a:lnSpc>
              <a:buFont typeface="Wingdings" panose="05000000000000000000" pitchFamily="2" charset="2"/>
              <a:buChar char="§"/>
            </a:pPr>
            <a:r>
              <a:rPr lang="en-GB" sz="2800" dirty="0"/>
              <a:t>‘Traditional’ operating costs (personnel, buildings and equipment) being replaced by distribution and communication costs, which are lower and, more importantly, more flexible.</a:t>
            </a:r>
          </a:p>
          <a:p>
            <a:pPr marL="971550" lvl="1" indent="-514350" algn="just">
              <a:lnSpc>
                <a:spcPct val="200000"/>
              </a:lnSpc>
              <a:buFont typeface="Wingdings" panose="05000000000000000000" pitchFamily="2" charset="2"/>
              <a:buChar char="§"/>
            </a:pPr>
            <a:r>
              <a:rPr lang="en-GB" sz="2800" dirty="0"/>
              <a:t>‘Regulatory costs’ that are extremely low for P2P lending platforms and exceptionally high for financial institutions. Regulatory costs are of a financial (capital requirements) and an operative nature (human resources and technology-related costs that should ensure compliance with complex and changing rules).</a:t>
            </a:r>
          </a:p>
          <a:p>
            <a:pPr marL="971550" lvl="1"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371169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9CB68-CA2A-59A4-6F03-6AB6DDE85C9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D84B216-8351-1ED8-92E1-BD7224AFF63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ECF0827-FEA9-C0D7-A0BB-D83406B0E02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DD5359E-7AD6-8A28-98D1-615A5A2971A8}"/>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Speed &amp; Convenience</a:t>
            </a:r>
          </a:p>
        </p:txBody>
      </p:sp>
      <p:sp>
        <p:nvSpPr>
          <p:cNvPr id="9" name="Date Placeholder 8">
            <a:extLst>
              <a:ext uri="{FF2B5EF4-FFF2-40B4-BE49-F238E27FC236}">
                <a16:creationId xmlns:a16="http://schemas.microsoft.com/office/drawing/2014/main" id="{08C9C8DD-EF69-7474-34C2-D0F8648E87B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5043AB7-F9E0-921F-0C0E-9AD9FA1CC4A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9A6E52A-A2DC-7514-09A9-3A3C3D5E705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45E142B-85FB-6BB5-7AF5-CF9627258CF9}"/>
              </a:ext>
            </a:extLst>
          </p:cNvPr>
          <p:cNvSpPr txBox="1"/>
          <p:nvPr/>
        </p:nvSpPr>
        <p:spPr>
          <a:xfrm>
            <a:off x="756447" y="1591980"/>
            <a:ext cx="16775106" cy="589821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dirty="0"/>
              <a:t>The second competitive advantage generally recognised to P2P lending platforms is the speed of the borrowers’ selection and loan issue procedures. In general terms, this can be labelled ‘easy access’ to the service.</a:t>
            </a:r>
          </a:p>
          <a:p>
            <a:pPr marL="514350" indent="-514350" algn="just">
              <a:lnSpc>
                <a:spcPct val="200000"/>
              </a:lnSpc>
              <a:buFont typeface="Wingdings" panose="05000000000000000000" pitchFamily="2" charset="2"/>
              <a:buChar char="§"/>
            </a:pPr>
            <a:r>
              <a:rPr lang="en-GB" sz="2400" dirty="0"/>
              <a:t>An online platform has the added benefit of convenience. Many platforms emphasise this advantage in their marketing campaigns. Online platforms are more accessible to users, who may find it easier to manage their portfolio as a result. Unlike traditional investments, which may be available only at certain times of day, these online portfolios are accessible at any time. </a:t>
            </a:r>
          </a:p>
          <a:p>
            <a:pPr marL="514350" indent="-514350" algn="just">
              <a:lnSpc>
                <a:spcPct val="200000"/>
              </a:lnSpc>
              <a:buFont typeface="Wingdings" panose="05000000000000000000" pitchFamily="2" charset="2"/>
              <a:buChar char="§"/>
            </a:pPr>
            <a:r>
              <a:rPr lang="en-GB" sz="2400" dirty="0"/>
              <a:t>The online aspect of peer-to-peer lending and equity crowd-funding gives the platform more flexibility to update its operations and adapt its marketing and design quickly to an evolving business model. Though few platforms have offered their services internationally, their online business model makes it easy and convenient for them to expand.</a:t>
            </a:r>
          </a:p>
        </p:txBody>
      </p:sp>
    </p:spTree>
    <p:extLst>
      <p:ext uri="{BB962C8B-B14F-4D97-AF65-F5344CB8AC3E}">
        <p14:creationId xmlns:p14="http://schemas.microsoft.com/office/powerpoint/2010/main" val="96378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20D4-EB73-57F2-75F3-E938BD6FFDE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7BEED6-26C0-BD10-56C9-1A57DE535A0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8C7FED-3C5B-6E24-081B-334CAF0118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6B8F42A-4E7E-48AD-63AE-D4B3ADC2CB75}"/>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Speed &amp; Convenience</a:t>
            </a:r>
          </a:p>
        </p:txBody>
      </p:sp>
      <p:sp>
        <p:nvSpPr>
          <p:cNvPr id="9" name="Date Placeholder 8">
            <a:extLst>
              <a:ext uri="{FF2B5EF4-FFF2-40B4-BE49-F238E27FC236}">
                <a16:creationId xmlns:a16="http://schemas.microsoft.com/office/drawing/2014/main" id="{20CED9E2-7D4A-22CA-6417-B3AEBDF4FAC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0AE1D7F4-4DAA-A256-52C9-DF3B44EBC3D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4A12D9B-B3A6-5A0F-5199-E7200A922DC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7EE9728-AED4-5370-6456-66E1B628B2AD}"/>
              </a:ext>
            </a:extLst>
          </p:cNvPr>
          <p:cNvSpPr txBox="1"/>
          <p:nvPr/>
        </p:nvSpPr>
        <p:spPr>
          <a:xfrm>
            <a:off x="756447" y="1591980"/>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400" dirty="0"/>
              <a:t>Equity In the case of P2P lending, speed and ease of access are emphasized due to:</a:t>
            </a:r>
          </a:p>
          <a:p>
            <a:pPr marL="971550" lvl="1" indent="-514350" algn="just">
              <a:lnSpc>
                <a:spcPct val="200000"/>
              </a:lnSpc>
              <a:buFont typeface="Wingdings" panose="05000000000000000000" pitchFamily="2" charset="2"/>
              <a:buChar char="§"/>
            </a:pPr>
            <a:r>
              <a:rPr lang="en-GB" sz="2400" dirty="0"/>
              <a:t>Lenders’ experience of reduced access times to the financial circuit.</a:t>
            </a:r>
          </a:p>
          <a:p>
            <a:pPr marL="971550" lvl="1" indent="-514350" algn="just">
              <a:lnSpc>
                <a:spcPct val="200000"/>
              </a:lnSpc>
              <a:buFont typeface="Wingdings" panose="05000000000000000000" pitchFamily="2" charset="2"/>
              <a:buChar char="§"/>
            </a:pPr>
            <a:r>
              <a:rPr lang="en-GB" sz="2400" dirty="0"/>
              <a:t>Making use of informal instruments that are used daily on the internet. This creates familiarity even for users without any inclination to financial services.</a:t>
            </a:r>
          </a:p>
          <a:p>
            <a:pPr marL="971550" lvl="1" indent="-514350" algn="just">
              <a:lnSpc>
                <a:spcPct val="200000"/>
              </a:lnSpc>
              <a:buFont typeface="Wingdings" panose="05000000000000000000" pitchFamily="2" charset="2"/>
              <a:buChar char="§"/>
            </a:pPr>
            <a:r>
              <a:rPr lang="en-GB" sz="2400" dirty="0"/>
              <a:t>A lack of interaction with banks, which eliminates any potential psychological factor. The absence of such factors may be strengthened by the fact that users feel part of one or more groups that frequently interact through the web.</a:t>
            </a:r>
          </a:p>
          <a:p>
            <a:pPr marL="457200" indent="-457200" algn="just">
              <a:lnSpc>
                <a:spcPct val="200000"/>
              </a:lnSpc>
              <a:buFont typeface="Wingdings" pitchFamily="2" charset="2"/>
              <a:buChar char="§"/>
            </a:pPr>
            <a:r>
              <a:rPr lang="en-GB" sz="2400" dirty="0"/>
              <a:t>An online platform has the added benefit of convenience. Many platforms emphasise this advantage in their marketing campaigns. Online platforms are more accessible to users, who may find it easier to manage their portfolio as a result. Unlike traditional investments, which may be available only at certain times of day, these online portfolios are accessible at any time.</a:t>
            </a:r>
          </a:p>
        </p:txBody>
      </p:sp>
    </p:spTree>
    <p:extLst>
      <p:ext uri="{BB962C8B-B14F-4D97-AF65-F5344CB8AC3E}">
        <p14:creationId xmlns:p14="http://schemas.microsoft.com/office/powerpoint/2010/main" val="229140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6200-5333-06A6-8364-022260D862B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A321A11-A2FD-ECAB-9637-0EC57137455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A0DD35C-A93E-31A8-1362-F241AE5CABB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45F9C53-F980-F611-FB59-C7BD2BF7106A}"/>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Speed &amp; Convenience</a:t>
            </a:r>
          </a:p>
        </p:txBody>
      </p:sp>
      <p:sp>
        <p:nvSpPr>
          <p:cNvPr id="9" name="Date Placeholder 8">
            <a:extLst>
              <a:ext uri="{FF2B5EF4-FFF2-40B4-BE49-F238E27FC236}">
                <a16:creationId xmlns:a16="http://schemas.microsoft.com/office/drawing/2014/main" id="{B0DFE962-18C3-6BDB-A733-7ADCBCC55E5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60B5FCC4-01A1-9E2F-618E-E258CC43FA0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3AECC2C-CB31-A2CF-4F2A-AA9E9B855F8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9889350-CBC0-7151-1941-B31C0E7DECF4}"/>
              </a:ext>
            </a:extLst>
          </p:cNvPr>
          <p:cNvSpPr txBox="1"/>
          <p:nvPr/>
        </p:nvSpPr>
        <p:spPr>
          <a:xfrm>
            <a:off x="756447" y="159198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online aspect of peer-to-peer lending and equity crowd-funding gives the platform more flexibility to update its operations and adapt its marketing and design quickly to an evolving business model. Though few platforms have offered their services internationally, their online business model makes it easy and convenient for them to expand.</a:t>
            </a:r>
          </a:p>
          <a:p>
            <a:pPr marL="514350" indent="-514350" algn="just">
              <a:lnSpc>
                <a:spcPct val="200000"/>
              </a:lnSpc>
              <a:buFont typeface="Wingdings" panose="05000000000000000000" pitchFamily="2" charset="2"/>
              <a:buChar char="§"/>
            </a:pPr>
            <a:endParaRPr lang="en-GB" sz="2800" dirty="0"/>
          </a:p>
        </p:txBody>
      </p:sp>
    </p:spTree>
    <p:extLst>
      <p:ext uri="{BB962C8B-B14F-4D97-AF65-F5344CB8AC3E}">
        <p14:creationId xmlns:p14="http://schemas.microsoft.com/office/powerpoint/2010/main" val="189573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A18B0-D982-4A88-EAFE-954D4015EBF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BE0DEF3-487F-B579-F425-16AF3E57889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5AE9550-B347-1395-C098-462CCA26B42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E59D3C5-67F9-5D99-F3D7-80B1398ABEA1}"/>
              </a:ext>
            </a:extLst>
          </p:cNvPr>
          <p:cNvSpPr txBox="1"/>
          <p:nvPr/>
        </p:nvSpPr>
        <p:spPr>
          <a:xfrm>
            <a:off x="990600" y="300719"/>
            <a:ext cx="13339240" cy="492443"/>
          </a:xfrm>
          <a:prstGeom prst="rect">
            <a:avLst/>
          </a:prstGeom>
        </p:spPr>
        <p:txBody>
          <a:bodyPr wrap="square" lIns="0" tIns="0" rIns="0" bIns="0" rtlCol="0" anchor="t">
            <a:spAutoFit/>
          </a:bodyPr>
          <a:lstStyle/>
          <a:p>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Advantage – Lenders’ Responsiveness</a:t>
            </a:r>
          </a:p>
        </p:txBody>
      </p:sp>
      <p:sp>
        <p:nvSpPr>
          <p:cNvPr id="9" name="Date Placeholder 8">
            <a:extLst>
              <a:ext uri="{FF2B5EF4-FFF2-40B4-BE49-F238E27FC236}">
                <a16:creationId xmlns:a16="http://schemas.microsoft.com/office/drawing/2014/main" id="{C9AACB2A-BCCB-910F-7FBA-D213FAD9EA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E264E35F-C7E2-28FB-1BE0-899A4029D9B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6D97F42-91F5-3E18-0437-44A747BD113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5D20B7F-96CD-406E-F81E-DCF3239D24E3}"/>
              </a:ext>
            </a:extLst>
          </p:cNvPr>
          <p:cNvSpPr txBox="1"/>
          <p:nvPr/>
        </p:nvSpPr>
        <p:spPr>
          <a:xfrm>
            <a:off x="756447" y="159198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Another advantage of P2P lending is associated with lenders’ responsiveness to a project’s social or ethical nature, which is typically lacking in traditional banking.</a:t>
            </a:r>
          </a:p>
          <a:p>
            <a:pPr marL="514350" indent="-514350" algn="just">
              <a:lnSpc>
                <a:spcPct val="200000"/>
              </a:lnSpc>
              <a:buFont typeface="Wingdings" panose="05000000000000000000" pitchFamily="2" charset="2"/>
              <a:buChar char="§"/>
            </a:pPr>
            <a:r>
              <a:rPr lang="en-GB" sz="2800" dirty="0"/>
              <a:t>An example is the case of money to be collected to sustain activities of interest to the community, or related to social welfare. Another example is the case of projects with a social or ethical commitment. The previous examples all imply the ‘sense of doing something useful’ that characterises crowdfunding itself and contributed to its huge success. This helps explaining why some crowdfunding platforms, also P2P lending ones, have focused on specific market niches, for example, education,  social housing, cultural and ‘creative’ activities (art, music).</a:t>
            </a:r>
          </a:p>
        </p:txBody>
      </p:sp>
    </p:spTree>
    <p:extLst>
      <p:ext uri="{BB962C8B-B14F-4D97-AF65-F5344CB8AC3E}">
        <p14:creationId xmlns:p14="http://schemas.microsoft.com/office/powerpoint/2010/main" val="400621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37032-465C-7C82-7ECC-2CEFCF888293}"/>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117F0A79-A00A-4F66-70AA-0D36E86A3720}"/>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CROWDFUNDING</a:t>
            </a:r>
          </a:p>
        </p:txBody>
      </p:sp>
      <p:pic>
        <p:nvPicPr>
          <p:cNvPr id="14" name="Picture 13">
            <a:extLst>
              <a:ext uri="{FF2B5EF4-FFF2-40B4-BE49-F238E27FC236}">
                <a16:creationId xmlns:a16="http://schemas.microsoft.com/office/drawing/2014/main" id="{760B6361-7CF4-033F-E39C-000749E85F11}"/>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718CF93D-046F-D3E0-73A9-B06757110361}"/>
              </a:ext>
            </a:extLst>
          </p:cNvPr>
          <p:cNvSpPr txBox="1"/>
          <p:nvPr/>
        </p:nvSpPr>
        <p:spPr>
          <a:xfrm>
            <a:off x="0" y="2892499"/>
            <a:ext cx="7670800" cy="4502002"/>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Strategies: </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Competitive </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Reactions of </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Banks and Other</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147" normalizeH="0" baseline="0" noProof="0" dirty="0" err="1">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Fls</a:t>
            </a:r>
            <a:endParaRPr kumimoji="0" lang="en-US" sz="40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27242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D2B6-8915-EA74-2B4D-57961036D2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FC3E8E7-C84B-924C-7DFA-BA486E560FE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29304BA-08AB-726C-D903-DAA03A8A1E2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D44FEEA-F6E9-4B4C-3F29-EBC9B6476053}"/>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Strategies by Incumbent Banks</a:t>
            </a:r>
          </a:p>
        </p:txBody>
      </p:sp>
      <p:sp>
        <p:nvSpPr>
          <p:cNvPr id="9" name="Date Placeholder 8">
            <a:extLst>
              <a:ext uri="{FF2B5EF4-FFF2-40B4-BE49-F238E27FC236}">
                <a16:creationId xmlns:a16="http://schemas.microsoft.com/office/drawing/2014/main" id="{006B8BEC-68A8-A2D7-104C-598F12DC553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F3D30939-BB6C-FC28-4DD8-B52F8D6DF261}"/>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FFF5E30-0F88-D598-D2C9-21DDEF757AD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0D9564D-9F54-58F2-C2A7-524844AAC121}"/>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Peer-to-peer (P2P) lending poses a big threat to traditional high-street lenders. Traditional banks take deposits from customers and then loan that money out to those who want to borrow it.</a:t>
            </a:r>
          </a:p>
          <a:p>
            <a:pPr marL="514350" indent="-514350" algn="just">
              <a:lnSpc>
                <a:spcPct val="200000"/>
              </a:lnSpc>
              <a:buFont typeface="Wingdings" panose="05000000000000000000" pitchFamily="2" charset="2"/>
              <a:buChar char="§"/>
            </a:pPr>
            <a:r>
              <a:rPr lang="en-GB" sz="2800" dirty="0"/>
              <a:t>Banks will lend at an interest rate that allows them to give depositors a decent return while also allowing the banks to make a profit, taking a cut as the middleman.</a:t>
            </a:r>
          </a:p>
          <a:p>
            <a:pPr marL="514350" indent="-514350" algn="just">
              <a:lnSpc>
                <a:spcPct val="200000"/>
              </a:lnSpc>
              <a:buFont typeface="Wingdings" panose="05000000000000000000" pitchFamily="2" charset="2"/>
              <a:buChar char="§"/>
            </a:pPr>
            <a:r>
              <a:rPr lang="en-GB" sz="2800" dirty="0"/>
              <a:t>P2P lenders like Zopa cut these middlemen out. They allow online savers to lend money directly to those who want to borrow. Borrowers typically get a better rate, while interest rates for lenders can be as much as double what they would get simply depositing cash with banks.</a:t>
            </a:r>
          </a:p>
        </p:txBody>
      </p:sp>
      <p:sp>
        <p:nvSpPr>
          <p:cNvPr id="4" name="TextBox 6">
            <a:extLst>
              <a:ext uri="{FF2B5EF4-FFF2-40B4-BE49-F238E27FC236}">
                <a16:creationId xmlns:a16="http://schemas.microsoft.com/office/drawing/2014/main" id="{04BF6F85-2359-8327-5F9B-7BCA900C5ADA}"/>
              </a:ext>
            </a:extLst>
          </p:cNvPr>
          <p:cNvSpPr txBox="1"/>
          <p:nvPr/>
        </p:nvSpPr>
        <p:spPr>
          <a:xfrm>
            <a:off x="756447" y="1805216"/>
            <a:ext cx="14127953"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P2P Lending – Why Banks Should be Worried</a:t>
            </a:r>
          </a:p>
          <a:p>
            <a:pPr>
              <a:lnSpc>
                <a:spcPts val="5472"/>
              </a:lnSpc>
              <a:defRPr/>
            </a:pP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97067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8968-1A7C-932B-6431-3AB30843F0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D62FE9B-89F7-9512-6DF8-B1A8F3627A8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3D018AF-42D9-A66A-BD29-0E7845B0C9A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4678182-5B48-B091-7C77-DCE17E144D52}"/>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Strategies by Incumbent Banks</a:t>
            </a:r>
          </a:p>
        </p:txBody>
      </p:sp>
      <p:sp>
        <p:nvSpPr>
          <p:cNvPr id="9" name="Date Placeholder 8">
            <a:extLst>
              <a:ext uri="{FF2B5EF4-FFF2-40B4-BE49-F238E27FC236}">
                <a16:creationId xmlns:a16="http://schemas.microsoft.com/office/drawing/2014/main" id="{EA677605-6CB5-E2DB-3A27-9A80BB1DA53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57325B1C-9BBC-6273-778B-B0D8364EB0E2}"/>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7F74674-D7C3-116A-A8EB-219A128AA94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37FB32D-E53E-9EE2-4243-8E3BD0475DC1}"/>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Financial institutions, especially large banks, react slowly to these newly introduced technologies or services, because of their organizational complexity and long-term competitive strategies. Nevertheless, they have a better knowledge of the market, and thus suggest solutions that will last on both a technological and an economic level.</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87159766-0149-6A8C-F139-D8651C4E853C}"/>
              </a:ext>
            </a:extLst>
          </p:cNvPr>
          <p:cNvSpPr txBox="1"/>
          <p:nvPr/>
        </p:nvSpPr>
        <p:spPr>
          <a:xfrm>
            <a:off x="756447" y="1805216"/>
            <a:ext cx="14127953"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Competitive Reactions of Incumbents</a:t>
            </a:r>
          </a:p>
          <a:p>
            <a:pPr>
              <a:lnSpc>
                <a:spcPts val="5472"/>
              </a:lnSpc>
              <a:defRPr/>
            </a:pP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Tree>
    <p:extLst>
      <p:ext uri="{BB962C8B-B14F-4D97-AF65-F5344CB8AC3E}">
        <p14:creationId xmlns:p14="http://schemas.microsoft.com/office/powerpoint/2010/main" val="360311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0BBA9-7A72-52CA-E229-C3EEE447CAC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1609707-B9CE-2295-7E56-2D9A569A11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2E09BAC-5568-1197-C601-B596AF08D39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748D9C8-91ED-5607-B33F-EC0E2CC0F63E}"/>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C0B6AF90-5A54-2F64-89DF-99520676522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F06ACBB9-11F7-C72A-C0E9-DE1938083A2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A1D7FD1-A3A6-F728-7C39-778F857BFB1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77F5B961-ABC5-ECCB-16DF-A7E43DD8246B}"/>
              </a:ext>
            </a:extLst>
          </p:cNvPr>
          <p:cNvSpPr txBox="1"/>
          <p:nvPr/>
        </p:nvSpPr>
        <p:spPr>
          <a:xfrm>
            <a:off x="757618" y="1790700"/>
            <a:ext cx="16773935" cy="6719660"/>
          </a:xfrm>
          <a:prstGeom prst="rect">
            <a:avLst/>
          </a:prstGeom>
          <a:noFill/>
        </p:spPr>
        <p:txBody>
          <a:bodyPr wrap="square" rtlCol="0">
            <a:spAutoFit/>
          </a:bodyPr>
          <a:lstStyle/>
          <a:p>
            <a:r>
              <a:rPr lang="en-US" sz="2800" dirty="0"/>
              <a:t>By the end of </a:t>
            </a:r>
            <a:r>
              <a:rPr lang="en-US" sz="2800"/>
              <a:t>this session:</a:t>
            </a:r>
            <a:endParaRPr lang="en-MY" sz="2600" dirty="0"/>
          </a:p>
          <a:p>
            <a:pPr marL="514350" indent="-514350">
              <a:buFont typeface="+mj-lt"/>
              <a:buAutoNum type="arabicPeriod"/>
            </a:pPr>
            <a:endParaRPr lang="en-MY" sz="2600" dirty="0"/>
          </a:p>
          <a:p>
            <a:pPr marL="514350" indent="-514350">
              <a:lnSpc>
                <a:spcPct val="150000"/>
              </a:lnSpc>
              <a:buFont typeface="+mj-lt"/>
              <a:buAutoNum type="arabicPeriod"/>
            </a:pPr>
            <a:r>
              <a:rPr lang="en-US" sz="2800" b="1" dirty="0"/>
              <a:t>Customer-Centric Shift:</a:t>
            </a:r>
            <a:r>
              <a:rPr lang="en-US" sz="2800" dirty="0"/>
              <a:t> FinTech has transformed finance by prioritizing user experience, transparency, and accessibility over institutional convenience . </a:t>
            </a:r>
          </a:p>
          <a:p>
            <a:pPr marL="514350" indent="-514350">
              <a:lnSpc>
                <a:spcPct val="150000"/>
              </a:lnSpc>
              <a:buFont typeface="+mj-lt"/>
              <a:buAutoNum type="arabicPeriod"/>
            </a:pPr>
            <a:endParaRPr lang="en-US" sz="1000" b="1" dirty="0"/>
          </a:p>
          <a:p>
            <a:pPr marL="514350" indent="-514350">
              <a:lnSpc>
                <a:spcPct val="150000"/>
              </a:lnSpc>
              <a:buFont typeface="+mj-lt"/>
              <a:buAutoNum type="arabicPeriod"/>
            </a:pPr>
            <a:r>
              <a:rPr lang="en-US" sz="2800" b="1" dirty="0"/>
              <a:t>Technology as the Catalyst:</a:t>
            </a:r>
            <a:r>
              <a:rPr lang="en-US" sz="2800" dirty="0"/>
              <a:t> AI, Big Data, and mobile connectivity are empowering startups to "unbundle" traditional banking into highly efficient, single-purpose solutions.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Global Disruption:</a:t>
            </a:r>
            <a:r>
              <a:rPr lang="en-US" sz="2800" dirty="0"/>
              <a:t> Despite hurdles in regulation and scaling , FinTech is a permanent disruptive force, heavily driven by massive growth in Asian markets.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The Ultimate Goal:</a:t>
            </a:r>
            <a:r>
              <a:rPr lang="en-US" sz="2800" dirty="0"/>
              <a:t> Fostering financial inclusion, lowering costs, and adapting to the demands of the modern, digital-first consumer. </a:t>
            </a:r>
          </a:p>
        </p:txBody>
      </p:sp>
    </p:spTree>
    <p:extLst>
      <p:ext uri="{BB962C8B-B14F-4D97-AF65-F5344CB8AC3E}">
        <p14:creationId xmlns:p14="http://schemas.microsoft.com/office/powerpoint/2010/main" val="1109381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2.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1545</TotalTime>
  <Words>7300</Words>
  <Application>Microsoft Office PowerPoint</Application>
  <PresentationFormat>Custom</PresentationFormat>
  <Paragraphs>863</Paragraphs>
  <Slides>53</Slides>
  <Notes>53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Calibri</vt:lpstr>
      <vt:lpstr>Aptos</vt:lpstr>
      <vt:lpstr>Museo Sans 300</vt:lpstr>
      <vt:lpstr>Segoe UI</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456</cp:revision>
  <dcterms:created xsi:type="dcterms:W3CDTF">2006-08-16T00:00:00Z</dcterms:created>
  <dcterms:modified xsi:type="dcterms:W3CDTF">2026-05-18T08:33:30Z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