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31" r:id="rId4"/>
  </p:sldMasterIdLst>
  <p:notesMasterIdLst>
    <p:notesMasterId r:id="rId95"/>
  </p:notesMasterIdLst>
  <p:handoutMasterIdLst>
    <p:handoutMasterId r:id="rId96"/>
  </p:handoutMasterIdLst>
  <p:sldIdLst>
    <p:sldId id="268" r:id="rId5"/>
    <p:sldId id="277" r:id="rId6"/>
    <p:sldId id="458" r:id="rId7"/>
    <p:sldId id="276" r:id="rId8"/>
    <p:sldId id="373" r:id="rId9"/>
    <p:sldId id="257" r:id="rId10"/>
    <p:sldId id="365" r:id="rId11"/>
    <p:sldId id="374" r:id="rId12"/>
    <p:sldId id="375" r:id="rId13"/>
    <p:sldId id="282" r:id="rId14"/>
    <p:sldId id="376" r:id="rId15"/>
    <p:sldId id="378" r:id="rId16"/>
    <p:sldId id="379" r:id="rId17"/>
    <p:sldId id="380" r:id="rId18"/>
    <p:sldId id="381" r:id="rId19"/>
    <p:sldId id="382" r:id="rId20"/>
    <p:sldId id="383" r:id="rId21"/>
    <p:sldId id="384" r:id="rId22"/>
    <p:sldId id="385" r:id="rId23"/>
    <p:sldId id="386" r:id="rId24"/>
    <p:sldId id="387" r:id="rId25"/>
    <p:sldId id="320" r:id="rId26"/>
    <p:sldId id="389" r:id="rId27"/>
    <p:sldId id="390" r:id="rId28"/>
    <p:sldId id="391" r:id="rId29"/>
    <p:sldId id="392" r:id="rId30"/>
    <p:sldId id="395" r:id="rId31"/>
    <p:sldId id="396" r:id="rId32"/>
    <p:sldId id="397" r:id="rId33"/>
    <p:sldId id="398" r:id="rId34"/>
    <p:sldId id="399" r:id="rId35"/>
    <p:sldId id="400" r:id="rId36"/>
    <p:sldId id="401" r:id="rId37"/>
    <p:sldId id="403" r:id="rId38"/>
    <p:sldId id="404" r:id="rId39"/>
    <p:sldId id="405" r:id="rId40"/>
    <p:sldId id="406" r:id="rId41"/>
    <p:sldId id="407" r:id="rId42"/>
    <p:sldId id="408" r:id="rId43"/>
    <p:sldId id="409" r:id="rId44"/>
    <p:sldId id="410" r:id="rId45"/>
    <p:sldId id="411" r:id="rId46"/>
    <p:sldId id="412" r:id="rId47"/>
    <p:sldId id="413" r:id="rId48"/>
    <p:sldId id="414" r:id="rId49"/>
    <p:sldId id="415" r:id="rId50"/>
    <p:sldId id="416" r:id="rId51"/>
    <p:sldId id="417" r:id="rId52"/>
    <p:sldId id="418" r:id="rId53"/>
    <p:sldId id="419" r:id="rId54"/>
    <p:sldId id="420" r:id="rId55"/>
    <p:sldId id="421" r:id="rId56"/>
    <p:sldId id="422" r:id="rId57"/>
    <p:sldId id="423" r:id="rId58"/>
    <p:sldId id="424" r:id="rId59"/>
    <p:sldId id="425" r:id="rId60"/>
    <p:sldId id="426" r:id="rId61"/>
    <p:sldId id="427" r:id="rId62"/>
    <p:sldId id="428" r:id="rId63"/>
    <p:sldId id="429" r:id="rId64"/>
    <p:sldId id="430" r:id="rId65"/>
    <p:sldId id="431" r:id="rId66"/>
    <p:sldId id="432" r:id="rId67"/>
    <p:sldId id="433" r:id="rId68"/>
    <p:sldId id="434" r:id="rId69"/>
    <p:sldId id="435" r:id="rId70"/>
    <p:sldId id="436" r:id="rId71"/>
    <p:sldId id="437" r:id="rId72"/>
    <p:sldId id="438" r:id="rId73"/>
    <p:sldId id="439" r:id="rId74"/>
    <p:sldId id="440" r:id="rId75"/>
    <p:sldId id="441" r:id="rId76"/>
    <p:sldId id="442" r:id="rId77"/>
    <p:sldId id="443" r:id="rId78"/>
    <p:sldId id="444" r:id="rId79"/>
    <p:sldId id="445" r:id="rId80"/>
    <p:sldId id="446" r:id="rId81"/>
    <p:sldId id="447" r:id="rId82"/>
    <p:sldId id="448" r:id="rId83"/>
    <p:sldId id="449" r:id="rId84"/>
    <p:sldId id="450" r:id="rId85"/>
    <p:sldId id="451" r:id="rId86"/>
    <p:sldId id="452" r:id="rId87"/>
    <p:sldId id="453" r:id="rId88"/>
    <p:sldId id="454" r:id="rId89"/>
    <p:sldId id="455" r:id="rId90"/>
    <p:sldId id="456" r:id="rId91"/>
    <p:sldId id="457" r:id="rId92"/>
    <p:sldId id="388" r:id="rId93"/>
    <p:sldId id="270" r:id="rId94"/>
  </p:sldIdLst>
  <p:sldSz cx="18288000" cy="10287000"/>
  <p:notesSz cx="6858000" cy="9144000"/>
  <p:embeddedFontLst>
    <p:embeddedFont>
      <p:font typeface="Museo Sans 300" panose="02000000000000000000" charset="0"/>
      <p:regular r:id="rId97"/>
      <p:bold r:id="rId98"/>
      <p:italic r:id="rId99"/>
    </p:embeddedFont>
    <p:embeddedFont>
      <p:font typeface="Segoe UI" panose="020B0502040204020203" pitchFamily="34" charset="0"/>
      <p:regular r:id="rId100"/>
      <p:bold r:id="rId101"/>
      <p:italic r:id="rId102"/>
      <p:boldItalic r:id="rId10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00" autoAdjust="0"/>
    <p:restoredTop sz="73957" autoAdjust="0"/>
  </p:normalViewPr>
  <p:slideViewPr>
    <p:cSldViewPr snapToGrid="0">
      <p:cViewPr varScale="1">
        <p:scale>
          <a:sx n="38" d="100"/>
          <a:sy n="38" d="100"/>
        </p:scale>
        <p:origin x="108" y="61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07" Type="http://schemas.openxmlformats.org/officeDocument/2006/relationships/tableStyles" Target="tableStyles.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font" Target="fonts/font6.fntdata"/><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notesMaster" Target="notesMasters/notesMaster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font" Target="fonts/font7.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font" Target="fonts/font3.fntdata"/><Relationship Id="rId101" Type="http://schemas.openxmlformats.org/officeDocument/2006/relationships/font" Target="fonts/font5.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font" Target="fonts/font1.fntdata"/><Relationship Id="rId104"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font" Target="fonts/font4.fntdata"/><Relationship Id="rId105"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font" Target="fonts/font2.fntdata"/><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EB93D41-E753-CA08-512C-7FD9149E95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a:extLst>
              <a:ext uri="{FF2B5EF4-FFF2-40B4-BE49-F238E27FC236}">
                <a16:creationId xmlns:a16="http://schemas.microsoft.com/office/drawing/2014/main" id="{EB683311-34CD-10A6-71A7-5FEC1EAC08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3D391DD-0852-4038-9481-BE0C8E4C0068}" type="datetimeFigureOut">
              <a:rPr lang="en-MY" smtClean="0"/>
              <a:t>18/5/2026</a:t>
            </a:fld>
            <a:endParaRPr lang="en-MY"/>
          </a:p>
        </p:txBody>
      </p:sp>
      <p:sp>
        <p:nvSpPr>
          <p:cNvPr id="4" name="Footer Placeholder 3">
            <a:extLst>
              <a:ext uri="{FF2B5EF4-FFF2-40B4-BE49-F238E27FC236}">
                <a16:creationId xmlns:a16="http://schemas.microsoft.com/office/drawing/2014/main" id="{7B82A957-AB6C-53B4-A4E1-0374492AD1D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5" name="Slide Number Placeholder 4">
            <a:extLst>
              <a:ext uri="{FF2B5EF4-FFF2-40B4-BE49-F238E27FC236}">
                <a16:creationId xmlns:a16="http://schemas.microsoft.com/office/drawing/2014/main" id="{1EA79F2C-EAFF-B3B1-975D-3770C8024B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3BE2F9-A3A4-483F-A619-855FC01C419C}" type="slidenum">
              <a:rPr lang="en-MY" smtClean="0"/>
              <a:t>‹#›</a:t>
            </a:fld>
            <a:endParaRPr lang="en-MY"/>
          </a:p>
        </p:txBody>
      </p:sp>
    </p:spTree>
    <p:extLst>
      <p:ext uri="{BB962C8B-B14F-4D97-AF65-F5344CB8AC3E}">
        <p14:creationId xmlns:p14="http://schemas.microsoft.com/office/powerpoint/2010/main" val="409590229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B1111C-7368-49FD-8B9D-8D05AE4C3340}" type="datetimeFigureOut">
              <a:rPr lang="en-MY" smtClean="0"/>
              <a:t>18/5/2026</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061F1A-E494-4223-A600-C9DDF71EE410}" type="slidenum">
              <a:rPr lang="en-MY" smtClean="0"/>
              <a:t>‹#›</a:t>
            </a:fld>
            <a:endParaRPr lang="en-MY"/>
          </a:p>
        </p:txBody>
      </p:sp>
    </p:spTree>
    <p:extLst>
      <p:ext uri="{BB962C8B-B14F-4D97-AF65-F5344CB8AC3E}">
        <p14:creationId xmlns:p14="http://schemas.microsoft.com/office/powerpoint/2010/main" val="283624397"/>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1</a:t>
            </a:fld>
            <a:endParaRPr lang="en-MY"/>
          </a:p>
        </p:txBody>
      </p:sp>
    </p:spTree>
    <p:extLst>
      <p:ext uri="{BB962C8B-B14F-4D97-AF65-F5344CB8AC3E}">
        <p14:creationId xmlns:p14="http://schemas.microsoft.com/office/powerpoint/2010/main" val="30360443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u="none" strike="noStrike" kern="1200" dirty="0">
                <a:solidFill>
                  <a:schemeClr val="tx1"/>
                </a:solidFill>
                <a:effectLst/>
                <a:latin typeface="+mn-lt"/>
                <a:ea typeface="+mn-ea"/>
                <a:cs typeface="+mn-cs"/>
              </a:rPr>
              <a:t>Learning Outcomes Slide</a:t>
            </a:r>
            <a:endParaRPr lang="en-MY" sz="1200" u="none" strike="noStrike" kern="1200" dirty="0">
              <a:solidFill>
                <a:schemeClr val="tx1"/>
              </a:solidFill>
              <a:effectLst/>
              <a:latin typeface="+mn-lt"/>
              <a:ea typeface="+mn-ea"/>
              <a:cs typeface="+mn-cs"/>
            </a:endParaRPr>
          </a:p>
          <a:p>
            <a:pPr lvl="0"/>
            <a:endParaRPr lang="en-MY" sz="1200" kern="1200" dirty="0">
              <a:solidFill>
                <a:schemeClr val="tx1"/>
              </a:solidFill>
              <a:effectLst/>
              <a:latin typeface="+mn-lt"/>
              <a:ea typeface="+mn-ea"/>
              <a:cs typeface="+mn-cs"/>
            </a:endParaRPr>
          </a:p>
          <a:p>
            <a:pPr lvl="0"/>
            <a:r>
              <a:rPr lang="en-MY" sz="1200" kern="1200" dirty="0">
                <a:solidFill>
                  <a:schemeClr val="tx1"/>
                </a:solidFill>
                <a:effectLst/>
                <a:latin typeface="+mn-lt"/>
                <a:ea typeface="+mn-ea"/>
                <a:cs typeface="+mn-cs"/>
              </a:rPr>
              <a:t>Note: </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Include 2–4 lecture-level learning outcomes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Use measurable action verbs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Map explicitly to Course Learning Outcomes (CLOs)</a:t>
            </a:r>
          </a:p>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2</a:t>
            </a:fld>
            <a:endParaRPr lang="en-MY"/>
          </a:p>
        </p:txBody>
      </p:sp>
    </p:spTree>
    <p:extLst>
      <p:ext uri="{BB962C8B-B14F-4D97-AF65-F5344CB8AC3E}">
        <p14:creationId xmlns:p14="http://schemas.microsoft.com/office/powerpoint/2010/main" val="2622563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59D79-DDB8-E9E7-B1CC-04A1978A7C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0CCCFD-13CD-A511-28B6-0F3478CCF44F}"/>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70AC12DC-BCC6-9ACF-59A6-CCAD056449C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u="none" strike="noStrike" kern="1200" dirty="0">
                <a:solidFill>
                  <a:schemeClr val="tx1"/>
                </a:solidFill>
                <a:effectLst/>
                <a:latin typeface="+mn-lt"/>
                <a:ea typeface="+mn-ea"/>
                <a:cs typeface="+mn-cs"/>
              </a:rPr>
              <a:t>Learning Outcomes Slide</a:t>
            </a:r>
            <a:endParaRPr lang="en-MY" sz="1200" u="none" strike="noStrike" kern="1200" dirty="0">
              <a:solidFill>
                <a:schemeClr val="tx1"/>
              </a:solidFill>
              <a:effectLst/>
              <a:latin typeface="+mn-lt"/>
              <a:ea typeface="+mn-ea"/>
              <a:cs typeface="+mn-cs"/>
            </a:endParaRPr>
          </a:p>
          <a:p>
            <a:pPr lvl="0"/>
            <a:endParaRPr lang="en-MY" sz="1200" kern="1200" dirty="0">
              <a:solidFill>
                <a:schemeClr val="tx1"/>
              </a:solidFill>
              <a:effectLst/>
              <a:latin typeface="+mn-lt"/>
              <a:ea typeface="+mn-ea"/>
              <a:cs typeface="+mn-cs"/>
            </a:endParaRPr>
          </a:p>
          <a:p>
            <a:pPr lvl="0"/>
            <a:r>
              <a:rPr lang="en-MY" sz="1200" kern="1200" dirty="0">
                <a:solidFill>
                  <a:schemeClr val="tx1"/>
                </a:solidFill>
                <a:effectLst/>
                <a:latin typeface="+mn-lt"/>
                <a:ea typeface="+mn-ea"/>
                <a:cs typeface="+mn-cs"/>
              </a:rPr>
              <a:t>Note: </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Include 2–4 lecture-level learning outcomes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Use measurable action verbs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Map explicitly to Course Learning Outcomes (CLOs)</a:t>
            </a:r>
          </a:p>
          <a:p>
            <a:endParaRPr lang="en-MY" dirty="0"/>
          </a:p>
        </p:txBody>
      </p:sp>
      <p:sp>
        <p:nvSpPr>
          <p:cNvPr id="4" name="Footer Placeholder 3">
            <a:extLst>
              <a:ext uri="{FF2B5EF4-FFF2-40B4-BE49-F238E27FC236}">
                <a16:creationId xmlns:a16="http://schemas.microsoft.com/office/drawing/2014/main" id="{C06DBFF9-B937-2FFD-ED6D-FCCC111CFB99}"/>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A490BE7E-797C-90AE-9644-1FE39BD9529F}"/>
              </a:ext>
            </a:extLst>
          </p:cNvPr>
          <p:cNvSpPr>
            <a:spLocks noGrp="1"/>
          </p:cNvSpPr>
          <p:nvPr>
            <p:ph type="sldNum" sz="quarter" idx="5"/>
          </p:nvPr>
        </p:nvSpPr>
        <p:spPr/>
        <p:txBody>
          <a:bodyPr/>
          <a:lstStyle/>
          <a:p>
            <a:fld id="{D2061F1A-E494-4223-A600-C9DDF71EE410}" type="slidenum">
              <a:rPr lang="en-MY" smtClean="0"/>
              <a:t>3</a:t>
            </a:fld>
            <a:endParaRPr lang="en-MY"/>
          </a:p>
        </p:txBody>
      </p:sp>
    </p:spTree>
    <p:extLst>
      <p:ext uri="{BB962C8B-B14F-4D97-AF65-F5344CB8AC3E}">
        <p14:creationId xmlns:p14="http://schemas.microsoft.com/office/powerpoint/2010/main" val="34663859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4</a:t>
            </a:fld>
            <a:endParaRPr lang="en-MY"/>
          </a:p>
        </p:txBody>
      </p:sp>
    </p:spTree>
    <p:extLst>
      <p:ext uri="{BB962C8B-B14F-4D97-AF65-F5344CB8AC3E}">
        <p14:creationId xmlns:p14="http://schemas.microsoft.com/office/powerpoint/2010/main" val="25864651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D5AC7-83A5-CC1F-0879-B69D4C2328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3D0818-9DA6-30B2-1730-DAD9257C3BA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BF913BD0-9286-6717-5EA3-3AD55697EEE5}"/>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F278F40-A2CD-3B5A-EAC0-6B3E385B0F3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59C7E6B-6F55-94F7-CF2F-2CDA4B8D13D4}"/>
              </a:ext>
            </a:extLst>
          </p:cNvPr>
          <p:cNvSpPr>
            <a:spLocks noGrp="1"/>
          </p:cNvSpPr>
          <p:nvPr>
            <p:ph type="sldNum" sz="quarter" idx="5"/>
          </p:nvPr>
        </p:nvSpPr>
        <p:spPr/>
        <p:txBody>
          <a:bodyPr/>
          <a:lstStyle/>
          <a:p>
            <a:fld id="{D2061F1A-E494-4223-A600-C9DDF71EE410}" type="slidenum">
              <a:rPr lang="en-MY" smtClean="0"/>
              <a:t>5</a:t>
            </a:fld>
            <a:endParaRPr lang="en-MY"/>
          </a:p>
        </p:txBody>
      </p:sp>
    </p:spTree>
    <p:extLst>
      <p:ext uri="{BB962C8B-B14F-4D97-AF65-F5344CB8AC3E}">
        <p14:creationId xmlns:p14="http://schemas.microsoft.com/office/powerpoint/2010/main" val="7375178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6</a:t>
            </a:fld>
            <a:endParaRPr lang="en-MY"/>
          </a:p>
        </p:txBody>
      </p:sp>
    </p:spTree>
    <p:extLst>
      <p:ext uri="{BB962C8B-B14F-4D97-AF65-F5344CB8AC3E}">
        <p14:creationId xmlns:p14="http://schemas.microsoft.com/office/powerpoint/2010/main" val="29927461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03AB5-B534-77D9-F89C-9BF470610C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1D4C31-3D26-853B-8D15-2D9A179B86B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D5970C61-9D07-9E14-FA19-E8C5DE100603}"/>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0E62F17-F868-F82B-0A34-BE664154CB2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BAAFF73-1E8F-06C9-CCE4-D040194BB7ED}"/>
              </a:ext>
            </a:extLst>
          </p:cNvPr>
          <p:cNvSpPr>
            <a:spLocks noGrp="1"/>
          </p:cNvSpPr>
          <p:nvPr>
            <p:ph type="sldNum" sz="quarter" idx="5"/>
          </p:nvPr>
        </p:nvSpPr>
        <p:spPr/>
        <p:txBody>
          <a:bodyPr/>
          <a:lstStyle/>
          <a:p>
            <a:fld id="{D2061F1A-E494-4223-A600-C9DDF71EE410}" type="slidenum">
              <a:rPr lang="en-MY" smtClean="0"/>
              <a:t>7</a:t>
            </a:fld>
            <a:endParaRPr lang="en-MY"/>
          </a:p>
        </p:txBody>
      </p:sp>
    </p:spTree>
    <p:extLst>
      <p:ext uri="{BB962C8B-B14F-4D97-AF65-F5344CB8AC3E}">
        <p14:creationId xmlns:p14="http://schemas.microsoft.com/office/powerpoint/2010/main" val="26523040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1457D-7C28-8F85-AD18-31D81FAB07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E65C06-713F-6E25-BFA7-EE32F6B5E87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0A95D138-F895-3B0B-23FE-B045EFCD4963}"/>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7537C48E-76F9-A4A5-27F1-6359D2486812}"/>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112FDAC-FB63-868C-A24A-FDC0BC4FB3D9}"/>
              </a:ext>
            </a:extLst>
          </p:cNvPr>
          <p:cNvSpPr>
            <a:spLocks noGrp="1"/>
          </p:cNvSpPr>
          <p:nvPr>
            <p:ph type="sldNum" sz="quarter" idx="5"/>
          </p:nvPr>
        </p:nvSpPr>
        <p:spPr/>
        <p:txBody>
          <a:bodyPr/>
          <a:lstStyle/>
          <a:p>
            <a:fld id="{D2061F1A-E494-4223-A600-C9DDF71EE410}" type="slidenum">
              <a:rPr lang="en-MY" smtClean="0"/>
              <a:t>8</a:t>
            </a:fld>
            <a:endParaRPr lang="en-MY"/>
          </a:p>
        </p:txBody>
      </p:sp>
    </p:spTree>
    <p:extLst>
      <p:ext uri="{BB962C8B-B14F-4D97-AF65-F5344CB8AC3E}">
        <p14:creationId xmlns:p14="http://schemas.microsoft.com/office/powerpoint/2010/main" val="24770271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E7BDD-EA5C-ABEB-0F14-3F8AEB45C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DD905-B19E-44C2-A60E-CD69DF908F79}"/>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7545AD9E-63CF-9B4B-163D-436FD5B671B0}"/>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B62A6920-0BD5-EFC5-0C30-7BD579E04009}"/>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061C07CF-A6A4-1ACC-9F9F-463A668EA1FD}"/>
              </a:ext>
            </a:extLst>
          </p:cNvPr>
          <p:cNvSpPr>
            <a:spLocks noGrp="1"/>
          </p:cNvSpPr>
          <p:nvPr>
            <p:ph type="sldNum" sz="quarter" idx="5"/>
          </p:nvPr>
        </p:nvSpPr>
        <p:spPr/>
        <p:txBody>
          <a:bodyPr/>
          <a:lstStyle/>
          <a:p>
            <a:fld id="{D2061F1A-E494-4223-A600-C9DDF71EE410}" type="slidenum">
              <a:rPr lang="en-MY" smtClean="0"/>
              <a:t>9</a:t>
            </a:fld>
            <a:endParaRPr lang="en-MY"/>
          </a:p>
        </p:txBody>
      </p:sp>
    </p:spTree>
    <p:extLst>
      <p:ext uri="{BB962C8B-B14F-4D97-AF65-F5344CB8AC3E}">
        <p14:creationId xmlns:p14="http://schemas.microsoft.com/office/powerpoint/2010/main" val="16333308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DC458-ABD2-6554-4EEC-0D16A32B07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4BC865-94A3-188F-B3E6-5A7610E719E2}"/>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C79109B-9008-0773-3AD8-E8915AC0A01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3781BED9-7438-FFAF-C137-6ACCDC21506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17F82F19-6671-66BA-EB51-B8BCB6771018}"/>
              </a:ext>
            </a:extLst>
          </p:cNvPr>
          <p:cNvSpPr>
            <a:spLocks noGrp="1"/>
          </p:cNvSpPr>
          <p:nvPr>
            <p:ph type="sldNum" sz="quarter" idx="5"/>
          </p:nvPr>
        </p:nvSpPr>
        <p:spPr/>
        <p:txBody>
          <a:bodyPr/>
          <a:lstStyle/>
          <a:p>
            <a:fld id="{D2061F1A-E494-4223-A600-C9DDF71EE410}" type="slidenum">
              <a:rPr lang="en-MY" smtClean="0"/>
              <a:t>10</a:t>
            </a:fld>
            <a:endParaRPr lang="en-MY"/>
          </a:p>
        </p:txBody>
      </p:sp>
    </p:spTree>
    <p:extLst>
      <p:ext uri="{BB962C8B-B14F-4D97-AF65-F5344CB8AC3E}">
        <p14:creationId xmlns:p14="http://schemas.microsoft.com/office/powerpoint/2010/main" val="17352589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13C2C-7059-BBBE-2D23-3BA45A3EDF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E9ED7E-A926-2E55-95AB-F9AC5C60F4C9}"/>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E8C53349-C645-E94B-19B8-34F3B0735B7D}"/>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E9EB3BBC-B03F-C9BB-112D-38F52BAC088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747207DE-EA22-29A7-8AB4-EB79D33E93DB}"/>
              </a:ext>
            </a:extLst>
          </p:cNvPr>
          <p:cNvSpPr>
            <a:spLocks noGrp="1"/>
          </p:cNvSpPr>
          <p:nvPr>
            <p:ph type="sldNum" sz="quarter" idx="5"/>
          </p:nvPr>
        </p:nvSpPr>
        <p:spPr/>
        <p:txBody>
          <a:bodyPr/>
          <a:lstStyle/>
          <a:p>
            <a:fld id="{D2061F1A-E494-4223-A600-C9DDF71EE410}" type="slidenum">
              <a:rPr lang="en-MY" smtClean="0"/>
              <a:t>11</a:t>
            </a:fld>
            <a:endParaRPr lang="en-MY"/>
          </a:p>
        </p:txBody>
      </p:sp>
    </p:spTree>
    <p:extLst>
      <p:ext uri="{BB962C8B-B14F-4D97-AF65-F5344CB8AC3E}">
        <p14:creationId xmlns:p14="http://schemas.microsoft.com/office/powerpoint/2010/main" val="19700694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11D3A-94E0-A6DB-8592-E55AD194CF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FAF8F6-DA7E-894D-AFFD-5B98548D0015}"/>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194CF74A-8966-89BC-A1AF-740354573F4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A79918C7-5659-8BAD-9AB8-644757CE223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030CF70F-5993-D851-7B2D-23D352F891FA}"/>
              </a:ext>
            </a:extLst>
          </p:cNvPr>
          <p:cNvSpPr>
            <a:spLocks noGrp="1"/>
          </p:cNvSpPr>
          <p:nvPr>
            <p:ph type="sldNum" sz="quarter" idx="5"/>
          </p:nvPr>
        </p:nvSpPr>
        <p:spPr/>
        <p:txBody>
          <a:bodyPr/>
          <a:lstStyle/>
          <a:p>
            <a:fld id="{D2061F1A-E494-4223-A600-C9DDF71EE410}" type="slidenum">
              <a:rPr lang="en-MY" smtClean="0"/>
              <a:t>12</a:t>
            </a:fld>
            <a:endParaRPr lang="en-MY"/>
          </a:p>
        </p:txBody>
      </p:sp>
    </p:spTree>
    <p:extLst>
      <p:ext uri="{BB962C8B-B14F-4D97-AF65-F5344CB8AC3E}">
        <p14:creationId xmlns:p14="http://schemas.microsoft.com/office/powerpoint/2010/main" val="37846694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215AB-CCAF-880C-E3BB-5D9B6AF040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768770-A007-EEFC-5E71-63CFC1942775}"/>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7407975-DE57-89DC-8E3E-552542B415C9}"/>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C67DFC6C-2BE8-D96E-0895-F2AD15A65DB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BFF3993-522B-3CBA-FCB3-BA6C8129A1A1}"/>
              </a:ext>
            </a:extLst>
          </p:cNvPr>
          <p:cNvSpPr>
            <a:spLocks noGrp="1"/>
          </p:cNvSpPr>
          <p:nvPr>
            <p:ph type="sldNum" sz="quarter" idx="5"/>
          </p:nvPr>
        </p:nvSpPr>
        <p:spPr/>
        <p:txBody>
          <a:bodyPr/>
          <a:lstStyle/>
          <a:p>
            <a:fld id="{D2061F1A-E494-4223-A600-C9DDF71EE410}" type="slidenum">
              <a:rPr lang="en-MY" smtClean="0"/>
              <a:t>13</a:t>
            </a:fld>
            <a:endParaRPr lang="en-MY"/>
          </a:p>
        </p:txBody>
      </p:sp>
    </p:spTree>
    <p:extLst>
      <p:ext uri="{BB962C8B-B14F-4D97-AF65-F5344CB8AC3E}">
        <p14:creationId xmlns:p14="http://schemas.microsoft.com/office/powerpoint/2010/main" val="32138076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A75E4-5B8A-0993-9CFC-1EBBC6AF47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07FA8D-541F-85D1-3B0E-5E52FA7A2227}"/>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40908DC5-2D72-0A0D-6917-A70391F43A37}"/>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306B2AFA-6BCD-9A86-5541-5A77E6D1E2CC}"/>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978130D1-31AB-DC07-1A1C-D3DD3B95BD5D}"/>
              </a:ext>
            </a:extLst>
          </p:cNvPr>
          <p:cNvSpPr>
            <a:spLocks noGrp="1"/>
          </p:cNvSpPr>
          <p:nvPr>
            <p:ph type="sldNum" sz="quarter" idx="5"/>
          </p:nvPr>
        </p:nvSpPr>
        <p:spPr/>
        <p:txBody>
          <a:bodyPr/>
          <a:lstStyle/>
          <a:p>
            <a:fld id="{D2061F1A-E494-4223-A600-C9DDF71EE410}" type="slidenum">
              <a:rPr lang="en-MY" smtClean="0"/>
              <a:t>14</a:t>
            </a:fld>
            <a:endParaRPr lang="en-MY"/>
          </a:p>
        </p:txBody>
      </p:sp>
    </p:spTree>
    <p:extLst>
      <p:ext uri="{BB962C8B-B14F-4D97-AF65-F5344CB8AC3E}">
        <p14:creationId xmlns:p14="http://schemas.microsoft.com/office/powerpoint/2010/main" val="27361690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53BC7-4936-9E01-2FFE-88E2C13432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BBD1C-A7E5-8BFF-46A5-997B88EBD2FF}"/>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0BC71868-02A3-86EB-A943-23CD3DE17BE5}"/>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62F22ECC-1A70-1D35-AA37-754B84EF9F4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3F7DFB7-9BB6-53D5-8036-90712625EF22}"/>
              </a:ext>
            </a:extLst>
          </p:cNvPr>
          <p:cNvSpPr>
            <a:spLocks noGrp="1"/>
          </p:cNvSpPr>
          <p:nvPr>
            <p:ph type="sldNum" sz="quarter" idx="5"/>
          </p:nvPr>
        </p:nvSpPr>
        <p:spPr/>
        <p:txBody>
          <a:bodyPr/>
          <a:lstStyle/>
          <a:p>
            <a:fld id="{D2061F1A-E494-4223-A600-C9DDF71EE410}" type="slidenum">
              <a:rPr lang="en-MY" smtClean="0"/>
              <a:t>15</a:t>
            </a:fld>
            <a:endParaRPr lang="en-MY"/>
          </a:p>
        </p:txBody>
      </p:sp>
    </p:spTree>
    <p:extLst>
      <p:ext uri="{BB962C8B-B14F-4D97-AF65-F5344CB8AC3E}">
        <p14:creationId xmlns:p14="http://schemas.microsoft.com/office/powerpoint/2010/main" val="16768176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1CFA2-DE8B-D8A8-6910-20AE94234C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8C37FC-6C0B-E8C4-53BF-8856CE456568}"/>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CD27C31A-4009-281D-0577-0FC36206B3C6}"/>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B2F2191D-4FF9-082A-C742-5CB4449F6FB8}"/>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EB7E7B0-E4BF-FDC7-84BD-AA5BF1366511}"/>
              </a:ext>
            </a:extLst>
          </p:cNvPr>
          <p:cNvSpPr>
            <a:spLocks noGrp="1"/>
          </p:cNvSpPr>
          <p:nvPr>
            <p:ph type="sldNum" sz="quarter" idx="5"/>
          </p:nvPr>
        </p:nvSpPr>
        <p:spPr/>
        <p:txBody>
          <a:bodyPr/>
          <a:lstStyle/>
          <a:p>
            <a:fld id="{D2061F1A-E494-4223-A600-C9DDF71EE410}" type="slidenum">
              <a:rPr lang="en-MY" smtClean="0"/>
              <a:t>16</a:t>
            </a:fld>
            <a:endParaRPr lang="en-MY"/>
          </a:p>
        </p:txBody>
      </p:sp>
    </p:spTree>
    <p:extLst>
      <p:ext uri="{BB962C8B-B14F-4D97-AF65-F5344CB8AC3E}">
        <p14:creationId xmlns:p14="http://schemas.microsoft.com/office/powerpoint/2010/main" val="12893285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AC990-3806-3E3B-EBC3-80E5F1F7D2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934284-6960-9A00-DC36-A3B2E4C38989}"/>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92913040-243F-78DB-F5A7-7DDA36D2A5F3}"/>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A7214558-927D-30F8-30A9-ED11D5442324}"/>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7CA0E24F-A2E7-4D7B-CAFD-C1F4AA80DBD9}"/>
              </a:ext>
            </a:extLst>
          </p:cNvPr>
          <p:cNvSpPr>
            <a:spLocks noGrp="1"/>
          </p:cNvSpPr>
          <p:nvPr>
            <p:ph type="sldNum" sz="quarter" idx="5"/>
          </p:nvPr>
        </p:nvSpPr>
        <p:spPr/>
        <p:txBody>
          <a:bodyPr/>
          <a:lstStyle/>
          <a:p>
            <a:fld id="{D2061F1A-E494-4223-A600-C9DDF71EE410}" type="slidenum">
              <a:rPr lang="en-MY" smtClean="0"/>
              <a:t>17</a:t>
            </a:fld>
            <a:endParaRPr lang="en-MY"/>
          </a:p>
        </p:txBody>
      </p:sp>
    </p:spTree>
    <p:extLst>
      <p:ext uri="{BB962C8B-B14F-4D97-AF65-F5344CB8AC3E}">
        <p14:creationId xmlns:p14="http://schemas.microsoft.com/office/powerpoint/2010/main" val="24696507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4AA89-7276-CB77-50BF-A5AD8C9D6F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0E4BBE-64B1-01C0-347A-709F95AA8D4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79B1A23A-9D8D-A23C-EE18-BB6DAD989C88}"/>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5C884D52-BC68-472B-68CE-BBE477F018DA}"/>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487E913-03C8-583B-7F11-E95A752774F0}"/>
              </a:ext>
            </a:extLst>
          </p:cNvPr>
          <p:cNvSpPr>
            <a:spLocks noGrp="1"/>
          </p:cNvSpPr>
          <p:nvPr>
            <p:ph type="sldNum" sz="quarter" idx="5"/>
          </p:nvPr>
        </p:nvSpPr>
        <p:spPr/>
        <p:txBody>
          <a:bodyPr/>
          <a:lstStyle/>
          <a:p>
            <a:fld id="{D2061F1A-E494-4223-A600-C9DDF71EE410}" type="slidenum">
              <a:rPr lang="en-MY" smtClean="0"/>
              <a:t>18</a:t>
            </a:fld>
            <a:endParaRPr lang="en-MY"/>
          </a:p>
        </p:txBody>
      </p:sp>
    </p:spTree>
    <p:extLst>
      <p:ext uri="{BB962C8B-B14F-4D97-AF65-F5344CB8AC3E}">
        <p14:creationId xmlns:p14="http://schemas.microsoft.com/office/powerpoint/2010/main" val="5518415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1C1C6-CFC7-F5F2-BADF-31171919D5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039A46-F631-E37C-9A31-0BF915FD0399}"/>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F878DD74-275D-04ED-8285-3FE618D26FEE}"/>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C99A4E65-B303-E83C-FC5A-74B5358DB248}"/>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A06B8344-E84F-DF7C-32EB-B340770925D8}"/>
              </a:ext>
            </a:extLst>
          </p:cNvPr>
          <p:cNvSpPr>
            <a:spLocks noGrp="1"/>
          </p:cNvSpPr>
          <p:nvPr>
            <p:ph type="sldNum" sz="quarter" idx="5"/>
          </p:nvPr>
        </p:nvSpPr>
        <p:spPr/>
        <p:txBody>
          <a:bodyPr/>
          <a:lstStyle/>
          <a:p>
            <a:fld id="{D2061F1A-E494-4223-A600-C9DDF71EE410}" type="slidenum">
              <a:rPr lang="en-MY" smtClean="0"/>
              <a:t>19</a:t>
            </a:fld>
            <a:endParaRPr lang="en-MY"/>
          </a:p>
        </p:txBody>
      </p:sp>
    </p:spTree>
    <p:extLst>
      <p:ext uri="{BB962C8B-B14F-4D97-AF65-F5344CB8AC3E}">
        <p14:creationId xmlns:p14="http://schemas.microsoft.com/office/powerpoint/2010/main" val="3091543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FF7C4-719A-6B45-367D-A5102C01FB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6F8474-E681-2787-8D16-34CFC0494C46}"/>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F4B7ECD-1D46-859B-E14A-69B8AFBF5DF1}"/>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5FBA4A67-3ACC-E420-AC50-7EC24DA4D5A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FFDA1C3-05EA-F1BA-C772-91FB6C0BAB02}"/>
              </a:ext>
            </a:extLst>
          </p:cNvPr>
          <p:cNvSpPr>
            <a:spLocks noGrp="1"/>
          </p:cNvSpPr>
          <p:nvPr>
            <p:ph type="sldNum" sz="quarter" idx="5"/>
          </p:nvPr>
        </p:nvSpPr>
        <p:spPr/>
        <p:txBody>
          <a:bodyPr/>
          <a:lstStyle/>
          <a:p>
            <a:fld id="{D2061F1A-E494-4223-A600-C9DDF71EE410}" type="slidenum">
              <a:rPr lang="en-MY" smtClean="0"/>
              <a:t>20</a:t>
            </a:fld>
            <a:endParaRPr lang="en-MY"/>
          </a:p>
        </p:txBody>
      </p:sp>
    </p:spTree>
    <p:extLst>
      <p:ext uri="{BB962C8B-B14F-4D97-AF65-F5344CB8AC3E}">
        <p14:creationId xmlns:p14="http://schemas.microsoft.com/office/powerpoint/2010/main" val="17568902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DCE49-0E23-3065-DB43-96E365D74F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40C404-5B6F-A91C-DD98-B33A8F439F9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41D5F171-C98D-0E3F-F925-4740F4F4B392}"/>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42C1ED37-5E0A-698F-FED8-31D4F4A02FC9}"/>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0ECC693C-DCD8-D2BC-D118-D89CBA44E6D5}"/>
              </a:ext>
            </a:extLst>
          </p:cNvPr>
          <p:cNvSpPr>
            <a:spLocks noGrp="1"/>
          </p:cNvSpPr>
          <p:nvPr>
            <p:ph type="sldNum" sz="quarter" idx="5"/>
          </p:nvPr>
        </p:nvSpPr>
        <p:spPr/>
        <p:txBody>
          <a:bodyPr/>
          <a:lstStyle/>
          <a:p>
            <a:fld id="{D2061F1A-E494-4223-A600-C9DDF71EE410}" type="slidenum">
              <a:rPr lang="en-MY" smtClean="0"/>
              <a:t>21</a:t>
            </a:fld>
            <a:endParaRPr lang="en-MY"/>
          </a:p>
        </p:txBody>
      </p:sp>
    </p:spTree>
    <p:extLst>
      <p:ext uri="{BB962C8B-B14F-4D97-AF65-F5344CB8AC3E}">
        <p14:creationId xmlns:p14="http://schemas.microsoft.com/office/powerpoint/2010/main" val="6407559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546BF-A5D3-EB79-8532-8103923B69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DEB233-6E98-A4D7-3CFA-91FC449B0494}"/>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9DEE791-79F6-781C-908F-2C1653054A75}"/>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C9266662-7A37-20FB-7C55-439CE5E4D63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18BAF71-B897-AB83-45DD-3E3C58F8DC85}"/>
              </a:ext>
            </a:extLst>
          </p:cNvPr>
          <p:cNvSpPr>
            <a:spLocks noGrp="1"/>
          </p:cNvSpPr>
          <p:nvPr>
            <p:ph type="sldNum" sz="quarter" idx="5"/>
          </p:nvPr>
        </p:nvSpPr>
        <p:spPr/>
        <p:txBody>
          <a:bodyPr/>
          <a:lstStyle/>
          <a:p>
            <a:fld id="{D2061F1A-E494-4223-A600-C9DDF71EE410}" type="slidenum">
              <a:rPr lang="en-MY" smtClean="0"/>
              <a:t>22</a:t>
            </a:fld>
            <a:endParaRPr lang="en-MY"/>
          </a:p>
        </p:txBody>
      </p:sp>
    </p:spTree>
    <p:extLst>
      <p:ext uri="{BB962C8B-B14F-4D97-AF65-F5344CB8AC3E}">
        <p14:creationId xmlns:p14="http://schemas.microsoft.com/office/powerpoint/2010/main" val="26617326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71B42-3A6E-2FA5-7EFE-F9F00DB18E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49299C-0D72-9E37-D675-3EB2EAE46017}"/>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5C3291E-EABA-C60E-7960-91CF1866D190}"/>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522E699F-BC28-C52B-7FE4-C61012A6B26B}"/>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185020B-E505-9D63-DA16-F872A647E5B2}"/>
              </a:ext>
            </a:extLst>
          </p:cNvPr>
          <p:cNvSpPr>
            <a:spLocks noGrp="1"/>
          </p:cNvSpPr>
          <p:nvPr>
            <p:ph type="sldNum" sz="quarter" idx="5"/>
          </p:nvPr>
        </p:nvSpPr>
        <p:spPr/>
        <p:txBody>
          <a:bodyPr/>
          <a:lstStyle/>
          <a:p>
            <a:fld id="{D2061F1A-E494-4223-A600-C9DDF71EE410}" type="slidenum">
              <a:rPr lang="en-MY" smtClean="0"/>
              <a:t>23</a:t>
            </a:fld>
            <a:endParaRPr lang="en-MY"/>
          </a:p>
        </p:txBody>
      </p:sp>
    </p:spTree>
    <p:extLst>
      <p:ext uri="{BB962C8B-B14F-4D97-AF65-F5344CB8AC3E}">
        <p14:creationId xmlns:p14="http://schemas.microsoft.com/office/powerpoint/2010/main" val="7797016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EA58E-AA20-9AD3-029B-3CECD2C8C0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758594-8D15-AE6D-2FEA-5B37F1C63B2A}"/>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02922FBE-FA61-E4A4-D36E-83D824E06FD0}"/>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6CE79544-471E-2E38-AB93-75029BA726F0}"/>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300DA3F-F507-A66E-3ECB-9F2A1E973F10}"/>
              </a:ext>
            </a:extLst>
          </p:cNvPr>
          <p:cNvSpPr>
            <a:spLocks noGrp="1"/>
          </p:cNvSpPr>
          <p:nvPr>
            <p:ph type="sldNum" sz="quarter" idx="5"/>
          </p:nvPr>
        </p:nvSpPr>
        <p:spPr/>
        <p:txBody>
          <a:bodyPr/>
          <a:lstStyle/>
          <a:p>
            <a:fld id="{D2061F1A-E494-4223-A600-C9DDF71EE410}" type="slidenum">
              <a:rPr lang="en-MY" smtClean="0"/>
              <a:t>24</a:t>
            </a:fld>
            <a:endParaRPr lang="en-MY"/>
          </a:p>
        </p:txBody>
      </p:sp>
    </p:spTree>
    <p:extLst>
      <p:ext uri="{BB962C8B-B14F-4D97-AF65-F5344CB8AC3E}">
        <p14:creationId xmlns:p14="http://schemas.microsoft.com/office/powerpoint/2010/main" val="41676293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E86E0-8546-80B8-957A-D8A06D9B35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3E4450-592D-C8EE-D435-17F50EA10A0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98E2500-E0C0-17B5-4033-97A5F78A5FED}"/>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A1A3928F-9E03-3585-2FA0-E7669D3C8F6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13FBB4F6-837E-4F78-FD36-D52BD5A4DCB1}"/>
              </a:ext>
            </a:extLst>
          </p:cNvPr>
          <p:cNvSpPr>
            <a:spLocks noGrp="1"/>
          </p:cNvSpPr>
          <p:nvPr>
            <p:ph type="sldNum" sz="quarter" idx="5"/>
          </p:nvPr>
        </p:nvSpPr>
        <p:spPr/>
        <p:txBody>
          <a:bodyPr/>
          <a:lstStyle/>
          <a:p>
            <a:fld id="{D2061F1A-E494-4223-A600-C9DDF71EE410}" type="slidenum">
              <a:rPr lang="en-MY" smtClean="0"/>
              <a:t>25</a:t>
            </a:fld>
            <a:endParaRPr lang="en-MY"/>
          </a:p>
        </p:txBody>
      </p:sp>
    </p:spTree>
    <p:extLst>
      <p:ext uri="{BB962C8B-B14F-4D97-AF65-F5344CB8AC3E}">
        <p14:creationId xmlns:p14="http://schemas.microsoft.com/office/powerpoint/2010/main" val="22999917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ED2E9-38F1-C200-0681-99325A493F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523780-EE34-4843-565C-860E78123FF7}"/>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24B9460-CFBD-322F-ABC0-9E687A65AB50}"/>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A89B5CCD-CBE7-8D2C-9169-BDCEF0C10402}"/>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3274924F-FCBB-15F9-551F-13AAF062D2BB}"/>
              </a:ext>
            </a:extLst>
          </p:cNvPr>
          <p:cNvSpPr>
            <a:spLocks noGrp="1"/>
          </p:cNvSpPr>
          <p:nvPr>
            <p:ph type="sldNum" sz="quarter" idx="5"/>
          </p:nvPr>
        </p:nvSpPr>
        <p:spPr/>
        <p:txBody>
          <a:bodyPr/>
          <a:lstStyle/>
          <a:p>
            <a:fld id="{D2061F1A-E494-4223-A600-C9DDF71EE410}" type="slidenum">
              <a:rPr lang="en-MY" smtClean="0"/>
              <a:t>26</a:t>
            </a:fld>
            <a:endParaRPr lang="en-MY"/>
          </a:p>
        </p:txBody>
      </p:sp>
    </p:spTree>
    <p:extLst>
      <p:ext uri="{BB962C8B-B14F-4D97-AF65-F5344CB8AC3E}">
        <p14:creationId xmlns:p14="http://schemas.microsoft.com/office/powerpoint/2010/main" val="4255127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3014B-A3A0-F2CF-2BA1-CDD72B1444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FFF6E-FF18-67F7-2F6B-66A5022412D6}"/>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44A0ABE4-2B7A-D3B9-5664-021B89C02DD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80B414DA-F59E-7A72-DE22-E25DE0DCA1A7}"/>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9C18DCCA-4F31-EF20-9BBC-25C335576B8C}"/>
              </a:ext>
            </a:extLst>
          </p:cNvPr>
          <p:cNvSpPr>
            <a:spLocks noGrp="1"/>
          </p:cNvSpPr>
          <p:nvPr>
            <p:ph type="sldNum" sz="quarter" idx="5"/>
          </p:nvPr>
        </p:nvSpPr>
        <p:spPr/>
        <p:txBody>
          <a:bodyPr/>
          <a:lstStyle/>
          <a:p>
            <a:fld id="{D2061F1A-E494-4223-A600-C9DDF71EE410}" type="slidenum">
              <a:rPr lang="en-MY" smtClean="0"/>
              <a:t>27</a:t>
            </a:fld>
            <a:endParaRPr lang="en-MY"/>
          </a:p>
        </p:txBody>
      </p:sp>
    </p:spTree>
    <p:extLst>
      <p:ext uri="{BB962C8B-B14F-4D97-AF65-F5344CB8AC3E}">
        <p14:creationId xmlns:p14="http://schemas.microsoft.com/office/powerpoint/2010/main" val="25575018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F49CC-1944-AFBE-4AEF-989E36D1F7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3806DA-5842-B511-0FEB-5502CF4C86E4}"/>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DDD9BE2D-38DE-8ACE-F2B7-45CC6E76DF8C}"/>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AEFE6C6F-87C8-0F12-33DE-CE3A7ED5300A}"/>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C8242741-CD7A-8319-5C1D-14285F61E080}"/>
              </a:ext>
            </a:extLst>
          </p:cNvPr>
          <p:cNvSpPr>
            <a:spLocks noGrp="1"/>
          </p:cNvSpPr>
          <p:nvPr>
            <p:ph type="sldNum" sz="quarter" idx="5"/>
          </p:nvPr>
        </p:nvSpPr>
        <p:spPr/>
        <p:txBody>
          <a:bodyPr/>
          <a:lstStyle/>
          <a:p>
            <a:fld id="{D2061F1A-E494-4223-A600-C9DDF71EE410}" type="slidenum">
              <a:rPr lang="en-MY" smtClean="0"/>
              <a:t>28</a:t>
            </a:fld>
            <a:endParaRPr lang="en-MY"/>
          </a:p>
        </p:txBody>
      </p:sp>
    </p:spTree>
    <p:extLst>
      <p:ext uri="{BB962C8B-B14F-4D97-AF65-F5344CB8AC3E}">
        <p14:creationId xmlns:p14="http://schemas.microsoft.com/office/powerpoint/2010/main" val="39512147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08E4D-1C71-4728-DBD9-91B331C9F0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8C6BC8-9B55-92C9-AC39-469AA0FB2C58}"/>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E7202CC-AA77-FEDF-C0E5-64B117CFED82}"/>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82A8A1B7-5F52-5781-59AB-7AAC979D0B1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C891E465-E7ED-1268-6591-A5D7FAA535AB}"/>
              </a:ext>
            </a:extLst>
          </p:cNvPr>
          <p:cNvSpPr>
            <a:spLocks noGrp="1"/>
          </p:cNvSpPr>
          <p:nvPr>
            <p:ph type="sldNum" sz="quarter" idx="5"/>
          </p:nvPr>
        </p:nvSpPr>
        <p:spPr/>
        <p:txBody>
          <a:bodyPr/>
          <a:lstStyle/>
          <a:p>
            <a:fld id="{D2061F1A-E494-4223-A600-C9DDF71EE410}" type="slidenum">
              <a:rPr lang="en-MY" smtClean="0"/>
              <a:t>29</a:t>
            </a:fld>
            <a:endParaRPr lang="en-MY"/>
          </a:p>
        </p:txBody>
      </p:sp>
    </p:spTree>
    <p:extLst>
      <p:ext uri="{BB962C8B-B14F-4D97-AF65-F5344CB8AC3E}">
        <p14:creationId xmlns:p14="http://schemas.microsoft.com/office/powerpoint/2010/main" val="20018932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097EF-B6DE-28BA-A119-AF2F807871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DDD436-DD40-BCE9-77F2-686EFB84985D}"/>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FB70BE09-BC76-C162-2367-D0709A246E43}"/>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8C7DB79D-4E20-A137-B1FE-3EEF928246D5}"/>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382B921-AC87-62AA-CEBB-44BC51C33327}"/>
              </a:ext>
            </a:extLst>
          </p:cNvPr>
          <p:cNvSpPr>
            <a:spLocks noGrp="1"/>
          </p:cNvSpPr>
          <p:nvPr>
            <p:ph type="sldNum" sz="quarter" idx="5"/>
          </p:nvPr>
        </p:nvSpPr>
        <p:spPr/>
        <p:txBody>
          <a:bodyPr/>
          <a:lstStyle/>
          <a:p>
            <a:fld id="{D2061F1A-E494-4223-A600-C9DDF71EE410}" type="slidenum">
              <a:rPr lang="en-MY" smtClean="0"/>
              <a:t>30</a:t>
            </a:fld>
            <a:endParaRPr lang="en-MY"/>
          </a:p>
        </p:txBody>
      </p:sp>
    </p:spTree>
    <p:extLst>
      <p:ext uri="{BB962C8B-B14F-4D97-AF65-F5344CB8AC3E}">
        <p14:creationId xmlns:p14="http://schemas.microsoft.com/office/powerpoint/2010/main" val="26628602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9F08F-6536-A64D-8BD5-004FCEBEE2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6CCD75-9BBF-01A6-F70F-F62310333FF6}"/>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1E12BFD2-1E4B-BEE3-3441-5FFE68E6AE5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C3DE092D-E5E4-8005-9C63-F87EBAE4DA31}"/>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F1C4EFC-1038-B5BC-0C21-A9D9C8F53BC5}"/>
              </a:ext>
            </a:extLst>
          </p:cNvPr>
          <p:cNvSpPr>
            <a:spLocks noGrp="1"/>
          </p:cNvSpPr>
          <p:nvPr>
            <p:ph type="sldNum" sz="quarter" idx="5"/>
          </p:nvPr>
        </p:nvSpPr>
        <p:spPr/>
        <p:txBody>
          <a:bodyPr/>
          <a:lstStyle/>
          <a:p>
            <a:fld id="{D2061F1A-E494-4223-A600-C9DDF71EE410}" type="slidenum">
              <a:rPr lang="en-MY" smtClean="0"/>
              <a:t>31</a:t>
            </a:fld>
            <a:endParaRPr lang="en-MY"/>
          </a:p>
        </p:txBody>
      </p:sp>
    </p:spTree>
    <p:extLst>
      <p:ext uri="{BB962C8B-B14F-4D97-AF65-F5344CB8AC3E}">
        <p14:creationId xmlns:p14="http://schemas.microsoft.com/office/powerpoint/2010/main" val="23330923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FC91D-BF1E-2A2C-0CFA-B0B3525340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937562-A98B-8481-B531-CE688142DBCE}"/>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E33DCA3C-4F80-1857-B3BA-28760D475301}"/>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058705B6-522B-ACDF-F07D-45BE6E51ADC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7D132BA-713E-B0FE-5441-6D215A9FB480}"/>
              </a:ext>
            </a:extLst>
          </p:cNvPr>
          <p:cNvSpPr>
            <a:spLocks noGrp="1"/>
          </p:cNvSpPr>
          <p:nvPr>
            <p:ph type="sldNum" sz="quarter" idx="5"/>
          </p:nvPr>
        </p:nvSpPr>
        <p:spPr/>
        <p:txBody>
          <a:bodyPr/>
          <a:lstStyle/>
          <a:p>
            <a:fld id="{D2061F1A-E494-4223-A600-C9DDF71EE410}" type="slidenum">
              <a:rPr lang="en-MY" smtClean="0"/>
              <a:t>32</a:t>
            </a:fld>
            <a:endParaRPr lang="en-MY"/>
          </a:p>
        </p:txBody>
      </p:sp>
    </p:spTree>
    <p:extLst>
      <p:ext uri="{BB962C8B-B14F-4D97-AF65-F5344CB8AC3E}">
        <p14:creationId xmlns:p14="http://schemas.microsoft.com/office/powerpoint/2010/main" val="33123818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15052-8D04-9E11-8E29-D6BE7E5906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21EF39-D395-18B5-D225-9E213B457819}"/>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4B6F498F-73DC-44AD-CE74-1764F41FBBD7}"/>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FF5D5ABB-F38B-1945-20D3-26C31D5B9A4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67101790-F030-605D-BF39-41D3C2057A58}"/>
              </a:ext>
            </a:extLst>
          </p:cNvPr>
          <p:cNvSpPr>
            <a:spLocks noGrp="1"/>
          </p:cNvSpPr>
          <p:nvPr>
            <p:ph type="sldNum" sz="quarter" idx="5"/>
          </p:nvPr>
        </p:nvSpPr>
        <p:spPr/>
        <p:txBody>
          <a:bodyPr/>
          <a:lstStyle/>
          <a:p>
            <a:fld id="{D2061F1A-E494-4223-A600-C9DDF71EE410}" type="slidenum">
              <a:rPr lang="en-MY" smtClean="0"/>
              <a:t>33</a:t>
            </a:fld>
            <a:endParaRPr lang="en-MY"/>
          </a:p>
        </p:txBody>
      </p:sp>
    </p:spTree>
    <p:extLst>
      <p:ext uri="{BB962C8B-B14F-4D97-AF65-F5344CB8AC3E}">
        <p14:creationId xmlns:p14="http://schemas.microsoft.com/office/powerpoint/2010/main" val="17150780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6488B-B955-D6D2-0C00-6F5C54C2E2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71700A-1AE2-B004-9435-D2F22EDDDD96}"/>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4563D5EF-0BD3-56D2-02D5-604E6FA0DD6A}"/>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CBAC6773-B51F-95D4-6343-64A8D2C87BCA}"/>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B8687E4-CF37-2DFA-DFE8-607BB091D8CF}"/>
              </a:ext>
            </a:extLst>
          </p:cNvPr>
          <p:cNvSpPr>
            <a:spLocks noGrp="1"/>
          </p:cNvSpPr>
          <p:nvPr>
            <p:ph type="sldNum" sz="quarter" idx="5"/>
          </p:nvPr>
        </p:nvSpPr>
        <p:spPr/>
        <p:txBody>
          <a:bodyPr/>
          <a:lstStyle/>
          <a:p>
            <a:fld id="{D2061F1A-E494-4223-A600-C9DDF71EE410}" type="slidenum">
              <a:rPr lang="en-MY" smtClean="0"/>
              <a:t>34</a:t>
            </a:fld>
            <a:endParaRPr lang="en-MY"/>
          </a:p>
        </p:txBody>
      </p:sp>
    </p:spTree>
    <p:extLst>
      <p:ext uri="{BB962C8B-B14F-4D97-AF65-F5344CB8AC3E}">
        <p14:creationId xmlns:p14="http://schemas.microsoft.com/office/powerpoint/2010/main" val="6687162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6D935-2912-BDD9-D517-EB2FB8A1CA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3A9B0A-B761-BF89-D3C9-E22358D3FA1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186FE241-BD25-B8E8-EC0F-596A94045CFC}"/>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DEF4503C-38F1-CA27-51FB-801072A7899F}"/>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05C684F9-F845-05B6-3F37-3A2A1FACF140}"/>
              </a:ext>
            </a:extLst>
          </p:cNvPr>
          <p:cNvSpPr>
            <a:spLocks noGrp="1"/>
          </p:cNvSpPr>
          <p:nvPr>
            <p:ph type="sldNum" sz="quarter" idx="5"/>
          </p:nvPr>
        </p:nvSpPr>
        <p:spPr/>
        <p:txBody>
          <a:bodyPr/>
          <a:lstStyle/>
          <a:p>
            <a:fld id="{D2061F1A-E494-4223-A600-C9DDF71EE410}" type="slidenum">
              <a:rPr lang="en-MY" smtClean="0"/>
              <a:t>35</a:t>
            </a:fld>
            <a:endParaRPr lang="en-MY"/>
          </a:p>
        </p:txBody>
      </p:sp>
    </p:spTree>
    <p:extLst>
      <p:ext uri="{BB962C8B-B14F-4D97-AF65-F5344CB8AC3E}">
        <p14:creationId xmlns:p14="http://schemas.microsoft.com/office/powerpoint/2010/main" val="110040415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A7A08-003A-99EC-E748-18A12D4BC5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43725D-62AE-71BD-D8CF-56B702F5F087}"/>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8350C5C4-0F69-67A9-529E-5E10DFF8F883}"/>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F78A57AA-3C39-0AC8-BBB6-E737D3B2CA11}"/>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46F3B00-938F-6EA1-B000-A1C175AB6902}"/>
              </a:ext>
            </a:extLst>
          </p:cNvPr>
          <p:cNvSpPr>
            <a:spLocks noGrp="1"/>
          </p:cNvSpPr>
          <p:nvPr>
            <p:ph type="sldNum" sz="quarter" idx="5"/>
          </p:nvPr>
        </p:nvSpPr>
        <p:spPr/>
        <p:txBody>
          <a:bodyPr/>
          <a:lstStyle/>
          <a:p>
            <a:fld id="{D2061F1A-E494-4223-A600-C9DDF71EE410}" type="slidenum">
              <a:rPr lang="en-MY" smtClean="0"/>
              <a:t>36</a:t>
            </a:fld>
            <a:endParaRPr lang="en-MY"/>
          </a:p>
        </p:txBody>
      </p:sp>
    </p:spTree>
    <p:extLst>
      <p:ext uri="{BB962C8B-B14F-4D97-AF65-F5344CB8AC3E}">
        <p14:creationId xmlns:p14="http://schemas.microsoft.com/office/powerpoint/2010/main" val="42624199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95DAF-1A10-870D-115A-7430303826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5EBD7B-124C-CD8F-B448-41AB65214F77}"/>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52672F28-75CC-E6F2-3E6B-82C8609478F8}"/>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B8CA84CE-26E3-264C-1F96-A632D493096B}"/>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78261F80-43CD-AA04-CD77-F59AEC551A54}"/>
              </a:ext>
            </a:extLst>
          </p:cNvPr>
          <p:cNvSpPr>
            <a:spLocks noGrp="1"/>
          </p:cNvSpPr>
          <p:nvPr>
            <p:ph type="sldNum" sz="quarter" idx="5"/>
          </p:nvPr>
        </p:nvSpPr>
        <p:spPr/>
        <p:txBody>
          <a:bodyPr/>
          <a:lstStyle/>
          <a:p>
            <a:fld id="{D2061F1A-E494-4223-A600-C9DDF71EE410}" type="slidenum">
              <a:rPr lang="en-MY" smtClean="0"/>
              <a:t>37</a:t>
            </a:fld>
            <a:endParaRPr lang="en-MY"/>
          </a:p>
        </p:txBody>
      </p:sp>
    </p:spTree>
    <p:extLst>
      <p:ext uri="{BB962C8B-B14F-4D97-AF65-F5344CB8AC3E}">
        <p14:creationId xmlns:p14="http://schemas.microsoft.com/office/powerpoint/2010/main" val="11031422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0D53C-DE11-17E4-3C83-0E3490CF7D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BA3D30-82F3-793B-64D6-38836D551879}"/>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B2FB48A4-551F-0017-11AA-B08FEF4031F6}"/>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75FEB615-DE97-F1CB-CC82-7AC6E2A450BA}"/>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CD6B220-0C76-0C89-AF44-5C674A780CDF}"/>
              </a:ext>
            </a:extLst>
          </p:cNvPr>
          <p:cNvSpPr>
            <a:spLocks noGrp="1"/>
          </p:cNvSpPr>
          <p:nvPr>
            <p:ph type="sldNum" sz="quarter" idx="5"/>
          </p:nvPr>
        </p:nvSpPr>
        <p:spPr/>
        <p:txBody>
          <a:bodyPr/>
          <a:lstStyle/>
          <a:p>
            <a:fld id="{D2061F1A-E494-4223-A600-C9DDF71EE410}" type="slidenum">
              <a:rPr lang="en-MY" smtClean="0"/>
              <a:t>38</a:t>
            </a:fld>
            <a:endParaRPr lang="en-MY"/>
          </a:p>
        </p:txBody>
      </p:sp>
    </p:spTree>
    <p:extLst>
      <p:ext uri="{BB962C8B-B14F-4D97-AF65-F5344CB8AC3E}">
        <p14:creationId xmlns:p14="http://schemas.microsoft.com/office/powerpoint/2010/main" val="1897488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83254-679F-B4BF-FF7B-BEFEB990F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C9D109-B843-4602-DA99-CA8D61143074}"/>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C65A2DA-95C2-44D6-C42F-FAC8045649DD}"/>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A7E3AEC6-0ABF-F032-0458-0DD782C7AB1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C6FF6490-C4D4-F815-7181-C4D4AC3CFDCC}"/>
              </a:ext>
            </a:extLst>
          </p:cNvPr>
          <p:cNvSpPr>
            <a:spLocks noGrp="1"/>
          </p:cNvSpPr>
          <p:nvPr>
            <p:ph type="sldNum" sz="quarter" idx="5"/>
          </p:nvPr>
        </p:nvSpPr>
        <p:spPr/>
        <p:txBody>
          <a:bodyPr/>
          <a:lstStyle/>
          <a:p>
            <a:fld id="{D2061F1A-E494-4223-A600-C9DDF71EE410}" type="slidenum">
              <a:rPr lang="en-MY" smtClean="0"/>
              <a:t>39</a:t>
            </a:fld>
            <a:endParaRPr lang="en-MY"/>
          </a:p>
        </p:txBody>
      </p:sp>
    </p:spTree>
    <p:extLst>
      <p:ext uri="{BB962C8B-B14F-4D97-AF65-F5344CB8AC3E}">
        <p14:creationId xmlns:p14="http://schemas.microsoft.com/office/powerpoint/2010/main" val="160904235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321F1-A681-A2FE-05B6-B15C2521E0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7E49FF-6D72-9471-F9DA-DCE31C3BE98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97C75993-76B0-6CBC-A201-108940C556BE}"/>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B14DA33A-B7BC-84DA-80CF-FF9EA5E4A21E}"/>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88C13C2-D39B-0DA5-ADC3-E3259A8DEC5D}"/>
              </a:ext>
            </a:extLst>
          </p:cNvPr>
          <p:cNvSpPr>
            <a:spLocks noGrp="1"/>
          </p:cNvSpPr>
          <p:nvPr>
            <p:ph type="sldNum" sz="quarter" idx="5"/>
          </p:nvPr>
        </p:nvSpPr>
        <p:spPr/>
        <p:txBody>
          <a:bodyPr/>
          <a:lstStyle/>
          <a:p>
            <a:fld id="{D2061F1A-E494-4223-A600-C9DDF71EE410}" type="slidenum">
              <a:rPr lang="en-MY" smtClean="0"/>
              <a:t>40</a:t>
            </a:fld>
            <a:endParaRPr lang="en-MY"/>
          </a:p>
        </p:txBody>
      </p:sp>
    </p:spTree>
    <p:extLst>
      <p:ext uri="{BB962C8B-B14F-4D97-AF65-F5344CB8AC3E}">
        <p14:creationId xmlns:p14="http://schemas.microsoft.com/office/powerpoint/2010/main" val="4828604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67CE5-9E2C-5D73-58DB-5E9E82B528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92D8CD-3F4B-BD94-EE35-0AAE8099F4B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1CD2098B-C721-4207-A781-558099BC30F1}"/>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3D61C245-53A0-ED63-C326-7424F2B3911E}"/>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62D6540-BED5-247B-F6EF-28940D7066BF}"/>
              </a:ext>
            </a:extLst>
          </p:cNvPr>
          <p:cNvSpPr>
            <a:spLocks noGrp="1"/>
          </p:cNvSpPr>
          <p:nvPr>
            <p:ph type="sldNum" sz="quarter" idx="5"/>
          </p:nvPr>
        </p:nvSpPr>
        <p:spPr/>
        <p:txBody>
          <a:bodyPr/>
          <a:lstStyle/>
          <a:p>
            <a:fld id="{D2061F1A-E494-4223-A600-C9DDF71EE410}" type="slidenum">
              <a:rPr lang="en-MY" smtClean="0"/>
              <a:t>41</a:t>
            </a:fld>
            <a:endParaRPr lang="en-MY"/>
          </a:p>
        </p:txBody>
      </p:sp>
    </p:spTree>
    <p:extLst>
      <p:ext uri="{BB962C8B-B14F-4D97-AF65-F5344CB8AC3E}">
        <p14:creationId xmlns:p14="http://schemas.microsoft.com/office/powerpoint/2010/main" val="361823127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39EF-A5F7-D0FE-4096-851E549E34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5980F0-6AD8-73CB-BA47-5B8D39D2A991}"/>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55178B9D-4544-1A0B-0EA0-C15EC21DA409}"/>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EC8C603-7EB7-2921-3AA3-F1D8F2EBD118}"/>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8FBA8A9-0997-236C-451E-F26F31E65650}"/>
              </a:ext>
            </a:extLst>
          </p:cNvPr>
          <p:cNvSpPr>
            <a:spLocks noGrp="1"/>
          </p:cNvSpPr>
          <p:nvPr>
            <p:ph type="sldNum" sz="quarter" idx="5"/>
          </p:nvPr>
        </p:nvSpPr>
        <p:spPr/>
        <p:txBody>
          <a:bodyPr/>
          <a:lstStyle/>
          <a:p>
            <a:fld id="{D2061F1A-E494-4223-A600-C9DDF71EE410}" type="slidenum">
              <a:rPr lang="en-MY" smtClean="0"/>
              <a:t>42</a:t>
            </a:fld>
            <a:endParaRPr lang="en-MY"/>
          </a:p>
        </p:txBody>
      </p:sp>
    </p:spTree>
    <p:extLst>
      <p:ext uri="{BB962C8B-B14F-4D97-AF65-F5344CB8AC3E}">
        <p14:creationId xmlns:p14="http://schemas.microsoft.com/office/powerpoint/2010/main" val="389640532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8B899-BD72-6990-BC4C-DB151CB6F4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D65CB5-5CFF-A33A-FC46-75FA5D8A038E}"/>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ED88A24-AF1D-B61B-3F6A-7E5BB245FE68}"/>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EAB5EE11-5155-7080-C7A0-7A672730BA8C}"/>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727A22A7-974F-9495-C7CC-C6CC22EAB06F}"/>
              </a:ext>
            </a:extLst>
          </p:cNvPr>
          <p:cNvSpPr>
            <a:spLocks noGrp="1"/>
          </p:cNvSpPr>
          <p:nvPr>
            <p:ph type="sldNum" sz="quarter" idx="5"/>
          </p:nvPr>
        </p:nvSpPr>
        <p:spPr/>
        <p:txBody>
          <a:bodyPr/>
          <a:lstStyle/>
          <a:p>
            <a:fld id="{D2061F1A-E494-4223-A600-C9DDF71EE410}" type="slidenum">
              <a:rPr lang="en-MY" smtClean="0"/>
              <a:t>43</a:t>
            </a:fld>
            <a:endParaRPr lang="en-MY"/>
          </a:p>
        </p:txBody>
      </p:sp>
    </p:spTree>
    <p:extLst>
      <p:ext uri="{BB962C8B-B14F-4D97-AF65-F5344CB8AC3E}">
        <p14:creationId xmlns:p14="http://schemas.microsoft.com/office/powerpoint/2010/main" val="68294099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5173B-9920-3052-7577-6EE010AEC8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F6A4A3-0E95-F44E-DF2B-61101638345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84CBFB9E-34E9-D44B-2DFD-3C9CD498A47E}"/>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F01AE521-C2C3-27CB-60C9-2BB2E99E96B2}"/>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679DCA7-89A1-C298-E2B6-FF48E78A6A03}"/>
              </a:ext>
            </a:extLst>
          </p:cNvPr>
          <p:cNvSpPr>
            <a:spLocks noGrp="1"/>
          </p:cNvSpPr>
          <p:nvPr>
            <p:ph type="sldNum" sz="quarter" idx="5"/>
          </p:nvPr>
        </p:nvSpPr>
        <p:spPr/>
        <p:txBody>
          <a:bodyPr/>
          <a:lstStyle/>
          <a:p>
            <a:fld id="{D2061F1A-E494-4223-A600-C9DDF71EE410}" type="slidenum">
              <a:rPr lang="en-MY" smtClean="0"/>
              <a:t>44</a:t>
            </a:fld>
            <a:endParaRPr lang="en-MY"/>
          </a:p>
        </p:txBody>
      </p:sp>
    </p:spTree>
    <p:extLst>
      <p:ext uri="{BB962C8B-B14F-4D97-AF65-F5344CB8AC3E}">
        <p14:creationId xmlns:p14="http://schemas.microsoft.com/office/powerpoint/2010/main" val="186884441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E1124-96EE-27C4-199B-D2523292D1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B73CAA-D9C6-94E1-A502-50F73E71BFE0}"/>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BE117E8A-9955-8422-4D7C-B074A4F85335}"/>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9C3F202D-3CD5-9BDC-744F-FE2CB64E44CC}"/>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0FF8891B-2B71-0C23-AE2B-78B2B677C5F8}"/>
              </a:ext>
            </a:extLst>
          </p:cNvPr>
          <p:cNvSpPr>
            <a:spLocks noGrp="1"/>
          </p:cNvSpPr>
          <p:nvPr>
            <p:ph type="sldNum" sz="quarter" idx="5"/>
          </p:nvPr>
        </p:nvSpPr>
        <p:spPr/>
        <p:txBody>
          <a:bodyPr/>
          <a:lstStyle/>
          <a:p>
            <a:fld id="{D2061F1A-E494-4223-A600-C9DDF71EE410}" type="slidenum">
              <a:rPr lang="en-MY" smtClean="0"/>
              <a:t>45</a:t>
            </a:fld>
            <a:endParaRPr lang="en-MY"/>
          </a:p>
        </p:txBody>
      </p:sp>
    </p:spTree>
    <p:extLst>
      <p:ext uri="{BB962C8B-B14F-4D97-AF65-F5344CB8AC3E}">
        <p14:creationId xmlns:p14="http://schemas.microsoft.com/office/powerpoint/2010/main" val="264176980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00BAE-816C-530C-5A96-7E7D671167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02A807-9345-4808-2124-0004E75C4B11}"/>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B5D6436D-2C4C-FCF2-0259-58186D01DABE}"/>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5785D2F3-8C04-B2CF-2BBB-83C055BAA891}"/>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3210443D-687D-D7CE-E007-5DAD143902DC}"/>
              </a:ext>
            </a:extLst>
          </p:cNvPr>
          <p:cNvSpPr>
            <a:spLocks noGrp="1"/>
          </p:cNvSpPr>
          <p:nvPr>
            <p:ph type="sldNum" sz="quarter" idx="5"/>
          </p:nvPr>
        </p:nvSpPr>
        <p:spPr/>
        <p:txBody>
          <a:bodyPr/>
          <a:lstStyle/>
          <a:p>
            <a:fld id="{D2061F1A-E494-4223-A600-C9DDF71EE410}" type="slidenum">
              <a:rPr lang="en-MY" smtClean="0"/>
              <a:t>46</a:t>
            </a:fld>
            <a:endParaRPr lang="en-MY"/>
          </a:p>
        </p:txBody>
      </p:sp>
    </p:spTree>
    <p:extLst>
      <p:ext uri="{BB962C8B-B14F-4D97-AF65-F5344CB8AC3E}">
        <p14:creationId xmlns:p14="http://schemas.microsoft.com/office/powerpoint/2010/main" val="406729774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414B2-3BF3-104C-0E5C-2F80EEF1BF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362B9-6CAE-E643-FA2A-71176CDFB3A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FE7994C5-F9D6-DF27-2413-6D30118CF627}"/>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8F14A4DE-1233-09E9-6A5F-604F8D9694D4}"/>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66E85CF-8288-1C43-0D89-11DFC3571F60}"/>
              </a:ext>
            </a:extLst>
          </p:cNvPr>
          <p:cNvSpPr>
            <a:spLocks noGrp="1"/>
          </p:cNvSpPr>
          <p:nvPr>
            <p:ph type="sldNum" sz="quarter" idx="5"/>
          </p:nvPr>
        </p:nvSpPr>
        <p:spPr/>
        <p:txBody>
          <a:bodyPr/>
          <a:lstStyle/>
          <a:p>
            <a:fld id="{D2061F1A-E494-4223-A600-C9DDF71EE410}" type="slidenum">
              <a:rPr lang="en-MY" smtClean="0"/>
              <a:t>47</a:t>
            </a:fld>
            <a:endParaRPr lang="en-MY"/>
          </a:p>
        </p:txBody>
      </p:sp>
    </p:spTree>
    <p:extLst>
      <p:ext uri="{BB962C8B-B14F-4D97-AF65-F5344CB8AC3E}">
        <p14:creationId xmlns:p14="http://schemas.microsoft.com/office/powerpoint/2010/main" val="19124911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07792-7B5F-ACE3-0986-8857FB2B46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D865AC-D04B-799D-9B62-1B43BAB9D32D}"/>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8C1F179F-A657-136C-E89F-C89E782541F1}"/>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AF99D32E-87A1-7908-7F72-AD527AC06E8A}"/>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31A59AEF-4737-A6DD-1D24-8CF135930F14}"/>
              </a:ext>
            </a:extLst>
          </p:cNvPr>
          <p:cNvSpPr>
            <a:spLocks noGrp="1"/>
          </p:cNvSpPr>
          <p:nvPr>
            <p:ph type="sldNum" sz="quarter" idx="5"/>
          </p:nvPr>
        </p:nvSpPr>
        <p:spPr/>
        <p:txBody>
          <a:bodyPr/>
          <a:lstStyle/>
          <a:p>
            <a:fld id="{D2061F1A-E494-4223-A600-C9DDF71EE410}" type="slidenum">
              <a:rPr lang="en-MY" smtClean="0"/>
              <a:t>48</a:t>
            </a:fld>
            <a:endParaRPr lang="en-MY"/>
          </a:p>
        </p:txBody>
      </p:sp>
    </p:spTree>
    <p:extLst>
      <p:ext uri="{BB962C8B-B14F-4D97-AF65-F5344CB8AC3E}">
        <p14:creationId xmlns:p14="http://schemas.microsoft.com/office/powerpoint/2010/main" val="318982114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74A6A-30CD-312A-84C0-BCA17F8636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28F5E8-4F5F-9D29-8954-B5376C30C018}"/>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02CEF7C-53E4-2463-1E61-67B5E8DB9C1F}"/>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75B33054-2069-8B44-91FD-FEA7681D5287}"/>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A5E6B0F-203D-405A-1E31-904F792E036C}"/>
              </a:ext>
            </a:extLst>
          </p:cNvPr>
          <p:cNvSpPr>
            <a:spLocks noGrp="1"/>
          </p:cNvSpPr>
          <p:nvPr>
            <p:ph type="sldNum" sz="quarter" idx="5"/>
          </p:nvPr>
        </p:nvSpPr>
        <p:spPr/>
        <p:txBody>
          <a:bodyPr/>
          <a:lstStyle/>
          <a:p>
            <a:fld id="{D2061F1A-E494-4223-A600-C9DDF71EE410}" type="slidenum">
              <a:rPr lang="en-MY" smtClean="0"/>
              <a:t>49</a:t>
            </a:fld>
            <a:endParaRPr lang="en-MY"/>
          </a:p>
        </p:txBody>
      </p:sp>
    </p:spTree>
    <p:extLst>
      <p:ext uri="{BB962C8B-B14F-4D97-AF65-F5344CB8AC3E}">
        <p14:creationId xmlns:p14="http://schemas.microsoft.com/office/powerpoint/2010/main" val="169156108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C6DCA-6206-9A28-8F49-A33DC4C927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9C3C4A-DC40-42F8-A03A-70CB726B16A2}"/>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E6CF7B04-709E-F70F-1555-B0EDF837095C}"/>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560347CE-1EC7-516F-63CB-820DA60D98F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CFED93B9-C77D-54A7-EB8F-A546284EE500}"/>
              </a:ext>
            </a:extLst>
          </p:cNvPr>
          <p:cNvSpPr>
            <a:spLocks noGrp="1"/>
          </p:cNvSpPr>
          <p:nvPr>
            <p:ph type="sldNum" sz="quarter" idx="5"/>
          </p:nvPr>
        </p:nvSpPr>
        <p:spPr/>
        <p:txBody>
          <a:bodyPr/>
          <a:lstStyle/>
          <a:p>
            <a:fld id="{D2061F1A-E494-4223-A600-C9DDF71EE410}" type="slidenum">
              <a:rPr lang="en-MY" smtClean="0"/>
              <a:t>50</a:t>
            </a:fld>
            <a:endParaRPr lang="en-MY"/>
          </a:p>
        </p:txBody>
      </p:sp>
    </p:spTree>
    <p:extLst>
      <p:ext uri="{BB962C8B-B14F-4D97-AF65-F5344CB8AC3E}">
        <p14:creationId xmlns:p14="http://schemas.microsoft.com/office/powerpoint/2010/main" val="367794470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988A7-AB3F-82E5-3D6C-76F8C598DA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BF76E2-BCBA-14F8-B2D8-374E1F5B2C8A}"/>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047A83A-1819-2F19-BAB6-EA729BF10318}"/>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C8421F71-456B-20D6-44EF-0912AA19E758}"/>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035659A7-B14F-D98B-34F5-E294AEF083D4}"/>
              </a:ext>
            </a:extLst>
          </p:cNvPr>
          <p:cNvSpPr>
            <a:spLocks noGrp="1"/>
          </p:cNvSpPr>
          <p:nvPr>
            <p:ph type="sldNum" sz="quarter" idx="5"/>
          </p:nvPr>
        </p:nvSpPr>
        <p:spPr/>
        <p:txBody>
          <a:bodyPr/>
          <a:lstStyle/>
          <a:p>
            <a:fld id="{D2061F1A-E494-4223-A600-C9DDF71EE410}" type="slidenum">
              <a:rPr lang="en-MY" smtClean="0"/>
              <a:t>51</a:t>
            </a:fld>
            <a:endParaRPr lang="en-MY"/>
          </a:p>
        </p:txBody>
      </p:sp>
    </p:spTree>
    <p:extLst>
      <p:ext uri="{BB962C8B-B14F-4D97-AF65-F5344CB8AC3E}">
        <p14:creationId xmlns:p14="http://schemas.microsoft.com/office/powerpoint/2010/main" val="312916206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6254B-C49A-43F5-F1AF-327A294574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EE4CAD-46C5-B420-4D19-F7A4E77E8A3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10F3645-31A8-CE2D-7732-A8CBA428CB2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AECAFA2B-B3F5-39E5-2EA5-522336830D44}"/>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806B6BA-B73C-05D3-10C3-F108B46CCD63}"/>
              </a:ext>
            </a:extLst>
          </p:cNvPr>
          <p:cNvSpPr>
            <a:spLocks noGrp="1"/>
          </p:cNvSpPr>
          <p:nvPr>
            <p:ph type="sldNum" sz="quarter" idx="5"/>
          </p:nvPr>
        </p:nvSpPr>
        <p:spPr/>
        <p:txBody>
          <a:bodyPr/>
          <a:lstStyle/>
          <a:p>
            <a:fld id="{D2061F1A-E494-4223-A600-C9DDF71EE410}" type="slidenum">
              <a:rPr lang="en-MY" smtClean="0"/>
              <a:t>52</a:t>
            </a:fld>
            <a:endParaRPr lang="en-MY"/>
          </a:p>
        </p:txBody>
      </p:sp>
    </p:spTree>
    <p:extLst>
      <p:ext uri="{BB962C8B-B14F-4D97-AF65-F5344CB8AC3E}">
        <p14:creationId xmlns:p14="http://schemas.microsoft.com/office/powerpoint/2010/main" val="277027048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4CA88-49D6-028D-5E65-2BA886C19D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22C44D-3EC3-40C8-3305-AFAA275A046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527672F0-0BB5-81DF-EB98-17007B2F31EE}"/>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F54D8429-D1F0-2A74-B2DE-28A01E4F9CA1}"/>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A1AEE78E-DCD8-758E-DE3B-B77570EAC715}"/>
              </a:ext>
            </a:extLst>
          </p:cNvPr>
          <p:cNvSpPr>
            <a:spLocks noGrp="1"/>
          </p:cNvSpPr>
          <p:nvPr>
            <p:ph type="sldNum" sz="quarter" idx="5"/>
          </p:nvPr>
        </p:nvSpPr>
        <p:spPr/>
        <p:txBody>
          <a:bodyPr/>
          <a:lstStyle/>
          <a:p>
            <a:fld id="{D2061F1A-E494-4223-A600-C9DDF71EE410}" type="slidenum">
              <a:rPr lang="en-MY" smtClean="0"/>
              <a:t>53</a:t>
            </a:fld>
            <a:endParaRPr lang="en-MY"/>
          </a:p>
        </p:txBody>
      </p:sp>
    </p:spTree>
    <p:extLst>
      <p:ext uri="{BB962C8B-B14F-4D97-AF65-F5344CB8AC3E}">
        <p14:creationId xmlns:p14="http://schemas.microsoft.com/office/powerpoint/2010/main" val="329989954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6ADF2-714B-32C3-0A86-1FC074D814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04908B-5B98-2474-CCE1-D4D433AE2BA7}"/>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8C4EFF91-F151-9878-F4F4-86CD928F7A76}"/>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4D936B02-AE3D-0F62-AAFE-2865E47D1855}"/>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41B9417-6BDB-F516-312F-1041E47A136C}"/>
              </a:ext>
            </a:extLst>
          </p:cNvPr>
          <p:cNvSpPr>
            <a:spLocks noGrp="1"/>
          </p:cNvSpPr>
          <p:nvPr>
            <p:ph type="sldNum" sz="quarter" idx="5"/>
          </p:nvPr>
        </p:nvSpPr>
        <p:spPr/>
        <p:txBody>
          <a:bodyPr/>
          <a:lstStyle/>
          <a:p>
            <a:fld id="{D2061F1A-E494-4223-A600-C9DDF71EE410}" type="slidenum">
              <a:rPr lang="en-MY" smtClean="0"/>
              <a:t>54</a:t>
            </a:fld>
            <a:endParaRPr lang="en-MY"/>
          </a:p>
        </p:txBody>
      </p:sp>
    </p:spTree>
    <p:extLst>
      <p:ext uri="{BB962C8B-B14F-4D97-AF65-F5344CB8AC3E}">
        <p14:creationId xmlns:p14="http://schemas.microsoft.com/office/powerpoint/2010/main" val="61226381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7E05A-5D0B-AA9A-3C9D-C2AD4BB60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5241EE-636D-8EC2-A96C-E12B2C3DE01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974FEEF-D441-879C-BD80-8FCBA39D25A9}"/>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1BBEEB19-1C6A-EE70-497F-BFCA50221C5C}"/>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5BE006EA-4596-67AC-FEB3-8B0D5450789B}"/>
              </a:ext>
            </a:extLst>
          </p:cNvPr>
          <p:cNvSpPr>
            <a:spLocks noGrp="1"/>
          </p:cNvSpPr>
          <p:nvPr>
            <p:ph type="sldNum" sz="quarter" idx="5"/>
          </p:nvPr>
        </p:nvSpPr>
        <p:spPr/>
        <p:txBody>
          <a:bodyPr/>
          <a:lstStyle/>
          <a:p>
            <a:fld id="{D2061F1A-E494-4223-A600-C9DDF71EE410}" type="slidenum">
              <a:rPr lang="en-MY" smtClean="0"/>
              <a:t>55</a:t>
            </a:fld>
            <a:endParaRPr lang="en-MY"/>
          </a:p>
        </p:txBody>
      </p:sp>
    </p:spTree>
    <p:extLst>
      <p:ext uri="{BB962C8B-B14F-4D97-AF65-F5344CB8AC3E}">
        <p14:creationId xmlns:p14="http://schemas.microsoft.com/office/powerpoint/2010/main" val="119594350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4DD98-00D7-FE96-5D94-707FDA3A2A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3EDE79-3E5E-BB69-A432-631A506280BD}"/>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80A27326-146B-37B6-D010-F94471117E6C}"/>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404F00EE-BC97-332E-98F9-F38E4BCC9BEB}"/>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7ED92B62-4854-A48D-E3ED-367787DF2B27}"/>
              </a:ext>
            </a:extLst>
          </p:cNvPr>
          <p:cNvSpPr>
            <a:spLocks noGrp="1"/>
          </p:cNvSpPr>
          <p:nvPr>
            <p:ph type="sldNum" sz="quarter" idx="5"/>
          </p:nvPr>
        </p:nvSpPr>
        <p:spPr/>
        <p:txBody>
          <a:bodyPr/>
          <a:lstStyle/>
          <a:p>
            <a:fld id="{D2061F1A-E494-4223-A600-C9DDF71EE410}" type="slidenum">
              <a:rPr lang="en-MY" smtClean="0"/>
              <a:t>56</a:t>
            </a:fld>
            <a:endParaRPr lang="en-MY"/>
          </a:p>
        </p:txBody>
      </p:sp>
    </p:spTree>
    <p:extLst>
      <p:ext uri="{BB962C8B-B14F-4D97-AF65-F5344CB8AC3E}">
        <p14:creationId xmlns:p14="http://schemas.microsoft.com/office/powerpoint/2010/main" val="169908596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11ECD-F1DB-7C80-838A-C068FDFCBF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416839-16BB-C6B4-4293-13504FEF4A89}"/>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8670056A-4185-697A-9DE0-CAC2E8B292C9}"/>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49DE4B8A-F79A-21D8-471C-238E07375DC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7727F2B-D022-EAD2-7E41-2F1CB0A94A74}"/>
              </a:ext>
            </a:extLst>
          </p:cNvPr>
          <p:cNvSpPr>
            <a:spLocks noGrp="1"/>
          </p:cNvSpPr>
          <p:nvPr>
            <p:ph type="sldNum" sz="quarter" idx="5"/>
          </p:nvPr>
        </p:nvSpPr>
        <p:spPr/>
        <p:txBody>
          <a:bodyPr/>
          <a:lstStyle/>
          <a:p>
            <a:fld id="{D2061F1A-E494-4223-A600-C9DDF71EE410}" type="slidenum">
              <a:rPr lang="en-MY" smtClean="0"/>
              <a:t>57</a:t>
            </a:fld>
            <a:endParaRPr lang="en-MY"/>
          </a:p>
        </p:txBody>
      </p:sp>
    </p:spTree>
    <p:extLst>
      <p:ext uri="{BB962C8B-B14F-4D97-AF65-F5344CB8AC3E}">
        <p14:creationId xmlns:p14="http://schemas.microsoft.com/office/powerpoint/2010/main" val="63441392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B35F4-79EC-68F5-A54E-649546BB63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F833A7-71B6-9888-D437-655351486F6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13537B38-44DC-F669-03E9-CA794AC39E8F}"/>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D96A5A2D-A93A-0A34-1D6A-35F5BF665A91}"/>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8A9D0F2-6928-AFE4-BE74-37CB682CAB66}"/>
              </a:ext>
            </a:extLst>
          </p:cNvPr>
          <p:cNvSpPr>
            <a:spLocks noGrp="1"/>
          </p:cNvSpPr>
          <p:nvPr>
            <p:ph type="sldNum" sz="quarter" idx="5"/>
          </p:nvPr>
        </p:nvSpPr>
        <p:spPr/>
        <p:txBody>
          <a:bodyPr/>
          <a:lstStyle/>
          <a:p>
            <a:fld id="{D2061F1A-E494-4223-A600-C9DDF71EE410}" type="slidenum">
              <a:rPr lang="en-MY" smtClean="0"/>
              <a:t>58</a:t>
            </a:fld>
            <a:endParaRPr lang="en-MY"/>
          </a:p>
        </p:txBody>
      </p:sp>
    </p:spTree>
    <p:extLst>
      <p:ext uri="{BB962C8B-B14F-4D97-AF65-F5344CB8AC3E}">
        <p14:creationId xmlns:p14="http://schemas.microsoft.com/office/powerpoint/2010/main" val="71085525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61627-C962-81ED-DFCC-6BC92D07A3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97BF46-11EB-B388-2F85-A282E650ACA5}"/>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4A0978F7-7AE9-685C-0F53-F67F296E582A}"/>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5FBF1535-9B41-A6D5-CF25-31AA936B9E17}"/>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AAD30485-1734-74C0-2548-7B5DE8F6500E}"/>
              </a:ext>
            </a:extLst>
          </p:cNvPr>
          <p:cNvSpPr>
            <a:spLocks noGrp="1"/>
          </p:cNvSpPr>
          <p:nvPr>
            <p:ph type="sldNum" sz="quarter" idx="5"/>
          </p:nvPr>
        </p:nvSpPr>
        <p:spPr/>
        <p:txBody>
          <a:bodyPr/>
          <a:lstStyle/>
          <a:p>
            <a:fld id="{D2061F1A-E494-4223-A600-C9DDF71EE410}" type="slidenum">
              <a:rPr lang="en-MY" smtClean="0"/>
              <a:t>59</a:t>
            </a:fld>
            <a:endParaRPr lang="en-MY"/>
          </a:p>
        </p:txBody>
      </p:sp>
    </p:spTree>
    <p:extLst>
      <p:ext uri="{BB962C8B-B14F-4D97-AF65-F5344CB8AC3E}">
        <p14:creationId xmlns:p14="http://schemas.microsoft.com/office/powerpoint/2010/main" val="93965592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B54CC-6880-5359-04A5-2331C10AD7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92E903-E8B1-F2CD-C7B7-233E6CDC64E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7334295-FCBC-F5A8-93D3-F122F8FA5DE5}"/>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A5BFA010-9DDA-7F0E-DB1A-9EA3198E4DA2}"/>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06AE669B-26D7-9E54-5F55-A725FDF82476}"/>
              </a:ext>
            </a:extLst>
          </p:cNvPr>
          <p:cNvSpPr>
            <a:spLocks noGrp="1"/>
          </p:cNvSpPr>
          <p:nvPr>
            <p:ph type="sldNum" sz="quarter" idx="5"/>
          </p:nvPr>
        </p:nvSpPr>
        <p:spPr/>
        <p:txBody>
          <a:bodyPr/>
          <a:lstStyle/>
          <a:p>
            <a:fld id="{D2061F1A-E494-4223-A600-C9DDF71EE410}" type="slidenum">
              <a:rPr lang="en-MY" smtClean="0"/>
              <a:t>60</a:t>
            </a:fld>
            <a:endParaRPr lang="en-MY"/>
          </a:p>
        </p:txBody>
      </p:sp>
    </p:spTree>
    <p:extLst>
      <p:ext uri="{BB962C8B-B14F-4D97-AF65-F5344CB8AC3E}">
        <p14:creationId xmlns:p14="http://schemas.microsoft.com/office/powerpoint/2010/main" val="407095877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2A1E6-8549-9300-E87B-DB68F22350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3E205B-0A05-4407-B8CD-CC92E6FC15E2}"/>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9545C85B-BB4B-FF22-6F82-BAE74FC350F2}"/>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6AE284C2-61A8-B9E1-6832-BF7E830BAC2C}"/>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24A0040-FAA5-BDC6-3BA7-7AC30E058911}"/>
              </a:ext>
            </a:extLst>
          </p:cNvPr>
          <p:cNvSpPr>
            <a:spLocks noGrp="1"/>
          </p:cNvSpPr>
          <p:nvPr>
            <p:ph type="sldNum" sz="quarter" idx="5"/>
          </p:nvPr>
        </p:nvSpPr>
        <p:spPr/>
        <p:txBody>
          <a:bodyPr/>
          <a:lstStyle/>
          <a:p>
            <a:fld id="{D2061F1A-E494-4223-A600-C9DDF71EE410}" type="slidenum">
              <a:rPr lang="en-MY" smtClean="0"/>
              <a:t>61</a:t>
            </a:fld>
            <a:endParaRPr lang="en-MY"/>
          </a:p>
        </p:txBody>
      </p:sp>
    </p:spTree>
    <p:extLst>
      <p:ext uri="{BB962C8B-B14F-4D97-AF65-F5344CB8AC3E}">
        <p14:creationId xmlns:p14="http://schemas.microsoft.com/office/powerpoint/2010/main" val="210399986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8DBC2-4269-2C27-0CEA-E186357986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810A61-C9D2-4D75-9319-4F9A1DDA2C7D}"/>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5D4E85CD-4A9E-C010-471D-2F17EA1E1089}"/>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0DD215DA-FD89-187B-FA04-C6726AA9E18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074E6A8D-97E4-2D70-0746-04C236675822}"/>
              </a:ext>
            </a:extLst>
          </p:cNvPr>
          <p:cNvSpPr>
            <a:spLocks noGrp="1"/>
          </p:cNvSpPr>
          <p:nvPr>
            <p:ph type="sldNum" sz="quarter" idx="5"/>
          </p:nvPr>
        </p:nvSpPr>
        <p:spPr/>
        <p:txBody>
          <a:bodyPr/>
          <a:lstStyle/>
          <a:p>
            <a:fld id="{D2061F1A-E494-4223-A600-C9DDF71EE410}" type="slidenum">
              <a:rPr lang="en-MY" smtClean="0"/>
              <a:t>62</a:t>
            </a:fld>
            <a:endParaRPr lang="en-MY"/>
          </a:p>
        </p:txBody>
      </p:sp>
    </p:spTree>
    <p:extLst>
      <p:ext uri="{BB962C8B-B14F-4D97-AF65-F5344CB8AC3E}">
        <p14:creationId xmlns:p14="http://schemas.microsoft.com/office/powerpoint/2010/main" val="202406351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2AA81-041A-B006-12CE-D824CFE85E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2B2F52-694C-76E7-A5B9-2A3EACFB7C79}"/>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85B782C9-8814-4366-0F95-6FD23B83B07F}"/>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B5EB1E28-A822-7FF4-BAB2-F7AF7C844112}"/>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7785BB0-5FFC-585D-B2DF-73769DEB078C}"/>
              </a:ext>
            </a:extLst>
          </p:cNvPr>
          <p:cNvSpPr>
            <a:spLocks noGrp="1"/>
          </p:cNvSpPr>
          <p:nvPr>
            <p:ph type="sldNum" sz="quarter" idx="5"/>
          </p:nvPr>
        </p:nvSpPr>
        <p:spPr/>
        <p:txBody>
          <a:bodyPr/>
          <a:lstStyle/>
          <a:p>
            <a:fld id="{D2061F1A-E494-4223-A600-C9DDF71EE410}" type="slidenum">
              <a:rPr lang="en-MY" smtClean="0"/>
              <a:t>63</a:t>
            </a:fld>
            <a:endParaRPr lang="en-MY"/>
          </a:p>
        </p:txBody>
      </p:sp>
    </p:spTree>
    <p:extLst>
      <p:ext uri="{BB962C8B-B14F-4D97-AF65-F5344CB8AC3E}">
        <p14:creationId xmlns:p14="http://schemas.microsoft.com/office/powerpoint/2010/main" val="180290221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39308-6539-0F23-7577-AAEB8A29E6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72A071-EC2F-FC10-8F03-ED7341057DE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4A187791-C8C8-9F95-5C08-14C4ED8FBEBC}"/>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1D2695CF-6B08-CAAA-C55C-1D91735DB220}"/>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B3C39C0-8D47-3064-249F-D154D47F026A}"/>
              </a:ext>
            </a:extLst>
          </p:cNvPr>
          <p:cNvSpPr>
            <a:spLocks noGrp="1"/>
          </p:cNvSpPr>
          <p:nvPr>
            <p:ph type="sldNum" sz="quarter" idx="5"/>
          </p:nvPr>
        </p:nvSpPr>
        <p:spPr/>
        <p:txBody>
          <a:bodyPr/>
          <a:lstStyle/>
          <a:p>
            <a:fld id="{D2061F1A-E494-4223-A600-C9DDF71EE410}" type="slidenum">
              <a:rPr lang="en-MY" smtClean="0"/>
              <a:t>64</a:t>
            </a:fld>
            <a:endParaRPr lang="en-MY"/>
          </a:p>
        </p:txBody>
      </p:sp>
    </p:spTree>
    <p:extLst>
      <p:ext uri="{BB962C8B-B14F-4D97-AF65-F5344CB8AC3E}">
        <p14:creationId xmlns:p14="http://schemas.microsoft.com/office/powerpoint/2010/main" val="349193610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BC0A8-95F2-B97F-C268-70105B2C55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D7EDB9-9DD4-31D0-2B35-EE7AE2EFE07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E44ECBDC-7224-3286-5FC4-AEFDFA5904E1}"/>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C85B57C4-3B59-9BE0-72DA-CB107D3E9828}"/>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39DC122-2971-1095-90F5-3C21F061FAD8}"/>
              </a:ext>
            </a:extLst>
          </p:cNvPr>
          <p:cNvSpPr>
            <a:spLocks noGrp="1"/>
          </p:cNvSpPr>
          <p:nvPr>
            <p:ph type="sldNum" sz="quarter" idx="5"/>
          </p:nvPr>
        </p:nvSpPr>
        <p:spPr/>
        <p:txBody>
          <a:bodyPr/>
          <a:lstStyle/>
          <a:p>
            <a:fld id="{D2061F1A-E494-4223-A600-C9DDF71EE410}" type="slidenum">
              <a:rPr lang="en-MY" smtClean="0"/>
              <a:t>65</a:t>
            </a:fld>
            <a:endParaRPr lang="en-MY"/>
          </a:p>
        </p:txBody>
      </p:sp>
    </p:spTree>
    <p:extLst>
      <p:ext uri="{BB962C8B-B14F-4D97-AF65-F5344CB8AC3E}">
        <p14:creationId xmlns:p14="http://schemas.microsoft.com/office/powerpoint/2010/main" val="72482474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75EC4-005B-EAA9-70BC-F205089385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C390C6-298F-126F-79A0-0EDDEF3A57A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171DAE56-D00A-ABB9-C1A5-371D67735358}"/>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FCA6A96A-9A5E-AA79-4E8C-BAB6C77AD8F5}"/>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DED174B4-3AD1-FD65-5448-094C530D3D28}"/>
              </a:ext>
            </a:extLst>
          </p:cNvPr>
          <p:cNvSpPr>
            <a:spLocks noGrp="1"/>
          </p:cNvSpPr>
          <p:nvPr>
            <p:ph type="sldNum" sz="quarter" idx="5"/>
          </p:nvPr>
        </p:nvSpPr>
        <p:spPr/>
        <p:txBody>
          <a:bodyPr/>
          <a:lstStyle/>
          <a:p>
            <a:fld id="{D2061F1A-E494-4223-A600-C9DDF71EE410}" type="slidenum">
              <a:rPr lang="en-MY" smtClean="0"/>
              <a:t>66</a:t>
            </a:fld>
            <a:endParaRPr lang="en-MY"/>
          </a:p>
        </p:txBody>
      </p:sp>
    </p:spTree>
    <p:extLst>
      <p:ext uri="{BB962C8B-B14F-4D97-AF65-F5344CB8AC3E}">
        <p14:creationId xmlns:p14="http://schemas.microsoft.com/office/powerpoint/2010/main" val="164359364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56342-467B-27D5-875E-2ABF6FA150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CF735C-B726-24DD-798A-2E74344A0907}"/>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A6017F5-3F15-424C-8BE1-18B4975E8F31}"/>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A8418581-7393-8D84-E324-A7A86ECF939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73547D45-1C97-4531-C2F6-A0D4A5CE55D9}"/>
              </a:ext>
            </a:extLst>
          </p:cNvPr>
          <p:cNvSpPr>
            <a:spLocks noGrp="1"/>
          </p:cNvSpPr>
          <p:nvPr>
            <p:ph type="sldNum" sz="quarter" idx="5"/>
          </p:nvPr>
        </p:nvSpPr>
        <p:spPr/>
        <p:txBody>
          <a:bodyPr/>
          <a:lstStyle/>
          <a:p>
            <a:fld id="{D2061F1A-E494-4223-A600-C9DDF71EE410}" type="slidenum">
              <a:rPr lang="en-MY" smtClean="0"/>
              <a:t>67</a:t>
            </a:fld>
            <a:endParaRPr lang="en-MY"/>
          </a:p>
        </p:txBody>
      </p:sp>
    </p:spTree>
    <p:extLst>
      <p:ext uri="{BB962C8B-B14F-4D97-AF65-F5344CB8AC3E}">
        <p14:creationId xmlns:p14="http://schemas.microsoft.com/office/powerpoint/2010/main" val="148068692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F092F-8D17-792C-ABF5-74DF4A4130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FCEC34-AEA8-6B03-49B1-533C346B2299}"/>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8EC1FC07-596B-67E7-60C8-04D2FF29934E}"/>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D34E7162-F160-6839-2760-929F8CE6CE64}"/>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7DCCAA3A-8166-8015-9183-A3A7549C8BEF}"/>
              </a:ext>
            </a:extLst>
          </p:cNvPr>
          <p:cNvSpPr>
            <a:spLocks noGrp="1"/>
          </p:cNvSpPr>
          <p:nvPr>
            <p:ph type="sldNum" sz="quarter" idx="5"/>
          </p:nvPr>
        </p:nvSpPr>
        <p:spPr/>
        <p:txBody>
          <a:bodyPr/>
          <a:lstStyle/>
          <a:p>
            <a:fld id="{D2061F1A-E494-4223-A600-C9DDF71EE410}" type="slidenum">
              <a:rPr lang="en-MY" smtClean="0"/>
              <a:t>68</a:t>
            </a:fld>
            <a:endParaRPr lang="en-MY"/>
          </a:p>
        </p:txBody>
      </p:sp>
    </p:spTree>
    <p:extLst>
      <p:ext uri="{BB962C8B-B14F-4D97-AF65-F5344CB8AC3E}">
        <p14:creationId xmlns:p14="http://schemas.microsoft.com/office/powerpoint/2010/main" val="138956426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78D33-F22C-55A8-A4D6-4554AED03A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2E3E51-33DC-94B0-F446-2F8B8AFDABCF}"/>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B1B6C943-1A10-BE05-9E89-69B756B0014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5DD0967F-E4C5-7F7A-3439-CD2F77188D67}"/>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16B968B-423F-B231-D96E-FD6404B28C90}"/>
              </a:ext>
            </a:extLst>
          </p:cNvPr>
          <p:cNvSpPr>
            <a:spLocks noGrp="1"/>
          </p:cNvSpPr>
          <p:nvPr>
            <p:ph type="sldNum" sz="quarter" idx="5"/>
          </p:nvPr>
        </p:nvSpPr>
        <p:spPr/>
        <p:txBody>
          <a:bodyPr/>
          <a:lstStyle/>
          <a:p>
            <a:fld id="{D2061F1A-E494-4223-A600-C9DDF71EE410}" type="slidenum">
              <a:rPr lang="en-MY" smtClean="0"/>
              <a:t>69</a:t>
            </a:fld>
            <a:endParaRPr lang="en-MY"/>
          </a:p>
        </p:txBody>
      </p:sp>
    </p:spTree>
    <p:extLst>
      <p:ext uri="{BB962C8B-B14F-4D97-AF65-F5344CB8AC3E}">
        <p14:creationId xmlns:p14="http://schemas.microsoft.com/office/powerpoint/2010/main" val="237257117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22BE6-6DDF-35BB-4FD2-D943E6DA03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747032-F282-148C-5466-A9FD7DF01A2D}"/>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E46D881C-1AAF-D744-ED90-E0FB823F45FF}"/>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745BCF7B-9B3A-F72F-C81A-119F98103A2A}"/>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1FFF06EE-CB7B-7755-6711-52B2C1168300}"/>
              </a:ext>
            </a:extLst>
          </p:cNvPr>
          <p:cNvSpPr>
            <a:spLocks noGrp="1"/>
          </p:cNvSpPr>
          <p:nvPr>
            <p:ph type="sldNum" sz="quarter" idx="5"/>
          </p:nvPr>
        </p:nvSpPr>
        <p:spPr/>
        <p:txBody>
          <a:bodyPr/>
          <a:lstStyle/>
          <a:p>
            <a:fld id="{D2061F1A-E494-4223-A600-C9DDF71EE410}" type="slidenum">
              <a:rPr lang="en-MY" smtClean="0"/>
              <a:t>70</a:t>
            </a:fld>
            <a:endParaRPr lang="en-MY"/>
          </a:p>
        </p:txBody>
      </p:sp>
    </p:spTree>
    <p:extLst>
      <p:ext uri="{BB962C8B-B14F-4D97-AF65-F5344CB8AC3E}">
        <p14:creationId xmlns:p14="http://schemas.microsoft.com/office/powerpoint/2010/main" val="83457057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E2D46-6EC4-004B-8E38-08CA053A98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274429-BD6E-9F50-9F6B-F7DFD44FCC48}"/>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D8570C15-298F-A501-E239-3409DF5F7436}"/>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0B569BE1-9E66-D22F-3794-786DB613571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40D178B-96DF-0405-B85F-8A5E726E3397}"/>
              </a:ext>
            </a:extLst>
          </p:cNvPr>
          <p:cNvSpPr>
            <a:spLocks noGrp="1"/>
          </p:cNvSpPr>
          <p:nvPr>
            <p:ph type="sldNum" sz="quarter" idx="5"/>
          </p:nvPr>
        </p:nvSpPr>
        <p:spPr/>
        <p:txBody>
          <a:bodyPr/>
          <a:lstStyle/>
          <a:p>
            <a:fld id="{D2061F1A-E494-4223-A600-C9DDF71EE410}" type="slidenum">
              <a:rPr lang="en-MY" smtClean="0"/>
              <a:t>71</a:t>
            </a:fld>
            <a:endParaRPr lang="en-MY"/>
          </a:p>
        </p:txBody>
      </p:sp>
    </p:spTree>
    <p:extLst>
      <p:ext uri="{BB962C8B-B14F-4D97-AF65-F5344CB8AC3E}">
        <p14:creationId xmlns:p14="http://schemas.microsoft.com/office/powerpoint/2010/main" val="225504921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0850B-16BB-A529-5EEB-86F22A9903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5CA47A-BDA4-EBFD-A2F9-14D2BB3302E7}"/>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E7B8035A-E76E-E0F5-4FF1-70C50285F0C7}"/>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971F8C7B-E83B-94DF-0C0E-86055219A09A}"/>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3B7AE1A-63E7-3AD2-2889-2E8745BBACE0}"/>
              </a:ext>
            </a:extLst>
          </p:cNvPr>
          <p:cNvSpPr>
            <a:spLocks noGrp="1"/>
          </p:cNvSpPr>
          <p:nvPr>
            <p:ph type="sldNum" sz="quarter" idx="5"/>
          </p:nvPr>
        </p:nvSpPr>
        <p:spPr/>
        <p:txBody>
          <a:bodyPr/>
          <a:lstStyle/>
          <a:p>
            <a:fld id="{D2061F1A-E494-4223-A600-C9DDF71EE410}" type="slidenum">
              <a:rPr lang="en-MY" smtClean="0"/>
              <a:t>72</a:t>
            </a:fld>
            <a:endParaRPr lang="en-MY"/>
          </a:p>
        </p:txBody>
      </p:sp>
    </p:spTree>
    <p:extLst>
      <p:ext uri="{BB962C8B-B14F-4D97-AF65-F5344CB8AC3E}">
        <p14:creationId xmlns:p14="http://schemas.microsoft.com/office/powerpoint/2010/main" val="186185340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CD269-C757-32FA-5AD1-A0C1E83D29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420995-21AF-F8D6-ECCE-1E31BA270029}"/>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45B2D763-ACA4-1D7D-E9F1-15D8DEFBEEFF}"/>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88D649C4-8048-6F26-213C-FD102F721F51}"/>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28D6C45-915E-0EE5-C0E6-489A7B67F136}"/>
              </a:ext>
            </a:extLst>
          </p:cNvPr>
          <p:cNvSpPr>
            <a:spLocks noGrp="1"/>
          </p:cNvSpPr>
          <p:nvPr>
            <p:ph type="sldNum" sz="quarter" idx="5"/>
          </p:nvPr>
        </p:nvSpPr>
        <p:spPr/>
        <p:txBody>
          <a:bodyPr/>
          <a:lstStyle/>
          <a:p>
            <a:fld id="{D2061F1A-E494-4223-A600-C9DDF71EE410}" type="slidenum">
              <a:rPr lang="en-MY" smtClean="0"/>
              <a:t>73</a:t>
            </a:fld>
            <a:endParaRPr lang="en-MY"/>
          </a:p>
        </p:txBody>
      </p:sp>
    </p:spTree>
    <p:extLst>
      <p:ext uri="{BB962C8B-B14F-4D97-AF65-F5344CB8AC3E}">
        <p14:creationId xmlns:p14="http://schemas.microsoft.com/office/powerpoint/2010/main" val="590254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6D66D-098E-A3DC-0B70-B4516966B4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74C0A0-A511-17E6-DDE6-BDC8A7307746}"/>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D3366388-377F-ACDA-41FB-1896CD67AE10}"/>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C9A96EF5-45C8-5E46-6804-140B5ADD4057}"/>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DB6A6C31-4229-BC60-E115-7874B4506971}"/>
              </a:ext>
            </a:extLst>
          </p:cNvPr>
          <p:cNvSpPr>
            <a:spLocks noGrp="1"/>
          </p:cNvSpPr>
          <p:nvPr>
            <p:ph type="sldNum" sz="quarter" idx="5"/>
          </p:nvPr>
        </p:nvSpPr>
        <p:spPr/>
        <p:txBody>
          <a:bodyPr/>
          <a:lstStyle/>
          <a:p>
            <a:fld id="{D2061F1A-E494-4223-A600-C9DDF71EE410}" type="slidenum">
              <a:rPr lang="en-MY" smtClean="0"/>
              <a:t>74</a:t>
            </a:fld>
            <a:endParaRPr lang="en-MY"/>
          </a:p>
        </p:txBody>
      </p:sp>
    </p:spTree>
    <p:extLst>
      <p:ext uri="{BB962C8B-B14F-4D97-AF65-F5344CB8AC3E}">
        <p14:creationId xmlns:p14="http://schemas.microsoft.com/office/powerpoint/2010/main" val="262291978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A73A0-A634-E364-9446-28667C426A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F166B7-3892-099E-593C-3EB8617BBB06}"/>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1ECA985B-29AC-891F-2A56-2EB7BABA2336}"/>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9634EE69-7763-9564-C0FB-FF73C076C73E}"/>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089CF359-E5CD-7391-28CF-3FF74DFA3F55}"/>
              </a:ext>
            </a:extLst>
          </p:cNvPr>
          <p:cNvSpPr>
            <a:spLocks noGrp="1"/>
          </p:cNvSpPr>
          <p:nvPr>
            <p:ph type="sldNum" sz="quarter" idx="5"/>
          </p:nvPr>
        </p:nvSpPr>
        <p:spPr/>
        <p:txBody>
          <a:bodyPr/>
          <a:lstStyle/>
          <a:p>
            <a:fld id="{D2061F1A-E494-4223-A600-C9DDF71EE410}" type="slidenum">
              <a:rPr lang="en-MY" smtClean="0"/>
              <a:t>75</a:t>
            </a:fld>
            <a:endParaRPr lang="en-MY"/>
          </a:p>
        </p:txBody>
      </p:sp>
    </p:spTree>
    <p:extLst>
      <p:ext uri="{BB962C8B-B14F-4D97-AF65-F5344CB8AC3E}">
        <p14:creationId xmlns:p14="http://schemas.microsoft.com/office/powerpoint/2010/main" val="328471565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F151E-CDF7-2831-CBB5-27CD35B61C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84FCCF-3A35-0E94-7DBD-CE1A9D2A7F3D}"/>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CD9B13A5-563C-1373-7BFB-77613E05107F}"/>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CC889990-460D-B6E0-6A8F-D5587AABE12F}"/>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F2C16C9-3A3C-E5A5-F8E2-3F926E4F56F3}"/>
              </a:ext>
            </a:extLst>
          </p:cNvPr>
          <p:cNvSpPr>
            <a:spLocks noGrp="1"/>
          </p:cNvSpPr>
          <p:nvPr>
            <p:ph type="sldNum" sz="quarter" idx="5"/>
          </p:nvPr>
        </p:nvSpPr>
        <p:spPr/>
        <p:txBody>
          <a:bodyPr/>
          <a:lstStyle/>
          <a:p>
            <a:fld id="{D2061F1A-E494-4223-A600-C9DDF71EE410}" type="slidenum">
              <a:rPr lang="en-MY" smtClean="0"/>
              <a:t>76</a:t>
            </a:fld>
            <a:endParaRPr lang="en-MY"/>
          </a:p>
        </p:txBody>
      </p:sp>
    </p:spTree>
    <p:extLst>
      <p:ext uri="{BB962C8B-B14F-4D97-AF65-F5344CB8AC3E}">
        <p14:creationId xmlns:p14="http://schemas.microsoft.com/office/powerpoint/2010/main" val="84819290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8B453-2E8D-932A-4D47-26E52E5BD5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6D0267-BF0D-376E-2B5B-CC3B38D8B35D}"/>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48B4AF34-8E59-0835-8776-BECE4D9DF58F}"/>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DE3A2CE8-19EA-5046-6F0A-D6BE6E78E1A6}"/>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DA09BB3-4657-F778-4D0F-3FE82FFA3E7D}"/>
              </a:ext>
            </a:extLst>
          </p:cNvPr>
          <p:cNvSpPr>
            <a:spLocks noGrp="1"/>
          </p:cNvSpPr>
          <p:nvPr>
            <p:ph type="sldNum" sz="quarter" idx="5"/>
          </p:nvPr>
        </p:nvSpPr>
        <p:spPr/>
        <p:txBody>
          <a:bodyPr/>
          <a:lstStyle/>
          <a:p>
            <a:fld id="{D2061F1A-E494-4223-A600-C9DDF71EE410}" type="slidenum">
              <a:rPr lang="en-MY" smtClean="0"/>
              <a:t>77</a:t>
            </a:fld>
            <a:endParaRPr lang="en-MY"/>
          </a:p>
        </p:txBody>
      </p:sp>
    </p:spTree>
    <p:extLst>
      <p:ext uri="{BB962C8B-B14F-4D97-AF65-F5344CB8AC3E}">
        <p14:creationId xmlns:p14="http://schemas.microsoft.com/office/powerpoint/2010/main" val="104553337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7BF61-2FA1-2DBF-A65E-CAD5E2D438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371261-9B9F-30C7-8C60-38BBF79D1CB9}"/>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7063FBDC-80AB-A23D-8598-D3C793CC205F}"/>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3107D674-DB94-56FD-1E3C-80EB99E11757}"/>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5229B80-6C84-96A2-277A-40E5B4E3125E}"/>
              </a:ext>
            </a:extLst>
          </p:cNvPr>
          <p:cNvSpPr>
            <a:spLocks noGrp="1"/>
          </p:cNvSpPr>
          <p:nvPr>
            <p:ph type="sldNum" sz="quarter" idx="5"/>
          </p:nvPr>
        </p:nvSpPr>
        <p:spPr/>
        <p:txBody>
          <a:bodyPr/>
          <a:lstStyle/>
          <a:p>
            <a:fld id="{D2061F1A-E494-4223-A600-C9DDF71EE410}" type="slidenum">
              <a:rPr lang="en-MY" smtClean="0"/>
              <a:t>78</a:t>
            </a:fld>
            <a:endParaRPr lang="en-MY"/>
          </a:p>
        </p:txBody>
      </p:sp>
    </p:spTree>
    <p:extLst>
      <p:ext uri="{BB962C8B-B14F-4D97-AF65-F5344CB8AC3E}">
        <p14:creationId xmlns:p14="http://schemas.microsoft.com/office/powerpoint/2010/main" val="406270677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71F83-6109-4243-A719-E62747C511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908178-1739-E37E-CFF9-A72CE5430466}"/>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B6BA76FA-A6F7-DA52-AEC3-F054BC8B4C6B}"/>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3AACA4B3-D1E1-DAE0-9FFA-BF1525BF8954}"/>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18E1B9E2-0E60-A8BE-A7E4-5F8DC0FABBC1}"/>
              </a:ext>
            </a:extLst>
          </p:cNvPr>
          <p:cNvSpPr>
            <a:spLocks noGrp="1"/>
          </p:cNvSpPr>
          <p:nvPr>
            <p:ph type="sldNum" sz="quarter" idx="5"/>
          </p:nvPr>
        </p:nvSpPr>
        <p:spPr/>
        <p:txBody>
          <a:bodyPr/>
          <a:lstStyle/>
          <a:p>
            <a:fld id="{D2061F1A-E494-4223-A600-C9DDF71EE410}" type="slidenum">
              <a:rPr lang="en-MY" smtClean="0"/>
              <a:t>79</a:t>
            </a:fld>
            <a:endParaRPr lang="en-MY"/>
          </a:p>
        </p:txBody>
      </p:sp>
    </p:spTree>
    <p:extLst>
      <p:ext uri="{BB962C8B-B14F-4D97-AF65-F5344CB8AC3E}">
        <p14:creationId xmlns:p14="http://schemas.microsoft.com/office/powerpoint/2010/main" val="143698037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28ECC-5360-F8D0-B4C4-24254FEC5A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E74C5D-138C-E95E-9EC3-B586D0F0CE87}"/>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B70C292C-C180-9D66-28AB-01E65E82E13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D6A63F1-7B77-2A9D-888E-BA7EDFAE8ED7}"/>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03A4F30B-A122-6AC2-C3DD-979A75C83D17}"/>
              </a:ext>
            </a:extLst>
          </p:cNvPr>
          <p:cNvSpPr>
            <a:spLocks noGrp="1"/>
          </p:cNvSpPr>
          <p:nvPr>
            <p:ph type="sldNum" sz="quarter" idx="5"/>
          </p:nvPr>
        </p:nvSpPr>
        <p:spPr/>
        <p:txBody>
          <a:bodyPr/>
          <a:lstStyle/>
          <a:p>
            <a:fld id="{D2061F1A-E494-4223-A600-C9DDF71EE410}" type="slidenum">
              <a:rPr lang="en-MY" smtClean="0"/>
              <a:t>80</a:t>
            </a:fld>
            <a:endParaRPr lang="en-MY"/>
          </a:p>
        </p:txBody>
      </p:sp>
    </p:spTree>
    <p:extLst>
      <p:ext uri="{BB962C8B-B14F-4D97-AF65-F5344CB8AC3E}">
        <p14:creationId xmlns:p14="http://schemas.microsoft.com/office/powerpoint/2010/main" val="193201411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5ED81-658C-89EC-23D6-56672CCF52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4143C7-71CA-3B52-FA7A-DCFB403817B2}"/>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B3A16BCE-4768-20B8-ECA7-9F6BFF8EADC8}"/>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A4C50B91-11B0-56E2-AA25-47ACC60159B5}"/>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65C996D-9833-3260-7C27-A2C2CCC816B7}"/>
              </a:ext>
            </a:extLst>
          </p:cNvPr>
          <p:cNvSpPr>
            <a:spLocks noGrp="1"/>
          </p:cNvSpPr>
          <p:nvPr>
            <p:ph type="sldNum" sz="quarter" idx="5"/>
          </p:nvPr>
        </p:nvSpPr>
        <p:spPr/>
        <p:txBody>
          <a:bodyPr/>
          <a:lstStyle/>
          <a:p>
            <a:fld id="{D2061F1A-E494-4223-A600-C9DDF71EE410}" type="slidenum">
              <a:rPr lang="en-MY" smtClean="0"/>
              <a:t>81</a:t>
            </a:fld>
            <a:endParaRPr lang="en-MY"/>
          </a:p>
        </p:txBody>
      </p:sp>
    </p:spTree>
    <p:extLst>
      <p:ext uri="{BB962C8B-B14F-4D97-AF65-F5344CB8AC3E}">
        <p14:creationId xmlns:p14="http://schemas.microsoft.com/office/powerpoint/2010/main" val="218649490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879AB-857D-973C-7EB5-7293C71776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A07A9B-532D-D218-29D7-C780B6AFB1AD}"/>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8B6DF38C-B1C8-ED0A-8965-7FD97CE65B2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95F3EAD3-5C0E-E96B-6975-3A9EFDA30022}"/>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52EE061B-871F-E2E1-60B4-1BB0149F7274}"/>
              </a:ext>
            </a:extLst>
          </p:cNvPr>
          <p:cNvSpPr>
            <a:spLocks noGrp="1"/>
          </p:cNvSpPr>
          <p:nvPr>
            <p:ph type="sldNum" sz="quarter" idx="5"/>
          </p:nvPr>
        </p:nvSpPr>
        <p:spPr/>
        <p:txBody>
          <a:bodyPr/>
          <a:lstStyle/>
          <a:p>
            <a:fld id="{D2061F1A-E494-4223-A600-C9DDF71EE410}" type="slidenum">
              <a:rPr lang="en-MY" smtClean="0"/>
              <a:t>82</a:t>
            </a:fld>
            <a:endParaRPr lang="en-MY"/>
          </a:p>
        </p:txBody>
      </p:sp>
    </p:spTree>
    <p:extLst>
      <p:ext uri="{BB962C8B-B14F-4D97-AF65-F5344CB8AC3E}">
        <p14:creationId xmlns:p14="http://schemas.microsoft.com/office/powerpoint/2010/main" val="261318537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C11DD-46E4-DAC6-3AD4-6167B5648A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D92FC6-77E0-6A5E-1B2A-1BE8FAA57E4D}"/>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771A2B9-84BB-993C-6626-7E29D4905C90}"/>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1F4D80B2-4C9E-5FDF-5AF6-AB8B540F7A07}"/>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AB222CE-B1D6-4975-7B10-B021E2989AC9}"/>
              </a:ext>
            </a:extLst>
          </p:cNvPr>
          <p:cNvSpPr>
            <a:spLocks noGrp="1"/>
          </p:cNvSpPr>
          <p:nvPr>
            <p:ph type="sldNum" sz="quarter" idx="5"/>
          </p:nvPr>
        </p:nvSpPr>
        <p:spPr/>
        <p:txBody>
          <a:bodyPr/>
          <a:lstStyle/>
          <a:p>
            <a:fld id="{D2061F1A-E494-4223-A600-C9DDF71EE410}" type="slidenum">
              <a:rPr lang="en-MY" smtClean="0"/>
              <a:t>83</a:t>
            </a:fld>
            <a:endParaRPr lang="en-MY"/>
          </a:p>
        </p:txBody>
      </p:sp>
    </p:spTree>
    <p:extLst>
      <p:ext uri="{BB962C8B-B14F-4D97-AF65-F5344CB8AC3E}">
        <p14:creationId xmlns:p14="http://schemas.microsoft.com/office/powerpoint/2010/main" val="67605637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A8A39-4541-BD63-224F-0CF4D4A76E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EB4A4B-D510-B76D-EDEE-ED2A309524B7}"/>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BC657D9-76B8-3D8D-1CD9-26861E6606BB}"/>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1CF8C402-DD09-2F4B-CDF5-A3833C34FBB9}"/>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7D5F9DD-46BB-FD82-9C68-DF27CB699080}"/>
              </a:ext>
            </a:extLst>
          </p:cNvPr>
          <p:cNvSpPr>
            <a:spLocks noGrp="1"/>
          </p:cNvSpPr>
          <p:nvPr>
            <p:ph type="sldNum" sz="quarter" idx="5"/>
          </p:nvPr>
        </p:nvSpPr>
        <p:spPr/>
        <p:txBody>
          <a:bodyPr/>
          <a:lstStyle/>
          <a:p>
            <a:fld id="{D2061F1A-E494-4223-A600-C9DDF71EE410}" type="slidenum">
              <a:rPr lang="en-MY" smtClean="0"/>
              <a:t>84</a:t>
            </a:fld>
            <a:endParaRPr lang="en-MY"/>
          </a:p>
        </p:txBody>
      </p:sp>
    </p:spTree>
    <p:extLst>
      <p:ext uri="{BB962C8B-B14F-4D97-AF65-F5344CB8AC3E}">
        <p14:creationId xmlns:p14="http://schemas.microsoft.com/office/powerpoint/2010/main" val="194337494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10661-15AD-9BB7-8558-4C389C77D1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7BF25B-4A4E-510F-4751-CC54B24D595D}"/>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C5206FC-EC64-923B-D48A-73F9F2064E60}"/>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99198EDF-4EAE-D96F-D0CD-AB6C79038FC8}"/>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D983A63D-8A8A-A9A7-294E-4873A233FD76}"/>
              </a:ext>
            </a:extLst>
          </p:cNvPr>
          <p:cNvSpPr>
            <a:spLocks noGrp="1"/>
          </p:cNvSpPr>
          <p:nvPr>
            <p:ph type="sldNum" sz="quarter" idx="5"/>
          </p:nvPr>
        </p:nvSpPr>
        <p:spPr/>
        <p:txBody>
          <a:bodyPr/>
          <a:lstStyle/>
          <a:p>
            <a:fld id="{D2061F1A-E494-4223-A600-C9DDF71EE410}" type="slidenum">
              <a:rPr lang="en-MY" smtClean="0"/>
              <a:t>85</a:t>
            </a:fld>
            <a:endParaRPr lang="en-MY"/>
          </a:p>
        </p:txBody>
      </p:sp>
    </p:spTree>
    <p:extLst>
      <p:ext uri="{BB962C8B-B14F-4D97-AF65-F5344CB8AC3E}">
        <p14:creationId xmlns:p14="http://schemas.microsoft.com/office/powerpoint/2010/main" val="158829881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C4033-64D7-B1D9-EBE8-AB761E069E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4B6C1D-5441-04D4-36F1-9FEB342BF63F}"/>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0C0F24F9-F103-FD15-8987-370BC87E5727}"/>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968BE958-81B1-84B9-B056-3D2DA37E045A}"/>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97ABE3A1-64BF-7688-F1B0-EA8BE12BBEF7}"/>
              </a:ext>
            </a:extLst>
          </p:cNvPr>
          <p:cNvSpPr>
            <a:spLocks noGrp="1"/>
          </p:cNvSpPr>
          <p:nvPr>
            <p:ph type="sldNum" sz="quarter" idx="5"/>
          </p:nvPr>
        </p:nvSpPr>
        <p:spPr/>
        <p:txBody>
          <a:bodyPr/>
          <a:lstStyle/>
          <a:p>
            <a:fld id="{D2061F1A-E494-4223-A600-C9DDF71EE410}" type="slidenum">
              <a:rPr lang="en-MY" smtClean="0"/>
              <a:t>86</a:t>
            </a:fld>
            <a:endParaRPr lang="en-MY"/>
          </a:p>
        </p:txBody>
      </p:sp>
    </p:spTree>
    <p:extLst>
      <p:ext uri="{BB962C8B-B14F-4D97-AF65-F5344CB8AC3E}">
        <p14:creationId xmlns:p14="http://schemas.microsoft.com/office/powerpoint/2010/main" val="204224702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26AB1-A3CA-E81C-7036-7E56ADC012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A22ECC-E2F8-5F54-485C-3610FE7B752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C4788ED9-B631-13F3-D443-EC19772E6468}"/>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2CED4FD0-63E1-3B8D-EFC0-B2A57FED8C5E}"/>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3A4FEFF-312D-22C8-1A24-2427FED92F68}"/>
              </a:ext>
            </a:extLst>
          </p:cNvPr>
          <p:cNvSpPr>
            <a:spLocks noGrp="1"/>
          </p:cNvSpPr>
          <p:nvPr>
            <p:ph type="sldNum" sz="quarter" idx="5"/>
          </p:nvPr>
        </p:nvSpPr>
        <p:spPr/>
        <p:txBody>
          <a:bodyPr/>
          <a:lstStyle/>
          <a:p>
            <a:fld id="{D2061F1A-E494-4223-A600-C9DDF71EE410}" type="slidenum">
              <a:rPr lang="en-MY" smtClean="0"/>
              <a:t>87</a:t>
            </a:fld>
            <a:endParaRPr lang="en-MY"/>
          </a:p>
        </p:txBody>
      </p:sp>
    </p:spTree>
    <p:extLst>
      <p:ext uri="{BB962C8B-B14F-4D97-AF65-F5344CB8AC3E}">
        <p14:creationId xmlns:p14="http://schemas.microsoft.com/office/powerpoint/2010/main" val="182638871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B3C47-CAFD-99B5-E360-310EEB0556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F5D7DC-7D04-6B3C-8370-8A2800923739}"/>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CE28CED5-0CE8-CF24-EF3D-4A43DC3A6949}"/>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E8EF2A39-0572-7EB0-5059-E776CFCA83C6}"/>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C633B73-0CC0-06E3-F51F-C98164F934B3}"/>
              </a:ext>
            </a:extLst>
          </p:cNvPr>
          <p:cNvSpPr>
            <a:spLocks noGrp="1"/>
          </p:cNvSpPr>
          <p:nvPr>
            <p:ph type="sldNum" sz="quarter" idx="5"/>
          </p:nvPr>
        </p:nvSpPr>
        <p:spPr/>
        <p:txBody>
          <a:bodyPr/>
          <a:lstStyle/>
          <a:p>
            <a:fld id="{D2061F1A-E494-4223-A600-C9DDF71EE410}" type="slidenum">
              <a:rPr lang="en-MY" smtClean="0"/>
              <a:t>88</a:t>
            </a:fld>
            <a:endParaRPr lang="en-MY"/>
          </a:p>
        </p:txBody>
      </p:sp>
    </p:spTree>
    <p:extLst>
      <p:ext uri="{BB962C8B-B14F-4D97-AF65-F5344CB8AC3E}">
        <p14:creationId xmlns:p14="http://schemas.microsoft.com/office/powerpoint/2010/main" val="149068494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23562-2ACB-49D7-A09A-2EBED8CC66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F970B7-1062-0B79-1B1E-44D48DB88BF9}"/>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FC5FA669-0694-E622-D259-42B15F196127}"/>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B1D5442E-63EB-EE11-00C6-E9285BFD7329}"/>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CDB0EF6D-7175-31EC-A631-7D5891E073C1}"/>
              </a:ext>
            </a:extLst>
          </p:cNvPr>
          <p:cNvSpPr>
            <a:spLocks noGrp="1"/>
          </p:cNvSpPr>
          <p:nvPr>
            <p:ph type="sldNum" sz="quarter" idx="5"/>
          </p:nvPr>
        </p:nvSpPr>
        <p:spPr/>
        <p:txBody>
          <a:bodyPr/>
          <a:lstStyle/>
          <a:p>
            <a:fld id="{D2061F1A-E494-4223-A600-C9DDF71EE410}" type="slidenum">
              <a:rPr lang="en-MY" smtClean="0"/>
              <a:t>89</a:t>
            </a:fld>
            <a:endParaRPr lang="en-MY"/>
          </a:p>
        </p:txBody>
      </p:sp>
    </p:spTree>
    <p:extLst>
      <p:ext uri="{BB962C8B-B14F-4D97-AF65-F5344CB8AC3E}">
        <p14:creationId xmlns:p14="http://schemas.microsoft.com/office/powerpoint/2010/main" val="2893228777"/>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90</a:t>
            </a:fld>
            <a:endParaRPr lang="en-MY"/>
          </a:p>
        </p:txBody>
      </p:sp>
    </p:spTree>
    <p:extLst>
      <p:ext uri="{BB962C8B-B14F-4D97-AF65-F5344CB8AC3E}">
        <p14:creationId xmlns:p14="http://schemas.microsoft.com/office/powerpoint/2010/main" val="34547285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90153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22051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84934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97787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n-US"/>
              <a:t>Click to edit Master title style</a:t>
            </a:r>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Week XX</a:t>
            </a:r>
          </a:p>
        </p:txBody>
      </p:sp>
      <p:sp>
        <p:nvSpPr>
          <p:cNvPr id="8" name="Footer Placeholder 7"/>
          <p:cNvSpPr>
            <a:spLocks noGrp="1"/>
          </p:cNvSpPr>
          <p:nvPr>
            <p:ph type="ftr" sz="quarter" idx="11"/>
          </p:nvPr>
        </p:nvSpPr>
        <p:spPr/>
        <p:txBody>
          <a:bodyPr/>
          <a:lstStyle/>
          <a:p>
            <a:r>
              <a:rPr lang="en-US"/>
              <a:t>For educational use only. Not to be distributed or shared without permission.</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99058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Week XX</a:t>
            </a:r>
          </a:p>
        </p:txBody>
      </p:sp>
      <p:sp>
        <p:nvSpPr>
          <p:cNvPr id="4" name="Footer Placeholder 3"/>
          <p:cNvSpPr>
            <a:spLocks noGrp="1"/>
          </p:cNvSpPr>
          <p:nvPr>
            <p:ph type="ftr" sz="quarter" idx="11"/>
          </p:nvPr>
        </p:nvSpPr>
        <p:spPr/>
        <p:txBody>
          <a:bodyPr/>
          <a:lstStyle/>
          <a:p>
            <a:r>
              <a:rPr lang="en-US"/>
              <a:t>For educational use only. Not to be distributed or shared without permission.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55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Week XX</a:t>
            </a:r>
          </a:p>
        </p:txBody>
      </p:sp>
      <p:sp>
        <p:nvSpPr>
          <p:cNvPr id="3" name="Footer Placeholder 2"/>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60093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36636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Picture Placeholder 2"/>
          <p:cNvSpPr>
            <a:spLocks noGrp="1" noChangeAspect="1"/>
          </p:cNvSpPr>
          <p:nvPr>
            <p:ph type="pic" idx="1"/>
          </p:nvPr>
        </p:nvSpPr>
        <p:spPr>
          <a:xfrm>
            <a:off x="7774782" y="1481138"/>
            <a:ext cx="9258300" cy="7310438"/>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16593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79842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7309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r>
              <a:rPr lang="en-US"/>
              <a:t>Week XX</a:t>
            </a:r>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en-US"/>
              <a:t>For educational use only. Not to be distributed or shared without permission.</a:t>
            </a:r>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307601668"/>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hf hdr="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90.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hyperlink" Target="mailto:shuhaida.shuhidan@utp.edu.m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106887" y="1511403"/>
            <a:ext cx="11424666" cy="5204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p:cNvSpPr/>
          <p:nvPr/>
        </p:nvSpPr>
        <p:spPr>
          <a:xfrm>
            <a:off x="6106887" y="9410700"/>
            <a:ext cx="1142466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 name="Group 4"/>
          <p:cNvGrpSpPr/>
          <p:nvPr/>
        </p:nvGrpSpPr>
        <p:grpSpPr>
          <a:xfrm>
            <a:off x="7426192" y="1942813"/>
            <a:ext cx="9036316" cy="1752887"/>
            <a:chOff x="0" y="0"/>
            <a:chExt cx="2337006" cy="292155"/>
          </a:xfrm>
          <a:noFill/>
        </p:grpSpPr>
        <p:sp>
          <p:nvSpPr>
            <p:cNvPr id="5" name="Freeform 5"/>
            <p:cNvSpPr/>
            <p:nvPr/>
          </p:nvSpPr>
          <p:spPr>
            <a:xfrm>
              <a:off x="0" y="0"/>
              <a:ext cx="2337006" cy="292155"/>
            </a:xfrm>
            <a:custGeom>
              <a:avLst/>
              <a:gdLst/>
              <a:ahLst/>
              <a:cxnLst/>
              <a:rect l="l" t="t" r="r" b="b"/>
              <a:pathLst>
                <a:path w="2337006" h="292155">
                  <a:moveTo>
                    <a:pt x="0" y="0"/>
                  </a:moveTo>
                  <a:lnTo>
                    <a:pt x="2337006" y="0"/>
                  </a:lnTo>
                  <a:lnTo>
                    <a:pt x="2337006" y="292155"/>
                  </a:lnTo>
                  <a:lnTo>
                    <a:pt x="0" y="292155"/>
                  </a:lnTo>
                  <a:close/>
                </a:path>
              </a:pathLst>
            </a:custGeom>
            <a:grpFill/>
            <a:ln w="38100" cap="sq">
              <a:solidFill>
                <a:schemeClr val="tx1"/>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p:cNvSpPr txBox="1"/>
            <p:nvPr/>
          </p:nvSpPr>
          <p:spPr>
            <a:xfrm>
              <a:off x="0" y="-38100"/>
              <a:ext cx="2337006" cy="330255"/>
            </a:xfrm>
            <a:prstGeom prst="rect">
              <a:avLst/>
            </a:prstGeom>
            <a:grpFill/>
          </p:spPr>
          <p:txBody>
            <a:bodyPr lIns="50800" tIns="50800" rIns="50800" bIns="50800" rtlCol="0" anchor="ctr"/>
            <a:lstStyle/>
            <a:p>
              <a:pPr marL="0" marR="0" lvl="0" indent="0" algn="ctr" defTabSz="457200" rtl="0" eaLnBrk="1" fontAlgn="auto" latinLnBrk="0" hangingPunct="1">
                <a:lnSpc>
                  <a:spcPts val="2737"/>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 name="Group 8"/>
          <p:cNvGrpSpPr/>
          <p:nvPr/>
        </p:nvGrpSpPr>
        <p:grpSpPr>
          <a:xfrm>
            <a:off x="1" y="0"/>
            <a:ext cx="6106886" cy="10286998"/>
            <a:chOff x="-10330" y="-104775"/>
            <a:chExt cx="1377733" cy="2182730"/>
          </a:xfrm>
        </p:grpSpPr>
        <p:sp>
          <p:nvSpPr>
            <p:cNvPr id="9" name="Freeform 9"/>
            <p:cNvSpPr/>
            <p:nvPr/>
          </p:nvSpPr>
          <p:spPr>
            <a:xfrm>
              <a:off x="-10330" y="-104775"/>
              <a:ext cx="1377733" cy="2182730"/>
            </a:xfrm>
            <a:custGeom>
              <a:avLst/>
              <a:gdLst/>
              <a:ahLst/>
              <a:cxnLst/>
              <a:rect l="l" t="t" r="r" b="b"/>
              <a:pathLst>
                <a:path w="1282673" h="2091166">
                  <a:moveTo>
                    <a:pt x="0" y="0"/>
                  </a:moveTo>
                  <a:lnTo>
                    <a:pt x="1282673" y="0"/>
                  </a:lnTo>
                  <a:lnTo>
                    <a:pt x="1282673" y="2091166"/>
                  </a:lnTo>
                  <a:lnTo>
                    <a:pt x="0" y="2091166"/>
                  </a:lnTo>
                  <a:close/>
                </a:path>
              </a:pathLst>
            </a:custGeom>
            <a:solidFill>
              <a:schemeClr val="bg2">
                <a:lumMod val="90000"/>
              </a:schemeClr>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10"/>
            <p:cNvSpPr txBox="1"/>
            <p:nvPr/>
          </p:nvSpPr>
          <p:spPr>
            <a:xfrm>
              <a:off x="0" y="-104775"/>
              <a:ext cx="1282673" cy="1906122"/>
            </a:xfrm>
            <a:prstGeom prst="rect">
              <a:avLst/>
            </a:prstGeom>
          </p:spPr>
          <p:txBody>
            <a:bodyPr lIns="50800" tIns="50800" rIns="50800" bIns="50800" rtlCol="0" anchor="ctr"/>
            <a:lstStyle/>
            <a:p>
              <a:pPr marL="0" marR="0" lvl="0" indent="0" algn="ctr" defTabSz="457200" rtl="0" eaLnBrk="1" fontAlgn="auto" latinLnBrk="0" hangingPunct="1">
                <a:lnSpc>
                  <a:spcPts val="5015"/>
                </a:lnSpc>
                <a:spcBef>
                  <a:spcPts val="0"/>
                </a:spcBef>
                <a:spcAft>
                  <a:spcPts val="0"/>
                </a:spcAft>
                <a:buClrTx/>
                <a:buSzTx/>
                <a:buFontTx/>
                <a:buNone/>
                <a:tabLst/>
                <a:defRPr/>
              </a:pPr>
              <a:r>
                <a:rPr kumimoji="0" lang="en-US" sz="3299" b="0" i="0" u="none" strike="noStrike" kern="1200" cap="none" spc="135" normalizeH="0" baseline="0" noProof="0">
                  <a:ln>
                    <a:noFill/>
                  </a:ln>
                  <a:solidFill>
                    <a:srgbClr val="000000"/>
                  </a:solidFill>
                  <a:effectLst/>
                  <a:uLnTx/>
                  <a:uFillTx/>
                  <a:latin typeface="Aptos"/>
                  <a:ea typeface="Aptos"/>
                  <a:cs typeface="Aptos"/>
                  <a:sym typeface="Aptos"/>
                </a:rPr>
                <a:t>Insert relevant picture related to the topic</a:t>
              </a:r>
            </a:p>
            <a:p>
              <a:pPr marL="0" marR="0" lvl="0" indent="0" algn="ctr" defTabSz="457200" rtl="0" eaLnBrk="1" fontAlgn="auto" latinLnBrk="0" hangingPunct="1">
                <a:lnSpc>
                  <a:spcPts val="5015"/>
                </a:lnSpc>
                <a:spcBef>
                  <a:spcPts val="0"/>
                </a:spcBef>
                <a:spcAft>
                  <a:spcPts val="0"/>
                </a:spcAft>
                <a:buClrTx/>
                <a:buSzTx/>
                <a:buFontTx/>
                <a:buNone/>
                <a:tabLst/>
                <a:defRPr/>
              </a:pPr>
              <a:endParaRPr kumimoji="0" lang="en-US" sz="3299" b="0" i="0" u="none" strike="noStrike" kern="1200" cap="none" spc="135" normalizeH="0" baseline="0" noProof="0">
                <a:ln>
                  <a:noFill/>
                </a:ln>
                <a:solidFill>
                  <a:srgbClr val="000000"/>
                </a:solidFill>
                <a:effectLst/>
                <a:uLnTx/>
                <a:uFillTx/>
                <a:latin typeface="Aptos"/>
                <a:ea typeface="Aptos"/>
                <a:cs typeface="Aptos"/>
                <a:sym typeface="Aptos"/>
              </a:endParaRPr>
            </a:p>
          </p:txBody>
        </p:sp>
      </p:grpSp>
      <p:sp>
        <p:nvSpPr>
          <p:cNvPr id="11" name="TextBox 11"/>
          <p:cNvSpPr txBox="1"/>
          <p:nvPr/>
        </p:nvSpPr>
        <p:spPr>
          <a:xfrm>
            <a:off x="6468506" y="4249467"/>
            <a:ext cx="11424666" cy="1652568"/>
          </a:xfrm>
          <a:prstGeom prst="rect">
            <a:avLst/>
          </a:prstGeom>
        </p:spPr>
        <p:txBody>
          <a:bodyPr wrap="square" lIns="0" tIns="0" rIns="0" bIns="0" rtlCol="0" anchor="t">
            <a:spAutoFit/>
          </a:bodyPr>
          <a:lstStyle/>
          <a:p>
            <a:pPr marL="0" marR="0" lvl="0" indent="0" algn="ctr" defTabSz="457200" rtl="0" eaLnBrk="1" fontAlgn="auto" latinLnBrk="0" hangingPunct="1">
              <a:lnSpc>
                <a:spcPts val="6688"/>
              </a:lnSpc>
              <a:spcBef>
                <a:spcPct val="0"/>
              </a:spcBef>
              <a:spcAft>
                <a:spcPts val="0"/>
              </a:spcAft>
              <a:buClrTx/>
              <a:buSzTx/>
              <a:buFontTx/>
              <a:buNone/>
              <a:tabLst/>
              <a:defRPr/>
            </a:pPr>
            <a:r>
              <a:rPr kumimoji="0" lang="en-US" sz="4400" b="1" i="0"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rPr>
              <a:t>WEEK </a:t>
            </a:r>
            <a:r>
              <a:rPr lang="en-US" sz="44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V</a:t>
            </a:r>
            <a:endParaRPr kumimoji="0" lang="en-US" sz="4400" i="1"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endParaRPr>
          </a:p>
          <a:p>
            <a:pPr marL="0" marR="0" lvl="0" indent="0" algn="ctr" defTabSz="457200" rtl="0" eaLnBrk="1" fontAlgn="auto" latinLnBrk="0" hangingPunct="1">
              <a:lnSpc>
                <a:spcPts val="6688"/>
              </a:lnSpc>
              <a:spcBef>
                <a:spcPct val="0"/>
              </a:spcBef>
              <a:spcAft>
                <a:spcPts val="0"/>
              </a:spcAft>
              <a:buClrTx/>
              <a:buSzTx/>
              <a:buFontTx/>
              <a:buNone/>
              <a:tabLst/>
              <a:defRPr/>
            </a:pPr>
            <a:r>
              <a:rPr kumimoji="0" lang="en-US" sz="4400" b="1" i="0"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rPr>
              <a:t>DIGITAL-ONLY BANKS</a:t>
            </a:r>
            <a:endParaRPr kumimoji="0" lang="en-US" sz="4400" b="1"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endParaRPr>
          </a:p>
        </p:txBody>
      </p:sp>
      <p:sp>
        <p:nvSpPr>
          <p:cNvPr id="12" name="TextBox 12"/>
          <p:cNvSpPr txBox="1"/>
          <p:nvPr/>
        </p:nvSpPr>
        <p:spPr>
          <a:xfrm>
            <a:off x="8965993" y="2479851"/>
            <a:ext cx="6429692" cy="512961"/>
          </a:xfrm>
          <a:prstGeom prst="rect">
            <a:avLst/>
          </a:prstGeom>
        </p:spPr>
        <p:txBody>
          <a:bodyPr lIns="0" tIns="0" rIns="0" bIns="0" rtlCol="0" anchor="t">
            <a:spAutoFit/>
          </a:bodyPr>
          <a:lstStyle/>
          <a:p>
            <a:pPr marL="0" marR="0" lvl="0" indent="0" algn="ctr" defTabSz="457200" rtl="0" eaLnBrk="1" fontAlgn="auto" latinLnBrk="0" hangingPunct="1">
              <a:lnSpc>
                <a:spcPts val="4255"/>
              </a:lnSpc>
              <a:spcBef>
                <a:spcPts val="0"/>
              </a:spcBef>
              <a:spcAft>
                <a:spcPts val="0"/>
              </a:spcAft>
              <a:buClrTx/>
              <a:buSzTx/>
              <a:buFontTx/>
              <a:buNone/>
              <a:tabLst/>
              <a:defRPr/>
            </a:pPr>
            <a:r>
              <a:rPr kumimoji="0" lang="en-US" sz="2799" b="0" i="0" u="none" strike="noStrike" kern="1200" cap="none" spc="103"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TFB3323 FINTECH INNOVATION</a:t>
            </a:r>
          </a:p>
        </p:txBody>
      </p:sp>
      <p:sp>
        <p:nvSpPr>
          <p:cNvPr id="14" name="TextBox 14"/>
          <p:cNvSpPr txBox="1"/>
          <p:nvPr/>
        </p:nvSpPr>
        <p:spPr>
          <a:xfrm>
            <a:off x="8527172" y="6957133"/>
            <a:ext cx="7337522" cy="804451"/>
          </a:xfrm>
          <a:prstGeom prst="rect">
            <a:avLst/>
          </a:prstGeom>
        </p:spPr>
        <p:txBody>
          <a:bodyPr wrap="square" lIns="0" tIns="0" rIns="0" bIns="0" rtlCol="0" anchor="t">
            <a:spAutoFit/>
          </a:bodyPr>
          <a:lstStyle/>
          <a:p>
            <a:pPr algn="ctr">
              <a:lnSpc>
                <a:spcPts val="3343"/>
              </a:lnSpc>
              <a:defRPr/>
            </a:pPr>
            <a:r>
              <a:rPr lang="en-MY" sz="2000" spc="98" dirty="0">
                <a:gradFill>
                  <a:gsLst>
                    <a:gs pos="0">
                      <a:srgbClr val="000000">
                        <a:alpha val="100000"/>
                      </a:srgbClr>
                    </a:gs>
                    <a:gs pos="50000">
                      <a:srgbClr val="002F31">
                        <a:alpha val="100000"/>
                      </a:srgbClr>
                    </a:gs>
                    <a:gs pos="100000">
                      <a:srgbClr val="00959A">
                        <a:alpha val="100000"/>
                      </a:srgbClr>
                    </a:gs>
                  </a:gsLst>
                  <a:lin ang="2700000"/>
                </a:gradFill>
                <a:latin typeface="Aptos"/>
              </a:rPr>
              <a:t>Shuhaida Bt M Shuhidan</a:t>
            </a:r>
          </a:p>
          <a:p>
            <a:pPr algn="ctr">
              <a:lnSpc>
                <a:spcPts val="3343"/>
              </a:lnSpc>
              <a:defRPr/>
            </a:pPr>
            <a:r>
              <a:rPr kumimoji="0" lang="en-US" sz="2199" b="0" i="0" u="none" strike="noStrike" kern="1200" cap="none" spc="81"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 </a:t>
            </a:r>
            <a:r>
              <a:rPr kumimoji="0" lang="en-US" sz="2199" b="0" i="1" u="none" strike="noStrike" kern="1200" cap="none" spc="81"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(D</a:t>
            </a:r>
            <a:r>
              <a:rPr lang="en-MY" sz="2199" i="1" spc="8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r (FSMC/UTP)</a:t>
            </a:r>
            <a:r>
              <a:rPr kumimoji="0" lang="en-US" sz="2199" b="0" i="1" u="none" strike="noStrike" kern="1200" cap="none" spc="81"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a:t>
            </a:r>
          </a:p>
        </p:txBody>
      </p:sp>
      <p:sp>
        <p:nvSpPr>
          <p:cNvPr id="15" name="TextBox 15"/>
          <p:cNvSpPr txBox="1"/>
          <p:nvPr/>
        </p:nvSpPr>
        <p:spPr>
          <a:xfrm>
            <a:off x="8085066" y="7789617"/>
            <a:ext cx="8221734" cy="1240083"/>
          </a:xfrm>
          <a:prstGeom prst="rect">
            <a:avLst/>
          </a:prstGeom>
        </p:spPr>
        <p:txBody>
          <a:bodyPr wrap="square" lIns="0" tIns="0" rIns="0" bIns="0" rtlCol="0" anchor="t">
            <a:spAutoFit/>
          </a:bodyPr>
          <a:lstStyle/>
          <a:p>
            <a:pPr marL="0" marR="0" lvl="0" indent="0" algn="ctr" defTabSz="457200" rtl="0" eaLnBrk="1" fontAlgn="auto" latinLnBrk="0" hangingPunct="1">
              <a:lnSpc>
                <a:spcPts val="3343"/>
              </a:lnSpc>
              <a:spcBef>
                <a:spcPts val="0"/>
              </a:spcBef>
              <a:spcAft>
                <a:spcPts val="0"/>
              </a:spcAft>
              <a:buClrTx/>
              <a:buSzTx/>
              <a:buFontTx/>
              <a:buNone/>
              <a:tabLst/>
              <a:defRPr/>
            </a:pPr>
            <a:r>
              <a:rPr kumimoji="0" lang="en-US" sz="2200"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BACHELOR OF XXXXXX</a:t>
            </a:r>
          </a:p>
          <a:p>
            <a:pPr marL="0" marR="0" lvl="0" indent="0" algn="ctr" defTabSz="457200" rtl="0" eaLnBrk="1" fontAlgn="auto" latinLnBrk="0" hangingPunct="1">
              <a:lnSpc>
                <a:spcPts val="3343"/>
              </a:lnSpc>
              <a:spcBef>
                <a:spcPts val="0"/>
              </a:spcBef>
              <a:spcAft>
                <a:spcPts val="0"/>
              </a:spcAft>
              <a:buClrTx/>
              <a:buSzTx/>
              <a:buFontTx/>
              <a:buNone/>
              <a:tabLst/>
              <a:defRPr/>
            </a:pPr>
            <a:r>
              <a:rPr kumimoji="0" lang="en-US" sz="2200"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DEPARTMENT OF COMPUTING</a:t>
            </a:r>
          </a:p>
          <a:p>
            <a:pPr marL="0" marR="0" lvl="0" indent="0" algn="ctr" defTabSz="457200" rtl="0" eaLnBrk="1" fontAlgn="auto" latinLnBrk="0" hangingPunct="1">
              <a:lnSpc>
                <a:spcPts val="3343"/>
              </a:lnSpc>
              <a:spcBef>
                <a:spcPts val="0"/>
              </a:spcBef>
              <a:spcAft>
                <a:spcPts val="0"/>
              </a:spcAft>
              <a:buClrTx/>
              <a:buSzTx/>
              <a:buFontTx/>
              <a:buNone/>
              <a:tabLst/>
              <a:defRPr/>
            </a:pPr>
            <a:r>
              <a:rPr lang="en-US" sz="2200" spc="90"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Aptos"/>
                <a:cs typeface="Segoe UI" panose="020B0502040204020203" pitchFamily="34" charset="0"/>
                <a:sym typeface="Aptos"/>
              </a:rPr>
              <a:t>FACULTY OF SCIENCE, MANAGEMENT &amp; COMPUTING</a:t>
            </a:r>
            <a:r>
              <a:rPr kumimoji="0" lang="en-US" sz="2200"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 </a:t>
            </a:r>
          </a:p>
        </p:txBody>
      </p:sp>
      <p:sp>
        <p:nvSpPr>
          <p:cNvPr id="13" name="Text Box 2">
            <a:extLst>
              <a:ext uri="{FF2B5EF4-FFF2-40B4-BE49-F238E27FC236}">
                <a16:creationId xmlns:a16="http://schemas.microsoft.com/office/drawing/2014/main" id="{486EF194-5755-EE7E-90D6-9FC063183FE5}"/>
              </a:ext>
            </a:extLst>
          </p:cNvPr>
          <p:cNvSpPr txBox="1">
            <a:spLocks/>
          </p:cNvSpPr>
          <p:nvPr/>
        </p:nvSpPr>
        <p:spPr>
          <a:xfrm>
            <a:off x="6629400" y="9582308"/>
            <a:ext cx="10629900" cy="553998"/>
          </a:xfrm>
          <a:prstGeom prst="rect">
            <a:avLst/>
          </a:prstGeom>
          <a:solidFill>
            <a:sysClr val="window" lastClr="FFFFFF"/>
          </a:solidFill>
          <a:ln w="19050" cap="flat" cmpd="sng" algn="ctr">
            <a:noFill/>
            <a:prstDash val="solid"/>
            <a:miter lim="800000"/>
          </a:ln>
          <a:effectLst/>
        </p:spPr>
        <p:txBody>
          <a:bodyPr wrap="square">
            <a:spAutoFit/>
          </a:bodyPr>
          <a:lstStyle/>
          <a:p>
            <a:pPr marL="237490" algn="ctr" fontAlgn="base">
              <a:buNone/>
            </a:pPr>
            <a:r>
              <a:rPr lang="en-US" sz="1000" kern="1200">
                <a:effectLst/>
                <a:latin typeface="Arial" panose="020B0604020202020204" pitchFamily="34" charset="0"/>
                <a:ea typeface="Times New Roman" panose="02020603050405020304" pitchFamily="18" charset="0"/>
                <a:cs typeface="Times New Roman" panose="02020603050405020304" pitchFamily="18" charset="0"/>
              </a:rPr>
              <a:t>© 2026 INSTITUTE OF TECHNOLOGY PETRONAS SDN BHD </a:t>
            </a:r>
            <a:endParaRPr lang="en-MY" sz="1100">
              <a:effectLst/>
              <a:latin typeface="Museo Sans 300" panose="02000000000000000000" pitchFamily="50" charset="0"/>
              <a:ea typeface="Times New Roman" panose="02020603050405020304" pitchFamily="18" charset="0"/>
              <a:cs typeface="Times New Roman" panose="02020603050405020304" pitchFamily="18" charset="0"/>
            </a:endParaRPr>
          </a:p>
          <a:p>
            <a:pPr marL="237490" algn="ctr" fontAlgn="base">
              <a:buNone/>
            </a:pPr>
            <a:r>
              <a:rPr lang="en-US" sz="1000" kern="1200">
                <a:effectLst/>
                <a:latin typeface="Arial" panose="020B0604020202020204" pitchFamily="34" charset="0"/>
                <a:ea typeface="Times New Roman" panose="02020603050405020304" pitchFamily="18" charset="0"/>
                <a:cs typeface="Times New Roman" panose="02020603050405020304" pitchFamily="18" charset="0"/>
              </a:rPr>
              <a:t>All rights reserved. No part of this document may be reproduced, stored in a retrieval system or transmitted in any form or by any means (electronic, mechanical, photocopying, recording or otherwise) without the permission of the copyright owner.</a:t>
            </a:r>
            <a:endParaRPr lang="en-MY" sz="1100">
              <a:effectLst/>
              <a:latin typeface="Museo Sans 300" panose="02000000000000000000" pitchFamily="50" charset="0"/>
              <a:ea typeface="Times New Roman" panose="020206030504050203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258BF3AB-9F7F-0AAB-2719-4300608236EE}"/>
              </a:ext>
            </a:extLst>
          </p:cNvPr>
          <p:cNvPicPr>
            <a:picLocks noChangeAspect="1"/>
          </p:cNvPicPr>
          <p:nvPr/>
        </p:nvPicPr>
        <p:blipFill>
          <a:blip r:embed="rId3"/>
          <a:stretch>
            <a:fillRect/>
          </a:stretch>
        </p:blipFill>
        <p:spPr>
          <a:xfrm>
            <a:off x="14913864" y="272259"/>
            <a:ext cx="2617689" cy="1144394"/>
          </a:xfrm>
          <a:prstGeom prst="rect">
            <a:avLst/>
          </a:prstGeom>
        </p:spPr>
      </p:pic>
      <p:pic>
        <p:nvPicPr>
          <p:cNvPr id="16" name="Picture 15">
            <a:extLst>
              <a:ext uri="{FF2B5EF4-FFF2-40B4-BE49-F238E27FC236}">
                <a16:creationId xmlns:a16="http://schemas.microsoft.com/office/drawing/2014/main" id="{62CD8673-E9DB-F8F6-A947-9976EA5209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6106887" cy="1028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D2C32-2405-2D6D-2E95-4FEAC1828E0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C44FB3C-D441-A268-21DB-28FD335B7FB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B94D0FD-7DD1-81BC-FF9E-48321CC5887F}"/>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7ADA04D-2EEC-3768-1CF2-E10510389D1B}"/>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RECAP FROM PREVIOUS LECTURE</a:t>
            </a:r>
          </a:p>
        </p:txBody>
      </p:sp>
      <p:sp>
        <p:nvSpPr>
          <p:cNvPr id="9" name="Date Placeholder 8">
            <a:extLst>
              <a:ext uri="{FF2B5EF4-FFF2-40B4-BE49-F238E27FC236}">
                <a16:creationId xmlns:a16="http://schemas.microsoft.com/office/drawing/2014/main" id="{3124E5E4-CE96-F8F9-06CC-0229CED8662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FFD37AF0-935A-8041-2A98-8EECF5094948}"/>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94D0C17-6852-F3DE-F2D9-1043BAB09D4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8888069C-B9FA-8666-48B0-7AC1BCF6D470}"/>
              </a:ext>
            </a:extLst>
          </p:cNvPr>
          <p:cNvSpPr txBox="1"/>
          <p:nvPr/>
        </p:nvSpPr>
        <p:spPr>
          <a:xfrm>
            <a:off x="757618" y="1541851"/>
            <a:ext cx="16773935" cy="7791044"/>
          </a:xfrm>
          <a:prstGeom prst="rect">
            <a:avLst/>
          </a:prstGeom>
          <a:noFill/>
        </p:spPr>
        <p:txBody>
          <a:bodyPr wrap="square" rtlCol="0">
            <a:spAutoFit/>
          </a:bodyPr>
          <a:lstStyle/>
          <a:p>
            <a:pPr marL="514350" indent="-514350" algn="just">
              <a:lnSpc>
                <a:spcPct val="150000"/>
              </a:lnSpc>
              <a:buFont typeface="+mj-lt"/>
              <a:buAutoNum type="arabicPeriod"/>
            </a:pPr>
            <a:r>
              <a:rPr lang="en-US" sz="2400" b="1" dirty="0"/>
              <a:t>Phones are the New Banks:</a:t>
            </a:r>
            <a:r>
              <a:rPr lang="en-US" sz="2400" dirty="0"/>
              <a:t> Mobile phones act like a bank branch right in your pocket. Most people use them to easily check their balances, send money, or pay bills. </a:t>
            </a:r>
          </a:p>
          <a:p>
            <a:pPr marL="514350" indent="-514350" algn="just">
              <a:lnSpc>
                <a:spcPct val="150000"/>
              </a:lnSpc>
              <a:buFont typeface="+mj-lt"/>
              <a:buAutoNum type="arabicPeriod"/>
            </a:pPr>
            <a:endParaRPr lang="en-US" sz="2400" dirty="0"/>
          </a:p>
          <a:p>
            <a:pPr marL="514350" indent="-514350" algn="just">
              <a:lnSpc>
                <a:spcPct val="150000"/>
              </a:lnSpc>
              <a:buFont typeface="+mj-lt"/>
              <a:buAutoNum type="arabicPeriod"/>
            </a:pPr>
            <a:r>
              <a:rPr lang="en-US" sz="2400" b="1" dirty="0"/>
              <a:t>Apps Must Be Great:</a:t>
            </a:r>
            <a:r>
              <a:rPr lang="en-US" sz="2400" dirty="0"/>
              <a:t> A banking app has to be very easy to use, highly secure, and offer personalized choices. Tech startups and big tech companies, rather than traditional banks, now set the standard for what makes a great user experience.</a:t>
            </a:r>
          </a:p>
          <a:p>
            <a:pPr marL="514350" indent="-514350" algn="just">
              <a:lnSpc>
                <a:spcPct val="150000"/>
              </a:lnSpc>
              <a:buFont typeface="+mj-lt"/>
              <a:buAutoNum type="arabicPeriod"/>
            </a:pPr>
            <a:endParaRPr lang="en-US" sz="2400" dirty="0"/>
          </a:p>
          <a:p>
            <a:pPr marL="514350" indent="-514350" algn="just">
              <a:lnSpc>
                <a:spcPct val="150000"/>
              </a:lnSpc>
              <a:buFont typeface="+mj-lt"/>
              <a:buAutoNum type="arabicPeriod"/>
            </a:pPr>
            <a:r>
              <a:rPr lang="en-US" sz="2400" b="1" dirty="0"/>
              <a:t>Big Savings &amp; Loyal Customers:</a:t>
            </a:r>
            <a:r>
              <a:rPr lang="en-US" sz="2400" dirty="0"/>
              <a:t> It costs a bank only $0.10 for a mobile visit compared to $4.25 for a physical branch visit. Also, users who bank on their phones stay with the bank longer and make more transactions, which brings in more money. </a:t>
            </a:r>
          </a:p>
          <a:p>
            <a:pPr marL="514350" indent="-514350" algn="just">
              <a:lnSpc>
                <a:spcPct val="150000"/>
              </a:lnSpc>
              <a:buFont typeface="+mj-lt"/>
              <a:buAutoNum type="arabicPeriod"/>
            </a:pPr>
            <a:endParaRPr lang="en-US" sz="2400" dirty="0"/>
          </a:p>
          <a:p>
            <a:pPr marL="514350" indent="-514350" algn="just">
              <a:lnSpc>
                <a:spcPct val="150000"/>
              </a:lnSpc>
              <a:buFont typeface="+mj-lt"/>
              <a:buAutoNum type="arabicPeriod"/>
            </a:pPr>
            <a:r>
              <a:rPr lang="en-US" sz="2400" b="1" dirty="0"/>
              <a:t>The Hard Parts:</a:t>
            </a:r>
            <a:r>
              <a:rPr lang="en-US" sz="2400" dirty="0"/>
              <a:t> The biggest hurdles are keeping the apps safe from security threats on personal devices and trying to connect fresh mobile apps to outdated bank computer systems. </a:t>
            </a:r>
          </a:p>
          <a:p>
            <a:pPr marL="514350" indent="-514350" algn="just">
              <a:lnSpc>
                <a:spcPct val="150000"/>
              </a:lnSpc>
              <a:buFont typeface="+mj-lt"/>
              <a:buAutoNum type="arabicPeriod"/>
            </a:pPr>
            <a:endParaRPr lang="en-US" sz="2400" dirty="0"/>
          </a:p>
          <a:p>
            <a:pPr marL="514350" indent="-514350" algn="just">
              <a:lnSpc>
                <a:spcPct val="150000"/>
              </a:lnSpc>
              <a:buFont typeface="+mj-lt"/>
              <a:buAutoNum type="arabicPeriod"/>
            </a:pPr>
            <a:r>
              <a:rPr lang="en-US" sz="2400" b="1" dirty="0"/>
              <a:t>Banks are Changing:</a:t>
            </a:r>
            <a:r>
              <a:rPr lang="en-US" sz="2400" dirty="0"/>
              <a:t> To keep up, old banks are moving their core systems to the cloud. They are also turning into "platforms" that allow third-party apps to connect with them so they can offer better services to users. </a:t>
            </a:r>
          </a:p>
        </p:txBody>
      </p:sp>
    </p:spTree>
    <p:extLst>
      <p:ext uri="{BB962C8B-B14F-4D97-AF65-F5344CB8AC3E}">
        <p14:creationId xmlns:p14="http://schemas.microsoft.com/office/powerpoint/2010/main" val="1717797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animEffect transition="in" filter="fade">
                                      <p:cBhvr>
                                        <p:cTn id="17" dur="500"/>
                                        <p:tgtEl>
                                          <p:spTgt spid="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6" end="6"/>
                                            </p:txEl>
                                          </p:spTgt>
                                        </p:tgtEl>
                                        <p:attrNameLst>
                                          <p:attrName>style.visibility</p:attrName>
                                        </p:attrNameLst>
                                      </p:cBhvr>
                                      <p:to>
                                        <p:strVal val="visible"/>
                                      </p:to>
                                    </p:set>
                                    <p:animEffect transition="in" filter="fade">
                                      <p:cBhvr>
                                        <p:cTn id="22" dur="500"/>
                                        <p:tgtEl>
                                          <p:spTgt spid="7">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8" end="8"/>
                                            </p:txEl>
                                          </p:spTgt>
                                        </p:tgtEl>
                                        <p:attrNameLst>
                                          <p:attrName>style.visibility</p:attrName>
                                        </p:attrNameLst>
                                      </p:cBhvr>
                                      <p:to>
                                        <p:strVal val="visible"/>
                                      </p:to>
                                    </p:set>
                                    <p:animEffect transition="in" filter="fade">
                                      <p:cBhvr>
                                        <p:cTn id="27"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D00E6-7747-75EC-003C-57C9A7F23AF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D1FC63D-46CE-AB2A-A373-591FEA4340A6}"/>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9D29B3BB-1931-3F9E-37B7-F4D9E52AC836}"/>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5AA3706-3EDA-EB5F-8FB7-66971DF0CBEC}"/>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LEARNING OUTCOMES</a:t>
            </a:r>
          </a:p>
        </p:txBody>
      </p:sp>
      <p:sp>
        <p:nvSpPr>
          <p:cNvPr id="9" name="Date Placeholder 8">
            <a:extLst>
              <a:ext uri="{FF2B5EF4-FFF2-40B4-BE49-F238E27FC236}">
                <a16:creationId xmlns:a16="http://schemas.microsoft.com/office/drawing/2014/main" id="{EA689D8D-3023-3ABA-6885-4D761D4204A4}"/>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339CABAD-6E9A-5DD2-1411-F232CBFA9182}"/>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717CF22-9DAB-95DB-3CDC-A083948755B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17A89254-A20E-18FB-5FCC-9C0BF6D4B095}"/>
              </a:ext>
            </a:extLst>
          </p:cNvPr>
          <p:cNvSpPr txBox="1"/>
          <p:nvPr/>
        </p:nvSpPr>
        <p:spPr>
          <a:xfrm>
            <a:off x="757618" y="1790700"/>
            <a:ext cx="16773935" cy="6860019"/>
          </a:xfrm>
          <a:prstGeom prst="rect">
            <a:avLst/>
          </a:prstGeom>
          <a:noFill/>
        </p:spPr>
        <p:txBody>
          <a:bodyPr wrap="square" rtlCol="0">
            <a:spAutoFit/>
          </a:bodyPr>
          <a:lstStyle/>
          <a:p>
            <a:pPr algn="just"/>
            <a:r>
              <a:rPr lang="en-US" sz="2800" dirty="0"/>
              <a:t>By the end of this session, students will be able to:</a:t>
            </a:r>
            <a:endParaRPr lang="en-MY" sz="2400" dirty="0"/>
          </a:p>
          <a:p>
            <a:pPr marL="514350" indent="-514350" algn="just">
              <a:buFont typeface="+mj-lt"/>
              <a:buAutoNum type="arabicPeriod"/>
            </a:pPr>
            <a:endParaRPr lang="en-MY" sz="2400" dirty="0"/>
          </a:p>
          <a:p>
            <a:pPr marL="514350" indent="-514350" algn="just">
              <a:lnSpc>
                <a:spcPct val="150000"/>
              </a:lnSpc>
              <a:buFont typeface="+mj-lt"/>
              <a:buAutoNum type="arabicPeriod"/>
            </a:pPr>
            <a:r>
              <a:rPr lang="en-US" sz="2400" b="1" dirty="0"/>
              <a:t>Differentiate Bank Types:</a:t>
            </a:r>
            <a:r>
              <a:rPr lang="en-US" sz="2400" dirty="0"/>
              <a:t> Distinguish between "Neobanks" (no full banking license) and "Challenger Banks" (full banking license). </a:t>
            </a:r>
          </a:p>
          <a:p>
            <a:pPr marL="514350" indent="-514350" algn="just">
              <a:lnSpc>
                <a:spcPct val="150000"/>
              </a:lnSpc>
              <a:buFont typeface="+mj-lt"/>
              <a:buAutoNum type="arabicPeriod"/>
            </a:pPr>
            <a:endParaRPr lang="en-US" sz="900" b="1" dirty="0"/>
          </a:p>
          <a:p>
            <a:pPr marL="514350" indent="-514350" algn="just">
              <a:lnSpc>
                <a:spcPct val="150000"/>
              </a:lnSpc>
              <a:buFont typeface="+mj-lt"/>
              <a:buAutoNum type="arabicPeriod"/>
            </a:pPr>
            <a:r>
              <a:rPr lang="en-US" sz="2400" b="1" dirty="0"/>
              <a:t>Analyze Value Propositions: </a:t>
            </a:r>
            <a:r>
              <a:rPr lang="en-US" sz="2400" dirty="0"/>
              <a:t>Understand how digital banks use lower operational costs—from avoiding branches and legacy IT—to offer lower fees, higher rates, and better customer experiences. </a:t>
            </a:r>
          </a:p>
          <a:p>
            <a:pPr marL="514350" indent="-514350" algn="just">
              <a:lnSpc>
                <a:spcPct val="150000"/>
              </a:lnSpc>
              <a:buFont typeface="+mj-lt"/>
              <a:buAutoNum type="arabicPeriod"/>
            </a:pPr>
            <a:endParaRPr lang="en-US" sz="900" dirty="0"/>
          </a:p>
          <a:p>
            <a:pPr marL="514350" indent="-514350" algn="just">
              <a:lnSpc>
                <a:spcPct val="150000"/>
              </a:lnSpc>
              <a:buFont typeface="+mj-lt"/>
              <a:buAutoNum type="arabicPeriod"/>
            </a:pPr>
            <a:r>
              <a:rPr lang="en-US" sz="2400" b="1" dirty="0"/>
              <a:t>Evaluate Profitability Strategies:</a:t>
            </a:r>
            <a:r>
              <a:rPr lang="en-US" sz="2400" dirty="0"/>
              <a:t> Recognize the challenge of moving from rapid customer acquisition to sustainable profit, often by shifting to lending or paid subscription tiers. </a:t>
            </a:r>
          </a:p>
          <a:p>
            <a:pPr marL="514350" indent="-514350" algn="just">
              <a:lnSpc>
                <a:spcPct val="150000"/>
              </a:lnSpc>
              <a:buFont typeface="+mj-lt"/>
              <a:buAutoNum type="arabicPeriod"/>
            </a:pPr>
            <a:endParaRPr lang="en-US" sz="900" dirty="0"/>
          </a:p>
          <a:p>
            <a:pPr marL="514350" indent="-514350" algn="just">
              <a:lnSpc>
                <a:spcPct val="150000"/>
              </a:lnSpc>
              <a:buFont typeface="+mj-lt"/>
              <a:buAutoNum type="arabicPeriod"/>
            </a:pPr>
            <a:r>
              <a:rPr lang="en-US" sz="2400" b="1" dirty="0"/>
              <a:t>Identify Risks and Regulations: </a:t>
            </a:r>
            <a:r>
              <a:rPr lang="en-US" sz="2400" dirty="0"/>
              <a:t>Assess core sector risks like cybersecurity and data protection, alongside what regulators require, such as consumer protection and a clear path to profit. </a:t>
            </a:r>
          </a:p>
          <a:p>
            <a:pPr marL="514350" indent="-514350" algn="just">
              <a:lnSpc>
                <a:spcPct val="150000"/>
              </a:lnSpc>
              <a:buFont typeface="+mj-lt"/>
              <a:buAutoNum type="arabicPeriod"/>
            </a:pPr>
            <a:endParaRPr lang="en-US" sz="900" dirty="0"/>
          </a:p>
          <a:p>
            <a:pPr marL="514350" indent="-514350" algn="just">
              <a:lnSpc>
                <a:spcPct val="150000"/>
              </a:lnSpc>
              <a:buFont typeface="+mj-lt"/>
              <a:buAutoNum type="arabicPeriod"/>
            </a:pPr>
            <a:r>
              <a:rPr lang="en-US" sz="2400" b="1" dirty="0"/>
              <a:t>Understand Incumbent Responses:</a:t>
            </a:r>
            <a:r>
              <a:rPr lang="en-US" sz="2400" dirty="0"/>
              <a:t> Learn how traditional banks compete by launching parallel digital brands, acquiring neobanks, or forming strategic partnerships. </a:t>
            </a:r>
          </a:p>
        </p:txBody>
      </p:sp>
    </p:spTree>
    <p:extLst>
      <p:ext uri="{BB962C8B-B14F-4D97-AF65-F5344CB8AC3E}">
        <p14:creationId xmlns:p14="http://schemas.microsoft.com/office/powerpoint/2010/main" val="1928891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500"/>
                                        <p:tgtEl>
                                          <p:spTgt spid="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4" end="4"/>
                                            </p:txEl>
                                          </p:spTgt>
                                        </p:tgtEl>
                                        <p:attrNameLst>
                                          <p:attrName>style.visibility</p:attrName>
                                        </p:attrNameLst>
                                      </p:cBhvr>
                                      <p:to>
                                        <p:strVal val="visible"/>
                                      </p:to>
                                    </p:set>
                                    <p:animEffect transition="in" filter="fade">
                                      <p:cBhvr>
                                        <p:cTn id="12" dur="500"/>
                                        <p:tgtEl>
                                          <p:spTgt spid="7">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animEffect transition="in" filter="fade">
                                      <p:cBhvr>
                                        <p:cTn id="17" dur="500"/>
                                        <p:tgtEl>
                                          <p:spTgt spid="7">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8" end="8"/>
                                            </p:txEl>
                                          </p:spTgt>
                                        </p:tgtEl>
                                        <p:attrNameLst>
                                          <p:attrName>style.visibility</p:attrName>
                                        </p:attrNameLst>
                                      </p:cBhvr>
                                      <p:to>
                                        <p:strVal val="visible"/>
                                      </p:to>
                                    </p:set>
                                    <p:animEffect transition="in" filter="fade">
                                      <p:cBhvr>
                                        <p:cTn id="22" dur="500"/>
                                        <p:tgtEl>
                                          <p:spTgt spid="7">
                                            <p:txEl>
                                              <p:pRg st="8" end="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10" end="10"/>
                                            </p:txEl>
                                          </p:spTgt>
                                        </p:tgtEl>
                                        <p:attrNameLst>
                                          <p:attrName>style.visibility</p:attrName>
                                        </p:attrNameLst>
                                      </p:cBhvr>
                                      <p:to>
                                        <p:strVal val="visible"/>
                                      </p:to>
                                    </p:set>
                                    <p:animEffect transition="in" filter="fade">
                                      <p:cBhvr>
                                        <p:cTn id="27" dur="500"/>
                                        <p:tgtEl>
                                          <p:spTgt spid="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9CD0D-972B-FE6D-B005-F472E53C011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2F305BD-B647-52A1-7229-8D1C689775AB}"/>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0AD37D0-AB7C-531D-442D-316B5352ACD1}"/>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EE389B7-4BDC-9F88-5E29-C825141ABF62}"/>
              </a:ext>
            </a:extLst>
          </p:cNvPr>
          <p:cNvSpPr txBox="1"/>
          <p:nvPr/>
        </p:nvSpPr>
        <p:spPr>
          <a:xfrm>
            <a:off x="990600" y="300719"/>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TOPICS</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74AC5EDA-CD04-CA81-5505-46F71DF98144}"/>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984BAFFF-0B17-2D6B-F88C-8FD53E5AEA2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AEFAFA90-B6A0-006E-2A2C-78E3AA19E6A1}"/>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a:t>
            </a:fld>
            <a:endParaRPr lang="en-US">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6368044F-6D69-5ECE-F229-C0DDFB6CEC83}"/>
              </a:ext>
            </a:extLst>
          </p:cNvPr>
          <p:cNvSpPr txBox="1"/>
          <p:nvPr/>
        </p:nvSpPr>
        <p:spPr>
          <a:xfrm>
            <a:off x="633495" y="1358900"/>
            <a:ext cx="12853905" cy="8402300"/>
          </a:xfrm>
          <a:prstGeom prst="rect">
            <a:avLst/>
          </a:prstGeom>
          <a:noFill/>
        </p:spPr>
        <p:txBody>
          <a:bodyPr wrap="square" rtlCol="0">
            <a:spAutoFit/>
          </a:bodyPr>
          <a:lstStyle/>
          <a:p>
            <a:pPr marL="514350" indent="-514350">
              <a:buFont typeface="+mj-lt"/>
              <a:buAutoNum type="arabicPeriod"/>
            </a:pPr>
            <a:r>
              <a:rPr lang="en-MY" sz="2800" b="1" dirty="0"/>
              <a:t>Introduction to Digital-only Banks?</a:t>
            </a:r>
          </a:p>
          <a:p>
            <a:pPr lvl="1"/>
            <a:r>
              <a:rPr lang="en-MY" sz="2400" dirty="0"/>
              <a:t>	1.1. Types of Digital Challenger Banks (Neobanks vs. Challenger Banks)</a:t>
            </a:r>
          </a:p>
          <a:p>
            <a:pPr lvl="1"/>
            <a:r>
              <a:rPr lang="en-MY" sz="2400" dirty="0"/>
              <a:t>	1.2. </a:t>
            </a:r>
            <a:r>
              <a:rPr lang="en-US" sz="2400" dirty="0"/>
              <a:t>Key Prerequisites for Digital Banking</a:t>
            </a:r>
          </a:p>
          <a:p>
            <a:pPr lvl="1"/>
            <a:r>
              <a:rPr lang="en-US" sz="2400" dirty="0"/>
              <a:t>	1.3. Example Banks and General Strengths</a:t>
            </a:r>
            <a:endParaRPr lang="en-MY" sz="2400" dirty="0"/>
          </a:p>
          <a:p>
            <a:pPr lvl="1"/>
            <a:endParaRPr lang="en-MY" sz="2400" dirty="0"/>
          </a:p>
          <a:p>
            <a:r>
              <a:rPr lang="en-MY" sz="2800" b="1" dirty="0"/>
              <a:t>2. 	</a:t>
            </a:r>
            <a:r>
              <a:rPr lang="en-US" sz="2800" b="1" dirty="0"/>
              <a:t>Value Proposition: How Neobanks Do It</a:t>
            </a:r>
            <a:r>
              <a:rPr lang="en-MY" sz="2800" b="1" dirty="0"/>
              <a:t>?</a:t>
            </a:r>
          </a:p>
          <a:p>
            <a:r>
              <a:rPr lang="en-MY" sz="2800" dirty="0"/>
              <a:t>		</a:t>
            </a:r>
            <a:r>
              <a:rPr lang="en-MY" sz="2400" dirty="0"/>
              <a:t>2.1. </a:t>
            </a:r>
            <a:r>
              <a:rPr lang="en-US" sz="2400" dirty="0"/>
              <a:t>Lower Operation Costs and Fees</a:t>
            </a:r>
            <a:r>
              <a:rPr lang="en-MY" sz="2400" dirty="0"/>
              <a:t>?</a:t>
            </a:r>
          </a:p>
          <a:p>
            <a:r>
              <a:rPr lang="en-MY" sz="2400" dirty="0"/>
              <a:t>		2.2.</a:t>
            </a:r>
            <a:r>
              <a:rPr lang="en-US" sz="2400" dirty="0"/>
              <a:t> Faster Product Launches and Technology Utilization</a:t>
            </a:r>
            <a:endParaRPr lang="en-MY" sz="2400" dirty="0"/>
          </a:p>
          <a:p>
            <a:r>
              <a:rPr lang="en-MY" sz="2400" dirty="0"/>
              <a:t>		2.3. </a:t>
            </a:r>
            <a:r>
              <a:rPr lang="en-US" sz="2400" dirty="0"/>
              <a:t>Better Customer Experience (CX) and Personalization</a:t>
            </a:r>
            <a:endParaRPr lang="en-MY" sz="2400" dirty="0"/>
          </a:p>
          <a:p>
            <a:r>
              <a:rPr lang="en-MY" sz="2400" dirty="0"/>
              <a:t>		2.4. Open Ecosystems, Transparency, and Security</a:t>
            </a:r>
          </a:p>
          <a:p>
            <a:endParaRPr lang="en-MY" sz="2400" dirty="0"/>
          </a:p>
          <a:p>
            <a:pPr marL="514350" indent="-514350">
              <a:buAutoNum type="arabicPeriod" startAt="3"/>
            </a:pPr>
            <a:r>
              <a:rPr lang="en-US" sz="2800" b="1" dirty="0"/>
              <a:t>Strategic Priorities and Market Demands</a:t>
            </a:r>
            <a:endParaRPr lang="en-MY" sz="2800" b="1" dirty="0"/>
          </a:p>
          <a:p>
            <a:r>
              <a:rPr lang="en-MY" sz="2800" dirty="0"/>
              <a:t>		</a:t>
            </a:r>
            <a:r>
              <a:rPr lang="en-MY" sz="2400" dirty="0"/>
              <a:t>3.1. What Banking Customers Want</a:t>
            </a:r>
          </a:p>
          <a:p>
            <a:r>
              <a:rPr lang="en-MY" sz="2400" dirty="0"/>
              <a:t>		3.2. Attracting Customers and Differentiation </a:t>
            </a:r>
          </a:p>
          <a:p>
            <a:r>
              <a:rPr lang="en-MY" sz="2400" dirty="0"/>
              <a:t>		3.3. Expanding Profitably </a:t>
            </a:r>
          </a:p>
          <a:p>
            <a:r>
              <a:rPr lang="en-MY" sz="2400" dirty="0"/>
              <a:t>		3.4. </a:t>
            </a:r>
            <a:r>
              <a:rPr lang="en-US" sz="2400" dirty="0"/>
              <a:t>Strategic Partnerships and Social Network Use </a:t>
            </a:r>
            <a:endParaRPr lang="en-MY" sz="2800" dirty="0"/>
          </a:p>
          <a:p>
            <a:endParaRPr lang="en-MY" sz="2400" dirty="0"/>
          </a:p>
          <a:p>
            <a:pPr marL="514350" indent="-514350">
              <a:buFont typeface="+mj-lt"/>
              <a:buAutoNum type="arabicPeriod" startAt="4"/>
            </a:pPr>
            <a:r>
              <a:rPr lang="en-MY" sz="2800" b="1" dirty="0"/>
              <a:t>Issues, Risks, and Challenges</a:t>
            </a:r>
          </a:p>
          <a:p>
            <a:r>
              <a:rPr lang="en-MY" sz="2800" dirty="0"/>
              <a:t>		</a:t>
            </a:r>
            <a:r>
              <a:rPr lang="en-MY" sz="2400" dirty="0"/>
              <a:t>4.1. </a:t>
            </a:r>
            <a:r>
              <a:rPr lang="en-US" sz="2400" dirty="0"/>
              <a:t>Consumer Protection and Regulatory Risks </a:t>
            </a:r>
            <a:r>
              <a:rPr lang="en-MY" sz="2400" dirty="0"/>
              <a:t>		</a:t>
            </a:r>
          </a:p>
          <a:p>
            <a:r>
              <a:rPr lang="en-MY" sz="2400" dirty="0"/>
              <a:t>		4.2. Cybersecurity and Data Protection</a:t>
            </a:r>
          </a:p>
          <a:p>
            <a:r>
              <a:rPr lang="en-MY" sz="2400" dirty="0"/>
              <a:t>		4.3. </a:t>
            </a:r>
            <a:r>
              <a:rPr lang="en-US" sz="2400" dirty="0"/>
              <a:t>The Hurdle of Profitability and Business Sustainability</a:t>
            </a:r>
            <a:endParaRPr lang="en-MY" sz="2400" dirty="0"/>
          </a:p>
        </p:txBody>
      </p:sp>
    </p:spTree>
    <p:extLst>
      <p:ext uri="{BB962C8B-B14F-4D97-AF65-F5344CB8AC3E}">
        <p14:creationId xmlns:p14="http://schemas.microsoft.com/office/powerpoint/2010/main" val="3162996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animEffect transition="in" filter="fade">
                                      <p:cBhvr>
                                        <p:cTn id="7" dur="500"/>
                                        <p:tgtEl>
                                          <p:spTgt spid="4">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6" end="6"/>
                                            </p:txEl>
                                          </p:spTgt>
                                        </p:tgtEl>
                                        <p:attrNameLst>
                                          <p:attrName>style.visibility</p:attrName>
                                        </p:attrNameLst>
                                      </p:cBhvr>
                                      <p:to>
                                        <p:strVal val="visible"/>
                                      </p:to>
                                    </p:set>
                                    <p:animEffect transition="in" filter="fade">
                                      <p:cBhvr>
                                        <p:cTn id="10" dur="500"/>
                                        <p:tgtEl>
                                          <p:spTgt spid="4">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7" end="7"/>
                                            </p:txEl>
                                          </p:spTgt>
                                        </p:tgtEl>
                                        <p:attrNameLst>
                                          <p:attrName>style.visibility</p:attrName>
                                        </p:attrNameLst>
                                      </p:cBhvr>
                                      <p:to>
                                        <p:strVal val="visible"/>
                                      </p:to>
                                    </p:set>
                                    <p:animEffect transition="in" filter="fade">
                                      <p:cBhvr>
                                        <p:cTn id="13" dur="500"/>
                                        <p:tgtEl>
                                          <p:spTgt spid="4">
                                            <p:txEl>
                                              <p:pRg st="7" end="7"/>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8" end="8"/>
                                            </p:txEl>
                                          </p:spTgt>
                                        </p:tgtEl>
                                        <p:attrNameLst>
                                          <p:attrName>style.visibility</p:attrName>
                                        </p:attrNameLst>
                                      </p:cBhvr>
                                      <p:to>
                                        <p:strVal val="visible"/>
                                      </p:to>
                                    </p:set>
                                    <p:animEffect transition="in" filter="fade">
                                      <p:cBhvr>
                                        <p:cTn id="16" dur="500"/>
                                        <p:tgtEl>
                                          <p:spTgt spid="4">
                                            <p:txEl>
                                              <p:pRg st="8" end="8"/>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
                                            <p:txEl>
                                              <p:pRg st="9" end="9"/>
                                            </p:txEl>
                                          </p:spTgt>
                                        </p:tgtEl>
                                        <p:attrNameLst>
                                          <p:attrName>style.visibility</p:attrName>
                                        </p:attrNameLst>
                                      </p:cBhvr>
                                      <p:to>
                                        <p:strVal val="visible"/>
                                      </p:to>
                                    </p:set>
                                    <p:animEffect transition="in" filter="fade">
                                      <p:cBhvr>
                                        <p:cTn id="19" dur="500"/>
                                        <p:tgtEl>
                                          <p:spTgt spid="4">
                                            <p:txEl>
                                              <p:pRg st="9" end="9"/>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4">
                                            <p:txEl>
                                              <p:pRg st="11" end="11"/>
                                            </p:txEl>
                                          </p:spTgt>
                                        </p:tgtEl>
                                        <p:attrNameLst>
                                          <p:attrName>style.visibility</p:attrName>
                                        </p:attrNameLst>
                                      </p:cBhvr>
                                      <p:to>
                                        <p:strVal val="visible"/>
                                      </p:to>
                                    </p:set>
                                    <p:animEffect transition="in" filter="fade">
                                      <p:cBhvr>
                                        <p:cTn id="24" dur="500"/>
                                        <p:tgtEl>
                                          <p:spTgt spid="4">
                                            <p:txEl>
                                              <p:pRg st="11" end="11"/>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4">
                                            <p:txEl>
                                              <p:pRg st="12" end="12"/>
                                            </p:txEl>
                                          </p:spTgt>
                                        </p:tgtEl>
                                        <p:attrNameLst>
                                          <p:attrName>style.visibility</p:attrName>
                                        </p:attrNameLst>
                                      </p:cBhvr>
                                      <p:to>
                                        <p:strVal val="visible"/>
                                      </p:to>
                                    </p:set>
                                    <p:animEffect transition="in" filter="fade">
                                      <p:cBhvr>
                                        <p:cTn id="27" dur="500"/>
                                        <p:tgtEl>
                                          <p:spTgt spid="4">
                                            <p:txEl>
                                              <p:pRg st="12" end="12"/>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4">
                                            <p:txEl>
                                              <p:pRg st="13" end="13"/>
                                            </p:txEl>
                                          </p:spTgt>
                                        </p:tgtEl>
                                        <p:attrNameLst>
                                          <p:attrName>style.visibility</p:attrName>
                                        </p:attrNameLst>
                                      </p:cBhvr>
                                      <p:to>
                                        <p:strVal val="visible"/>
                                      </p:to>
                                    </p:set>
                                    <p:animEffect transition="in" filter="fade">
                                      <p:cBhvr>
                                        <p:cTn id="30" dur="500"/>
                                        <p:tgtEl>
                                          <p:spTgt spid="4">
                                            <p:txEl>
                                              <p:pRg st="13" end="13"/>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4">
                                            <p:txEl>
                                              <p:pRg st="14" end="14"/>
                                            </p:txEl>
                                          </p:spTgt>
                                        </p:tgtEl>
                                        <p:attrNameLst>
                                          <p:attrName>style.visibility</p:attrName>
                                        </p:attrNameLst>
                                      </p:cBhvr>
                                      <p:to>
                                        <p:strVal val="visible"/>
                                      </p:to>
                                    </p:set>
                                    <p:animEffect transition="in" filter="fade">
                                      <p:cBhvr>
                                        <p:cTn id="33" dur="500"/>
                                        <p:tgtEl>
                                          <p:spTgt spid="4">
                                            <p:txEl>
                                              <p:pRg st="14" end="14"/>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4">
                                            <p:txEl>
                                              <p:pRg st="15" end="15"/>
                                            </p:txEl>
                                          </p:spTgt>
                                        </p:tgtEl>
                                        <p:attrNameLst>
                                          <p:attrName>style.visibility</p:attrName>
                                        </p:attrNameLst>
                                      </p:cBhvr>
                                      <p:to>
                                        <p:strVal val="visible"/>
                                      </p:to>
                                    </p:set>
                                    <p:animEffect transition="in" filter="fade">
                                      <p:cBhvr>
                                        <p:cTn id="36" dur="500"/>
                                        <p:tgtEl>
                                          <p:spTgt spid="4">
                                            <p:txEl>
                                              <p:pRg st="15" end="15"/>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4">
                                            <p:txEl>
                                              <p:pRg st="17" end="17"/>
                                            </p:txEl>
                                          </p:spTgt>
                                        </p:tgtEl>
                                        <p:attrNameLst>
                                          <p:attrName>style.visibility</p:attrName>
                                        </p:attrNameLst>
                                      </p:cBhvr>
                                      <p:to>
                                        <p:strVal val="visible"/>
                                      </p:to>
                                    </p:set>
                                    <p:animEffect transition="in" filter="fade">
                                      <p:cBhvr>
                                        <p:cTn id="39" dur="500"/>
                                        <p:tgtEl>
                                          <p:spTgt spid="4">
                                            <p:txEl>
                                              <p:pRg st="17" end="17"/>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4">
                                            <p:txEl>
                                              <p:pRg st="18" end="18"/>
                                            </p:txEl>
                                          </p:spTgt>
                                        </p:tgtEl>
                                        <p:attrNameLst>
                                          <p:attrName>style.visibility</p:attrName>
                                        </p:attrNameLst>
                                      </p:cBhvr>
                                      <p:to>
                                        <p:strVal val="visible"/>
                                      </p:to>
                                    </p:set>
                                    <p:animEffect transition="in" filter="fade">
                                      <p:cBhvr>
                                        <p:cTn id="42" dur="500"/>
                                        <p:tgtEl>
                                          <p:spTgt spid="4">
                                            <p:txEl>
                                              <p:pRg st="18" end="18"/>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4">
                                            <p:txEl>
                                              <p:pRg st="19" end="19"/>
                                            </p:txEl>
                                          </p:spTgt>
                                        </p:tgtEl>
                                        <p:attrNameLst>
                                          <p:attrName>style.visibility</p:attrName>
                                        </p:attrNameLst>
                                      </p:cBhvr>
                                      <p:to>
                                        <p:strVal val="visible"/>
                                      </p:to>
                                    </p:set>
                                    <p:animEffect transition="in" filter="fade">
                                      <p:cBhvr>
                                        <p:cTn id="45" dur="500"/>
                                        <p:tgtEl>
                                          <p:spTgt spid="4">
                                            <p:txEl>
                                              <p:pRg st="19" end="19"/>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4">
                                            <p:txEl>
                                              <p:pRg st="20" end="20"/>
                                            </p:txEl>
                                          </p:spTgt>
                                        </p:tgtEl>
                                        <p:attrNameLst>
                                          <p:attrName>style.visibility</p:attrName>
                                        </p:attrNameLst>
                                      </p:cBhvr>
                                      <p:to>
                                        <p:strVal val="visible"/>
                                      </p:to>
                                    </p:set>
                                    <p:animEffect transition="in" filter="fade">
                                      <p:cBhvr>
                                        <p:cTn id="48" dur="500"/>
                                        <p:tgtEl>
                                          <p:spTgt spid="4">
                                            <p:txEl>
                                              <p:pRg st="20" end="2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505B9-D131-A1E2-2A33-4D24C6F4C72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E13E189-73C7-515A-62C6-5D341BE27EBA}"/>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4AF0E0EE-0A73-00EF-D89C-364C7CDB508C}"/>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84454C95-BD41-64AD-F0BE-2E2B029A402F}"/>
              </a:ext>
            </a:extLst>
          </p:cNvPr>
          <p:cNvSpPr txBox="1"/>
          <p:nvPr/>
        </p:nvSpPr>
        <p:spPr>
          <a:xfrm>
            <a:off x="990600" y="300719"/>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TOPICS</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5F845D40-6B7A-8835-3C10-F90025AF2A16}"/>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C6BDEC56-C6E4-F0DF-6BA9-E932648082CB}"/>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8A4FA4C-92D0-8064-F8EB-EBB16C0B4E8E}"/>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a:t>
            </a:fld>
            <a:endParaRPr lang="en-US">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7B202A23-6A6B-FF54-F979-AEC80391EDD6}"/>
              </a:ext>
            </a:extLst>
          </p:cNvPr>
          <p:cNvSpPr txBox="1"/>
          <p:nvPr/>
        </p:nvSpPr>
        <p:spPr>
          <a:xfrm>
            <a:off x="633495" y="1358900"/>
            <a:ext cx="12853905" cy="7540526"/>
          </a:xfrm>
          <a:prstGeom prst="rect">
            <a:avLst/>
          </a:prstGeom>
          <a:noFill/>
        </p:spPr>
        <p:txBody>
          <a:bodyPr wrap="square" rtlCol="0">
            <a:spAutoFit/>
          </a:bodyPr>
          <a:lstStyle/>
          <a:p>
            <a:pPr marL="514350" indent="-514350">
              <a:buFont typeface="+mj-lt"/>
              <a:buAutoNum type="arabicPeriod" startAt="5"/>
            </a:pPr>
            <a:r>
              <a:rPr lang="en-US" sz="2800" b="1" dirty="0"/>
              <a:t>Case Studies and Global Trends</a:t>
            </a:r>
            <a:r>
              <a:rPr lang="en-MY" sz="2800" b="1" dirty="0"/>
              <a:t>?</a:t>
            </a:r>
          </a:p>
          <a:p>
            <a:pPr lvl="1"/>
            <a:r>
              <a:rPr lang="en-MY" sz="2400" dirty="0"/>
              <a:t>	5.1. SME Adoption of FinTech</a:t>
            </a:r>
          </a:p>
          <a:p>
            <a:pPr lvl="1"/>
            <a:r>
              <a:rPr lang="en-MY" sz="2400" dirty="0"/>
              <a:t>	5.2. </a:t>
            </a:r>
            <a:r>
              <a:rPr lang="en-US" sz="2400" dirty="0"/>
              <a:t>Regional Developments (Malaysia and Singapore) </a:t>
            </a:r>
          </a:p>
          <a:p>
            <a:pPr lvl="1"/>
            <a:r>
              <a:rPr lang="en-US" sz="2400" dirty="0"/>
              <a:t>	5.3. Global Growth of Challenger Banks in 2022 </a:t>
            </a:r>
          </a:p>
          <a:p>
            <a:pPr lvl="1"/>
            <a:endParaRPr lang="en-MY" sz="2400" dirty="0"/>
          </a:p>
          <a:p>
            <a:pPr marL="514350" indent="-514350">
              <a:buFont typeface="+mj-lt"/>
              <a:buAutoNum type="arabicPeriod" startAt="6"/>
            </a:pPr>
            <a:r>
              <a:rPr lang="en-MY" sz="2800" b="1" dirty="0"/>
              <a:t>Strategies for Incumbent Banks</a:t>
            </a:r>
          </a:p>
          <a:p>
            <a:r>
              <a:rPr lang="en-MY" sz="2800" dirty="0"/>
              <a:t>		</a:t>
            </a:r>
            <a:r>
              <a:rPr lang="en-MY" sz="2400" dirty="0"/>
              <a:t>6.1. Acquisitions and Tech Investments </a:t>
            </a:r>
          </a:p>
          <a:p>
            <a:r>
              <a:rPr lang="en-MY" sz="2400" dirty="0"/>
              <a:t>		6.2.</a:t>
            </a:r>
            <a:r>
              <a:rPr lang="en-US" sz="2400" dirty="0"/>
              <a:t> In-house Builds and Parallel Brands </a:t>
            </a:r>
          </a:p>
          <a:p>
            <a:r>
              <a:rPr lang="en-MY" sz="2400" dirty="0"/>
              <a:t>		6.3. Partnering with FinTechs</a:t>
            </a:r>
          </a:p>
          <a:p>
            <a:endParaRPr lang="en-MY" sz="2400" dirty="0"/>
          </a:p>
          <a:p>
            <a:pPr marL="514350" indent="-514350">
              <a:buFont typeface="+mj-lt"/>
              <a:buAutoNum type="arabicPeriod" startAt="7"/>
            </a:pPr>
            <a:r>
              <a:rPr lang="en-MY" sz="2800" b="1" dirty="0"/>
              <a:t>Regulations and Suitability</a:t>
            </a:r>
          </a:p>
          <a:p>
            <a:r>
              <a:rPr lang="en-MY" sz="2800" dirty="0"/>
              <a:t>		</a:t>
            </a:r>
            <a:r>
              <a:rPr lang="en-MY" sz="2400" dirty="0"/>
              <a:t>7.1. </a:t>
            </a:r>
            <a:r>
              <a:rPr lang="en-US" sz="2400" dirty="0"/>
              <a:t>Regulators' Goals (Competition and Financial Inclusion) </a:t>
            </a:r>
          </a:p>
          <a:p>
            <a:r>
              <a:rPr lang="en-MY" sz="2400" dirty="0"/>
              <a:t>		7.2. </a:t>
            </a:r>
            <a:r>
              <a:rPr lang="en-US" sz="2400" dirty="0"/>
              <a:t>Key Factors for Assessment (Profitability, Differentiation, Consumer Protection) </a:t>
            </a:r>
          </a:p>
          <a:p>
            <a:endParaRPr lang="en-MY" sz="2400" dirty="0"/>
          </a:p>
          <a:p>
            <a:pPr marL="514350" indent="-514350">
              <a:buFont typeface="+mj-lt"/>
              <a:buAutoNum type="arabicPeriod" startAt="8"/>
            </a:pPr>
            <a:r>
              <a:rPr lang="en-MY" sz="2800" b="1" dirty="0"/>
              <a:t>Conclusion and Future Outlook</a:t>
            </a:r>
          </a:p>
          <a:p>
            <a:r>
              <a:rPr lang="en-MY" sz="2800" dirty="0"/>
              <a:t>		</a:t>
            </a:r>
            <a:r>
              <a:rPr lang="en-MY" sz="2400" dirty="0"/>
              <a:t>8.1. </a:t>
            </a:r>
            <a:r>
              <a:rPr lang="en-MY" sz="2400" dirty="0" err="1"/>
              <a:t>Rebundling</a:t>
            </a:r>
            <a:r>
              <a:rPr lang="en-MY" sz="2400" dirty="0"/>
              <a:t> Services via Open Banking 	</a:t>
            </a:r>
          </a:p>
          <a:p>
            <a:r>
              <a:rPr lang="en-MY" sz="2400" dirty="0"/>
              <a:t>		8.2. Market Consolidation </a:t>
            </a:r>
          </a:p>
          <a:p>
            <a:r>
              <a:rPr lang="en-MY" sz="2400" dirty="0"/>
              <a:t>		8.3. </a:t>
            </a:r>
            <a:r>
              <a:rPr lang="fr-FR" sz="2400" dirty="0"/>
              <a:t>Disruptive Innovation vs. Incremental Improvement </a:t>
            </a:r>
          </a:p>
          <a:p>
            <a:r>
              <a:rPr lang="fr-FR" sz="2400" dirty="0"/>
              <a:t>		8.4. </a:t>
            </a:r>
            <a:r>
              <a:rPr lang="en-US" sz="2400" dirty="0"/>
              <a:t>Adding Genuine Value and Live Support </a:t>
            </a:r>
            <a:endParaRPr lang="en-MY" sz="2400" dirty="0"/>
          </a:p>
        </p:txBody>
      </p:sp>
    </p:spTree>
    <p:extLst>
      <p:ext uri="{BB962C8B-B14F-4D97-AF65-F5344CB8AC3E}">
        <p14:creationId xmlns:p14="http://schemas.microsoft.com/office/powerpoint/2010/main" val="4154468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animEffect transition="in" filter="fade">
                                      <p:cBhvr>
                                        <p:cTn id="7" dur="500"/>
                                        <p:tgtEl>
                                          <p:spTgt spid="4">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6" end="6"/>
                                            </p:txEl>
                                          </p:spTgt>
                                        </p:tgtEl>
                                        <p:attrNameLst>
                                          <p:attrName>style.visibility</p:attrName>
                                        </p:attrNameLst>
                                      </p:cBhvr>
                                      <p:to>
                                        <p:strVal val="visible"/>
                                      </p:to>
                                    </p:set>
                                    <p:animEffect transition="in" filter="fade">
                                      <p:cBhvr>
                                        <p:cTn id="12" dur="500"/>
                                        <p:tgtEl>
                                          <p:spTgt spid="4">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7" end="7"/>
                                            </p:txEl>
                                          </p:spTgt>
                                        </p:tgtEl>
                                        <p:attrNameLst>
                                          <p:attrName>style.visibility</p:attrName>
                                        </p:attrNameLst>
                                      </p:cBhvr>
                                      <p:to>
                                        <p:strVal val="visible"/>
                                      </p:to>
                                    </p:set>
                                    <p:animEffect transition="in" filter="fade">
                                      <p:cBhvr>
                                        <p:cTn id="17" dur="500"/>
                                        <p:tgtEl>
                                          <p:spTgt spid="4">
                                            <p:txEl>
                                              <p:pRg st="7" end="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8" end="8"/>
                                            </p:txEl>
                                          </p:spTgt>
                                        </p:tgtEl>
                                        <p:attrNameLst>
                                          <p:attrName>style.visibility</p:attrName>
                                        </p:attrNameLst>
                                      </p:cBhvr>
                                      <p:to>
                                        <p:strVal val="visible"/>
                                      </p:to>
                                    </p:set>
                                    <p:animEffect transition="in" filter="fade">
                                      <p:cBhvr>
                                        <p:cTn id="22" dur="500"/>
                                        <p:tgtEl>
                                          <p:spTgt spid="4">
                                            <p:txEl>
                                              <p:pRg st="8" end="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10" end="10"/>
                                            </p:txEl>
                                          </p:spTgt>
                                        </p:tgtEl>
                                        <p:attrNameLst>
                                          <p:attrName>style.visibility</p:attrName>
                                        </p:attrNameLst>
                                      </p:cBhvr>
                                      <p:to>
                                        <p:strVal val="visible"/>
                                      </p:to>
                                    </p:set>
                                    <p:animEffect transition="in" filter="fade">
                                      <p:cBhvr>
                                        <p:cTn id="27" dur="500"/>
                                        <p:tgtEl>
                                          <p:spTgt spid="4">
                                            <p:txEl>
                                              <p:pRg st="10" end="1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11" end="11"/>
                                            </p:txEl>
                                          </p:spTgt>
                                        </p:tgtEl>
                                        <p:attrNameLst>
                                          <p:attrName>style.visibility</p:attrName>
                                        </p:attrNameLst>
                                      </p:cBhvr>
                                      <p:to>
                                        <p:strVal val="visible"/>
                                      </p:to>
                                    </p:set>
                                    <p:animEffect transition="in" filter="fade">
                                      <p:cBhvr>
                                        <p:cTn id="32" dur="500"/>
                                        <p:tgtEl>
                                          <p:spTgt spid="4">
                                            <p:txEl>
                                              <p:pRg st="11" end="1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12" end="12"/>
                                            </p:txEl>
                                          </p:spTgt>
                                        </p:tgtEl>
                                        <p:attrNameLst>
                                          <p:attrName>style.visibility</p:attrName>
                                        </p:attrNameLst>
                                      </p:cBhvr>
                                      <p:to>
                                        <p:strVal val="visible"/>
                                      </p:to>
                                    </p:set>
                                    <p:animEffect transition="in" filter="fade">
                                      <p:cBhvr>
                                        <p:cTn id="37" dur="500"/>
                                        <p:tgtEl>
                                          <p:spTgt spid="4">
                                            <p:txEl>
                                              <p:pRg st="12" end="12"/>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4">
                                            <p:txEl>
                                              <p:pRg st="14" end="14"/>
                                            </p:txEl>
                                          </p:spTgt>
                                        </p:tgtEl>
                                        <p:attrNameLst>
                                          <p:attrName>style.visibility</p:attrName>
                                        </p:attrNameLst>
                                      </p:cBhvr>
                                      <p:to>
                                        <p:strVal val="visible"/>
                                      </p:to>
                                    </p:set>
                                    <p:animEffect transition="in" filter="fade">
                                      <p:cBhvr>
                                        <p:cTn id="40" dur="500"/>
                                        <p:tgtEl>
                                          <p:spTgt spid="4">
                                            <p:txEl>
                                              <p:pRg st="14" end="14"/>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4">
                                            <p:txEl>
                                              <p:pRg st="15" end="15"/>
                                            </p:txEl>
                                          </p:spTgt>
                                        </p:tgtEl>
                                        <p:attrNameLst>
                                          <p:attrName>style.visibility</p:attrName>
                                        </p:attrNameLst>
                                      </p:cBhvr>
                                      <p:to>
                                        <p:strVal val="visible"/>
                                      </p:to>
                                    </p:set>
                                    <p:animEffect transition="in" filter="fade">
                                      <p:cBhvr>
                                        <p:cTn id="43" dur="500"/>
                                        <p:tgtEl>
                                          <p:spTgt spid="4">
                                            <p:txEl>
                                              <p:pRg st="15" end="15"/>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4">
                                            <p:txEl>
                                              <p:pRg st="16" end="16"/>
                                            </p:txEl>
                                          </p:spTgt>
                                        </p:tgtEl>
                                        <p:attrNameLst>
                                          <p:attrName>style.visibility</p:attrName>
                                        </p:attrNameLst>
                                      </p:cBhvr>
                                      <p:to>
                                        <p:strVal val="visible"/>
                                      </p:to>
                                    </p:set>
                                    <p:animEffect transition="in" filter="fade">
                                      <p:cBhvr>
                                        <p:cTn id="46" dur="500"/>
                                        <p:tgtEl>
                                          <p:spTgt spid="4">
                                            <p:txEl>
                                              <p:pRg st="16" end="16"/>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4">
                                            <p:txEl>
                                              <p:pRg st="17" end="17"/>
                                            </p:txEl>
                                          </p:spTgt>
                                        </p:tgtEl>
                                        <p:attrNameLst>
                                          <p:attrName>style.visibility</p:attrName>
                                        </p:attrNameLst>
                                      </p:cBhvr>
                                      <p:to>
                                        <p:strVal val="visible"/>
                                      </p:to>
                                    </p:set>
                                    <p:animEffect transition="in" filter="fade">
                                      <p:cBhvr>
                                        <p:cTn id="49" dur="500"/>
                                        <p:tgtEl>
                                          <p:spTgt spid="4">
                                            <p:txEl>
                                              <p:pRg st="17" end="17"/>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4">
                                            <p:txEl>
                                              <p:pRg st="18" end="18"/>
                                            </p:txEl>
                                          </p:spTgt>
                                        </p:tgtEl>
                                        <p:attrNameLst>
                                          <p:attrName>style.visibility</p:attrName>
                                        </p:attrNameLst>
                                      </p:cBhvr>
                                      <p:to>
                                        <p:strVal val="visible"/>
                                      </p:to>
                                    </p:set>
                                    <p:animEffect transition="in" filter="fade">
                                      <p:cBhvr>
                                        <p:cTn id="52" dur="500"/>
                                        <p:tgtEl>
                                          <p:spTgt spid="4">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p:nvPr/>
        </p:nvSpPr>
        <p:spPr>
          <a:xfrm>
            <a:off x="902113" y="0"/>
            <a:ext cx="6256973" cy="778868"/>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FINTECH</a:t>
            </a:r>
          </a:p>
        </p:txBody>
      </p:sp>
      <p:pic>
        <p:nvPicPr>
          <p:cNvPr id="14" name="Picture 13">
            <a:extLst>
              <a:ext uri="{FF2B5EF4-FFF2-40B4-BE49-F238E27FC236}">
                <a16:creationId xmlns:a16="http://schemas.microsoft.com/office/drawing/2014/main" id="{498808D3-A836-5EDC-7B8C-309249F397B2}"/>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99669084-3CCA-1770-6024-E848243FA0B7}"/>
              </a:ext>
            </a:extLst>
          </p:cNvPr>
          <p:cNvSpPr txBox="1"/>
          <p:nvPr/>
        </p:nvSpPr>
        <p:spPr>
          <a:xfrm>
            <a:off x="316056" y="4076531"/>
            <a:ext cx="7098887" cy="2857770"/>
          </a:xfrm>
          <a:prstGeom prst="rect">
            <a:avLst/>
          </a:prstGeom>
        </p:spPr>
        <p:txBody>
          <a:bodyPr wrap="square" lIns="0" tIns="0" rIns="0" bIns="0" rtlCol="0" anchor="t">
            <a:spAutoFit/>
          </a:bodyPr>
          <a:lstStyle/>
          <a:p>
            <a:pPr lvl="0" algn="ctr">
              <a:lnSpc>
                <a:spcPct val="150000"/>
              </a:lnSpc>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Digital-only Banks</a:t>
            </a:r>
            <a:endPar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6F996-7635-1787-F807-1C7FEC317A8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4A366B4-B572-DAE1-DF2F-B770D0BED8D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9CF50E5-C002-3A45-783D-A8BBBE0D520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7D3C917-8FEB-127C-5C2A-5F099C2969F8}"/>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Types of Digital Challenger Banks</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A5024C9A-42D5-5989-7E7B-2E9419BC75DB}"/>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B59FEC39-794D-5D70-F15F-446880331E71}"/>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210C44E-CE92-0AE7-E274-3C48AFC7051F}"/>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a:t>
            </a:fld>
            <a:endParaRPr lang="en-US">
              <a:latin typeface="Segoe UI" panose="020B0502040204020203" pitchFamily="34" charset="0"/>
              <a:cs typeface="Segoe UI" panose="020B0502040204020203" pitchFamily="34" charset="0"/>
            </a:endParaRPr>
          </a:p>
        </p:txBody>
      </p:sp>
      <p:pic>
        <p:nvPicPr>
          <p:cNvPr id="8" name="Picture 7">
            <a:extLst>
              <a:ext uri="{FF2B5EF4-FFF2-40B4-BE49-F238E27FC236}">
                <a16:creationId xmlns:a16="http://schemas.microsoft.com/office/drawing/2014/main" id="{9900491C-57D6-BD91-0064-C0563D8E3CCC}"/>
              </a:ext>
            </a:extLst>
          </p:cNvPr>
          <p:cNvPicPr>
            <a:picLocks noChangeAspect="1"/>
          </p:cNvPicPr>
          <p:nvPr/>
        </p:nvPicPr>
        <p:blipFill>
          <a:blip r:embed="rId3">
            <a:extLst>
              <a:ext uri="{28A0092B-C50C-407E-A947-70E740481C1C}">
                <a14:useLocalDpi xmlns:a14="http://schemas.microsoft.com/office/drawing/2010/main" val="0"/>
              </a:ext>
            </a:extLst>
          </a:blip>
          <a:srcRect b="7013"/>
          <a:stretch>
            <a:fillRect/>
          </a:stretch>
        </p:blipFill>
        <p:spPr>
          <a:xfrm>
            <a:off x="756447" y="1395784"/>
            <a:ext cx="16775106" cy="8130699"/>
          </a:xfrm>
          <a:prstGeom prst="rect">
            <a:avLst/>
          </a:prstGeom>
        </p:spPr>
      </p:pic>
    </p:spTree>
    <p:extLst>
      <p:ext uri="{BB962C8B-B14F-4D97-AF65-F5344CB8AC3E}">
        <p14:creationId xmlns:p14="http://schemas.microsoft.com/office/powerpoint/2010/main" val="41112081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B7820-0E47-70BE-5FC1-267BBA670A2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42E8ABA-4A4A-FA61-41D1-839D178D3E5D}"/>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4D14926-3122-80A2-F48D-F56DA0FB5378}"/>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DA00D3A-65D2-50A1-7079-B4377E8CD101}"/>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Digital-only Banks (Neobanks)</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A831ABA8-EACC-660F-8DF1-2549D0CACDD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5CCEDBAA-A32B-A48C-025E-FF2765BC130F}"/>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8CD70E43-70C4-46AC-A574-C9DD223DCD26}"/>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8</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C7FE5254-8FCD-844B-E0AD-5E7F7F86724B}"/>
              </a:ext>
            </a:extLst>
          </p:cNvPr>
          <p:cNvSpPr txBox="1"/>
          <p:nvPr/>
        </p:nvSpPr>
        <p:spPr>
          <a:xfrm>
            <a:off x="756447" y="2644758"/>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Many of these banks’ distinctive offerings mean they do not need to compete directly with the main high street banks to succeed. They do not aspire to replace the main high street banks or in many cases even to challenge them directly; rather they aim to meet customer needs not currently being well-served.</a:t>
            </a:r>
          </a:p>
          <a:p>
            <a:pPr marL="514350" indent="-514350" algn="just">
              <a:lnSpc>
                <a:spcPct val="200000"/>
              </a:lnSpc>
              <a:buFont typeface="Wingdings" panose="05000000000000000000" pitchFamily="2" charset="2"/>
              <a:buChar char="§"/>
            </a:pPr>
            <a:r>
              <a:rPr lang="en-US" sz="2800" dirty="0"/>
              <a:t>Emerging </a:t>
            </a:r>
            <a:r>
              <a:rPr lang="en-US" sz="2800" b="1" dirty="0"/>
              <a:t>Digital-only Banks </a:t>
            </a:r>
            <a:r>
              <a:rPr lang="en-US" sz="2800" dirty="0"/>
              <a:t>can be broadly slotted into two main categories — those with, and those without, a full banking license.</a:t>
            </a:r>
          </a:p>
          <a:p>
            <a:pPr marL="514350" indent="-514350" algn="just">
              <a:lnSpc>
                <a:spcPct val="200000"/>
              </a:lnSpc>
              <a:buFont typeface="Wingdings" panose="05000000000000000000" pitchFamily="2" charset="2"/>
              <a:buChar char="§"/>
            </a:pPr>
            <a:r>
              <a:rPr lang="en-US" sz="2800" dirty="0"/>
              <a:t> Those institutions without full banking licenses are categorized as </a:t>
            </a:r>
            <a:r>
              <a:rPr lang="en-US" sz="2800" b="1" dirty="0"/>
              <a:t>Neobanks</a:t>
            </a:r>
            <a:r>
              <a:rPr lang="en-US" sz="2800" dirty="0"/>
              <a:t>. Those with a full banking license are identified as </a:t>
            </a:r>
            <a:r>
              <a:rPr lang="en-US" sz="2800" b="1" dirty="0"/>
              <a:t>Challenger Banks</a:t>
            </a:r>
          </a:p>
        </p:txBody>
      </p:sp>
      <p:sp>
        <p:nvSpPr>
          <p:cNvPr id="4" name="TextBox 6">
            <a:extLst>
              <a:ext uri="{FF2B5EF4-FFF2-40B4-BE49-F238E27FC236}">
                <a16:creationId xmlns:a16="http://schemas.microsoft.com/office/drawing/2014/main" id="{43C67710-5B23-739D-3B50-C07844316C4F}"/>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Generally : Challenger Banks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620001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518A3-F498-30C0-6C8F-C15390D1C5D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DE18669-44E0-5826-0B66-5DF5F3B86FE2}"/>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57F6C222-0DC2-FC82-A767-3E64A273F40D}"/>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7770C60-FB54-6306-48BC-3BF3778B32E2}"/>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Digital-only Banks</a:t>
            </a:r>
          </a:p>
        </p:txBody>
      </p:sp>
      <p:sp>
        <p:nvSpPr>
          <p:cNvPr id="9" name="Date Placeholder 8">
            <a:extLst>
              <a:ext uri="{FF2B5EF4-FFF2-40B4-BE49-F238E27FC236}">
                <a16:creationId xmlns:a16="http://schemas.microsoft.com/office/drawing/2014/main" id="{6A6B5B3B-B137-5302-BF06-DA918B3B5F89}"/>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C2887BBE-ED3D-4B11-2054-23E6CB15E191}"/>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94713C2F-95E0-A277-91A5-3B38D186B344}"/>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9</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25595681-D7C3-9A45-DCDC-57E4E0C02E59}"/>
              </a:ext>
            </a:extLst>
          </p:cNvPr>
          <p:cNvSpPr txBox="1"/>
          <p:nvPr/>
        </p:nvSpPr>
        <p:spPr>
          <a:xfrm>
            <a:off x="756447" y="1608990"/>
            <a:ext cx="16775106" cy="772762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Consumers', particularly millennials', growing frustration with legacy banking service providers, combined with their increased appetite for digital solutions, has accelerated the shift to digital-only banking.</a:t>
            </a:r>
            <a:endParaRPr lang="en-US" sz="1000" dirty="0"/>
          </a:p>
          <a:p>
            <a:pPr marL="514350" indent="-514350" algn="just">
              <a:lnSpc>
                <a:spcPct val="200000"/>
              </a:lnSpc>
              <a:buFont typeface="Wingdings" panose="05000000000000000000" pitchFamily="2" charset="2"/>
              <a:buChar char="§"/>
            </a:pPr>
            <a:r>
              <a:rPr lang="en-US" sz="2800" dirty="0"/>
              <a:t>These digital-only banks are clear on who they are targeting:…. a growing segment of digitally literate customers who want simplicity, transparency and useful services. These customers tend to be younger, as consumer research revealed with 39% of British 18- 24 year olds viewing a bank’s mobile app as essential when opening a current account, compared to only 13% of those aged over 55.</a:t>
            </a:r>
          </a:p>
          <a:p>
            <a:pPr marL="514350" indent="-514350" algn="just">
              <a:lnSpc>
                <a:spcPct val="200000"/>
              </a:lnSpc>
              <a:buFont typeface="Wingdings" panose="05000000000000000000" pitchFamily="2" charset="2"/>
              <a:buChar char="§"/>
            </a:pPr>
            <a:r>
              <a:rPr lang="en-US" sz="2800" dirty="0"/>
              <a:t>These banks understand the trend towards Open Banking and are actively designing the role they will play in this future environment. They are also conscious of the need for their segment to establish credibility – a single failure would damage confidence in them all.</a:t>
            </a:r>
          </a:p>
        </p:txBody>
      </p:sp>
    </p:spTree>
    <p:extLst>
      <p:ext uri="{BB962C8B-B14F-4D97-AF65-F5344CB8AC3E}">
        <p14:creationId xmlns:p14="http://schemas.microsoft.com/office/powerpoint/2010/main" val="965639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48EDD-1AD8-A93D-2F0C-0256E0EF127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B29E743-F08C-2A28-8387-1FDBA5663B2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D39295D-258C-08A1-BFF4-83EAC04C3AFA}"/>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BCB5C3F0-4E18-CF00-22B6-4744A98E6809}"/>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Digital-only Banks</a:t>
            </a:r>
          </a:p>
        </p:txBody>
      </p:sp>
      <p:sp>
        <p:nvSpPr>
          <p:cNvPr id="9" name="Date Placeholder 8">
            <a:extLst>
              <a:ext uri="{FF2B5EF4-FFF2-40B4-BE49-F238E27FC236}">
                <a16:creationId xmlns:a16="http://schemas.microsoft.com/office/drawing/2014/main" id="{03FB0C2A-3580-D389-11A8-6383AB855F99}"/>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B1EAA7E7-1297-38D9-4BAE-37BD3680167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7D4ED1F-674C-1DE0-90DF-983A26A3740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10</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38D0F06-535A-9AB2-1DB2-4724056BCE9B}"/>
              </a:ext>
            </a:extLst>
          </p:cNvPr>
          <p:cNvSpPr txBox="1"/>
          <p:nvPr/>
        </p:nvSpPr>
        <p:spPr>
          <a:xfrm>
            <a:off x="756447" y="1608990"/>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The digital-only banks are all fresh, technology-driven start-ups. Like other exciting new digital ventures they have been able to attract highly skilled and motivated talent. They are visionary and ambitious, actively re-imagining how banking could be radically transformed. They are nimble (agile) with their relatively small size and willingness to change ensuring they have the ability to keep innovating and adapting.</a:t>
            </a:r>
          </a:p>
          <a:p>
            <a:pPr marL="514350" indent="-514350" algn="just">
              <a:lnSpc>
                <a:spcPct val="200000"/>
              </a:lnSpc>
              <a:buFont typeface="Wingdings" panose="05000000000000000000" pitchFamily="2" charset="2"/>
              <a:buChar char="§"/>
            </a:pPr>
            <a:r>
              <a:rPr lang="en-US" sz="2800" dirty="0"/>
              <a:t>These banks have modern, state of the art technology platforms, either developed in-house or using the latest software from well-established and credible banking system vendors. Such platforms offer differentiating functionality in a user-friendly way, deployed for use on modern devices, and particularly through mobile channels.</a:t>
            </a:r>
          </a:p>
        </p:txBody>
      </p:sp>
    </p:spTree>
    <p:extLst>
      <p:ext uri="{BB962C8B-B14F-4D97-AF65-F5344CB8AC3E}">
        <p14:creationId xmlns:p14="http://schemas.microsoft.com/office/powerpoint/2010/main" val="3499890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BBB07-5F0A-C244-8098-8654B1B0B58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BABA043-C5AC-36E7-2122-CCEC7BA71A7B}"/>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D0E5D89D-E058-E644-1E37-41BD0AFFA827}"/>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937EC582-FF53-9BA9-4E16-AF272BBB56DF}"/>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Digital-only Banks</a:t>
            </a:r>
          </a:p>
        </p:txBody>
      </p:sp>
      <p:sp>
        <p:nvSpPr>
          <p:cNvPr id="9" name="Date Placeholder 8">
            <a:extLst>
              <a:ext uri="{FF2B5EF4-FFF2-40B4-BE49-F238E27FC236}">
                <a16:creationId xmlns:a16="http://schemas.microsoft.com/office/drawing/2014/main" id="{57CFB6DB-6332-64E7-E893-45D0CC9456A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FC2BF65F-B48F-18FC-CCEE-C5184CEA3E2A}"/>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71C4565-2431-524C-AD32-7EA9FB01D852}"/>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11</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93F5CF3B-EEA8-1C52-47EF-73DC30955B8B}"/>
              </a:ext>
            </a:extLst>
          </p:cNvPr>
          <p:cNvSpPr txBox="1"/>
          <p:nvPr/>
        </p:nvSpPr>
        <p:spPr>
          <a:xfrm>
            <a:off x="756447" y="1608990"/>
            <a:ext cx="16775106" cy="8008346"/>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000" dirty="0"/>
              <a:t>They are designed to be scalable, so that the banks can grow volumes rapidly without an adverse impact on performance and ensuring that the cost-of-service provision remains reasonable for the size of the business. They are also typically built in a modular way, positioning the banks to take advantage of the Open Banking trend by readily integrating functionality and data from other sources.</a:t>
            </a:r>
          </a:p>
          <a:p>
            <a:pPr marL="514350" indent="-514350" algn="just">
              <a:lnSpc>
                <a:spcPct val="200000"/>
              </a:lnSpc>
              <a:buFont typeface="Wingdings" panose="05000000000000000000" pitchFamily="2" charset="2"/>
              <a:buChar char="§"/>
            </a:pPr>
            <a:endParaRPr lang="en-US" sz="2000" dirty="0"/>
          </a:p>
          <a:p>
            <a:pPr marL="514350" indent="-514350" algn="just">
              <a:lnSpc>
                <a:spcPct val="200000"/>
              </a:lnSpc>
              <a:buFont typeface="Wingdings" panose="05000000000000000000" pitchFamily="2" charset="2"/>
              <a:buChar char="§"/>
            </a:pPr>
            <a:r>
              <a:rPr lang="en-US" sz="2000" dirty="0"/>
              <a:t>Digital-only banks recognise the megatrend of customers shifting to digital channels and are building their business to serve both digital natives and converts. They pride themselves on innovative technology platforms that promise exceptional customer experience and engagement, primarily through mobile apps.</a:t>
            </a:r>
          </a:p>
          <a:p>
            <a:pPr marL="514350" indent="-514350" algn="just">
              <a:lnSpc>
                <a:spcPct val="200000"/>
              </a:lnSpc>
              <a:buFont typeface="Wingdings" panose="05000000000000000000" pitchFamily="2" charset="2"/>
              <a:buChar char="§"/>
            </a:pPr>
            <a:endParaRPr lang="en-US" sz="2000" dirty="0"/>
          </a:p>
          <a:p>
            <a:pPr marL="514350" indent="-514350" algn="just">
              <a:lnSpc>
                <a:spcPct val="200000"/>
              </a:lnSpc>
              <a:buFont typeface="Wingdings" panose="05000000000000000000" pitchFamily="2" charset="2"/>
              <a:buChar char="§"/>
            </a:pPr>
            <a:r>
              <a:rPr lang="en-US" sz="2000" dirty="0"/>
              <a:t> The majority have been founded very recently, and are launching in different ways: </a:t>
            </a:r>
          </a:p>
          <a:p>
            <a:pPr algn="just">
              <a:lnSpc>
                <a:spcPct val="200000"/>
              </a:lnSpc>
            </a:pPr>
            <a:r>
              <a:rPr lang="en-US" sz="2000" dirty="0"/>
              <a:t>		- 	Starling intends to offer a current account;	</a:t>
            </a:r>
          </a:p>
          <a:p>
            <a:pPr marL="1371600" lvl="2" indent="-457200" algn="just">
              <a:lnSpc>
                <a:spcPct val="200000"/>
              </a:lnSpc>
              <a:buFontTx/>
              <a:buChar char="-"/>
            </a:pPr>
            <a:r>
              <a:rPr lang="en-US" sz="2000" dirty="0"/>
              <a:t>Monzo has launched with a pre-paid card;</a:t>
            </a:r>
          </a:p>
          <a:p>
            <a:pPr marL="1371600" lvl="2" indent="-457200" algn="just">
              <a:lnSpc>
                <a:spcPct val="200000"/>
              </a:lnSpc>
              <a:buFontTx/>
              <a:buChar char="-"/>
            </a:pPr>
            <a:r>
              <a:rPr lang="en-US" sz="2000" dirty="0"/>
              <a:t>Atom (UK, mobile-only) is starting with a fixed-term</a:t>
            </a:r>
          </a:p>
          <a:p>
            <a:pPr marL="1371600" lvl="2" indent="-457200" algn="just">
              <a:lnSpc>
                <a:spcPct val="200000"/>
              </a:lnSpc>
              <a:buFontTx/>
              <a:buChar char="-"/>
            </a:pPr>
            <a:r>
              <a:rPr lang="en-US" sz="2000" dirty="0"/>
              <a:t>savings account</a:t>
            </a:r>
          </a:p>
        </p:txBody>
      </p:sp>
    </p:spTree>
    <p:extLst>
      <p:ext uri="{BB962C8B-B14F-4D97-AF65-F5344CB8AC3E}">
        <p14:creationId xmlns:p14="http://schemas.microsoft.com/office/powerpoint/2010/main" val="1361459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500"/>
                                        <p:tgtEl>
                                          <p:spTgt spid="5">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500"/>
                                        <p:tgtEl>
                                          <p:spTgt spid="5">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fade">
                                      <p:cBhvr>
                                        <p:cTn id="32" dur="500"/>
                                        <p:tgtEl>
                                          <p:spTgt spid="5">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8" end="8"/>
                                            </p:txEl>
                                          </p:spTgt>
                                        </p:tgtEl>
                                        <p:attrNameLst>
                                          <p:attrName>style.visibility</p:attrName>
                                        </p:attrNameLst>
                                      </p:cBhvr>
                                      <p:to>
                                        <p:strVal val="visible"/>
                                      </p:to>
                                    </p:set>
                                    <p:animEffect transition="in" filter="fade">
                                      <p:cBhvr>
                                        <p:cTn id="37"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EE7D2-4612-8E4E-7C13-626213CE2CD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E179AF1-4F7F-E924-74FF-7026F11C7562}"/>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93D7AC76-5408-DE1F-AA23-2B3AA143C7BA}"/>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8DAB8963-16C0-2940-430F-6EF5D75C200D}"/>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Digital-only Banks</a:t>
            </a:r>
          </a:p>
        </p:txBody>
      </p:sp>
      <p:sp>
        <p:nvSpPr>
          <p:cNvPr id="9" name="Date Placeholder 8">
            <a:extLst>
              <a:ext uri="{FF2B5EF4-FFF2-40B4-BE49-F238E27FC236}">
                <a16:creationId xmlns:a16="http://schemas.microsoft.com/office/drawing/2014/main" id="{980527EB-A9B3-BB1A-A763-9EBC0DD1EA7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89377F2A-C39E-402E-8331-481E98279EDB}"/>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B8E8F5FC-B2BD-F873-2673-034C4020C2F4}"/>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12</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921E8CC8-3102-2B4D-EDF0-9A995DA0EBFC}"/>
              </a:ext>
            </a:extLst>
          </p:cNvPr>
          <p:cNvSpPr txBox="1"/>
          <p:nvPr/>
        </p:nvSpPr>
        <p:spPr>
          <a:xfrm>
            <a:off x="756447" y="1608990"/>
            <a:ext cx="16775106" cy="815851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b="1" dirty="0"/>
              <a:t>Example Banks</a:t>
            </a:r>
          </a:p>
          <a:p>
            <a:pPr marL="514350" indent="-514350" algn="just">
              <a:buFont typeface="Wingdings" panose="05000000000000000000" pitchFamily="2" charset="2"/>
              <a:buChar char="§"/>
            </a:pPr>
            <a:r>
              <a:rPr lang="en-US" sz="2800" dirty="0"/>
              <a:t>Revolut (UK)					Monzo (UK)				Starling (UK)				Tandem (UK)</a:t>
            </a:r>
          </a:p>
          <a:p>
            <a:pPr algn="just"/>
            <a:r>
              <a:rPr lang="en-US" sz="2800" dirty="0"/>
              <a:t>	 Number26 (Germany) 		</a:t>
            </a:r>
            <a:r>
              <a:rPr lang="en-US" sz="2800" dirty="0" err="1"/>
              <a:t>Nubank</a:t>
            </a:r>
            <a:r>
              <a:rPr lang="en-US" sz="2800" dirty="0"/>
              <a:t> (Brazil)			Anytime (France)</a:t>
            </a:r>
          </a:p>
          <a:p>
            <a:pPr algn="just">
              <a:lnSpc>
                <a:spcPct val="200000"/>
              </a:lnSpc>
            </a:pPr>
            <a:endParaRPr lang="en-US" sz="2800" dirty="0"/>
          </a:p>
          <a:p>
            <a:pPr algn="just">
              <a:lnSpc>
                <a:spcPct val="200000"/>
              </a:lnSpc>
            </a:pPr>
            <a:endParaRPr lang="en-US" sz="2800" dirty="0"/>
          </a:p>
          <a:p>
            <a:pPr algn="just">
              <a:lnSpc>
                <a:spcPct val="200000"/>
              </a:lnSpc>
            </a:pPr>
            <a:endParaRPr lang="en-US" sz="2800" dirty="0"/>
          </a:p>
          <a:p>
            <a:pPr marL="457200" indent="-457200" algn="just">
              <a:lnSpc>
                <a:spcPct val="150000"/>
              </a:lnSpc>
              <a:buFont typeface="Wingdings" panose="05000000000000000000" pitchFamily="2" charset="2"/>
              <a:buChar char="§"/>
            </a:pPr>
            <a:r>
              <a:rPr lang="en-US" sz="2800" b="1" dirty="0"/>
              <a:t>Proposition</a:t>
            </a:r>
          </a:p>
          <a:p>
            <a:pPr marL="457200" indent="-457200" algn="just">
              <a:lnSpc>
                <a:spcPct val="150000"/>
              </a:lnSpc>
              <a:buFont typeface="Wingdings" panose="05000000000000000000" pitchFamily="2" charset="2"/>
              <a:buChar char="§"/>
            </a:pPr>
            <a:r>
              <a:rPr lang="en-US" sz="2800" dirty="0"/>
              <a:t>Initially limited retail product offering, focused on digitally savvy customers</a:t>
            </a:r>
          </a:p>
          <a:p>
            <a:pPr marL="457200" indent="-457200" algn="just">
              <a:lnSpc>
                <a:spcPct val="200000"/>
              </a:lnSpc>
              <a:buFont typeface="Wingdings" panose="05000000000000000000" pitchFamily="2" charset="2"/>
              <a:buChar char="§"/>
            </a:pPr>
            <a:endParaRPr lang="en-US" sz="2000" dirty="0"/>
          </a:p>
          <a:p>
            <a:pPr marL="457200" indent="-457200" algn="just">
              <a:lnSpc>
                <a:spcPct val="200000"/>
              </a:lnSpc>
              <a:buFont typeface="Wingdings" panose="05000000000000000000" pitchFamily="2" charset="2"/>
              <a:buChar char="§"/>
            </a:pPr>
            <a:r>
              <a:rPr lang="en-US" sz="2800" b="1" dirty="0"/>
              <a:t>No Physical Presence </a:t>
            </a:r>
          </a:p>
          <a:p>
            <a:pPr marL="457200" indent="-457200" algn="just">
              <a:lnSpc>
                <a:spcPct val="200000"/>
              </a:lnSpc>
              <a:buFont typeface="Wingdings" panose="05000000000000000000" pitchFamily="2" charset="2"/>
              <a:buChar char="§"/>
            </a:pPr>
            <a:r>
              <a:rPr lang="en-US" sz="2800" b="1" dirty="0"/>
              <a:t>Growing and start to be profitability</a:t>
            </a:r>
          </a:p>
        </p:txBody>
      </p:sp>
      <p:pic>
        <p:nvPicPr>
          <p:cNvPr id="7" name="Picture 6">
            <a:extLst>
              <a:ext uri="{FF2B5EF4-FFF2-40B4-BE49-F238E27FC236}">
                <a16:creationId xmlns:a16="http://schemas.microsoft.com/office/drawing/2014/main" id="{2CA19797-5B1D-08D7-3301-485F3F9581F7}"/>
              </a:ext>
            </a:extLst>
          </p:cNvPr>
          <p:cNvPicPr>
            <a:picLocks noChangeAspect="1"/>
          </p:cNvPicPr>
          <p:nvPr/>
        </p:nvPicPr>
        <p:blipFill>
          <a:blip r:embed="rId3"/>
          <a:stretch>
            <a:fillRect/>
          </a:stretch>
        </p:blipFill>
        <p:spPr>
          <a:xfrm>
            <a:off x="15087600" y="95341"/>
            <a:ext cx="2443953" cy="1032657"/>
          </a:xfrm>
          <a:prstGeom prst="rect">
            <a:avLst/>
          </a:prstGeom>
        </p:spPr>
      </p:pic>
      <p:pic>
        <p:nvPicPr>
          <p:cNvPr id="12" name="Picture 11">
            <a:extLst>
              <a:ext uri="{FF2B5EF4-FFF2-40B4-BE49-F238E27FC236}">
                <a16:creationId xmlns:a16="http://schemas.microsoft.com/office/drawing/2014/main" id="{42CDCF91-3F6F-CDC6-D43B-1818F78796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16762" y="3603254"/>
            <a:ext cx="12054476" cy="2873746"/>
          </a:xfrm>
          <a:prstGeom prst="rect">
            <a:avLst/>
          </a:prstGeom>
        </p:spPr>
      </p:pic>
    </p:spTree>
    <p:extLst>
      <p:ext uri="{BB962C8B-B14F-4D97-AF65-F5344CB8AC3E}">
        <p14:creationId xmlns:p14="http://schemas.microsoft.com/office/powerpoint/2010/main" val="52878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6" end="6"/>
                                            </p:txEl>
                                          </p:spTgt>
                                        </p:tgtEl>
                                        <p:attrNameLst>
                                          <p:attrName>style.visibility</p:attrName>
                                        </p:attrNameLst>
                                      </p:cBhvr>
                                      <p:to>
                                        <p:strVal val="visible"/>
                                      </p:to>
                                    </p:set>
                                    <p:animEffect transition="in" filter="fade">
                                      <p:cBhvr>
                                        <p:cTn id="12" dur="500"/>
                                        <p:tgtEl>
                                          <p:spTgt spid="5">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7" end="7"/>
                                            </p:txEl>
                                          </p:spTgt>
                                        </p:tgtEl>
                                        <p:attrNameLst>
                                          <p:attrName>style.visibility</p:attrName>
                                        </p:attrNameLst>
                                      </p:cBhvr>
                                      <p:to>
                                        <p:strVal val="visible"/>
                                      </p:to>
                                    </p:set>
                                    <p:animEffect transition="in" filter="fade">
                                      <p:cBhvr>
                                        <p:cTn id="17" dur="500"/>
                                        <p:tgtEl>
                                          <p:spTgt spid="5">
                                            <p:txEl>
                                              <p:pRg st="7" end="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9" end="9"/>
                                            </p:txEl>
                                          </p:spTgt>
                                        </p:tgtEl>
                                        <p:attrNameLst>
                                          <p:attrName>style.visibility</p:attrName>
                                        </p:attrNameLst>
                                      </p:cBhvr>
                                      <p:to>
                                        <p:strVal val="visible"/>
                                      </p:to>
                                    </p:set>
                                    <p:animEffect transition="in" filter="fade">
                                      <p:cBhvr>
                                        <p:cTn id="22" dur="500"/>
                                        <p:tgtEl>
                                          <p:spTgt spid="5">
                                            <p:txEl>
                                              <p:pRg st="9" end="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10" end="10"/>
                                            </p:txEl>
                                          </p:spTgt>
                                        </p:tgtEl>
                                        <p:attrNameLst>
                                          <p:attrName>style.visibility</p:attrName>
                                        </p:attrNameLst>
                                      </p:cBhvr>
                                      <p:to>
                                        <p:strVal val="visible"/>
                                      </p:to>
                                    </p:set>
                                    <p:animEffect transition="in" filter="fade">
                                      <p:cBhvr>
                                        <p:cTn id="27" dur="500"/>
                                        <p:tgtEl>
                                          <p:spTgt spid="5">
                                            <p:txEl>
                                              <p:pRg st="10" end="1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1" end="1"/>
                                            </p:txEl>
                                          </p:spTgt>
                                        </p:tgtEl>
                                        <p:attrNameLst>
                                          <p:attrName>style.visibility</p:attrName>
                                        </p:attrNameLst>
                                      </p:cBhvr>
                                      <p:to>
                                        <p:strVal val="visible"/>
                                      </p:to>
                                    </p:set>
                                    <p:animEffect transition="in" filter="fade">
                                      <p:cBhvr>
                                        <p:cTn id="32" dur="500"/>
                                        <p:tgtEl>
                                          <p:spTgt spid="5">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2" end="2"/>
                                            </p:txEl>
                                          </p:spTgt>
                                        </p:tgtEl>
                                        <p:attrNameLst>
                                          <p:attrName>style.visibility</p:attrName>
                                        </p:attrNameLst>
                                      </p:cBhvr>
                                      <p:to>
                                        <p:strVal val="visible"/>
                                      </p:to>
                                    </p:set>
                                    <p:animEffect transition="in" filter="fade">
                                      <p:cBhvr>
                                        <p:cTn id="3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07951-EB24-50F4-6D71-869028DAB13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5B5CB42-A361-788C-CDCA-37751057C6F1}"/>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3D60FF13-C33B-84E8-0248-827546F23DE5}"/>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6893AF00-E61C-7CD2-CD76-A44D97496C6C}"/>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Digital-only Banks</a:t>
            </a:r>
          </a:p>
        </p:txBody>
      </p:sp>
      <p:sp>
        <p:nvSpPr>
          <p:cNvPr id="9" name="Date Placeholder 8">
            <a:extLst>
              <a:ext uri="{FF2B5EF4-FFF2-40B4-BE49-F238E27FC236}">
                <a16:creationId xmlns:a16="http://schemas.microsoft.com/office/drawing/2014/main" id="{2F0BC1E8-496A-6A80-45AD-978A708AF04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D4043591-A75C-354E-D996-958F92E5422D}"/>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0D0C1607-6F16-AF6C-235C-7B5932292CA0}"/>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13</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8071CDF-500A-E530-2D9E-E25B6CB8923F}"/>
              </a:ext>
            </a:extLst>
          </p:cNvPr>
          <p:cNvSpPr txBox="1"/>
          <p:nvPr/>
        </p:nvSpPr>
        <p:spPr>
          <a:xfrm>
            <a:off x="756447" y="1608990"/>
            <a:ext cx="16775106" cy="7771999"/>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3200" b="1" dirty="0"/>
              <a:t>Strengths</a:t>
            </a:r>
          </a:p>
          <a:p>
            <a:pPr marL="514350" indent="-514350" algn="just">
              <a:lnSpc>
                <a:spcPct val="150000"/>
              </a:lnSpc>
              <a:buFont typeface="Wingdings" panose="05000000000000000000" pitchFamily="2" charset="2"/>
              <a:buChar char="§"/>
            </a:pPr>
            <a:r>
              <a:rPr lang="en-US" sz="3200" dirty="0"/>
              <a:t>Modern platforms and apps</a:t>
            </a:r>
          </a:p>
          <a:p>
            <a:pPr marL="514350" indent="-514350" algn="just">
              <a:lnSpc>
                <a:spcPct val="150000"/>
              </a:lnSpc>
              <a:buFont typeface="Wingdings" panose="05000000000000000000" pitchFamily="2" charset="2"/>
              <a:buChar char="§"/>
            </a:pPr>
            <a:r>
              <a:rPr lang="en-US" sz="3200" dirty="0"/>
              <a:t>Scalable models</a:t>
            </a:r>
          </a:p>
          <a:p>
            <a:pPr marL="514350" indent="-514350" algn="just">
              <a:lnSpc>
                <a:spcPct val="150000"/>
              </a:lnSpc>
              <a:buFont typeface="Wingdings" panose="05000000000000000000" pitchFamily="2" charset="2"/>
              <a:buChar char="§"/>
            </a:pPr>
            <a:r>
              <a:rPr lang="en-US" sz="3200" dirty="0"/>
              <a:t>Strong online communities</a:t>
            </a:r>
          </a:p>
          <a:p>
            <a:pPr algn="just">
              <a:lnSpc>
                <a:spcPct val="200000"/>
              </a:lnSpc>
            </a:pPr>
            <a:endParaRPr lang="en-US" sz="2800" dirty="0"/>
          </a:p>
          <a:p>
            <a:pPr marL="457200" indent="-457200" algn="just">
              <a:lnSpc>
                <a:spcPct val="150000"/>
              </a:lnSpc>
              <a:buFont typeface="Wingdings" panose="05000000000000000000" pitchFamily="2" charset="2"/>
              <a:buChar char="§"/>
            </a:pPr>
            <a:r>
              <a:rPr lang="en-US" sz="3200" b="1" dirty="0"/>
              <a:t>Strategies for Success</a:t>
            </a:r>
          </a:p>
          <a:p>
            <a:pPr marL="457200" indent="-457200" algn="just">
              <a:lnSpc>
                <a:spcPct val="150000"/>
              </a:lnSpc>
              <a:buFont typeface="Wingdings" panose="05000000000000000000" pitchFamily="2" charset="2"/>
              <a:buChar char="§"/>
            </a:pPr>
            <a:r>
              <a:rPr lang="en-US" sz="3200" dirty="0"/>
              <a:t>Attract customers and build trust</a:t>
            </a:r>
          </a:p>
          <a:p>
            <a:pPr marL="457200" indent="-457200" algn="just">
              <a:lnSpc>
                <a:spcPct val="150000"/>
              </a:lnSpc>
              <a:buFont typeface="Wingdings" panose="05000000000000000000" pitchFamily="2" charset="2"/>
              <a:buChar char="§"/>
            </a:pPr>
            <a:r>
              <a:rPr lang="en-US" sz="3200" dirty="0"/>
              <a:t>Differentiate from other digital players</a:t>
            </a:r>
          </a:p>
          <a:p>
            <a:pPr marL="457200" indent="-457200" algn="just">
              <a:lnSpc>
                <a:spcPct val="150000"/>
              </a:lnSpc>
              <a:buFont typeface="Wingdings" panose="05000000000000000000" pitchFamily="2" charset="2"/>
              <a:buChar char="§"/>
            </a:pPr>
            <a:r>
              <a:rPr lang="en-US" sz="3200" dirty="0"/>
              <a:t>Take advantage of Open Banking and Innovate</a:t>
            </a:r>
          </a:p>
          <a:p>
            <a:pPr marL="457200" indent="-457200" algn="just">
              <a:lnSpc>
                <a:spcPct val="150000"/>
              </a:lnSpc>
              <a:buFont typeface="Wingdings" panose="05000000000000000000" pitchFamily="2" charset="2"/>
              <a:buChar char="§"/>
            </a:pPr>
            <a:r>
              <a:rPr lang="en-US" sz="3200" dirty="0"/>
              <a:t>Expand profitably</a:t>
            </a:r>
          </a:p>
        </p:txBody>
      </p:sp>
      <p:pic>
        <p:nvPicPr>
          <p:cNvPr id="7" name="Picture 6">
            <a:extLst>
              <a:ext uri="{FF2B5EF4-FFF2-40B4-BE49-F238E27FC236}">
                <a16:creationId xmlns:a16="http://schemas.microsoft.com/office/drawing/2014/main" id="{BD88B89F-0450-04A4-E981-72EE310E6A39}"/>
              </a:ext>
            </a:extLst>
          </p:cNvPr>
          <p:cNvPicPr>
            <a:picLocks noChangeAspect="1"/>
          </p:cNvPicPr>
          <p:nvPr/>
        </p:nvPicPr>
        <p:blipFill>
          <a:blip r:embed="rId3"/>
          <a:stretch>
            <a:fillRect/>
          </a:stretch>
        </p:blipFill>
        <p:spPr>
          <a:xfrm>
            <a:off x="15087600" y="95341"/>
            <a:ext cx="2443953" cy="1032657"/>
          </a:xfrm>
          <a:prstGeom prst="rect">
            <a:avLst/>
          </a:prstGeom>
        </p:spPr>
      </p:pic>
    </p:spTree>
    <p:extLst>
      <p:ext uri="{BB962C8B-B14F-4D97-AF65-F5344CB8AC3E}">
        <p14:creationId xmlns:p14="http://schemas.microsoft.com/office/powerpoint/2010/main" val="4101817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fade">
                                      <p:cBhvr>
                                        <p:cTn id="27" dur="500"/>
                                        <p:tgtEl>
                                          <p:spTgt spid="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Effect transition="in" filter="fade">
                                      <p:cBhvr>
                                        <p:cTn id="32" dur="500"/>
                                        <p:tgtEl>
                                          <p:spTgt spid="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7" end="7"/>
                                            </p:txEl>
                                          </p:spTgt>
                                        </p:tgtEl>
                                        <p:attrNameLst>
                                          <p:attrName>style.visibility</p:attrName>
                                        </p:attrNameLst>
                                      </p:cBhvr>
                                      <p:to>
                                        <p:strVal val="visible"/>
                                      </p:to>
                                    </p:set>
                                    <p:animEffect transition="in" filter="fade">
                                      <p:cBhvr>
                                        <p:cTn id="37" dur="500"/>
                                        <p:tgtEl>
                                          <p:spTgt spid="5">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8" end="8"/>
                                            </p:txEl>
                                          </p:spTgt>
                                        </p:tgtEl>
                                        <p:attrNameLst>
                                          <p:attrName>style.visibility</p:attrName>
                                        </p:attrNameLst>
                                      </p:cBhvr>
                                      <p:to>
                                        <p:strVal val="visible"/>
                                      </p:to>
                                    </p:set>
                                    <p:animEffect transition="in" filter="fade">
                                      <p:cBhvr>
                                        <p:cTn id="42" dur="500"/>
                                        <p:tgtEl>
                                          <p:spTgt spid="5">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
                                            <p:txEl>
                                              <p:pRg st="9" end="9"/>
                                            </p:txEl>
                                          </p:spTgt>
                                        </p:tgtEl>
                                        <p:attrNameLst>
                                          <p:attrName>style.visibility</p:attrName>
                                        </p:attrNameLst>
                                      </p:cBhvr>
                                      <p:to>
                                        <p:strVal val="visible"/>
                                      </p:to>
                                    </p:set>
                                    <p:animEffect transition="in" filter="fade">
                                      <p:cBhvr>
                                        <p:cTn id="47"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BE31A-86B3-4963-2DE5-3E814DBA608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48281CD-72D1-3E7A-6710-EC8B626B3BE8}"/>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95F1BDCE-8BBB-2388-B958-DF5835F6A318}"/>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EAB4D3C5-D487-5750-FA6C-1D9209E8C39E}"/>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Digital-only Banks</a:t>
            </a:r>
          </a:p>
        </p:txBody>
      </p:sp>
      <p:sp>
        <p:nvSpPr>
          <p:cNvPr id="9" name="Date Placeholder 8">
            <a:extLst>
              <a:ext uri="{FF2B5EF4-FFF2-40B4-BE49-F238E27FC236}">
                <a16:creationId xmlns:a16="http://schemas.microsoft.com/office/drawing/2014/main" id="{139EA9F7-F299-7F36-E3BE-E826AFDF0878}"/>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1680C739-5136-FC7E-963F-7003C1AA6356}"/>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6D4DC161-924F-A3A6-7988-D9E906E524E8}"/>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14</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B1C7DC02-0082-8BFB-2CBF-DDB11567896A}"/>
              </a:ext>
            </a:extLst>
          </p:cNvPr>
          <p:cNvSpPr txBox="1"/>
          <p:nvPr/>
        </p:nvSpPr>
        <p:spPr>
          <a:xfrm>
            <a:off x="756447" y="1608990"/>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Digital-only challenger banks, often referred to as neobanks, broke into the market a few years ago in response to the rising demand for simple, quick and hassle-free online and mobile services.</a:t>
            </a:r>
          </a:p>
          <a:p>
            <a:pPr marL="514350" indent="-514350" algn="just">
              <a:lnSpc>
                <a:spcPct val="200000"/>
              </a:lnSpc>
              <a:buFont typeface="Wingdings" panose="05000000000000000000" pitchFamily="2" charset="2"/>
              <a:buChar char="§"/>
            </a:pPr>
            <a:r>
              <a:rPr lang="en-US" sz="2800" dirty="0"/>
              <a:t>Their appeal to users lies in their ability to challenge traditional banks’ old-school business model by charging customers low and transparent fees, while offering faster services and a better user experience</a:t>
            </a:r>
          </a:p>
          <a:p>
            <a:pPr marL="514350" indent="-514350" algn="just">
              <a:lnSpc>
                <a:spcPct val="200000"/>
              </a:lnSpc>
              <a:buFont typeface="Wingdings" panose="05000000000000000000" pitchFamily="2" charset="2"/>
              <a:buChar char="§"/>
            </a:pPr>
            <a:r>
              <a:rPr lang="en-US" sz="2800" dirty="0"/>
              <a:t>Regulatory authorities in Australia, Japan, Hong Kong and Taiwan have already issued virtual bank licenses while Singapore and Malaysia are looking to catch up.</a:t>
            </a:r>
          </a:p>
          <a:p>
            <a:pPr marL="514350" indent="-514350" algn="just">
              <a:lnSpc>
                <a:spcPct val="200000"/>
              </a:lnSpc>
              <a:buFont typeface="Wingdings" panose="05000000000000000000" pitchFamily="2" charset="2"/>
              <a:buChar char="§"/>
            </a:pPr>
            <a:r>
              <a:rPr lang="en-US" sz="2800" dirty="0"/>
              <a:t>The Monetary Authority of Singapore received 21 applicants competing for five virtual banking licenses.</a:t>
            </a:r>
          </a:p>
        </p:txBody>
      </p:sp>
    </p:spTree>
    <p:extLst>
      <p:ext uri="{BB962C8B-B14F-4D97-AF65-F5344CB8AC3E}">
        <p14:creationId xmlns:p14="http://schemas.microsoft.com/office/powerpoint/2010/main" val="908492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E277B-B8D6-8063-C2EF-5C716277B2C1}"/>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1A088FAF-A94F-AC6E-BC90-5D5A61E65894}"/>
              </a:ext>
            </a:extLst>
          </p:cNvPr>
          <p:cNvSpPr txBox="1"/>
          <p:nvPr/>
        </p:nvSpPr>
        <p:spPr>
          <a:xfrm>
            <a:off x="902113" y="0"/>
            <a:ext cx="6256973" cy="778868"/>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DIGITAL-ONLY BANKS</a:t>
            </a:r>
          </a:p>
        </p:txBody>
      </p:sp>
      <p:pic>
        <p:nvPicPr>
          <p:cNvPr id="14" name="Picture 13">
            <a:extLst>
              <a:ext uri="{FF2B5EF4-FFF2-40B4-BE49-F238E27FC236}">
                <a16:creationId xmlns:a16="http://schemas.microsoft.com/office/drawing/2014/main" id="{B12B3551-CEFA-5625-753C-55A827EF9041}"/>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188354B2-654F-606E-B9E6-3AFDCE3FE2F5}"/>
              </a:ext>
            </a:extLst>
          </p:cNvPr>
          <p:cNvSpPr txBox="1"/>
          <p:nvPr/>
        </p:nvSpPr>
        <p:spPr>
          <a:xfrm>
            <a:off x="481155" y="3111331"/>
            <a:ext cx="7098887" cy="2857770"/>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Strategic</a:t>
            </a:r>
          </a:p>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Priorities</a:t>
            </a:r>
          </a:p>
        </p:txBody>
      </p:sp>
    </p:spTree>
    <p:extLst>
      <p:ext uri="{BB962C8B-B14F-4D97-AF65-F5344CB8AC3E}">
        <p14:creationId xmlns:p14="http://schemas.microsoft.com/office/powerpoint/2010/main" val="20862618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8CD77-1ECE-3D3D-0D09-1246BC02BCB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41827CB-03C3-1B7A-BB39-BBB8AD556608}"/>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EEEF6976-A74A-D0F9-AD03-A29591153DF5}"/>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61435005-4644-547A-7680-2E889FDCBFE4}"/>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How Neobanks Do It</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2F92506A-B05A-5790-F552-F2AF4D54968A}"/>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51B29F27-BBB8-DBDD-4A27-7110A598B0B8}"/>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A8A7B66-5709-5E16-4679-EFE17EEB70DB}"/>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16</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319A3B7E-B504-2D95-06BE-2451FFBFDD64}"/>
              </a:ext>
            </a:extLst>
          </p:cNvPr>
          <p:cNvSpPr txBox="1"/>
          <p:nvPr/>
        </p:nvSpPr>
        <p:spPr>
          <a:xfrm>
            <a:off x="756447" y="2644758"/>
            <a:ext cx="16775106" cy="3418756"/>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With no branches or extensive legacy IT systems to maintain, digital-only startups can run with relatively low operation </a:t>
            </a:r>
            <a:r>
              <a:rPr lang="en-US" sz="2800" dirty="0" err="1"/>
              <a:t>costs.They</a:t>
            </a:r>
            <a:r>
              <a:rPr lang="en-US" sz="2800" dirty="0"/>
              <a:t> automate functions and use cloud-based infrastructure instead of on-premise systems, which also contributes to </a:t>
            </a:r>
            <a:r>
              <a:rPr lang="en-US" sz="2800" dirty="0" err="1"/>
              <a:t>favourable</a:t>
            </a:r>
            <a:r>
              <a:rPr lang="en-US" sz="2800" dirty="0"/>
              <a:t> servicing costs that can be 40-70% lower than the expenses of mainstream banks.</a:t>
            </a:r>
          </a:p>
        </p:txBody>
      </p:sp>
      <p:sp>
        <p:nvSpPr>
          <p:cNvPr id="4" name="TextBox 6">
            <a:extLst>
              <a:ext uri="{FF2B5EF4-FFF2-40B4-BE49-F238E27FC236}">
                <a16:creationId xmlns:a16="http://schemas.microsoft.com/office/drawing/2014/main" id="{521337B5-ACCC-9576-ED57-E7E357F64B52}"/>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LOWER OPERATION COSTS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F4DAE10A-A3D0-6BAF-74BF-898F0FCB0363}"/>
              </a:ext>
            </a:extLst>
          </p:cNvPr>
          <p:cNvSpPr txBox="1"/>
          <p:nvPr/>
        </p:nvSpPr>
        <p:spPr>
          <a:xfrm>
            <a:off x="633495" y="7369158"/>
            <a:ext cx="16775106" cy="169520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Easy setup – Creating an account with a challenger bank is a paperless and straightforward process. Most accounts can be set up entirely from a mobile device as well</a:t>
            </a:r>
          </a:p>
        </p:txBody>
      </p:sp>
      <p:sp>
        <p:nvSpPr>
          <p:cNvPr id="8" name="TextBox 6">
            <a:extLst>
              <a:ext uri="{FF2B5EF4-FFF2-40B4-BE49-F238E27FC236}">
                <a16:creationId xmlns:a16="http://schemas.microsoft.com/office/drawing/2014/main" id="{36737777-F398-BEEE-0C8F-49080EEBBD94}"/>
              </a:ext>
            </a:extLst>
          </p:cNvPr>
          <p:cNvSpPr txBox="1"/>
          <p:nvPr/>
        </p:nvSpPr>
        <p:spPr>
          <a:xfrm>
            <a:off x="633495" y="65296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EASY SETUP</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47014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6A848-FB79-E48F-F769-23B5D7178A8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83E4229-EB73-31C8-34D2-648E000D5178}"/>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0D93FDF7-CE55-12E6-44A4-5FE160A4C27F}"/>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1E8A2911-91E4-89BC-3AC9-019B638BFCE8}"/>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How Neobanks Do It</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F39520C8-4DBE-0C11-56D8-4CF818E43E83}"/>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8A4FB276-4178-1378-5CAA-36309E72629A}"/>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34F811A9-52CB-7787-881C-FB713DEE0757}"/>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B60A061F-6389-17C1-2FA0-8620D3FFB20D}"/>
              </a:ext>
            </a:extLst>
          </p:cNvPr>
          <p:cNvSpPr txBox="1"/>
          <p:nvPr/>
        </p:nvSpPr>
        <p:spPr>
          <a:xfrm>
            <a:off x="756447" y="2644758"/>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Neobanks usually charge their customers low or no fees and provide higher-than-average interest rates on savings thanks to their lower operation costs. Getting better rates and free transactions abroad are among the top five most important reasons why people switch to digital- only players (according to 31% and 22% of customers, respectively).</a:t>
            </a:r>
          </a:p>
          <a:p>
            <a:pPr marL="514350" indent="-514350" algn="just">
              <a:lnSpc>
                <a:spcPct val="200000"/>
              </a:lnSpc>
              <a:buFont typeface="Wingdings" panose="05000000000000000000" pitchFamily="2" charset="2"/>
              <a:buChar char="§"/>
            </a:pPr>
            <a:r>
              <a:rPr lang="en-US" sz="2800" dirty="0"/>
              <a:t>Lower fees – With fewer operational costs, challenger banks can price their services more competitively.</a:t>
            </a:r>
          </a:p>
        </p:txBody>
      </p:sp>
      <p:sp>
        <p:nvSpPr>
          <p:cNvPr id="4" name="TextBox 6">
            <a:extLst>
              <a:ext uri="{FF2B5EF4-FFF2-40B4-BE49-F238E27FC236}">
                <a16:creationId xmlns:a16="http://schemas.microsoft.com/office/drawing/2014/main" id="{9D4217A5-1FC0-0C45-8E8E-13BC50FF0E18}"/>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LOWER FEES, HIGHER RATES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84133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67E23-9FD4-0199-6B45-4A808DD8D95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EAA7275-54C3-A1E9-C100-04EF6A08316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53465BAD-F5F6-542A-F26C-1B74A8017B28}"/>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D20F82C-3731-6178-58FA-AFB904F2EE8A}"/>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How Neobanks Do It</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B624F86A-8CCA-410C-1B76-AAF3C9CFF54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F02C7911-0DEF-98E3-8040-AD5ADE112897}"/>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D6CFECEB-8D9C-1F63-6A70-081EB864273B}"/>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18</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DFD94562-6894-B87E-FD54-009A73E8A7DB}"/>
              </a:ext>
            </a:extLst>
          </p:cNvPr>
          <p:cNvSpPr txBox="1"/>
          <p:nvPr/>
        </p:nvSpPr>
        <p:spPr>
          <a:xfrm>
            <a:off x="756447" y="2644758"/>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Neobanks Digital-only players have been largely relying on partnerships and teaming up with third-party companies to bring various products and customer solutions to market as quickly as possible. These partnerships, often developed into entire digital ecosystems or marketplaces, help neobanks save time and money and be able to react to changing customer demand in a more flexible way.</a:t>
            </a:r>
          </a:p>
          <a:p>
            <a:pPr marL="514350" indent="-514350" algn="just">
              <a:lnSpc>
                <a:spcPct val="200000"/>
              </a:lnSpc>
              <a:buFont typeface="Wingdings" panose="05000000000000000000" pitchFamily="2" charset="2"/>
              <a:buChar char="§"/>
            </a:pPr>
            <a:endParaRPr lang="en-US" sz="2800" dirty="0"/>
          </a:p>
          <a:p>
            <a:pPr marL="514350" indent="-514350" algn="just">
              <a:lnSpc>
                <a:spcPct val="200000"/>
              </a:lnSpc>
              <a:buFont typeface="Wingdings" panose="05000000000000000000" pitchFamily="2" charset="2"/>
              <a:buChar char="§"/>
            </a:pPr>
            <a:r>
              <a:rPr lang="en-US" sz="2800" dirty="0"/>
              <a:t>Added Features – In addition to providing digital banking accounts, many challenger banking apps offer their customers built-in payment, budgeting, and savings tools.</a:t>
            </a:r>
          </a:p>
        </p:txBody>
      </p:sp>
      <p:sp>
        <p:nvSpPr>
          <p:cNvPr id="4" name="TextBox 6">
            <a:extLst>
              <a:ext uri="{FF2B5EF4-FFF2-40B4-BE49-F238E27FC236}">
                <a16:creationId xmlns:a16="http://schemas.microsoft.com/office/drawing/2014/main" id="{3BF86D58-8847-4919-FA94-A13BE3A9FFCD}"/>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FASTER PRODUCT LAUNCHES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722887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0A33B-79B1-5E8B-B946-7B7C34AC886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2093802-13AD-339B-80CC-EEBAF1F8D18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51C3B68C-BE3F-0C46-5F41-89D6C8BC796D}"/>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B59ACEC-6D11-317C-3633-83B2B014BC0A}"/>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How Neobanks Do It</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923781D3-3CE5-7426-4504-9EA3E531B943}"/>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1917542C-E95E-63FF-F230-CDE7883797B1}"/>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C183541-7FCE-16BC-C0A6-C8A2B0659618}"/>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19</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E35FE6DB-A241-1411-18DE-F343E74D0463}"/>
              </a:ext>
            </a:extLst>
          </p:cNvPr>
          <p:cNvSpPr txBox="1"/>
          <p:nvPr/>
        </p:nvSpPr>
        <p:spPr>
          <a:xfrm>
            <a:off x="756447" y="2644758"/>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Neobanks What prevents many traditional banks from following the strategy of neobanks is that they still operate multiple decades-old legacy systems. Banks spend about 70% of their IT budgets on traditional IT services, like maintaining core systems, and only about 30% on non-traditional solutions related to digital transformation, such as cloud and data analytics.</a:t>
            </a:r>
          </a:p>
          <a:p>
            <a:pPr marL="514350" indent="-514350" algn="just">
              <a:lnSpc>
                <a:spcPct val="200000"/>
              </a:lnSpc>
              <a:buFont typeface="Wingdings" panose="05000000000000000000" pitchFamily="2" charset="2"/>
              <a:buChar char="§"/>
            </a:pPr>
            <a:r>
              <a:rPr lang="en-US" sz="2800" dirty="0"/>
              <a:t>New players utilize modular technology design, advanced analytics, and agile governance, providing a service which can rapidly respond and scale as demands change. Cloud-native focus, open architecture, and data-driven processes all complement this approach</a:t>
            </a:r>
          </a:p>
        </p:txBody>
      </p:sp>
      <p:sp>
        <p:nvSpPr>
          <p:cNvPr id="4" name="TextBox 6">
            <a:extLst>
              <a:ext uri="{FF2B5EF4-FFF2-40B4-BE49-F238E27FC236}">
                <a16:creationId xmlns:a16="http://schemas.microsoft.com/office/drawing/2014/main" id="{DC419C0D-52BB-C5C1-43E8-086E9029C8EC}"/>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LEVERAGING TECHNOLOGY</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791605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61000-F705-990A-1A0E-206664B1BFC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CC24A59-2FC4-1A4B-0173-7DAB0CD1146F}"/>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562D26A-9238-B58B-67E2-1A2F8B6F297C}"/>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2D82575D-AF04-4CEE-FDF0-6C5CA68EBB6D}"/>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How Neobanks Do It</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7C79B258-78F0-F3EC-C59A-40E9C3BE6766}"/>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86188DFD-2D23-515F-55EE-034634265648}"/>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29DDA299-A18C-4537-2142-81548E750F82}"/>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20</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7F33D8BA-9C95-83E8-04C0-26E35E36EE79}"/>
              </a:ext>
            </a:extLst>
          </p:cNvPr>
          <p:cNvSpPr txBox="1"/>
          <p:nvPr/>
        </p:nvSpPr>
        <p:spPr>
          <a:xfrm>
            <a:off x="756447" y="2644758"/>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Neobanks Incumbents also tend to be more risk-averse when it comes to offering innovative digital services and are often held back by their own conservative approaches. </a:t>
            </a:r>
          </a:p>
          <a:p>
            <a:pPr marL="514350" indent="-514350" algn="just">
              <a:lnSpc>
                <a:spcPct val="200000"/>
              </a:lnSpc>
              <a:buFont typeface="Wingdings" panose="05000000000000000000" pitchFamily="2" charset="2"/>
              <a:buChar char="§"/>
            </a:pPr>
            <a:r>
              <a:rPr lang="en-US" sz="2800" dirty="0"/>
              <a:t>Neobanks → seem less afraid of experimenting and learning from their failures. They are not limited by lengthy bureaucratic procedures and are more likely to talk to their customers about their needs before launching any new products.</a:t>
            </a:r>
          </a:p>
        </p:txBody>
      </p:sp>
      <p:sp>
        <p:nvSpPr>
          <p:cNvPr id="4" name="TextBox 6">
            <a:extLst>
              <a:ext uri="{FF2B5EF4-FFF2-40B4-BE49-F238E27FC236}">
                <a16:creationId xmlns:a16="http://schemas.microsoft.com/office/drawing/2014/main" id="{4B6426F0-3CE9-19F1-0B6F-444E8525B18E}"/>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LOWER RISK AVERSION</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824772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745A3-BB3E-1C4E-5F13-4241A975750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42879A8-D2AD-0BC2-1189-D291C17192DD}"/>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CCDF089-E0BC-2370-754C-70CC2FA29346}"/>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635D333E-D33F-333A-60A4-8AF1FC993E23}"/>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How Neobanks Do It</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FDF9D6F6-BF9D-B222-6521-31DFEB26F31A}"/>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3729C1F3-7852-C484-7FF0-3F39A937225B}"/>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F372B6E-C574-7505-4247-B36047EA0F80}"/>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21</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C49EC0D3-E5E6-19CA-B116-0C29772A4CF4}"/>
              </a:ext>
            </a:extLst>
          </p:cNvPr>
          <p:cNvSpPr txBox="1"/>
          <p:nvPr/>
        </p:nvSpPr>
        <p:spPr>
          <a:xfrm>
            <a:off x="756447" y="2644758"/>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Digital-only challengers have certainly raised the bar in satisfying customer needs by offering fast, seamless and </a:t>
            </a:r>
            <a:r>
              <a:rPr lang="en-US" sz="2800" dirty="0" err="1"/>
              <a:t>personalised</a:t>
            </a:r>
            <a:r>
              <a:rPr lang="en-US" sz="2800" dirty="0"/>
              <a:t> services. They respond to feedback by adding features users love, like real-time balances, transaction alerts, budgeting tools and personal finance solutions.</a:t>
            </a:r>
          </a:p>
          <a:p>
            <a:pPr marL="514350" indent="-514350" algn="just">
              <a:lnSpc>
                <a:spcPct val="200000"/>
              </a:lnSpc>
              <a:buFont typeface="Wingdings" panose="05000000000000000000" pitchFamily="2" charset="2"/>
              <a:buChar char="§"/>
            </a:pPr>
            <a:r>
              <a:rPr lang="en-US" sz="2800" dirty="0"/>
              <a:t>Putting a bigger focus on user and customer experience also explains why neobanks’ satisfaction ratings (76%) exceed that of the top 50 global banks (69%) in the UK, the US (83% vs 67%) and Germany (82% vs 60%)</a:t>
            </a:r>
          </a:p>
        </p:txBody>
      </p:sp>
      <p:sp>
        <p:nvSpPr>
          <p:cNvPr id="4" name="TextBox 6">
            <a:extLst>
              <a:ext uri="{FF2B5EF4-FFF2-40B4-BE49-F238E27FC236}">
                <a16:creationId xmlns:a16="http://schemas.microsoft.com/office/drawing/2014/main" id="{8A2ECEE9-D370-890D-E590-FA7DA183F7A6}"/>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BETTER CUSTOMER EXPERIENCE (CX)</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360327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847C1-A82D-3BF2-849A-62786207DF3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B47C636-4E8C-0B81-2E26-A91E85654DD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11DDD596-6E0A-933B-4F0F-F07E3527B0D6}"/>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1BDBE504-A8C7-CAD7-2103-33BA7980051B}"/>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How Neobanks Do It</a:t>
            </a:r>
          </a:p>
        </p:txBody>
      </p:sp>
      <p:sp>
        <p:nvSpPr>
          <p:cNvPr id="9" name="Date Placeholder 8">
            <a:extLst>
              <a:ext uri="{FF2B5EF4-FFF2-40B4-BE49-F238E27FC236}">
                <a16:creationId xmlns:a16="http://schemas.microsoft.com/office/drawing/2014/main" id="{7AB8D550-A45B-54FB-0A9F-5586FE979E6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C2942FF9-ECD9-C5A7-ADA8-A9F890C1E70E}"/>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0AED30A-DCA5-9E5C-CF53-D041C3DB13C5}"/>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22</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063BE8D3-B9A3-C4AD-7329-13F8891899B2}"/>
              </a:ext>
            </a:extLst>
          </p:cNvPr>
          <p:cNvSpPr txBox="1"/>
          <p:nvPr/>
        </p:nvSpPr>
        <p:spPr>
          <a:xfrm>
            <a:off x="757618" y="1790700"/>
            <a:ext cx="16773935" cy="5842497"/>
          </a:xfrm>
          <a:prstGeom prst="rect">
            <a:avLst/>
          </a:prstGeom>
          <a:noFill/>
        </p:spPr>
        <p:txBody>
          <a:bodyPr wrap="square" rtlCol="0">
            <a:spAutoFit/>
          </a:bodyPr>
          <a:lstStyle/>
          <a:p>
            <a:pPr marL="514350" indent="-514350">
              <a:lnSpc>
                <a:spcPct val="150000"/>
              </a:lnSpc>
              <a:buFont typeface="Wingdings" panose="05000000000000000000" pitchFamily="2" charset="2"/>
              <a:buChar char="§"/>
            </a:pPr>
            <a:r>
              <a:rPr lang="en-US" sz="2800" b="1" dirty="0"/>
              <a:t>Product design </a:t>
            </a:r>
            <a:r>
              <a:rPr lang="en-US" sz="2800" dirty="0"/>
              <a:t>and </a:t>
            </a:r>
            <a:r>
              <a:rPr lang="en-US" sz="2800" b="1" dirty="0"/>
              <a:t>UX (user experience) </a:t>
            </a:r>
            <a:r>
              <a:rPr lang="en-US" sz="2800" dirty="0"/>
              <a:t>are just one –albeit important – and makes up your company’s value proposition, but the overall </a:t>
            </a:r>
            <a:r>
              <a:rPr lang="en-US" sz="2800" b="1" dirty="0"/>
              <a:t>CX (customer experience) </a:t>
            </a:r>
            <a:r>
              <a:rPr lang="en-US" sz="2800" dirty="0"/>
              <a:t>is dependent on a much wider array of factors.</a:t>
            </a:r>
          </a:p>
          <a:p>
            <a:pPr marL="971550" lvl="1" indent="-514350">
              <a:lnSpc>
                <a:spcPct val="150000"/>
              </a:lnSpc>
              <a:buFont typeface="Wingdings" panose="05000000000000000000" pitchFamily="2" charset="2"/>
              <a:buChar char="§"/>
            </a:pPr>
            <a:r>
              <a:rPr lang="en-US" sz="2800" dirty="0"/>
              <a:t>How quickly can customers move and access money?</a:t>
            </a:r>
          </a:p>
          <a:p>
            <a:pPr marL="971550" lvl="1" indent="-514350">
              <a:lnSpc>
                <a:spcPct val="150000"/>
              </a:lnSpc>
              <a:buFont typeface="Wingdings" panose="05000000000000000000" pitchFamily="2" charset="2"/>
              <a:buChar char="§"/>
            </a:pPr>
            <a:r>
              <a:rPr lang="en-US" sz="2800" dirty="0"/>
              <a:t>How predictable and stable are your services?</a:t>
            </a:r>
          </a:p>
          <a:p>
            <a:pPr marL="971550" lvl="1" indent="-514350">
              <a:lnSpc>
                <a:spcPct val="150000"/>
              </a:lnSpc>
              <a:buFont typeface="Wingdings" panose="05000000000000000000" pitchFamily="2" charset="2"/>
              <a:buChar char="§"/>
            </a:pPr>
            <a:r>
              <a:rPr lang="en-US" sz="2800" dirty="0"/>
              <a:t>How do you balance risk and compliance with introducing friction in your customer journey?</a:t>
            </a:r>
          </a:p>
          <a:p>
            <a:pPr marL="971550" lvl="1" indent="-514350">
              <a:lnSpc>
                <a:spcPct val="150000"/>
              </a:lnSpc>
              <a:buFont typeface="Wingdings" panose="05000000000000000000" pitchFamily="2" charset="2"/>
              <a:buChar char="§"/>
            </a:pPr>
            <a:r>
              <a:rPr lang="en-US" sz="2800" dirty="0"/>
              <a:t>Do customers have access to live support when they need it?</a:t>
            </a:r>
          </a:p>
          <a:p>
            <a:pPr marL="971550" lvl="1" indent="-514350">
              <a:lnSpc>
                <a:spcPct val="150000"/>
              </a:lnSpc>
              <a:buFont typeface="Wingdings" panose="05000000000000000000" pitchFamily="2" charset="2"/>
              <a:buChar char="§"/>
            </a:pPr>
            <a:r>
              <a:rPr lang="en-US" sz="2800" dirty="0"/>
              <a:t>Are customers’ data and money safe and secure?</a:t>
            </a:r>
          </a:p>
          <a:p>
            <a:pPr marL="971550" lvl="1" indent="-514350">
              <a:lnSpc>
                <a:spcPct val="150000"/>
              </a:lnSpc>
              <a:buFont typeface="Wingdings" panose="05000000000000000000" pitchFamily="2" charset="2"/>
              <a:buChar char="§"/>
            </a:pPr>
            <a:r>
              <a:rPr lang="en-US" sz="2800" dirty="0"/>
              <a:t>How well your company does on these fronts has much more impact on customers’ satisfaction than the frontend.</a:t>
            </a:r>
          </a:p>
        </p:txBody>
      </p:sp>
    </p:spTree>
    <p:extLst>
      <p:ext uri="{BB962C8B-B14F-4D97-AF65-F5344CB8AC3E}">
        <p14:creationId xmlns:p14="http://schemas.microsoft.com/office/powerpoint/2010/main" val="11632995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8DB14-C5D7-E6A8-D7A0-5D8357D2CF7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6C42395-651D-C08A-5C06-D1C4900EAA1A}"/>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05A31864-4F9C-98E9-5150-D67308D090CF}"/>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18D9594F-9E91-CD74-A8D4-E7CC1901B3B2}"/>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How Neobanks Do It</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6C3B2E40-688F-3587-C5B6-741B5C34794A}"/>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DAE87A8E-3BF0-547A-2B63-FFF23762CC49}"/>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6270D7B0-92F7-1A26-4E2A-AEF28A0C601C}"/>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23</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39A8F045-F989-B830-03D2-3C8F88301AD0}"/>
              </a:ext>
            </a:extLst>
          </p:cNvPr>
          <p:cNvSpPr txBox="1"/>
          <p:nvPr/>
        </p:nvSpPr>
        <p:spPr>
          <a:xfrm>
            <a:off x="756447" y="2644758"/>
            <a:ext cx="16775106" cy="2556982"/>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Greater financial inclusion – Branchless banks have lower operational costs and can, therefore, afford to accept customers who are unable to attain traditional financial services due to a lack of credit history or poor credit ratings</a:t>
            </a:r>
          </a:p>
        </p:txBody>
      </p:sp>
      <p:sp>
        <p:nvSpPr>
          <p:cNvPr id="4" name="TextBox 6">
            <a:extLst>
              <a:ext uri="{FF2B5EF4-FFF2-40B4-BE49-F238E27FC236}">
                <a16:creationId xmlns:a16="http://schemas.microsoft.com/office/drawing/2014/main" id="{5FD948B4-DC82-773A-D9A1-2259C50EEC6E}"/>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GREATER FINANCIAL INCLUSION</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74A06074-9C72-E038-54C5-AE9BFADBB57A}"/>
              </a:ext>
            </a:extLst>
          </p:cNvPr>
          <p:cNvSpPr txBox="1"/>
          <p:nvPr/>
        </p:nvSpPr>
        <p:spPr>
          <a:xfrm>
            <a:off x="633495" y="6550873"/>
            <a:ext cx="16775106" cy="2556982"/>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Focus on security – Traditional banks are known for being slow to adapt to the demand for more flexible yet secure banking services. Not only are digital banks easy-to-use but many are security-driven and react quickly to the latest security threats.</a:t>
            </a:r>
          </a:p>
        </p:txBody>
      </p:sp>
      <p:sp>
        <p:nvSpPr>
          <p:cNvPr id="8" name="TextBox 6">
            <a:extLst>
              <a:ext uri="{FF2B5EF4-FFF2-40B4-BE49-F238E27FC236}">
                <a16:creationId xmlns:a16="http://schemas.microsoft.com/office/drawing/2014/main" id="{0295EAB5-45C4-8B03-C197-BA621ED4A2A2}"/>
              </a:ext>
            </a:extLst>
          </p:cNvPr>
          <p:cNvSpPr txBox="1"/>
          <p:nvPr/>
        </p:nvSpPr>
        <p:spPr>
          <a:xfrm>
            <a:off x="633495" y="5711331"/>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FOCUS ON SECURITY</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515342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A458F-849B-6B8E-058F-D04D601AC32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03DE09C-C1A5-6D56-4C8A-FE19587F19E7}"/>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118F7BA5-8290-36D5-DBDF-41070827DFA9}"/>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FDEB40D3-6EA8-A3F5-71D2-8E59A36234BA}"/>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Digital-only Banks and Value Proposition</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2C31379E-5484-6C98-4D39-8123FBBE7EC7}"/>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496B81D8-E18F-4FCE-BA12-C0602CF2EEF8}"/>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1873FCB9-0583-955F-08AC-EEE9E142A504}"/>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24</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72BC5D6C-BC34-25C5-9670-71A625C0AD39}"/>
              </a:ext>
            </a:extLst>
          </p:cNvPr>
          <p:cNvSpPr txBox="1"/>
          <p:nvPr/>
        </p:nvSpPr>
        <p:spPr>
          <a:xfrm>
            <a:off x="756447" y="2644758"/>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Digital-only bank digital architecture has some clear advantages in terms of speed, cost, convenience and customer outreach</a:t>
            </a:r>
          </a:p>
          <a:p>
            <a:pPr marL="514350" indent="-514350" algn="just">
              <a:lnSpc>
                <a:spcPct val="200000"/>
              </a:lnSpc>
              <a:buFont typeface="Wingdings" panose="05000000000000000000" pitchFamily="2" charset="2"/>
              <a:buChar char="§"/>
            </a:pPr>
            <a:r>
              <a:rPr lang="en-US" sz="2800" dirty="0"/>
              <a:t>Current differences between neobanks and incumbents are best reflected by the speed and diversity of services available in their mobile banking apps. </a:t>
            </a:r>
          </a:p>
          <a:p>
            <a:pPr marL="514350" indent="-514350" algn="just">
              <a:lnSpc>
                <a:spcPct val="200000"/>
              </a:lnSpc>
              <a:buFont typeface="Wingdings" panose="05000000000000000000" pitchFamily="2" charset="2"/>
              <a:buChar char="§"/>
            </a:pPr>
            <a:r>
              <a:rPr lang="en-US" sz="2800" dirty="0"/>
              <a:t>By November 2018, the average log-in time, for example, fell to 7.5 seconds from 8.1 seconds within just six months, with startups remaining twice as quick as incumbent banks, according to a review of banking apps in the UK. On average, non-traditional current account providers have 42% more features within their mobile apps than established players and they are adding more functions to their service than traditional banks.</a:t>
            </a:r>
          </a:p>
        </p:txBody>
      </p:sp>
      <p:sp>
        <p:nvSpPr>
          <p:cNvPr id="4" name="TextBox 6">
            <a:extLst>
              <a:ext uri="{FF2B5EF4-FFF2-40B4-BE49-F238E27FC236}">
                <a16:creationId xmlns:a16="http://schemas.microsoft.com/office/drawing/2014/main" id="{4A1A1073-5906-36CB-D30F-55DE64A73734}"/>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Speed and Diversity of Services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76785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3CC38-2162-48C6-6580-3DDD43F428A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AE25EBE-921E-4386-FDEA-C34B71D1EDD7}"/>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D873C937-57B7-C528-178E-CFDAD6B33463}"/>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8879F2E-CBE7-B192-B2E8-5B9334C3D5FD}"/>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Speed and Diversity of Services</a:t>
            </a:r>
          </a:p>
        </p:txBody>
      </p:sp>
      <p:sp>
        <p:nvSpPr>
          <p:cNvPr id="9" name="Date Placeholder 8">
            <a:extLst>
              <a:ext uri="{FF2B5EF4-FFF2-40B4-BE49-F238E27FC236}">
                <a16:creationId xmlns:a16="http://schemas.microsoft.com/office/drawing/2014/main" id="{2F95A6C6-2953-1B28-E357-438E1F3D1EA8}"/>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49B98300-752F-300F-2E6C-D868079222F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DB593134-7F4C-0441-65D5-7D69BA4C1A9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25</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7E322A30-1017-EBA2-129C-938AEF8C82EF}"/>
              </a:ext>
            </a:extLst>
          </p:cNvPr>
          <p:cNvSpPr txBox="1"/>
          <p:nvPr/>
        </p:nvSpPr>
        <p:spPr>
          <a:xfrm>
            <a:off x="757618" y="1790700"/>
            <a:ext cx="16773935" cy="7135158"/>
          </a:xfrm>
          <a:prstGeom prst="rect">
            <a:avLst/>
          </a:prstGeom>
          <a:noFill/>
        </p:spPr>
        <p:txBody>
          <a:bodyPr wrap="square" rtlCol="0">
            <a:spAutoFit/>
          </a:bodyPr>
          <a:lstStyle/>
          <a:p>
            <a:pPr marL="514350" indent="-514350">
              <a:lnSpc>
                <a:spcPct val="150000"/>
              </a:lnSpc>
              <a:buFont typeface="Wingdings" panose="05000000000000000000" pitchFamily="2" charset="2"/>
              <a:buChar char="§"/>
            </a:pPr>
            <a:r>
              <a:rPr lang="en-US" sz="2800" dirty="0"/>
              <a:t>Real-time balances are only supported fully by 32% of the reviewed apps and instant updates to the main balance are exclusively provided by digital-only challengers.</a:t>
            </a:r>
          </a:p>
          <a:p>
            <a:pPr marL="514350" indent="-514350">
              <a:lnSpc>
                <a:spcPct val="150000"/>
              </a:lnSpc>
              <a:buFont typeface="Wingdings" panose="05000000000000000000" pitchFamily="2" charset="2"/>
              <a:buChar char="§"/>
            </a:pPr>
            <a:r>
              <a:rPr lang="en-US" sz="2800" dirty="0"/>
              <a:t>Neobanks also tend to send smarter notifications (alerts) to their users. Starling alerts customers if their direct debit payment is due the following day and Monzo sends messages about upcoming direct debits as well as travel insight.</a:t>
            </a:r>
          </a:p>
          <a:p>
            <a:pPr marL="514350" indent="-514350">
              <a:lnSpc>
                <a:spcPct val="150000"/>
              </a:lnSpc>
              <a:buFont typeface="Wingdings" panose="05000000000000000000" pitchFamily="2" charset="2"/>
              <a:buChar char="§"/>
            </a:pPr>
            <a:r>
              <a:rPr lang="en-US" sz="2800" dirty="0"/>
              <a:t>A distinction must be made between basic services customers receive and services they want. All customers expect four basic services: transaction management, lending, savings, and financial guidance.</a:t>
            </a:r>
          </a:p>
          <a:p>
            <a:pPr marL="514350" indent="-514350">
              <a:lnSpc>
                <a:spcPct val="150000"/>
              </a:lnSpc>
              <a:buFont typeface="Wingdings" panose="05000000000000000000" pitchFamily="2" charset="2"/>
              <a:buChar char="§"/>
            </a:pPr>
            <a:r>
              <a:rPr lang="en-US" sz="2800" dirty="0"/>
              <a:t>What customers want today is a less tangible list of benefits, and simplicity in keeping track of their money is at the top of this list. Banks that make it easy tend to create customer loyalty. Bankers have always thought that offering more services and opening more branches were the keys to success. However, customers want to be able to keep their complex money matters simple and close at hand.</a:t>
            </a:r>
          </a:p>
        </p:txBody>
      </p:sp>
    </p:spTree>
    <p:extLst>
      <p:ext uri="{BB962C8B-B14F-4D97-AF65-F5344CB8AC3E}">
        <p14:creationId xmlns:p14="http://schemas.microsoft.com/office/powerpoint/2010/main" val="19550432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AB5E0-DD2E-335B-5D41-4A749B4FE21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66FE187-21C8-1EF7-8C19-B5AF2AD1BF78}"/>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86C2141-4C0A-853C-2C71-C7CA4133A527}"/>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873C4DAD-E7AB-07ED-97F1-C1A932E490F4}"/>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Digital-only Banks and Value Proposition</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5EEC844A-4746-2FB9-F0CF-85DAC0948038}"/>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1534EAAA-5B71-84F2-D923-1E357B4603F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CEAF188-6952-1F9B-88E5-CEC5040323F8}"/>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26</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5F471F7A-5C67-FB66-9BDD-4F08E954D6EA}"/>
              </a:ext>
            </a:extLst>
          </p:cNvPr>
          <p:cNvSpPr txBox="1"/>
          <p:nvPr/>
        </p:nvSpPr>
        <p:spPr>
          <a:xfrm>
            <a:off x="756447" y="2644758"/>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Digital-only Banks share some unifying traits that reflect their particular market proposition:</a:t>
            </a:r>
          </a:p>
          <a:p>
            <a:pPr marL="514350" indent="-514350" algn="just">
              <a:lnSpc>
                <a:spcPct val="200000"/>
              </a:lnSpc>
              <a:buFont typeface="Wingdings" panose="05000000000000000000" pitchFamily="2" charset="2"/>
              <a:buChar char="§"/>
            </a:pPr>
            <a:r>
              <a:rPr lang="en-US" sz="2800" b="1" dirty="0"/>
              <a:t>Branchless: </a:t>
            </a:r>
            <a:r>
              <a:rPr lang="en-US" sz="2800" dirty="0"/>
              <a:t>Customers can complete all of their everyday banking needs online, via web or mobile, with 100% digital delivery covering all products and services. This includes electronic know your customer (KYC) capabilities which allow customers to sign up without visiting a physical branch</a:t>
            </a:r>
          </a:p>
          <a:p>
            <a:pPr marL="514350" indent="-514350" algn="just">
              <a:lnSpc>
                <a:spcPct val="200000"/>
              </a:lnSpc>
              <a:buFont typeface="Wingdings" panose="05000000000000000000" pitchFamily="2" charset="2"/>
              <a:buChar char="§"/>
            </a:pPr>
            <a:r>
              <a:rPr lang="en-US" sz="2800" b="1" dirty="0"/>
              <a:t>Customer-focused: </a:t>
            </a:r>
            <a:r>
              <a:rPr lang="en-US" sz="2800" dirty="0"/>
              <a:t>Superior customer experience is at the heart of their offering. State-of-the-art user experience (UX) design, instant and hassle-free service, and responsive customer service are core to delivery</a:t>
            </a:r>
          </a:p>
        </p:txBody>
      </p:sp>
      <p:sp>
        <p:nvSpPr>
          <p:cNvPr id="4" name="TextBox 6">
            <a:extLst>
              <a:ext uri="{FF2B5EF4-FFF2-40B4-BE49-F238E27FC236}">
                <a16:creationId xmlns:a16="http://schemas.microsoft.com/office/drawing/2014/main" id="{3230CEDA-5C2D-54D5-636D-60DB668629F2}"/>
              </a:ext>
            </a:extLst>
          </p:cNvPr>
          <p:cNvSpPr txBox="1"/>
          <p:nvPr/>
        </p:nvSpPr>
        <p:spPr>
          <a:xfrm>
            <a:off x="756447" y="1805216"/>
            <a:ext cx="126293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Value Proposition &amp; Genuine Differentiation</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650956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82672-1C89-6688-DEF6-D3FDD13FBAD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56A242B-F06A-9B2D-D5F8-05931C0EB6F7}"/>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F481DB9-BC0E-B6B7-9B29-8084AFB76999}"/>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9B28FCC9-2CB2-3674-4543-B94DA592E378}"/>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Value Proposition &amp; Genuine Differentiation</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CB5F0848-A90E-F2F2-F0E3-9B82E4F1336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EED38FD7-2B32-13E2-5EC6-B820C6F4B9AA}"/>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8E9BD3B3-D8E5-2F80-DC44-A4EE0C45D76C}"/>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4095EEF5-CCCB-7CE7-9417-A7EA7E66A402}"/>
              </a:ext>
            </a:extLst>
          </p:cNvPr>
          <p:cNvSpPr txBox="1"/>
          <p:nvPr/>
        </p:nvSpPr>
        <p:spPr>
          <a:xfrm>
            <a:off x="756447" y="2644758"/>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Many of the Digital-only Banks are pushing personalization as a key differentiator. When it comes to creating a highly personalized service, starting from scratch without an incumbent customer base or legacy technology can be a positive advantage for digital Challengers.</a:t>
            </a:r>
          </a:p>
          <a:p>
            <a:pPr marL="514350" indent="-514350" algn="just">
              <a:lnSpc>
                <a:spcPct val="200000"/>
              </a:lnSpc>
              <a:buFont typeface="Wingdings" panose="05000000000000000000" pitchFamily="2" charset="2"/>
              <a:buChar char="§"/>
            </a:pPr>
            <a:r>
              <a:rPr lang="en-US" sz="2800" dirty="0" err="1"/>
              <a:t>Personalisation</a:t>
            </a:r>
            <a:r>
              <a:rPr lang="en-US" sz="2800" dirty="0"/>
              <a:t> alone accounts for 23 percent of the overall experience score.</a:t>
            </a:r>
          </a:p>
          <a:p>
            <a:pPr marL="514350" indent="-514350" algn="just">
              <a:lnSpc>
                <a:spcPct val="200000"/>
              </a:lnSpc>
              <a:buFont typeface="Wingdings" panose="05000000000000000000" pitchFamily="2" charset="2"/>
              <a:buChar char="§"/>
            </a:pPr>
            <a:r>
              <a:rPr lang="en-US" sz="2800" dirty="0"/>
              <a:t>Tandem → is looking into ideas as to how their app can motivate its users in a similar way to a fitness app, such as spotting opportunities to help you save money or grow what you have with motivational nudges.</a:t>
            </a:r>
          </a:p>
        </p:txBody>
      </p:sp>
      <p:sp>
        <p:nvSpPr>
          <p:cNvPr id="4" name="TextBox 6">
            <a:extLst>
              <a:ext uri="{FF2B5EF4-FFF2-40B4-BE49-F238E27FC236}">
                <a16:creationId xmlns:a16="http://schemas.microsoft.com/office/drawing/2014/main" id="{AF638CAA-484A-D741-CE25-122AC7DD9785}"/>
              </a:ext>
            </a:extLst>
          </p:cNvPr>
          <p:cNvSpPr txBox="1"/>
          <p:nvPr/>
        </p:nvSpPr>
        <p:spPr>
          <a:xfrm>
            <a:off x="756447" y="1805216"/>
            <a:ext cx="126293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Personalization</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967026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54A40-30B2-30B5-D249-CB1707F4F8D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A229D0B-EEA7-B1E0-719E-3BEB18A8E64D}"/>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77600E34-B177-99EC-66DF-13F3A8399C4A}"/>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EE7C899-E4A6-73A6-90BD-2F0FB8E7E041}"/>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Value Proposition &amp; Genuine Differentiation</a:t>
            </a:r>
          </a:p>
        </p:txBody>
      </p:sp>
      <p:sp>
        <p:nvSpPr>
          <p:cNvPr id="9" name="Date Placeholder 8">
            <a:extLst>
              <a:ext uri="{FF2B5EF4-FFF2-40B4-BE49-F238E27FC236}">
                <a16:creationId xmlns:a16="http://schemas.microsoft.com/office/drawing/2014/main" id="{9DB915EF-18B7-E593-4638-39ECD145BF3D}"/>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E3D8966A-B716-EA23-16BD-773A644A87E7}"/>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855D0AE9-C94F-41F4-ABC3-9FA96E7B08E0}"/>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28</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3A8065EC-25E6-8B05-2B6E-6ADF6F5CEBFB}"/>
              </a:ext>
            </a:extLst>
          </p:cNvPr>
          <p:cNvSpPr txBox="1"/>
          <p:nvPr/>
        </p:nvSpPr>
        <p:spPr>
          <a:xfrm>
            <a:off x="757618" y="1790700"/>
            <a:ext cx="16773935" cy="4549835"/>
          </a:xfrm>
          <a:prstGeom prst="rect">
            <a:avLst/>
          </a:prstGeom>
          <a:noFill/>
        </p:spPr>
        <p:txBody>
          <a:bodyPr wrap="square" rtlCol="0">
            <a:spAutoFit/>
          </a:bodyPr>
          <a:lstStyle/>
          <a:p>
            <a:pPr marL="514350" indent="-514350">
              <a:lnSpc>
                <a:spcPct val="150000"/>
              </a:lnSpc>
              <a:buFont typeface="Wingdings" panose="05000000000000000000" pitchFamily="2" charset="2"/>
              <a:buChar char="§"/>
            </a:pPr>
            <a:r>
              <a:rPr lang="en-US" sz="2800" dirty="0"/>
              <a:t>Revolut cardholders can now create a design of their own choice, using images, texts, emojis and even freehand sketches, to be rendered in monochrome on a chosen card</a:t>
            </a:r>
          </a:p>
          <a:p>
            <a:pPr marL="514350" indent="-514350">
              <a:lnSpc>
                <a:spcPct val="150000"/>
              </a:lnSpc>
              <a:buFont typeface="Wingdings" panose="05000000000000000000" pitchFamily="2" charset="2"/>
              <a:buChar char="§"/>
            </a:pPr>
            <a:r>
              <a:rPr lang="en-US" sz="2800" dirty="0"/>
              <a:t>Customers create the images within the Revolut app with design elements laser engraved on metal cards for customers with a Revolut Metal plan . Customers’ expectations are getting higher every day, with </a:t>
            </a:r>
            <a:r>
              <a:rPr lang="en-US" sz="2800" dirty="0" err="1"/>
              <a:t>personalisation</a:t>
            </a:r>
            <a:r>
              <a:rPr lang="en-US" sz="2800" dirty="0"/>
              <a:t> trends evolving towards mobile, real-time </a:t>
            </a:r>
            <a:r>
              <a:rPr lang="en-US" sz="2800" dirty="0" err="1"/>
              <a:t>customisation</a:t>
            </a:r>
            <a:r>
              <a:rPr lang="en-US" sz="2800" dirty="0"/>
              <a:t>, fast shipping of the </a:t>
            </a:r>
            <a:r>
              <a:rPr lang="en-US" sz="2800" dirty="0" err="1"/>
              <a:t>personalised</a:t>
            </a:r>
            <a:r>
              <a:rPr lang="en-US" sz="2800" dirty="0"/>
              <a:t> items and save-for-later features.</a:t>
            </a:r>
          </a:p>
          <a:p>
            <a:pPr marL="514350" indent="-514350">
              <a:lnSpc>
                <a:spcPct val="150000"/>
              </a:lnSpc>
              <a:buFont typeface="Wingdings" panose="05000000000000000000" pitchFamily="2" charset="2"/>
              <a:buChar char="§"/>
            </a:pPr>
            <a:r>
              <a:rPr lang="en-US" sz="2800" dirty="0"/>
              <a:t>Customers can </a:t>
            </a:r>
            <a:r>
              <a:rPr lang="en-US" sz="2800" dirty="0" err="1"/>
              <a:t>personalise</a:t>
            </a:r>
            <a:r>
              <a:rPr lang="en-US" sz="2800" dirty="0"/>
              <a:t> cards of different colors and materials depending on their current subscription plan. </a:t>
            </a:r>
          </a:p>
        </p:txBody>
      </p:sp>
    </p:spTree>
    <p:extLst>
      <p:ext uri="{BB962C8B-B14F-4D97-AF65-F5344CB8AC3E}">
        <p14:creationId xmlns:p14="http://schemas.microsoft.com/office/powerpoint/2010/main" val="5334220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BC92E-FA12-017D-6B46-60257E6FC79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118EE40-DEFC-86F7-D557-6E31CAF59DBB}"/>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4B7601F0-73D4-6946-2F76-E72D7DBCB9F1}"/>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8AE83CEE-3608-9971-8751-01EE42DA4B54}"/>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Value Proposition &amp; Genuine Differentiation</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BA978C0F-45C3-4391-4D0F-E1A7BC5EC9C5}"/>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CB11BA01-B615-024D-61D0-D42CE339666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66A3689-1093-7919-52B8-E1CF773DBE26}"/>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29</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3587342C-B6D8-9A3D-6C95-E6F5BDA24466}"/>
              </a:ext>
            </a:extLst>
          </p:cNvPr>
          <p:cNvSpPr txBox="1"/>
          <p:nvPr/>
        </p:nvSpPr>
        <p:spPr>
          <a:xfrm>
            <a:off x="756447" y="2644758"/>
            <a:ext cx="16775106" cy="51595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400" dirty="0"/>
              <a:t>The new breed of Challengers are planning a more open approach to their platforms that contrasts with the way incumbents have typically worked. For many, there is a recognition that platform-based models (think Apple) are the future. By encouraging third-party providers to work with them, they provide customers with access to “best in class” products and services and at the same time generate additional revenue for themselves.</a:t>
            </a:r>
          </a:p>
          <a:p>
            <a:pPr marL="514350" indent="-514350" algn="just">
              <a:lnSpc>
                <a:spcPct val="200000"/>
              </a:lnSpc>
              <a:buFont typeface="Wingdings" panose="05000000000000000000" pitchFamily="2" charset="2"/>
              <a:buChar char="§"/>
            </a:pPr>
            <a:r>
              <a:rPr lang="en-US" sz="2400" dirty="0"/>
              <a:t>This partnering approach is likely to make them more agile and flexible than the incumbents, both in terms of adding new products and adopting new technology.</a:t>
            </a:r>
          </a:p>
          <a:p>
            <a:pPr marL="514350" indent="-514350" algn="just">
              <a:lnSpc>
                <a:spcPct val="200000"/>
              </a:lnSpc>
              <a:buFont typeface="Wingdings" panose="05000000000000000000" pitchFamily="2" charset="2"/>
              <a:buChar char="§"/>
            </a:pPr>
            <a:r>
              <a:rPr lang="en-US" sz="2400" dirty="0"/>
              <a:t>Fidor Bank, has already partnered with more than 20 fintech businesses in Germany. In one case, the partnering concept.</a:t>
            </a:r>
          </a:p>
        </p:txBody>
      </p:sp>
      <p:sp>
        <p:nvSpPr>
          <p:cNvPr id="4" name="TextBox 6">
            <a:extLst>
              <a:ext uri="{FF2B5EF4-FFF2-40B4-BE49-F238E27FC236}">
                <a16:creationId xmlns:a16="http://schemas.microsoft.com/office/drawing/2014/main" id="{8573FF16-21F6-06DB-15E6-47ED99728265}"/>
              </a:ext>
            </a:extLst>
          </p:cNvPr>
          <p:cNvSpPr txBox="1"/>
          <p:nvPr/>
        </p:nvSpPr>
        <p:spPr>
          <a:xfrm>
            <a:off x="756447" y="1805216"/>
            <a:ext cx="126293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Open ecosystems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533301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BADDA-601C-44D5-5005-A44B5D341C4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AD6C2E0-6DEB-35C5-CD00-528A4F70A1B2}"/>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EA9F908A-27A0-2290-457D-B1C0973B9249}"/>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DA9EFFD6-5041-81DB-2E4E-C71C241610F7}"/>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Value Proposition &amp; Genuine Differentiation</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D0FB844C-BE7B-ED46-F7D0-0F715926C235}"/>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8B63E0E2-915E-E721-36B4-22DF8B55C5D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0AA63335-DB3A-11F7-0D8F-DA0F729CDA9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30</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8EE9CB7B-4154-E77A-EF98-26D2A9AC74FA}"/>
              </a:ext>
            </a:extLst>
          </p:cNvPr>
          <p:cNvSpPr txBox="1"/>
          <p:nvPr/>
        </p:nvSpPr>
        <p:spPr>
          <a:xfrm>
            <a:off x="756447" y="2644758"/>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The new Digital-only Banks have a different mind-set as regards to the way they interact with customers – complete transparency. They might invite customers to create communities among themselves or to co-create products on social media groups for all to see. Fees and interest rates clearly communicated alongside balances on mobile apps, and even informing customers when they would be better off with competitors, become the norm.</a:t>
            </a:r>
          </a:p>
        </p:txBody>
      </p:sp>
      <p:sp>
        <p:nvSpPr>
          <p:cNvPr id="4" name="TextBox 6">
            <a:extLst>
              <a:ext uri="{FF2B5EF4-FFF2-40B4-BE49-F238E27FC236}">
                <a16:creationId xmlns:a16="http://schemas.microsoft.com/office/drawing/2014/main" id="{B15B1AE8-23FD-5261-B99C-DCE97E449018}"/>
              </a:ext>
            </a:extLst>
          </p:cNvPr>
          <p:cNvSpPr txBox="1"/>
          <p:nvPr/>
        </p:nvSpPr>
        <p:spPr>
          <a:xfrm>
            <a:off x="756447" y="1805216"/>
            <a:ext cx="126293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Transparency</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189463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1BB90-F4FB-24D8-ED91-A0B0B4E97F6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B8A7592-B561-7168-F918-60DEDAD577B9}"/>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78FEA72-B10D-A691-A67E-74FF2A3451FA}"/>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B17B5E31-45DD-2B69-B1A2-3A6E32D3FC01}"/>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Value Proposition &amp; Genuine Differentiation</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A9DAC58B-9A6A-1026-3136-88C4E38810B3}"/>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D9BDD404-ADFE-ED1A-75FF-2E078F226C0A}"/>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0D3484E0-B478-3A5B-B4D0-99AD2643C0E1}"/>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31</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4F7EA32E-4D58-E183-41CD-88E39B09BA39}"/>
              </a:ext>
            </a:extLst>
          </p:cNvPr>
          <p:cNvSpPr txBox="1"/>
          <p:nvPr/>
        </p:nvSpPr>
        <p:spPr>
          <a:xfrm>
            <a:off x="756447" y="2644758"/>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What if your bank gave you a helpful notification before you went overdrawn, rather than hitting you with an </a:t>
            </a:r>
            <a:r>
              <a:rPr lang="en-US" sz="2800" dirty="0" err="1"/>
              <a:t>unauthorised</a:t>
            </a:r>
            <a:r>
              <a:rPr lang="en-US" sz="2800" dirty="0"/>
              <a:t> overdraft fee? And then offered a short-term </a:t>
            </a:r>
            <a:r>
              <a:rPr lang="en-US" sz="2800" dirty="0" err="1"/>
              <a:t>authorised</a:t>
            </a:r>
            <a:r>
              <a:rPr lang="en-US" sz="2800" dirty="0"/>
              <a:t> overdraft with a fixed price? Or maybe they could help you predict how much free cash you had to spend until the next payday. Many digital Challengers are looking to </a:t>
            </a:r>
            <a:r>
              <a:rPr lang="en-US" sz="2800" dirty="0" err="1"/>
              <a:t>analyse</a:t>
            </a:r>
            <a:r>
              <a:rPr lang="en-US" sz="2800" dirty="0"/>
              <a:t> customers’ income and spending data in a way that proactively helps them to manage their finances more easily.</a:t>
            </a:r>
          </a:p>
        </p:txBody>
      </p:sp>
      <p:sp>
        <p:nvSpPr>
          <p:cNvPr id="4" name="TextBox 6">
            <a:extLst>
              <a:ext uri="{FF2B5EF4-FFF2-40B4-BE49-F238E27FC236}">
                <a16:creationId xmlns:a16="http://schemas.microsoft.com/office/drawing/2014/main" id="{B021D3FD-DB9F-BB40-2B13-9EDA22567E0A}"/>
              </a:ext>
            </a:extLst>
          </p:cNvPr>
          <p:cNvSpPr txBox="1"/>
          <p:nvPr/>
        </p:nvSpPr>
        <p:spPr>
          <a:xfrm>
            <a:off x="756447" y="1805216"/>
            <a:ext cx="126293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Predictive intelligence and commercialization of data</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062713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BABDE-D224-68AB-1BCC-D2C92CE2C48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C91B2F1-16D1-1E9D-9BF7-84FFCE063412}"/>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3537A54B-8CC2-2120-93B6-57437E303DA5}"/>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DFAC2FFA-7A80-3B69-ADFB-37D1494A68F7}"/>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Value Proposition &amp; Genuine Differentiation</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974A8189-3FD7-5BA3-7821-6F4EBE6F08E5}"/>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D0175A40-91F2-5919-2D72-BAC078EB1F21}"/>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3D7926A-BCE7-A961-43C6-A0828081A0C1}"/>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32</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C3EE717A-97BE-6EFD-DD28-8B6A2FB9C83C}"/>
              </a:ext>
            </a:extLst>
          </p:cNvPr>
          <p:cNvSpPr txBox="1"/>
          <p:nvPr/>
        </p:nvSpPr>
        <p:spPr>
          <a:xfrm>
            <a:off x="756447" y="2644758"/>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The EU’s common standards have also proved to be a major help for neobanks: they allow a neobank to quickly expand its customer base, safe in the knowledge it is complying with regulatory standards. N26, for example, has already expanded into 17 different markets since it was founded five years ago. Another disruptor, Fidor Bank, offers its services to customers in more than 40.</a:t>
            </a:r>
          </a:p>
          <a:p>
            <a:pPr marL="514350" indent="-514350" algn="just">
              <a:lnSpc>
                <a:spcPct val="200000"/>
              </a:lnSpc>
              <a:buFont typeface="Wingdings" panose="05000000000000000000" pitchFamily="2" charset="2"/>
              <a:buChar char="§"/>
            </a:pPr>
            <a:r>
              <a:rPr lang="en-US" sz="2800" dirty="0"/>
              <a:t>Germany’s N26, a neobank that promises its customers a paperless sign-up process that takes no more than eight minutes, has already acquired more than one million customers since it launched in 2013.</a:t>
            </a:r>
          </a:p>
        </p:txBody>
      </p:sp>
      <p:sp>
        <p:nvSpPr>
          <p:cNvPr id="4" name="TextBox 6">
            <a:extLst>
              <a:ext uri="{FF2B5EF4-FFF2-40B4-BE49-F238E27FC236}">
                <a16:creationId xmlns:a16="http://schemas.microsoft.com/office/drawing/2014/main" id="{9960CA5E-3030-A103-4D41-CC624F547C34}"/>
              </a:ext>
            </a:extLst>
          </p:cNvPr>
          <p:cNvSpPr txBox="1"/>
          <p:nvPr/>
        </p:nvSpPr>
        <p:spPr>
          <a:xfrm>
            <a:off x="756447" y="1805216"/>
            <a:ext cx="126293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Open and Friendly Regulations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648861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396DB-2C0D-B522-EC61-D84EDF3BB66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5F8FFFC-B9C2-03FD-5C06-995DF89A21E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08CE09F1-2D74-0F11-7B09-1DEA45E8EA8E}"/>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758EDCB0-1C3A-C3B7-F168-5218348FDA35}"/>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Value Proposition &amp; Genuine Differentiation</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0CAA867D-BEC5-E43A-B53A-3E23BF557CE7}"/>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40B71F2B-FE16-66B8-7695-7E87F3E0C608}"/>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0B937822-9A28-DE6B-018B-47057B345BD7}"/>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33</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3E2A0A90-D3F3-0A0A-6DD0-E17FE214CEEF}"/>
              </a:ext>
            </a:extLst>
          </p:cNvPr>
          <p:cNvSpPr txBox="1"/>
          <p:nvPr/>
        </p:nvSpPr>
        <p:spPr>
          <a:xfrm>
            <a:off x="756447" y="2644758"/>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While this journey is encouraging for operators, there remain several key pre-requisites which ecosystem stakeholders should both recognize and nurture in order to further enable this opportunity:</a:t>
            </a:r>
          </a:p>
          <a:p>
            <a:pPr marL="514350" indent="-514350" algn="just">
              <a:lnSpc>
                <a:spcPct val="200000"/>
              </a:lnSpc>
              <a:buFont typeface="Wingdings" panose="05000000000000000000" pitchFamily="2" charset="2"/>
              <a:buChar char="§"/>
            </a:pPr>
            <a:r>
              <a:rPr lang="en-US" sz="2800" dirty="0"/>
              <a:t>Unmet customer need. The rise of digital banking is enabled when traditional incumbents are unable to consistently meet consumer needs.</a:t>
            </a:r>
          </a:p>
          <a:p>
            <a:pPr marL="514350" indent="-514350" algn="just">
              <a:lnSpc>
                <a:spcPct val="200000"/>
              </a:lnSpc>
              <a:buFont typeface="Wingdings" panose="05000000000000000000" pitchFamily="2" charset="2"/>
              <a:buChar char="§"/>
            </a:pPr>
            <a:r>
              <a:rPr lang="en-US" sz="2800" dirty="0"/>
              <a:t>Smartphone and internet penetration. High smartphone and digital penetration generate wider accessibility, and a greater addressable market. The presence of digital payment systems offers a platform on which wider digital banking engagement can be built.</a:t>
            </a:r>
          </a:p>
        </p:txBody>
      </p:sp>
      <p:sp>
        <p:nvSpPr>
          <p:cNvPr id="4" name="TextBox 6">
            <a:extLst>
              <a:ext uri="{FF2B5EF4-FFF2-40B4-BE49-F238E27FC236}">
                <a16:creationId xmlns:a16="http://schemas.microsoft.com/office/drawing/2014/main" id="{72D9020D-FEF3-5D55-A57E-D3502B51AC3F}"/>
              </a:ext>
            </a:extLst>
          </p:cNvPr>
          <p:cNvSpPr txBox="1"/>
          <p:nvPr/>
        </p:nvSpPr>
        <p:spPr>
          <a:xfrm>
            <a:off x="756447" y="1805216"/>
            <a:ext cx="126293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Digital-only Banking : Key Prerequisite</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244720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6B0A5-297B-F792-1E47-7A85FD2AFB3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F02C358-C88E-8A30-7159-D8896AC66862}"/>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FC2D0D63-D87A-62D1-4240-C73455C3C8AE}"/>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E38F2DF6-6211-1587-FA3C-113CB5CA6B3F}"/>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Digital-only Banking : Key Prerequisite</a:t>
            </a:r>
          </a:p>
        </p:txBody>
      </p:sp>
      <p:sp>
        <p:nvSpPr>
          <p:cNvPr id="9" name="Date Placeholder 8">
            <a:extLst>
              <a:ext uri="{FF2B5EF4-FFF2-40B4-BE49-F238E27FC236}">
                <a16:creationId xmlns:a16="http://schemas.microsoft.com/office/drawing/2014/main" id="{32D8A23A-E107-F743-ACB8-8F05C1CECA69}"/>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D7B9EDA8-A8C5-48C8-C522-6E185082BF9B}"/>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3B40C1E-4C3F-4C2A-BD4D-89D7CA506FCF}"/>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34</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F24BC987-9067-01FE-D621-7BEBCA699158}"/>
              </a:ext>
            </a:extLst>
          </p:cNvPr>
          <p:cNvSpPr txBox="1"/>
          <p:nvPr/>
        </p:nvSpPr>
        <p:spPr>
          <a:xfrm>
            <a:off x="757618" y="1790700"/>
            <a:ext cx="16773935" cy="4549835"/>
          </a:xfrm>
          <a:prstGeom prst="rect">
            <a:avLst/>
          </a:prstGeom>
          <a:noFill/>
        </p:spPr>
        <p:txBody>
          <a:bodyPr wrap="square" rtlCol="0">
            <a:spAutoFit/>
          </a:bodyPr>
          <a:lstStyle/>
          <a:p>
            <a:pPr marL="514350" indent="-514350">
              <a:lnSpc>
                <a:spcPct val="150000"/>
              </a:lnSpc>
              <a:buFont typeface="Wingdings" panose="05000000000000000000" pitchFamily="2" charset="2"/>
              <a:buChar char="§"/>
            </a:pPr>
            <a:r>
              <a:rPr lang="en-US" sz="2800" dirty="0"/>
              <a:t>Cloud availability and acceptance. Supporting regulation that allows operators to host banking systems on the cloud is essential. This opportunity is contingent on cloud providers having sufficient presence in a country or region to comply with relevant data sovereignty regulations</a:t>
            </a:r>
          </a:p>
          <a:p>
            <a:pPr marL="514350" indent="-514350">
              <a:lnSpc>
                <a:spcPct val="150000"/>
              </a:lnSpc>
              <a:buFont typeface="Wingdings" panose="05000000000000000000" pitchFamily="2" charset="2"/>
              <a:buChar char="§"/>
            </a:pPr>
            <a:endParaRPr lang="en-US" sz="2800" dirty="0"/>
          </a:p>
          <a:p>
            <a:pPr marL="514350" indent="-514350">
              <a:lnSpc>
                <a:spcPct val="150000"/>
              </a:lnSpc>
              <a:buFont typeface="Wingdings" panose="05000000000000000000" pitchFamily="2" charset="2"/>
              <a:buChar char="§"/>
            </a:pPr>
            <a:r>
              <a:rPr lang="en-US" sz="2800" dirty="0"/>
              <a:t>Technology adoption, and talent. Cloud adoption and the presence of technology talent are key enablers of growth for digital banks • National digital ID system. Presence of a national digital ID system can be a strong enabler through easing verification and KYC processes, further boosting transparency.</a:t>
            </a:r>
          </a:p>
        </p:txBody>
      </p:sp>
    </p:spTree>
    <p:extLst>
      <p:ext uri="{BB962C8B-B14F-4D97-AF65-F5344CB8AC3E}">
        <p14:creationId xmlns:p14="http://schemas.microsoft.com/office/powerpoint/2010/main" val="19471670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70888-5E90-FA73-AF02-697493FAC3E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2449828-3F1A-7816-2E4C-6D5296A13485}"/>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16A40774-98C8-D92A-4662-33FB8397D2F5}"/>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395457A2-59BF-1E44-E218-8191A036EB79}"/>
              </a:ext>
            </a:extLst>
          </p:cNvPr>
          <p:cNvSpPr txBox="1"/>
          <p:nvPr/>
        </p:nvSpPr>
        <p:spPr>
          <a:xfrm>
            <a:off x="990600" y="300719"/>
            <a:ext cx="16120542"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6 Imperatives for Successful Digital-only Bank (Boston Consulting Group)</a:t>
            </a:r>
          </a:p>
        </p:txBody>
      </p:sp>
      <p:sp>
        <p:nvSpPr>
          <p:cNvPr id="9" name="Date Placeholder 8">
            <a:extLst>
              <a:ext uri="{FF2B5EF4-FFF2-40B4-BE49-F238E27FC236}">
                <a16:creationId xmlns:a16="http://schemas.microsoft.com/office/drawing/2014/main" id="{413AC1E2-F7F6-B37D-DF87-A4A9A585B117}"/>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6091CFD8-A89E-AE41-37E7-16B454E368D3}"/>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D2E1FCE7-2FCB-3100-FCC2-5C8FD4028AB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35</a:t>
            </a:fld>
            <a:endParaRPr lang="en-US">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5CFB6506-6D22-93F2-4BA6-CB1DE032A4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447" y="1591980"/>
            <a:ext cx="16775105" cy="7810409"/>
          </a:xfrm>
          <a:prstGeom prst="rect">
            <a:avLst/>
          </a:prstGeom>
        </p:spPr>
      </p:pic>
    </p:spTree>
    <p:extLst>
      <p:ext uri="{BB962C8B-B14F-4D97-AF65-F5344CB8AC3E}">
        <p14:creationId xmlns:p14="http://schemas.microsoft.com/office/powerpoint/2010/main" val="24116472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A7429-8BE0-1CDC-FD27-A40F617BF540}"/>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B8E0E90F-796C-68B8-AC00-A322FEE696CC}"/>
              </a:ext>
            </a:extLst>
          </p:cNvPr>
          <p:cNvSpPr txBox="1"/>
          <p:nvPr/>
        </p:nvSpPr>
        <p:spPr>
          <a:xfrm>
            <a:off x="902113" y="0"/>
            <a:ext cx="6256973" cy="778868"/>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DIGITAL-ONLY BANKS</a:t>
            </a:r>
          </a:p>
        </p:txBody>
      </p:sp>
      <p:pic>
        <p:nvPicPr>
          <p:cNvPr id="14" name="Picture 13">
            <a:extLst>
              <a:ext uri="{FF2B5EF4-FFF2-40B4-BE49-F238E27FC236}">
                <a16:creationId xmlns:a16="http://schemas.microsoft.com/office/drawing/2014/main" id="{DB3D6793-1A4D-B651-5B3E-72BDEC5EAE6B}"/>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72CB7CB3-9CF3-A28C-E9E2-65B70E9005AD}"/>
              </a:ext>
            </a:extLst>
          </p:cNvPr>
          <p:cNvSpPr txBox="1"/>
          <p:nvPr/>
        </p:nvSpPr>
        <p:spPr>
          <a:xfrm>
            <a:off x="316056" y="2577931"/>
            <a:ext cx="7098887" cy="2857770"/>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Strategic</a:t>
            </a:r>
          </a:p>
          <a:p>
            <a:pPr marL="0" marR="0" lvl="0" indent="0" algn="ctr" defTabSz="457200" rtl="0" eaLnBrk="1" fontAlgn="auto" latinLnBrk="0" hangingPunct="1">
              <a:lnSpc>
                <a:spcPct val="150000"/>
              </a:lnSpc>
              <a:spcBef>
                <a:spcPts val="0"/>
              </a:spcBef>
              <a:spcAft>
                <a:spcPts val="0"/>
              </a:spcAft>
              <a:buClrTx/>
              <a:buSzTx/>
              <a:buFontTx/>
              <a:buNone/>
              <a:tabLst/>
              <a:defRPr/>
            </a:pPr>
            <a:r>
              <a:rPr lang="en-US" sz="66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Priorites</a:t>
            </a:r>
            <a:endPar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Tree>
    <p:extLst>
      <p:ext uri="{BB962C8B-B14F-4D97-AF65-F5344CB8AC3E}">
        <p14:creationId xmlns:p14="http://schemas.microsoft.com/office/powerpoint/2010/main" val="17013420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8B38E-20EB-3495-FF0E-AF8A739D38A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CB330C4-B64A-C159-837E-6CE7966101D6}"/>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D14608B1-47B9-A051-7DE9-D755B9CBEE03}"/>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8E8C89B-9FAE-085A-77B0-CF1EC5A9EEEA}"/>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Digital-only Banks (Neobanks)</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13C6806E-F5B7-D28A-3835-22C078CC3610}"/>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5E7E19F2-8615-CEAE-8831-73EFBDE70E2B}"/>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BD030ED-1318-ED4F-0A2A-AE44CB62BEF9}"/>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EB9FF32E-A21E-4506-269E-56E5B9833F2E}"/>
              </a:ext>
            </a:extLst>
          </p:cNvPr>
          <p:cNvSpPr txBox="1"/>
          <p:nvPr/>
        </p:nvSpPr>
        <p:spPr>
          <a:xfrm>
            <a:off x="756447" y="2644758"/>
            <a:ext cx="16775106" cy="663688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400" dirty="0"/>
              <a:t>A distinction must be made between basic services customers receive and services they want. All customers expect four basic services: transaction management, lending, savings, and financial guidance. What customers want today is a less tangible list of benefits, and simplicity in keeping track of their money is at the top of this list. Banks that make it easy tend to create customer loyalty.</a:t>
            </a:r>
          </a:p>
          <a:p>
            <a:pPr marL="514350" indent="-514350" algn="just">
              <a:lnSpc>
                <a:spcPct val="200000"/>
              </a:lnSpc>
              <a:buFont typeface="Wingdings" panose="05000000000000000000" pitchFamily="2" charset="2"/>
              <a:buChar char="§"/>
            </a:pPr>
            <a:r>
              <a:rPr lang="en-US" sz="2400" dirty="0"/>
              <a:t>Bankers have always thought that offering more services and opening more branches were the keys to success. However, customers want to be able to keep their complex money matters simple and close at hand.</a:t>
            </a:r>
          </a:p>
          <a:p>
            <a:pPr marL="514350" indent="-514350" algn="just">
              <a:lnSpc>
                <a:spcPct val="200000"/>
              </a:lnSpc>
              <a:buFont typeface="Wingdings" panose="05000000000000000000" pitchFamily="2" charset="2"/>
              <a:buChar char="§"/>
            </a:pPr>
            <a:r>
              <a:rPr lang="en-US" sz="2400" dirty="0"/>
              <a:t>A survey of 3,250 consumers and 1,350 merchants conducted in Indonesia, Malaysia, Singapore, Thailand and Vietnam found that lack of personalized advice (58%), high fees (45%) and an unattractive image (40%) are the top reasons for consumers to shift from traditional banks in Southeast Asia.</a:t>
            </a:r>
          </a:p>
        </p:txBody>
      </p:sp>
      <p:sp>
        <p:nvSpPr>
          <p:cNvPr id="4" name="TextBox 6">
            <a:extLst>
              <a:ext uri="{FF2B5EF4-FFF2-40B4-BE49-F238E27FC236}">
                <a16:creationId xmlns:a16="http://schemas.microsoft.com/office/drawing/2014/main" id="{34171674-BCE8-F971-E403-99813B0B6DD8}"/>
              </a:ext>
            </a:extLst>
          </p:cNvPr>
          <p:cNvSpPr txBox="1"/>
          <p:nvPr/>
        </p:nvSpPr>
        <p:spPr>
          <a:xfrm>
            <a:off x="756447" y="1805216"/>
            <a:ext cx="126293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What Banking Customers Want</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54233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586B8-7B62-54F7-7F82-07724FB179F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4D91EF1-951A-DBBD-CEAE-ECC3144EB09A}"/>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013A639D-041C-06EA-28A2-4032344D7AC5}"/>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AA8D57BE-97D6-93EF-463B-024E78ED2774}"/>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What Banking Customers Want</a:t>
            </a:r>
          </a:p>
        </p:txBody>
      </p:sp>
      <p:sp>
        <p:nvSpPr>
          <p:cNvPr id="9" name="Date Placeholder 8">
            <a:extLst>
              <a:ext uri="{FF2B5EF4-FFF2-40B4-BE49-F238E27FC236}">
                <a16:creationId xmlns:a16="http://schemas.microsoft.com/office/drawing/2014/main" id="{CF1A59D0-218B-D04B-77F2-F78966D787B3}"/>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3D38DB95-FCA3-2FF9-7210-82235A502BEA}"/>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BA9EE0B3-B174-8B10-6EE3-D6AE083D551C}"/>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38</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03AD199B-6E2F-E695-1A30-3D1236C3497C}"/>
              </a:ext>
            </a:extLst>
          </p:cNvPr>
          <p:cNvSpPr txBox="1"/>
          <p:nvPr/>
        </p:nvSpPr>
        <p:spPr>
          <a:xfrm>
            <a:off x="757618" y="1790700"/>
            <a:ext cx="16773935" cy="3903504"/>
          </a:xfrm>
          <a:prstGeom prst="rect">
            <a:avLst/>
          </a:prstGeom>
          <a:noFill/>
        </p:spPr>
        <p:txBody>
          <a:bodyPr wrap="square" rtlCol="0">
            <a:spAutoFit/>
          </a:bodyPr>
          <a:lstStyle/>
          <a:p>
            <a:pPr marL="514350" indent="-514350">
              <a:lnSpc>
                <a:spcPct val="150000"/>
              </a:lnSpc>
              <a:buFont typeface="Wingdings" panose="05000000000000000000" pitchFamily="2" charset="2"/>
              <a:buChar char="§"/>
            </a:pPr>
            <a:r>
              <a:rPr lang="en-US" sz="2800" dirty="0"/>
              <a:t>Data is the foundation for personalized intelligence, with advanced analytics on transaction, customer, and other data types allowing digital banks to build understanding of customer desires and expectations. Features can be adapted to deliver personalized services based on this data, ensuring that customers are served with hyper-relevant content, products, and offers</a:t>
            </a:r>
          </a:p>
          <a:p>
            <a:pPr marL="514350" indent="-514350">
              <a:lnSpc>
                <a:spcPct val="150000"/>
              </a:lnSpc>
              <a:buFont typeface="Wingdings" panose="05000000000000000000" pitchFamily="2" charset="2"/>
              <a:buChar char="§"/>
            </a:pPr>
            <a:r>
              <a:rPr lang="en-US" sz="2800" dirty="0"/>
              <a:t>A data-driven platform then offers a personalized user experience, with intuitive interface that provide both positive engagement and simple ease of use, alongside an adaptive approach that builds insight from data.</a:t>
            </a:r>
          </a:p>
        </p:txBody>
      </p:sp>
    </p:spTree>
    <p:extLst>
      <p:ext uri="{BB962C8B-B14F-4D97-AF65-F5344CB8AC3E}">
        <p14:creationId xmlns:p14="http://schemas.microsoft.com/office/powerpoint/2010/main" val="30165053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78C24-0FD7-583B-3F55-0E3EF99BC2E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52C9DC5-BAC3-D822-B54B-1F5C9282316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CAB69825-633E-925A-3611-AB0F0DF8477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671AE9F6-B740-F7B3-AF05-D29D8C74BE00}"/>
              </a:ext>
            </a:extLst>
          </p:cNvPr>
          <p:cNvSpPr txBox="1"/>
          <p:nvPr/>
        </p:nvSpPr>
        <p:spPr>
          <a:xfrm>
            <a:off x="990600" y="300719"/>
            <a:ext cx="111506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Digital-only Banks Benefits (according to users)</a:t>
            </a:r>
          </a:p>
        </p:txBody>
      </p:sp>
      <p:sp>
        <p:nvSpPr>
          <p:cNvPr id="9" name="Date Placeholder 8">
            <a:extLst>
              <a:ext uri="{FF2B5EF4-FFF2-40B4-BE49-F238E27FC236}">
                <a16:creationId xmlns:a16="http://schemas.microsoft.com/office/drawing/2014/main" id="{D8DE43A6-5D9C-A38C-B621-FA4DB22AFD10}"/>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ED016A4D-9D40-7FAC-87C8-25EF070DB84F}"/>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69B35FA-2670-B2E7-E254-66BD6FF35E22}"/>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39</a:t>
            </a:fld>
            <a:endParaRPr lang="en-US">
              <a:latin typeface="Segoe UI" panose="020B0502040204020203" pitchFamily="34" charset="0"/>
              <a:cs typeface="Segoe UI" panose="020B0502040204020203" pitchFamily="34" charset="0"/>
            </a:endParaRPr>
          </a:p>
        </p:txBody>
      </p:sp>
      <p:pic>
        <p:nvPicPr>
          <p:cNvPr id="8" name="Picture 7">
            <a:extLst>
              <a:ext uri="{FF2B5EF4-FFF2-40B4-BE49-F238E27FC236}">
                <a16:creationId xmlns:a16="http://schemas.microsoft.com/office/drawing/2014/main" id="{2D334FA2-2E3B-11C5-DCA8-35250B1255F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56447" y="1591980"/>
            <a:ext cx="16775106" cy="7810409"/>
          </a:xfrm>
          <a:prstGeom prst="rect">
            <a:avLst/>
          </a:prstGeom>
        </p:spPr>
      </p:pic>
    </p:spTree>
    <p:extLst>
      <p:ext uri="{BB962C8B-B14F-4D97-AF65-F5344CB8AC3E}">
        <p14:creationId xmlns:p14="http://schemas.microsoft.com/office/powerpoint/2010/main" val="32525409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D913F-E7A5-89E5-3A90-94837677212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05B0B95-040E-08A5-6360-0A9F54A15055}"/>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BAFEB75E-1571-D276-673C-4395442C4B5E}"/>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AA2CB39-C02D-CC9D-2DCF-6E715C0E150D}"/>
              </a:ext>
            </a:extLst>
          </p:cNvPr>
          <p:cNvSpPr txBox="1"/>
          <p:nvPr/>
        </p:nvSpPr>
        <p:spPr>
          <a:xfrm>
            <a:off x="990600" y="300719"/>
            <a:ext cx="111506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What Banking Customers Want.</a:t>
            </a:r>
          </a:p>
        </p:txBody>
      </p:sp>
      <p:sp>
        <p:nvSpPr>
          <p:cNvPr id="9" name="Date Placeholder 8">
            <a:extLst>
              <a:ext uri="{FF2B5EF4-FFF2-40B4-BE49-F238E27FC236}">
                <a16:creationId xmlns:a16="http://schemas.microsoft.com/office/drawing/2014/main" id="{83A0C569-FA58-A9EC-F346-7567625AE24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B3D80181-C049-62DA-0FB9-3493AE519461}"/>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41A1135-68FD-F783-C01D-39BA438350C6}"/>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40</a:t>
            </a:fld>
            <a:endParaRPr lang="en-US">
              <a:latin typeface="Segoe UI" panose="020B0502040204020203" pitchFamily="34" charset="0"/>
              <a:cs typeface="Segoe UI" panose="020B0502040204020203" pitchFamily="34" charset="0"/>
            </a:endParaRPr>
          </a:p>
        </p:txBody>
      </p:sp>
      <p:pic>
        <p:nvPicPr>
          <p:cNvPr id="4" name="Picture 3">
            <a:extLst>
              <a:ext uri="{FF2B5EF4-FFF2-40B4-BE49-F238E27FC236}">
                <a16:creationId xmlns:a16="http://schemas.microsoft.com/office/drawing/2014/main" id="{CAA92AB4-C6C7-EDD0-C522-7FA5E152603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56447" y="1591980"/>
            <a:ext cx="16775106" cy="7810409"/>
          </a:xfrm>
          <a:prstGeom prst="rect">
            <a:avLst/>
          </a:prstGeom>
        </p:spPr>
      </p:pic>
    </p:spTree>
    <p:extLst>
      <p:ext uri="{BB962C8B-B14F-4D97-AF65-F5344CB8AC3E}">
        <p14:creationId xmlns:p14="http://schemas.microsoft.com/office/powerpoint/2010/main" val="26745354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0D301-A98D-4D6B-357A-72C3E633D44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88844AD-182A-D16E-A6D5-9A8D604C27BD}"/>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00D21BE-D8DB-22C5-652A-BEDE87343F1A}"/>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BA51069E-C57F-5CDD-137A-56645BC5ECF9}"/>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Digital-only Banks (Neobanks)</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3FA0C4A7-33FA-3FF8-D4C7-64C5BAE7A5E0}"/>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CF7AB21B-9F2D-5377-AA1D-DDCC9A3B750B}"/>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6D633C9F-9F2B-01A4-9B55-CD3C01E40D8C}"/>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41</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E784DAC5-F8E6-4B5B-227A-3B30591BCF3A}"/>
              </a:ext>
            </a:extLst>
          </p:cNvPr>
          <p:cNvSpPr txBox="1"/>
          <p:nvPr/>
        </p:nvSpPr>
        <p:spPr>
          <a:xfrm>
            <a:off x="756447" y="2644758"/>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b="1" dirty="0"/>
              <a:t>Attract customers:</a:t>
            </a:r>
          </a:p>
          <a:p>
            <a:pPr marL="971550" lvl="1" indent="-514350" algn="just">
              <a:lnSpc>
                <a:spcPct val="200000"/>
              </a:lnSpc>
              <a:buFont typeface="Wingdings" panose="05000000000000000000" pitchFamily="2" charset="2"/>
              <a:buChar char="§"/>
            </a:pPr>
            <a:r>
              <a:rPr lang="en-US" sz="2800" dirty="0"/>
              <a:t>As these banks are still in their infancy, they face very low levels of consumer awareness</a:t>
            </a:r>
          </a:p>
          <a:p>
            <a:pPr marL="971550" lvl="1" indent="-514350" algn="just">
              <a:lnSpc>
                <a:spcPct val="200000"/>
              </a:lnSpc>
              <a:buFont typeface="Wingdings" panose="05000000000000000000" pitchFamily="2" charset="2"/>
              <a:buChar char="§"/>
            </a:pPr>
            <a:r>
              <a:rPr lang="en-US" sz="2800" dirty="0"/>
              <a:t>These banks recognize the importance of building functionally rich propositions. Given that the main high street banks have their own digital capabilities, the digital-only banks must prove their offer is sophisticated enough for customers to start using their products. Critically, the proposition must be more than a better app.</a:t>
            </a:r>
          </a:p>
          <a:p>
            <a:pPr marL="971550" lvl="1" indent="-514350" algn="just">
              <a:lnSpc>
                <a:spcPct val="200000"/>
              </a:lnSpc>
              <a:buFont typeface="Wingdings" panose="05000000000000000000" pitchFamily="2" charset="2"/>
              <a:buChar char="§"/>
            </a:pPr>
            <a:r>
              <a:rPr lang="en-US" sz="2800" dirty="0"/>
              <a:t>Leveraging community will also be critical for these banks as they aim to capitalize on the compelling benefits of the network effect of satisfying users in the social media age.</a:t>
            </a:r>
          </a:p>
        </p:txBody>
      </p:sp>
      <p:sp>
        <p:nvSpPr>
          <p:cNvPr id="4" name="TextBox 6">
            <a:extLst>
              <a:ext uri="{FF2B5EF4-FFF2-40B4-BE49-F238E27FC236}">
                <a16:creationId xmlns:a16="http://schemas.microsoft.com/office/drawing/2014/main" id="{E11FBEB3-E42A-77EF-0517-12E0294862A5}"/>
              </a:ext>
            </a:extLst>
          </p:cNvPr>
          <p:cNvSpPr txBox="1"/>
          <p:nvPr/>
        </p:nvSpPr>
        <p:spPr>
          <a:xfrm>
            <a:off x="756447" y="1805216"/>
            <a:ext cx="126293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Digital-only Banks – Strategic Priorities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793291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023AA-EC0E-F2F2-B37F-F9C5EB27CAA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9794A96-9B41-787E-A100-72D1313C683C}"/>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F76DAC10-EAE8-58B2-4241-35CE4E5CB40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2AD36316-305A-7E11-FE52-7DBFEB7B6133}"/>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Digital-only Banks (Neobanks)</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40872C24-30DB-64CB-1DA3-5A326FC6484C}"/>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E148BAB4-EA10-A5D0-F3BE-E413C7F2B8B9}"/>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0639C128-5222-E9D8-CB00-ABA003440D3F}"/>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42</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1183C2B0-E697-B161-0470-D87AE3E4BAE7}"/>
              </a:ext>
            </a:extLst>
          </p:cNvPr>
          <p:cNvSpPr txBox="1"/>
          <p:nvPr/>
        </p:nvSpPr>
        <p:spPr>
          <a:xfrm>
            <a:off x="756447" y="2644758"/>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b="1" dirty="0"/>
              <a:t>Differentiate from the other digital players and the high street banks who are digitizing fast:</a:t>
            </a:r>
          </a:p>
          <a:p>
            <a:pPr marL="971550" lvl="1" indent="-514350" algn="just">
              <a:lnSpc>
                <a:spcPct val="200000"/>
              </a:lnSpc>
              <a:buFont typeface="Wingdings" panose="05000000000000000000" pitchFamily="2" charset="2"/>
              <a:buChar char="§"/>
            </a:pPr>
            <a:r>
              <a:rPr lang="en-US" sz="2800" dirty="0"/>
              <a:t>A steady stream of new digital-only banks are entering the market, most of which are perceived as offering similar, if not identical services.</a:t>
            </a:r>
          </a:p>
          <a:p>
            <a:pPr marL="971550" lvl="1" indent="-514350" algn="just">
              <a:lnSpc>
                <a:spcPct val="200000"/>
              </a:lnSpc>
              <a:buFont typeface="Wingdings" panose="05000000000000000000" pitchFamily="2" charset="2"/>
              <a:buChar char="§"/>
            </a:pPr>
            <a:r>
              <a:rPr lang="en-US" sz="2800" dirty="0"/>
              <a:t>Without clear differentiation, it will be difficult for any single bank to corner enough of the (still limited) market of customers seeking digital-only propositions.</a:t>
            </a:r>
          </a:p>
        </p:txBody>
      </p:sp>
      <p:sp>
        <p:nvSpPr>
          <p:cNvPr id="4" name="TextBox 6">
            <a:extLst>
              <a:ext uri="{FF2B5EF4-FFF2-40B4-BE49-F238E27FC236}">
                <a16:creationId xmlns:a16="http://schemas.microsoft.com/office/drawing/2014/main" id="{B58A31E9-E299-FE70-2528-EA50E79A700B}"/>
              </a:ext>
            </a:extLst>
          </p:cNvPr>
          <p:cNvSpPr txBox="1"/>
          <p:nvPr/>
        </p:nvSpPr>
        <p:spPr>
          <a:xfrm>
            <a:off x="756447" y="1805216"/>
            <a:ext cx="126293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Digital-only Banks – Strategic Priorities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898343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fade">
                                      <p:cBhvr>
                                        <p:cTn id="1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080BC-994B-2EEC-F0D3-281EF7113D6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C83F2B9-E0FD-2317-1FE1-F42681982B0D}"/>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EF97AE4-D572-125E-DD2F-3A876A04C08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0AF38BD8-0121-9923-618B-E42C392E400D}"/>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Digital-only Banks (Neobanks)</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46A86BCB-A0D8-1BE7-1F27-B9D76A30CEB7}"/>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1B588557-DC02-4547-47EC-1292726E5190}"/>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B4A0D75-1AA6-890D-FAD1-0B0D3FAFE647}"/>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43</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97FDBA0B-A264-7A3A-9ABA-47625433268B}"/>
              </a:ext>
            </a:extLst>
          </p:cNvPr>
          <p:cNvSpPr txBox="1"/>
          <p:nvPr/>
        </p:nvSpPr>
        <p:spPr>
          <a:xfrm>
            <a:off x="756447" y="2644758"/>
            <a:ext cx="16775106" cy="454400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b="1" dirty="0"/>
              <a:t>Expand profitably:</a:t>
            </a:r>
          </a:p>
          <a:p>
            <a:pPr marL="971550" lvl="1" indent="-514350" algn="just">
              <a:lnSpc>
                <a:spcPct val="200000"/>
              </a:lnSpc>
              <a:buFont typeface="Wingdings" panose="05000000000000000000" pitchFamily="2" charset="2"/>
              <a:buChar char="§"/>
            </a:pPr>
            <a:r>
              <a:rPr lang="en-US" sz="2400" dirty="0"/>
              <a:t>While the digital-only banks have low cost bases, profitability is tough given small customer numbers; all the more so, since their customers tend to be younger, multi-banked and, for the time being, less financially mature.</a:t>
            </a:r>
          </a:p>
          <a:p>
            <a:pPr marL="971550" lvl="1" indent="-514350" algn="just">
              <a:lnSpc>
                <a:spcPct val="200000"/>
              </a:lnSpc>
              <a:buFont typeface="Wingdings" panose="05000000000000000000" pitchFamily="2" charset="2"/>
              <a:buChar char="§"/>
            </a:pPr>
            <a:r>
              <a:rPr lang="en-US" sz="2400" dirty="0"/>
              <a:t>Investors in digital-only banks understand that these ventures won’t turn a profit overnight, but pressure will mount.</a:t>
            </a:r>
          </a:p>
          <a:p>
            <a:pPr marL="971550" lvl="1" indent="-514350" algn="just">
              <a:lnSpc>
                <a:spcPct val="200000"/>
              </a:lnSpc>
              <a:buFont typeface="Wingdings" panose="05000000000000000000" pitchFamily="2" charset="2"/>
              <a:buChar char="§"/>
            </a:pPr>
            <a:r>
              <a:rPr lang="en-US" sz="2400" dirty="0"/>
              <a:t>The flexibility and location independence of their business models mean these banks are able to consider expansion into other geographies – provided customer needs are sufficiently similar and they can obtain local regulatory approvals.</a:t>
            </a:r>
          </a:p>
        </p:txBody>
      </p:sp>
      <p:sp>
        <p:nvSpPr>
          <p:cNvPr id="4" name="TextBox 6">
            <a:extLst>
              <a:ext uri="{FF2B5EF4-FFF2-40B4-BE49-F238E27FC236}">
                <a16:creationId xmlns:a16="http://schemas.microsoft.com/office/drawing/2014/main" id="{9B2A91FF-2B0D-8E7B-921E-F04CDEB36A0C}"/>
              </a:ext>
            </a:extLst>
          </p:cNvPr>
          <p:cNvSpPr txBox="1"/>
          <p:nvPr/>
        </p:nvSpPr>
        <p:spPr>
          <a:xfrm>
            <a:off x="756447" y="1805216"/>
            <a:ext cx="126293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Digital-only Banks – Strategic Priorities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617339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fade">
                                      <p:cBhvr>
                                        <p:cTn id="22"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96CED-9BB5-B43C-F147-94B7877CE75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5F63572-ACBD-65B4-E177-F886190C21AA}"/>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12CEF479-BC0D-257F-D570-2B53C2203598}"/>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A45D80BE-BE9A-8C81-92C6-F3EB90A9D835}"/>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Digital-only Banks – Strategic Priorities</a:t>
            </a:r>
          </a:p>
        </p:txBody>
      </p:sp>
      <p:sp>
        <p:nvSpPr>
          <p:cNvPr id="9" name="Date Placeholder 8">
            <a:extLst>
              <a:ext uri="{FF2B5EF4-FFF2-40B4-BE49-F238E27FC236}">
                <a16:creationId xmlns:a16="http://schemas.microsoft.com/office/drawing/2014/main" id="{70895793-7AB0-8C21-0B97-5184DF477997}"/>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2E375B71-ADC1-D339-02DB-9F99F41D440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C582A7F-CAEF-F06F-E658-63F8BB948A7F}"/>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44</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2C8CD0C3-4BE5-9098-6D68-1DB19A06CA7B}"/>
              </a:ext>
            </a:extLst>
          </p:cNvPr>
          <p:cNvSpPr txBox="1"/>
          <p:nvPr/>
        </p:nvSpPr>
        <p:spPr>
          <a:xfrm>
            <a:off x="757618" y="1790700"/>
            <a:ext cx="16773935" cy="7781489"/>
          </a:xfrm>
          <a:prstGeom prst="rect">
            <a:avLst/>
          </a:prstGeom>
          <a:noFill/>
        </p:spPr>
        <p:txBody>
          <a:bodyPr wrap="square" rtlCol="0">
            <a:spAutoFit/>
          </a:bodyPr>
          <a:lstStyle/>
          <a:p>
            <a:pPr marL="514350" indent="-514350">
              <a:lnSpc>
                <a:spcPct val="150000"/>
              </a:lnSpc>
              <a:buFont typeface="Wingdings" panose="05000000000000000000" pitchFamily="2" charset="2"/>
              <a:buChar char="§"/>
            </a:pPr>
            <a:r>
              <a:rPr lang="en-US" sz="2800" dirty="0"/>
              <a:t>One of the ways neobanks have been able to attract customers is through the promise of lower fees. Because they do not have to pay the costs of running physical branches, they are able to offer services for free that more established institutions charge for, such as withdrawing money in a foreign currency. However, while neobanks are low-cost, they are also low-earning.</a:t>
            </a:r>
          </a:p>
          <a:p>
            <a:pPr marL="514350" indent="-514350">
              <a:lnSpc>
                <a:spcPct val="150000"/>
              </a:lnSpc>
              <a:buFont typeface="Wingdings" panose="05000000000000000000" pitchFamily="2" charset="2"/>
              <a:buChar char="§"/>
            </a:pPr>
            <a:r>
              <a:rPr lang="en-US" sz="2800" dirty="0"/>
              <a:t>“Profitability is an issue, because these banks are offering their services below cost to attract new members,” “This is especially true if they are doing no-fee and no-mark-up international money transfers.</a:t>
            </a:r>
          </a:p>
          <a:p>
            <a:pPr marL="514350" indent="-514350">
              <a:lnSpc>
                <a:spcPct val="150000"/>
              </a:lnSpc>
              <a:buFont typeface="Wingdings" panose="05000000000000000000" pitchFamily="2" charset="2"/>
              <a:buChar char="§"/>
            </a:pPr>
            <a:r>
              <a:rPr lang="en-US" sz="2800" dirty="0"/>
              <a:t>The profit problem is perhaps best exemplified by the fact that earlier this year (2018), Revolut claimed the distinction of being the first challenger bank to break even on a monthly basis. Revolut CEO Nik </a:t>
            </a:r>
            <a:r>
              <a:rPr lang="en-US" sz="2800" dirty="0" err="1"/>
              <a:t>Storonsky</a:t>
            </a:r>
            <a:r>
              <a:rPr lang="en-US" sz="2800" dirty="0"/>
              <a:t> said that his fintech has been profitable since 2021.</a:t>
            </a:r>
          </a:p>
          <a:p>
            <a:pPr marL="514350" indent="-514350">
              <a:lnSpc>
                <a:spcPct val="150000"/>
              </a:lnSpc>
              <a:buFont typeface="Wingdings" panose="05000000000000000000" pitchFamily="2" charset="2"/>
              <a:buChar char="§"/>
            </a:pPr>
            <a:r>
              <a:rPr lang="en-US" sz="2800" dirty="0"/>
              <a:t>UK digital-only bank Monzo experienced record revenue growth in 2022, setting it on course to achieve annual profitability by the end of 2023. </a:t>
            </a:r>
            <a:r>
              <a:rPr lang="en-US" sz="2800" dirty="0" err="1"/>
              <a:t>Annualised</a:t>
            </a:r>
            <a:r>
              <a:rPr lang="en-US" sz="2800" dirty="0"/>
              <a:t> revenues shot up 250% to £440m in the twelve months to December 2022.</a:t>
            </a:r>
          </a:p>
        </p:txBody>
      </p:sp>
    </p:spTree>
    <p:extLst>
      <p:ext uri="{BB962C8B-B14F-4D97-AF65-F5344CB8AC3E}">
        <p14:creationId xmlns:p14="http://schemas.microsoft.com/office/powerpoint/2010/main" val="269646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B32BE-404C-2BE3-41C3-A124295E92D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8DC06CE-1877-A867-88FC-5BBE235214F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94F4B995-F03F-87F1-1342-1DA439686CBE}"/>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372B906B-DECE-8C0D-2561-63573E532BFB}"/>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Digital-only Banks – Strategic Priorities</a:t>
            </a:r>
          </a:p>
        </p:txBody>
      </p:sp>
      <p:sp>
        <p:nvSpPr>
          <p:cNvPr id="9" name="Date Placeholder 8">
            <a:extLst>
              <a:ext uri="{FF2B5EF4-FFF2-40B4-BE49-F238E27FC236}">
                <a16:creationId xmlns:a16="http://schemas.microsoft.com/office/drawing/2014/main" id="{AA0198F4-22B9-4DCE-2C41-484809CD5A7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32EAAAB9-A0FD-AE0A-79B4-86A97E1BE6F0}"/>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BF4B5D2E-4F3E-6EC6-385F-03330689E887}"/>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45</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1C3E3D17-00DA-0E12-64F4-8210CCA9223F}"/>
              </a:ext>
            </a:extLst>
          </p:cNvPr>
          <p:cNvSpPr txBox="1"/>
          <p:nvPr/>
        </p:nvSpPr>
        <p:spPr>
          <a:xfrm>
            <a:off x="757618" y="1790700"/>
            <a:ext cx="16773935" cy="6129050"/>
          </a:xfrm>
          <a:prstGeom prst="rect">
            <a:avLst/>
          </a:prstGeom>
          <a:noFill/>
        </p:spPr>
        <p:txBody>
          <a:bodyPr wrap="square" rtlCol="0">
            <a:spAutoFit/>
          </a:bodyPr>
          <a:lstStyle/>
          <a:p>
            <a:pPr marL="514350" indent="-514350">
              <a:lnSpc>
                <a:spcPct val="150000"/>
              </a:lnSpc>
              <a:buFont typeface="Wingdings" panose="05000000000000000000" pitchFamily="2" charset="2"/>
              <a:buChar char="§"/>
            </a:pPr>
            <a:r>
              <a:rPr lang="en-US" sz="2400" dirty="0"/>
              <a:t>Starling became the first European neobank to hit annual profitability in July 2022, after revenue grew 93% thanks to a surge in lending.</a:t>
            </a:r>
          </a:p>
          <a:p>
            <a:pPr marL="514350" indent="-514350">
              <a:lnSpc>
                <a:spcPct val="150000"/>
              </a:lnSpc>
              <a:buFont typeface="Wingdings" panose="05000000000000000000" pitchFamily="2" charset="2"/>
              <a:buChar char="§"/>
            </a:pPr>
            <a:r>
              <a:rPr lang="en-US" sz="2400" dirty="0"/>
              <a:t>Neobanks need to pivot their strategies to adapt and focus on generating profits in a harsher-looking H2 2022 / 2023. Venture capitalists are pressuring their portfolio companies to push toward profitability as the economic outlook becomes more uncertain. Berlin-based N26 has been refocusing its resources on core European markets after high-profile exits from the U.S. and U.K.</a:t>
            </a:r>
          </a:p>
          <a:p>
            <a:pPr marL="514350" indent="-514350">
              <a:lnSpc>
                <a:spcPct val="150000"/>
              </a:lnSpc>
              <a:buFont typeface="Wingdings" panose="05000000000000000000" pitchFamily="2" charset="2"/>
              <a:buChar char="§"/>
            </a:pPr>
            <a:r>
              <a:rPr lang="en-US" sz="2400" dirty="0"/>
              <a:t>Lower costs: Varo is finding out the hard way that high overhead costs that exceed revenues aren’t sustainable. One problem is that customer acquisition costs have generally risen for neobanks due to incumbents improving their digital offerings, and the market has become more saturated.</a:t>
            </a:r>
          </a:p>
          <a:p>
            <a:pPr marL="514350" indent="-514350">
              <a:lnSpc>
                <a:spcPct val="150000"/>
              </a:lnSpc>
              <a:buFont typeface="Wingdings" panose="05000000000000000000" pitchFamily="2" charset="2"/>
              <a:buChar char="§"/>
            </a:pPr>
            <a:r>
              <a:rPr lang="en-US" sz="2400" dirty="0"/>
              <a:t>Shift to more profitable products: Focusing on higher-profit products and dropping less lucrative ones will be important as newer entrants’ strategies shift away from merely attracting customers. Starling’s decision to focus on software as a service (SaaS) and mortgage lending, rather than European expansion, is one example of this kind of pivot.</a:t>
            </a:r>
          </a:p>
        </p:txBody>
      </p:sp>
    </p:spTree>
    <p:extLst>
      <p:ext uri="{BB962C8B-B14F-4D97-AF65-F5344CB8AC3E}">
        <p14:creationId xmlns:p14="http://schemas.microsoft.com/office/powerpoint/2010/main" val="37224605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67970-287D-649B-CCA8-9E12BDB39B7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AEC175A-FCC4-9559-1260-6BBF6D52613A}"/>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478CC271-C7CB-DF10-4304-B0D9511E0C58}"/>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124D1D1D-D23D-C6CF-3D73-84517D0F1E7E}"/>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Digital-only Banks – Strategic Priorities</a:t>
            </a:r>
          </a:p>
        </p:txBody>
      </p:sp>
      <p:sp>
        <p:nvSpPr>
          <p:cNvPr id="9" name="Date Placeholder 8">
            <a:extLst>
              <a:ext uri="{FF2B5EF4-FFF2-40B4-BE49-F238E27FC236}">
                <a16:creationId xmlns:a16="http://schemas.microsoft.com/office/drawing/2014/main" id="{339FA00F-8760-65EB-328C-A2D281D5C184}"/>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05189891-AFCD-F6F1-595F-F798AC1C02D8}"/>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B603E7FA-CA4B-68D3-EDB7-B796FC6C1748}"/>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46</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BAF52DD3-4EFE-00C5-EE99-7FAA5CD76F1D}"/>
              </a:ext>
            </a:extLst>
          </p:cNvPr>
          <p:cNvSpPr txBox="1"/>
          <p:nvPr/>
        </p:nvSpPr>
        <p:spPr>
          <a:xfrm>
            <a:off x="757618" y="1790700"/>
            <a:ext cx="16773935" cy="6488828"/>
          </a:xfrm>
          <a:prstGeom prst="rect">
            <a:avLst/>
          </a:prstGeom>
          <a:noFill/>
        </p:spPr>
        <p:txBody>
          <a:bodyPr wrap="square" rtlCol="0">
            <a:spAutoFit/>
          </a:bodyPr>
          <a:lstStyle/>
          <a:p>
            <a:pPr marL="514350" indent="-514350">
              <a:lnSpc>
                <a:spcPct val="150000"/>
              </a:lnSpc>
              <a:buFont typeface="Wingdings" panose="05000000000000000000" pitchFamily="2" charset="2"/>
              <a:buChar char="§"/>
            </a:pPr>
            <a:r>
              <a:rPr lang="en-US" sz="2800" dirty="0"/>
              <a:t>Expanding features for paid tiers: Challenger banks can use new features to draw in paying customers. Monese has aimed to achieve this through its Essential tier, which charges lower fees for international transfers and foreign exchange conversions.</a:t>
            </a:r>
          </a:p>
          <a:p>
            <a:pPr marL="514350" indent="-514350">
              <a:lnSpc>
                <a:spcPct val="150000"/>
              </a:lnSpc>
              <a:buFont typeface="Wingdings" panose="05000000000000000000" pitchFamily="2" charset="2"/>
              <a:buChar char="§"/>
            </a:pPr>
            <a:r>
              <a:rPr lang="en-US" sz="2800" dirty="0"/>
              <a:t>If securities income is excluded, neobanks’ margin advantage fades. Overall, neobank returns appear weak, with only a few neobanks generating profits.</a:t>
            </a:r>
          </a:p>
          <a:p>
            <a:pPr marL="514350" indent="-514350">
              <a:lnSpc>
                <a:spcPct val="150000"/>
              </a:lnSpc>
              <a:buFont typeface="Wingdings" panose="05000000000000000000" pitchFamily="2" charset="2"/>
              <a:buChar char="§"/>
            </a:pPr>
            <a:r>
              <a:rPr lang="en-US" sz="2800" dirty="0"/>
              <a:t>Overall, emerging market neobanks tend to fare better than advanced economy neobanks. Emerging market neobanks display relatively lower liquidity risk than advanced economy neobanks with a stronger revenue profile and wider loan and fee margins. This seems to be related to life cycle factors (in light of the larger portion of “mature” neobanks in the emerging market subsample), but also to business models (given the relatively strong performance of Chinese neobanks).</a:t>
            </a:r>
          </a:p>
        </p:txBody>
      </p:sp>
    </p:spTree>
    <p:extLst>
      <p:ext uri="{BB962C8B-B14F-4D97-AF65-F5344CB8AC3E}">
        <p14:creationId xmlns:p14="http://schemas.microsoft.com/office/powerpoint/2010/main" val="9805239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9497B-49F4-2686-8315-446E0B70131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F70CFCA-3B93-8D67-35BE-C1BE68D3C273}"/>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BE4A96C2-A6A6-112F-D0A4-D8AA161C94F8}"/>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04D94499-D55F-5EF9-1493-B5EAE68ED554}"/>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Digital-only Banks – Strategic Priorities</a:t>
            </a:r>
          </a:p>
        </p:txBody>
      </p:sp>
      <p:sp>
        <p:nvSpPr>
          <p:cNvPr id="9" name="Date Placeholder 8">
            <a:extLst>
              <a:ext uri="{FF2B5EF4-FFF2-40B4-BE49-F238E27FC236}">
                <a16:creationId xmlns:a16="http://schemas.microsoft.com/office/drawing/2014/main" id="{DB2D027B-39C5-8EE5-CF06-27177F006517}"/>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C4994CFD-DA4C-7717-BF5C-B34DF0E154F8}"/>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5C9F2A6F-121E-5C33-985C-19F26CB2BFA9}"/>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47</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3DA19B86-348A-F2EF-596B-8D528B9C89C4}"/>
              </a:ext>
            </a:extLst>
          </p:cNvPr>
          <p:cNvSpPr txBox="1"/>
          <p:nvPr/>
        </p:nvSpPr>
        <p:spPr>
          <a:xfrm>
            <a:off x="757618" y="1790700"/>
            <a:ext cx="16773935" cy="1964512"/>
          </a:xfrm>
          <a:prstGeom prst="rect">
            <a:avLst/>
          </a:prstGeom>
          <a:noFill/>
        </p:spPr>
        <p:txBody>
          <a:bodyPr wrap="square" rtlCol="0">
            <a:spAutoFit/>
          </a:bodyPr>
          <a:lstStyle/>
          <a:p>
            <a:pPr marL="514350" indent="-514350">
              <a:lnSpc>
                <a:spcPct val="150000"/>
              </a:lnSpc>
              <a:buFont typeface="Wingdings" panose="05000000000000000000" pitchFamily="2" charset="2"/>
              <a:buChar char="§"/>
            </a:pPr>
            <a:r>
              <a:rPr lang="en-US" sz="2800" dirty="0"/>
              <a:t>The leaner funding climate favors more established companies and increases pressure on far-from-profitable neobanks, which may lose investors who question their long-term sustainability. If a neobank shakeout occurs in the coming years, the banks that can adapt to remain profitable are the ones that stand to survive</a:t>
            </a:r>
          </a:p>
        </p:txBody>
      </p:sp>
    </p:spTree>
    <p:extLst>
      <p:ext uri="{BB962C8B-B14F-4D97-AF65-F5344CB8AC3E}">
        <p14:creationId xmlns:p14="http://schemas.microsoft.com/office/powerpoint/2010/main" val="7928846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D436E-F7E1-F03A-11B8-549F1A1F33B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BB96870-C678-9DCA-E135-A605E6BF871D}"/>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E59862A6-6867-9068-AE3F-3CD7033F50E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6AF86E20-29B5-230F-215E-3AB1E084CD39}"/>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Digital-only Banks – Strategic Priorities</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EA89ED6A-0B59-DD4A-2F99-3B1A57044442}"/>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68777D88-BFE9-C18C-8748-4FEB24AC7033}"/>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3C19E4B5-961B-1B50-84BF-F6DB87137F71}"/>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48</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CAEE167C-5750-91B9-E3B5-FC04D1E67056}"/>
              </a:ext>
            </a:extLst>
          </p:cNvPr>
          <p:cNvSpPr txBox="1"/>
          <p:nvPr/>
        </p:nvSpPr>
        <p:spPr>
          <a:xfrm>
            <a:off x="756447" y="2644758"/>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Alternatively, neobanks can partner with financial firms that already possess regulatory approval in order to launch their products. This approach is not only quicker, it also grants them access to market and customer data that can be used to attract new clients.</a:t>
            </a:r>
          </a:p>
          <a:p>
            <a:pPr marL="514350" indent="-514350" algn="just">
              <a:lnSpc>
                <a:spcPct val="200000"/>
              </a:lnSpc>
              <a:buFont typeface="Wingdings" panose="05000000000000000000" pitchFamily="2" charset="2"/>
              <a:buChar char="§"/>
            </a:pPr>
            <a:r>
              <a:rPr lang="en-US" sz="2800" dirty="0"/>
              <a:t>Digital bank Revolut offers an example of an emerging digital bank driving growth through this proposition. Commission-free FX helped simplify travel and address an unmet need. Simple and fast on-boarding and free accounts were designed for frictionless user experience. Unique card branding and innovative cryptocurrency exchange offers a unique attraction for customers. An online community and daily banking needs added that element of interaction.</a:t>
            </a:r>
          </a:p>
        </p:txBody>
      </p:sp>
      <p:sp>
        <p:nvSpPr>
          <p:cNvPr id="4" name="TextBox 6">
            <a:extLst>
              <a:ext uri="{FF2B5EF4-FFF2-40B4-BE49-F238E27FC236}">
                <a16:creationId xmlns:a16="http://schemas.microsoft.com/office/drawing/2014/main" id="{FE2A8C40-A1DB-F5F0-ECDA-AD69A7BB9B33}"/>
              </a:ext>
            </a:extLst>
          </p:cNvPr>
          <p:cNvSpPr txBox="1"/>
          <p:nvPr/>
        </p:nvSpPr>
        <p:spPr>
          <a:xfrm>
            <a:off x="756447" y="1805216"/>
            <a:ext cx="126293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Strategic Partnerships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917271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25CD6-B688-BDBF-1B1E-CB932D3C62C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EC748FF-B149-28FC-AF82-21B9E80DBF45}"/>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F1027396-797A-17FE-786D-45C1CFE6D025}"/>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656E3616-8A24-E5CE-DCC3-9680699980AE}"/>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Digital-only Banks – Strategic Priorities</a:t>
            </a:r>
          </a:p>
        </p:txBody>
      </p:sp>
      <p:sp>
        <p:nvSpPr>
          <p:cNvPr id="9" name="Date Placeholder 8">
            <a:extLst>
              <a:ext uri="{FF2B5EF4-FFF2-40B4-BE49-F238E27FC236}">
                <a16:creationId xmlns:a16="http://schemas.microsoft.com/office/drawing/2014/main" id="{5AC7FE38-D338-CF55-1F63-4BC6B46181C5}"/>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DF1B7153-9CC1-0C9A-C2A6-93FDC6D628D9}"/>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9FD7224E-EE7C-8637-94FC-917016C3B224}"/>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49</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DB89E1C6-5A3D-E886-5A59-F2DDE8A9B3CB}"/>
              </a:ext>
            </a:extLst>
          </p:cNvPr>
          <p:cNvSpPr txBox="1"/>
          <p:nvPr/>
        </p:nvSpPr>
        <p:spPr>
          <a:xfrm>
            <a:off x="757618" y="1790700"/>
            <a:ext cx="16773935" cy="7135158"/>
          </a:xfrm>
          <a:prstGeom prst="rect">
            <a:avLst/>
          </a:prstGeom>
          <a:noFill/>
        </p:spPr>
        <p:txBody>
          <a:bodyPr wrap="square" rtlCol="0">
            <a:spAutoFit/>
          </a:bodyPr>
          <a:lstStyle/>
          <a:p>
            <a:pPr marL="514350" indent="-514350">
              <a:lnSpc>
                <a:spcPct val="150000"/>
              </a:lnSpc>
              <a:buFont typeface="Wingdings" panose="05000000000000000000" pitchFamily="2" charset="2"/>
              <a:buChar char="§"/>
            </a:pPr>
            <a:r>
              <a:rPr lang="en-US" sz="2800" dirty="0" err="1"/>
              <a:t>KakaoBank</a:t>
            </a:r>
            <a:r>
              <a:rPr lang="en-US" sz="2800" dirty="0"/>
              <a:t> and TMRW showcase two other digital banks employing customer experience as an important differentiator. Both banks seek to leverage the idea of customer obsession and engagement as a model to drive adoption.</a:t>
            </a:r>
          </a:p>
          <a:p>
            <a:pPr marL="514350" indent="-514350">
              <a:lnSpc>
                <a:spcPct val="150000"/>
              </a:lnSpc>
              <a:buFont typeface="Wingdings" panose="05000000000000000000" pitchFamily="2" charset="2"/>
              <a:buChar char="§"/>
            </a:pPr>
            <a:r>
              <a:rPr lang="en-US" sz="2800" dirty="0" err="1"/>
              <a:t>KakaoBank’s</a:t>
            </a:r>
            <a:r>
              <a:rPr lang="en-US" sz="2800" dirty="0"/>
              <a:t> Eat Lover Club and shared social payment account allows members to easily share and track funds, while also offering quirky reminder messages for outstanding transfers. TMRW utilizes PFM tools and smart savings, alongside a 24-hour chatbot, to ensure frictionless and customer focused functionality.</a:t>
            </a:r>
          </a:p>
          <a:p>
            <a:pPr marL="514350" indent="-514350">
              <a:lnSpc>
                <a:spcPct val="150000"/>
              </a:lnSpc>
              <a:buFont typeface="Wingdings" panose="05000000000000000000" pitchFamily="2" charset="2"/>
              <a:buChar char="§"/>
            </a:pPr>
            <a:r>
              <a:rPr lang="en-US" sz="2800" dirty="0"/>
              <a:t>Efforts to digitize banking services continue to grow, with the gap between retail banks and digital banks narrowing. The biggest differences remain in the functions offered and the customer experience, where neobanks stand out through innovation and their primarily digital customer relationships.</a:t>
            </a:r>
          </a:p>
          <a:p>
            <a:pPr marL="514350" indent="-514350">
              <a:lnSpc>
                <a:spcPct val="150000"/>
              </a:lnSpc>
              <a:buFont typeface="Wingdings" panose="05000000000000000000" pitchFamily="2" charset="2"/>
              <a:buChar char="§"/>
            </a:pPr>
            <a:r>
              <a:rPr lang="en-US" sz="2800" dirty="0"/>
              <a:t>Retail banks are catching up with digital banks and their hybrid services. Revolut remains unbeatable, according to the study authors with special functions such as time-limited bank cards and instant payments</a:t>
            </a:r>
          </a:p>
        </p:txBody>
      </p:sp>
    </p:spTree>
    <p:extLst>
      <p:ext uri="{BB962C8B-B14F-4D97-AF65-F5344CB8AC3E}">
        <p14:creationId xmlns:p14="http://schemas.microsoft.com/office/powerpoint/2010/main" val="42668094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F0C85-449B-CB9D-BC64-329A97BDC43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8680882-78AE-3192-5D61-E5C169A2A252}"/>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8950B30-F941-79C1-53F5-9F5019465E9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752932B3-F7FA-864F-DE76-9ABCEF956952}"/>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Digital-only Banks – Strategic Priorities</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9473024A-A57B-C8F3-E2D0-8B6698160DBD}"/>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ACAD34F6-38A2-46CC-F9A0-0F97909275F5}"/>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D6447814-14D6-AB6B-5AA1-B7CA54F61112}"/>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50</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7EB6D094-1F3C-2DB2-C320-13B72A7EEE08}"/>
              </a:ext>
            </a:extLst>
          </p:cNvPr>
          <p:cNvSpPr txBox="1"/>
          <p:nvPr/>
        </p:nvSpPr>
        <p:spPr>
          <a:xfrm>
            <a:off x="756447" y="2644758"/>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When it comes to social networks, 58 percent of the banks surveyed use </a:t>
            </a:r>
            <a:r>
              <a:rPr lang="en-US" sz="2800" dirty="0" err="1"/>
              <a:t>Linkedin</a:t>
            </a:r>
            <a:r>
              <a:rPr lang="en-US" sz="2800" dirty="0"/>
              <a:t>, while only 20 percent have an active Tik Tok account. Apparently, the aim is to appeal to professionals in a serious setting rather than to younger people in an unconventional setting.</a:t>
            </a:r>
          </a:p>
          <a:p>
            <a:pPr marL="514350" indent="-514350" algn="just">
              <a:lnSpc>
                <a:spcPct val="200000"/>
              </a:lnSpc>
              <a:buFont typeface="Wingdings" panose="05000000000000000000" pitchFamily="2" charset="2"/>
              <a:buChar char="§"/>
            </a:pPr>
            <a:r>
              <a:rPr lang="en-US" sz="2800" dirty="0"/>
              <a:t>Another difference is in the content disseminated. Where traditional banks emphasize their ESG (environmental, social and governance) products and CSR (corporate social responsibility) commitment, neo-banks are more likely to talk about new technologies and cryptocurrencies.</a:t>
            </a:r>
          </a:p>
        </p:txBody>
      </p:sp>
      <p:sp>
        <p:nvSpPr>
          <p:cNvPr id="4" name="TextBox 6">
            <a:extLst>
              <a:ext uri="{FF2B5EF4-FFF2-40B4-BE49-F238E27FC236}">
                <a16:creationId xmlns:a16="http://schemas.microsoft.com/office/drawing/2014/main" id="{C1F03F19-8803-ABB0-AA2C-67228AC45B8F}"/>
              </a:ext>
            </a:extLst>
          </p:cNvPr>
          <p:cNvSpPr txBox="1"/>
          <p:nvPr/>
        </p:nvSpPr>
        <p:spPr>
          <a:xfrm>
            <a:off x="756447" y="1805216"/>
            <a:ext cx="126293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Social Networks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400075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31E52-0ABE-6CA8-9DC6-8F03AB960471}"/>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FFDC0AF8-409D-813F-8C22-D5803A90334A}"/>
              </a:ext>
            </a:extLst>
          </p:cNvPr>
          <p:cNvSpPr txBox="1"/>
          <p:nvPr/>
        </p:nvSpPr>
        <p:spPr>
          <a:xfrm>
            <a:off x="902113" y="0"/>
            <a:ext cx="6256973" cy="1649683"/>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INTRODUCTION TO FINTECH</a:t>
            </a:r>
          </a:p>
        </p:txBody>
      </p:sp>
      <p:pic>
        <p:nvPicPr>
          <p:cNvPr id="14" name="Picture 13">
            <a:extLst>
              <a:ext uri="{FF2B5EF4-FFF2-40B4-BE49-F238E27FC236}">
                <a16:creationId xmlns:a16="http://schemas.microsoft.com/office/drawing/2014/main" id="{3728E9A8-64FC-24C9-0928-7DC6D6AD47ED}"/>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442FB0CB-7466-DDF0-40A7-20EEB514B614}"/>
              </a:ext>
            </a:extLst>
          </p:cNvPr>
          <p:cNvSpPr txBox="1"/>
          <p:nvPr/>
        </p:nvSpPr>
        <p:spPr>
          <a:xfrm>
            <a:off x="316056" y="2952868"/>
            <a:ext cx="7098887" cy="4381264"/>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Issues</a:t>
            </a:r>
          </a:p>
          <a:p>
            <a:pPr marL="0" marR="0" lvl="0" indent="0" algn="ctr" defTabSz="457200" rtl="0" eaLnBrk="1" fontAlgn="auto" latinLnBrk="0" hangingPunct="1">
              <a:lnSpc>
                <a:spcPct val="150000"/>
              </a:lnSpc>
              <a:spcBef>
                <a:spcPts val="0"/>
              </a:spcBef>
              <a:spcAft>
                <a:spcPts val="0"/>
              </a:spcAft>
              <a:buClrTx/>
              <a:buSzTx/>
              <a:buFontTx/>
              <a:buNone/>
              <a:tabLst/>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&amp;</a:t>
            </a:r>
          </a:p>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Challenges</a:t>
            </a:r>
          </a:p>
        </p:txBody>
      </p:sp>
    </p:spTree>
    <p:extLst>
      <p:ext uri="{BB962C8B-B14F-4D97-AF65-F5344CB8AC3E}">
        <p14:creationId xmlns:p14="http://schemas.microsoft.com/office/powerpoint/2010/main" val="40881256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A03C2-CB7F-78C7-5638-C326DF5E0C0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3DBDBBA-C74E-E35F-5013-9B1F6FFD27B6}"/>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2629683-1968-D5A0-81C4-5812F9763B73}"/>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3C7CBF25-26E8-CA38-F726-CB6A4BA1ABB1}"/>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Digital-only Banks (Neobanks)</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37AD6B45-C6FF-9780-329B-63E1C8833DD6}"/>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00C5E5F7-FEAA-6905-030A-D6CCF5EB98A7}"/>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3B57E5E8-2B13-BD98-D0F8-05D17C85DB3B}"/>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52</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014DB4AA-7A95-A13D-645F-790EB804B695}"/>
              </a:ext>
            </a:extLst>
          </p:cNvPr>
          <p:cNvSpPr txBox="1"/>
          <p:nvPr/>
        </p:nvSpPr>
        <p:spPr>
          <a:xfrm>
            <a:off x="756447" y="2644758"/>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Digital banking is an exciting and valuable emerging opportunity, but it is not without its risks.</a:t>
            </a:r>
          </a:p>
          <a:p>
            <a:pPr marL="514350" indent="-514350" algn="just">
              <a:lnSpc>
                <a:spcPct val="200000"/>
              </a:lnSpc>
              <a:buFont typeface="Wingdings" panose="05000000000000000000" pitchFamily="2" charset="2"/>
              <a:buChar char="§"/>
            </a:pPr>
            <a:r>
              <a:rPr lang="en-US" sz="2800" dirty="0"/>
              <a:t>Consumer protection is perhaps the most prominent of these challenges, particularly in light of the rapid evolution of the landscape.</a:t>
            </a:r>
          </a:p>
          <a:p>
            <a:pPr marL="514350" indent="-514350" algn="just">
              <a:lnSpc>
                <a:spcPct val="200000"/>
              </a:lnSpc>
              <a:buFont typeface="Wingdings" panose="05000000000000000000" pitchFamily="2" charset="2"/>
              <a:buChar char="§"/>
            </a:pPr>
            <a:r>
              <a:rPr lang="en-US" sz="2800" dirty="0"/>
              <a:t>Financial regulations on fintech players tend to be less restrictive than on the heavily regulated established institutions. Many founders come from non-banking backgrounds, and may not fully understand the market risks. Fintech customers also disproportionately belong to previously unbanked segments, where financial literacy tends to be lower. This can mean they are less informed on how to independently negotiate risks.</a:t>
            </a:r>
          </a:p>
        </p:txBody>
      </p:sp>
      <p:sp>
        <p:nvSpPr>
          <p:cNvPr id="4" name="TextBox 6">
            <a:extLst>
              <a:ext uri="{FF2B5EF4-FFF2-40B4-BE49-F238E27FC236}">
                <a16:creationId xmlns:a16="http://schemas.microsoft.com/office/drawing/2014/main" id="{907D6701-0DC7-1CB0-80B9-FC55B86CA1C5}"/>
              </a:ext>
            </a:extLst>
          </p:cNvPr>
          <p:cNvSpPr txBox="1"/>
          <p:nvPr/>
        </p:nvSpPr>
        <p:spPr>
          <a:xfrm>
            <a:off x="756447" y="1805216"/>
            <a:ext cx="126293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Risks and Challenges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104386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BCB7C-28A9-A0B1-436B-9DC86EEEE7F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2E132D1-C500-9F34-AFFD-9262A512036E}"/>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713B741E-094A-FB50-76AA-F77ED7934FD6}"/>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B53ADF18-79E8-ACAA-06E4-116901BD1E18}"/>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Risks and Challenges</a:t>
            </a:r>
          </a:p>
        </p:txBody>
      </p:sp>
      <p:sp>
        <p:nvSpPr>
          <p:cNvPr id="9" name="Date Placeholder 8">
            <a:extLst>
              <a:ext uri="{FF2B5EF4-FFF2-40B4-BE49-F238E27FC236}">
                <a16:creationId xmlns:a16="http://schemas.microsoft.com/office/drawing/2014/main" id="{2E255C44-DD0B-43FF-20C2-70ADEA798B0C}"/>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407662F5-C8D3-23CA-7AC6-FECA3B57152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591109AB-3219-AAE1-F59A-FE55ADCF2456}"/>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53</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FF5D879F-50A7-9310-8D89-1B462E0DB1D3}"/>
              </a:ext>
            </a:extLst>
          </p:cNvPr>
          <p:cNvSpPr txBox="1"/>
          <p:nvPr/>
        </p:nvSpPr>
        <p:spPr>
          <a:xfrm>
            <a:off x="757618" y="1790700"/>
            <a:ext cx="16773935" cy="7781489"/>
          </a:xfrm>
          <a:prstGeom prst="rect">
            <a:avLst/>
          </a:prstGeom>
          <a:noFill/>
        </p:spPr>
        <p:txBody>
          <a:bodyPr wrap="square" rtlCol="0">
            <a:spAutoFit/>
          </a:bodyPr>
          <a:lstStyle/>
          <a:p>
            <a:pPr marL="514350" indent="-514350">
              <a:lnSpc>
                <a:spcPct val="150000"/>
              </a:lnSpc>
              <a:buFont typeface="Wingdings" panose="05000000000000000000" pitchFamily="2" charset="2"/>
              <a:buChar char="§"/>
            </a:pPr>
            <a:r>
              <a:rPr lang="en-US" sz="2800" dirty="0"/>
              <a:t>Cybersecurity breaches present an inflated risk to these tech-heavy offerings, with significant potential disruption from successful attacks.</a:t>
            </a:r>
          </a:p>
          <a:p>
            <a:pPr marL="514350" indent="-514350">
              <a:lnSpc>
                <a:spcPct val="150000"/>
              </a:lnSpc>
              <a:buFont typeface="Wingdings" panose="05000000000000000000" pitchFamily="2" charset="2"/>
              <a:buChar char="§"/>
            </a:pPr>
            <a:r>
              <a:rPr lang="en-US" sz="2800" dirty="0"/>
              <a:t>Data protection is also a major concern, with multiple consumer data points and large volumes of data used for service personalization. This raises questions of appropriate and secure data storage and usage. The potential for long-term value erosion in a competitive market presents a further risk.</a:t>
            </a:r>
          </a:p>
          <a:p>
            <a:pPr marL="514350" indent="-514350">
              <a:lnSpc>
                <a:spcPct val="150000"/>
              </a:lnSpc>
              <a:buFont typeface="Wingdings" panose="05000000000000000000" pitchFamily="2" charset="2"/>
              <a:buChar char="§"/>
            </a:pPr>
            <a:r>
              <a:rPr lang="en-US" sz="2800" dirty="0"/>
              <a:t>Many digital banking players are competing on price, potentially triggering a race to the bottom style approach which leads to large scale value erosion in banking markets. This value erosion feeds into a larger point around business sustainability.</a:t>
            </a:r>
          </a:p>
          <a:p>
            <a:pPr marL="514350" indent="-514350">
              <a:lnSpc>
                <a:spcPct val="150000"/>
              </a:lnSpc>
              <a:buFont typeface="Wingdings" panose="05000000000000000000" pitchFamily="2" charset="2"/>
              <a:buChar char="§"/>
            </a:pPr>
            <a:r>
              <a:rPr lang="en-US" sz="2800" dirty="0"/>
              <a:t>Digital banks focus on building scale through customer acquisition. Profitability is typically achieved only after 5-7 years of operations. Business sustainability is not guaranteed, and there are as of yet limited successful examples in the Asia region. Many players are oriented to success metrics based on achieving higher valuations or greater volume of app downloads, which may not necessarily transition into financial sustainability.</a:t>
            </a:r>
          </a:p>
        </p:txBody>
      </p:sp>
    </p:spTree>
    <p:extLst>
      <p:ext uri="{BB962C8B-B14F-4D97-AF65-F5344CB8AC3E}">
        <p14:creationId xmlns:p14="http://schemas.microsoft.com/office/powerpoint/2010/main" val="27896865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E2E14-805B-BF5D-29BB-D67F6959C8F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5B857B4-BC7F-41E8-1941-24D4430D25A3}"/>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C80CEA62-C29F-2C68-0E94-10EC60BE257B}"/>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DD0B66B1-8A4A-56F8-198D-A1CE3A36DDDD}"/>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Risks and Challenges</a:t>
            </a:r>
          </a:p>
        </p:txBody>
      </p:sp>
      <p:sp>
        <p:nvSpPr>
          <p:cNvPr id="9" name="Date Placeholder 8">
            <a:extLst>
              <a:ext uri="{FF2B5EF4-FFF2-40B4-BE49-F238E27FC236}">
                <a16:creationId xmlns:a16="http://schemas.microsoft.com/office/drawing/2014/main" id="{B39D844C-AF61-3271-3DCD-0124A8E3F28E}"/>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3317D7E6-1DC5-36BF-4D87-20BECB83E360}"/>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A473B2CA-5DF6-B32F-D03C-D065FA2D5CCC}"/>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54</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2D27EA63-FF47-9909-9401-7A0863637A56}"/>
              </a:ext>
            </a:extLst>
          </p:cNvPr>
          <p:cNvSpPr txBox="1"/>
          <p:nvPr/>
        </p:nvSpPr>
        <p:spPr>
          <a:xfrm>
            <a:off x="757618" y="1790700"/>
            <a:ext cx="16773935" cy="4549835"/>
          </a:xfrm>
          <a:prstGeom prst="rect">
            <a:avLst/>
          </a:prstGeom>
          <a:noFill/>
        </p:spPr>
        <p:txBody>
          <a:bodyPr wrap="square" rtlCol="0">
            <a:spAutoFit/>
          </a:bodyPr>
          <a:lstStyle/>
          <a:p>
            <a:pPr marL="514350" indent="-514350">
              <a:lnSpc>
                <a:spcPct val="150000"/>
              </a:lnSpc>
              <a:buFont typeface="Wingdings" panose="05000000000000000000" pitchFamily="2" charset="2"/>
              <a:buChar char="§"/>
            </a:pPr>
            <a:r>
              <a:rPr lang="en-US" sz="2800" dirty="0"/>
              <a:t>Profitability remains a real hurdle for these emerging digital players. Of the 10 top Digital Challenger Banks globally by user base, just five have achieved profitability.</a:t>
            </a:r>
          </a:p>
          <a:p>
            <a:pPr marL="514350" indent="-514350">
              <a:lnSpc>
                <a:spcPct val="150000"/>
              </a:lnSpc>
              <a:buFont typeface="Wingdings" panose="05000000000000000000" pitchFamily="2" charset="2"/>
              <a:buChar char="§"/>
            </a:pPr>
            <a:r>
              <a:rPr lang="en-US" sz="2800" dirty="0"/>
              <a:t>The key drivers to profitability are a combination of fee-based and interest-based revenue streams, together with a lower cost structure due to their app-centric approach. This ensures lower operational costs due to elimination of manual processing steps, and reduced customer communication commitments. The absence of costly legacy IT infrastructure and branchless setup are also important differentiators.</a:t>
            </a:r>
          </a:p>
          <a:p>
            <a:pPr marL="514350" indent="-514350">
              <a:lnSpc>
                <a:spcPct val="150000"/>
              </a:lnSpc>
              <a:buFont typeface="Wingdings" panose="05000000000000000000" pitchFamily="2" charset="2"/>
              <a:buChar char="§"/>
            </a:pPr>
            <a:endParaRPr lang="en-US" sz="2800" dirty="0"/>
          </a:p>
        </p:txBody>
      </p:sp>
    </p:spTree>
    <p:extLst>
      <p:ext uri="{BB962C8B-B14F-4D97-AF65-F5344CB8AC3E}">
        <p14:creationId xmlns:p14="http://schemas.microsoft.com/office/powerpoint/2010/main" val="352395932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CF800-445B-98E7-729C-DCDB464E0DB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A679A0F-6DE0-9E59-37E9-ED95565F3E5C}"/>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A72614DC-2AA7-2C7D-68BA-659CC1680285}"/>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D683E7C2-BCB2-7ED6-6B2A-02873EE27118}"/>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Digital-only Banks (Neobanks)</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2830B84C-40FF-67DD-351A-302E10304CC5}"/>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B714C003-D067-F1E9-1214-60AC9FEAB72B}"/>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0B477F6-7F94-BF4B-0A88-9898668CC4DB}"/>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55</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2C9FEFAB-4546-0DBD-BCDD-CDCEFAE9AC46}"/>
              </a:ext>
            </a:extLst>
          </p:cNvPr>
          <p:cNvSpPr txBox="1"/>
          <p:nvPr/>
        </p:nvSpPr>
        <p:spPr>
          <a:xfrm>
            <a:off x="756447" y="2644758"/>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Now here’s the challenge. The bank cannot leverage data; it’s locked in product silos. It cannot serve the customer’s needs. Banks layered channels over products. Now, they need to leverage data over mobile. And banks lost the end-to-end process as customers moved to apps and pieces of process and functionality as needed</a:t>
            </a:r>
          </a:p>
          <a:p>
            <a:pPr marL="514350" indent="-514350" algn="just">
              <a:lnSpc>
                <a:spcPct val="200000"/>
              </a:lnSpc>
              <a:buFont typeface="Wingdings" panose="05000000000000000000" pitchFamily="2" charset="2"/>
              <a:buChar char="§"/>
            </a:pPr>
            <a:r>
              <a:rPr lang="en-US" sz="2800" dirty="0"/>
              <a:t>Now there’s a need to </a:t>
            </a:r>
            <a:r>
              <a:rPr lang="en-US" sz="2800" dirty="0" err="1"/>
              <a:t>organise</a:t>
            </a:r>
            <a:r>
              <a:rPr lang="en-US" sz="2800" dirty="0"/>
              <a:t> the bank around the customer’s data and then leverage that data through the cloud to mobile devices as apps</a:t>
            </a:r>
          </a:p>
        </p:txBody>
      </p:sp>
      <p:sp>
        <p:nvSpPr>
          <p:cNvPr id="4" name="TextBox 6">
            <a:extLst>
              <a:ext uri="{FF2B5EF4-FFF2-40B4-BE49-F238E27FC236}">
                <a16:creationId xmlns:a16="http://schemas.microsoft.com/office/drawing/2014/main" id="{7E08360E-1353-E870-4E28-24F64031C93B}"/>
              </a:ext>
            </a:extLst>
          </p:cNvPr>
          <p:cNvSpPr txBox="1"/>
          <p:nvPr/>
        </p:nvSpPr>
        <p:spPr>
          <a:xfrm>
            <a:off x="756447" y="1805216"/>
            <a:ext cx="126293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The Digital Age Demands a Digital-only Bank</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379651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8F337-6005-B131-EB68-C2C3E056741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7ACBD50-574E-66D2-07B3-3EC02F3D5505}"/>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1033E50F-FD6F-2B1B-2A2A-07093D6C1DFF}"/>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DB91484-F0E7-70EB-34FD-7B2EFF083D7D}"/>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Digital-only Banks (Neobanks)</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7421A489-2129-9ECE-01E3-872EF9AF35F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4D3C8610-046E-58AC-FA92-49A18444E6D2}"/>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A59B3375-D129-C2BE-E422-9A86EB1DC16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56</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354B2EFE-8F09-6163-A558-F0102934E3C8}"/>
              </a:ext>
            </a:extLst>
          </p:cNvPr>
          <p:cNvSpPr txBox="1"/>
          <p:nvPr/>
        </p:nvSpPr>
        <p:spPr>
          <a:xfrm>
            <a:off x="756447" y="2644758"/>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SMEs have become significant users of Fintech globally. The most popular banking services used are …</a:t>
            </a:r>
          </a:p>
          <a:p>
            <a:pPr marL="971550" lvl="1" indent="-514350" algn="just">
              <a:lnSpc>
                <a:spcPct val="200000"/>
              </a:lnSpc>
              <a:buFont typeface="Wingdings" panose="05000000000000000000" pitchFamily="2" charset="2"/>
              <a:buChar char="§"/>
            </a:pPr>
            <a:r>
              <a:rPr lang="en-US" sz="2800" dirty="0"/>
              <a:t>banking and payments</a:t>
            </a:r>
          </a:p>
          <a:p>
            <a:pPr marL="971550" lvl="1" indent="-514350" algn="just">
              <a:lnSpc>
                <a:spcPct val="200000"/>
              </a:lnSpc>
              <a:buFont typeface="Wingdings" panose="05000000000000000000" pitchFamily="2" charset="2"/>
              <a:buChar char="§"/>
            </a:pPr>
            <a:r>
              <a:rPr lang="en-US" sz="2800" dirty="0"/>
              <a:t>financial management</a:t>
            </a:r>
          </a:p>
          <a:p>
            <a:pPr marL="971550" lvl="1" indent="-514350" algn="just">
              <a:lnSpc>
                <a:spcPct val="200000"/>
              </a:lnSpc>
              <a:buFont typeface="Wingdings" panose="05000000000000000000" pitchFamily="2" charset="2"/>
              <a:buChar char="§"/>
            </a:pPr>
            <a:r>
              <a:rPr lang="en-US" sz="2800" dirty="0"/>
              <a:t>financing (loans)</a:t>
            </a:r>
          </a:p>
          <a:p>
            <a:pPr marL="971550" lvl="1" indent="-514350" algn="just">
              <a:lnSpc>
                <a:spcPct val="200000"/>
              </a:lnSpc>
              <a:buFont typeface="Wingdings" panose="05000000000000000000" pitchFamily="2" charset="2"/>
              <a:buChar char="§"/>
            </a:pPr>
            <a:r>
              <a:rPr lang="en-US" sz="2800" dirty="0"/>
              <a:t>Insurance</a:t>
            </a:r>
          </a:p>
          <a:p>
            <a:pPr marL="514350" indent="-514350" algn="just">
              <a:lnSpc>
                <a:spcPct val="200000"/>
              </a:lnSpc>
              <a:buFont typeface="Wingdings" panose="05000000000000000000" pitchFamily="2" charset="2"/>
              <a:buChar char="§"/>
            </a:pPr>
            <a:r>
              <a:rPr lang="en-US" sz="2800" dirty="0"/>
              <a:t>There haven't been any other great alternatives for SMEs in the past. And doing something different meant more work with time they didn’t have</a:t>
            </a:r>
          </a:p>
        </p:txBody>
      </p:sp>
      <p:sp>
        <p:nvSpPr>
          <p:cNvPr id="4" name="TextBox 6">
            <a:extLst>
              <a:ext uri="{FF2B5EF4-FFF2-40B4-BE49-F238E27FC236}">
                <a16:creationId xmlns:a16="http://schemas.microsoft.com/office/drawing/2014/main" id="{15743A3A-B9AF-BFEC-F86B-1357B6DE2A09}"/>
              </a:ext>
            </a:extLst>
          </p:cNvPr>
          <p:cNvSpPr txBox="1"/>
          <p:nvPr/>
        </p:nvSpPr>
        <p:spPr>
          <a:xfrm>
            <a:off x="756447" y="1805216"/>
            <a:ext cx="126293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SMEs and Fintech</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92701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F6C4A-6963-6B5E-53D9-41240389A89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9494DBB-5A5D-277B-E1D3-BDDB9A7ABF7B}"/>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5C0E4F92-049C-8838-DCC8-7AFA15D002E3}"/>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10FCE8E2-2097-B94E-3984-7B25C7269805}"/>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SMEs and Fintech</a:t>
            </a:r>
          </a:p>
        </p:txBody>
      </p:sp>
      <p:sp>
        <p:nvSpPr>
          <p:cNvPr id="9" name="Date Placeholder 8">
            <a:extLst>
              <a:ext uri="{FF2B5EF4-FFF2-40B4-BE49-F238E27FC236}">
                <a16:creationId xmlns:a16="http://schemas.microsoft.com/office/drawing/2014/main" id="{D08E888D-5FBD-974F-0D51-72D2C0CBCA9C}"/>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B89D60E9-B3C7-15EB-005A-43D151EEEE4E}"/>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85C17D3-A77D-B2CA-912F-E2BF44CEA153}"/>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57</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5ABA888F-2E87-6750-F8F6-3E62D3262C9F}"/>
              </a:ext>
            </a:extLst>
          </p:cNvPr>
          <p:cNvSpPr txBox="1"/>
          <p:nvPr/>
        </p:nvSpPr>
        <p:spPr>
          <a:xfrm>
            <a:off x="757618" y="1790700"/>
            <a:ext cx="16773935" cy="3903504"/>
          </a:xfrm>
          <a:prstGeom prst="rect">
            <a:avLst/>
          </a:prstGeom>
          <a:noFill/>
        </p:spPr>
        <p:txBody>
          <a:bodyPr wrap="square" rtlCol="0">
            <a:spAutoFit/>
          </a:bodyPr>
          <a:lstStyle/>
          <a:p>
            <a:pPr marL="514350" indent="-514350">
              <a:lnSpc>
                <a:spcPct val="150000"/>
              </a:lnSpc>
              <a:buFont typeface="Wingdings" panose="05000000000000000000" pitchFamily="2" charset="2"/>
              <a:buChar char="§"/>
            </a:pPr>
            <a:r>
              <a:rPr lang="en-US" sz="2800" dirty="0"/>
              <a:t>That’s starting to change as FinTechs enable a digital, mobile-first experience that simplifies access to the business banking services needed for these SMEs to run their businesses.</a:t>
            </a:r>
          </a:p>
          <a:p>
            <a:pPr marL="514350" indent="-514350">
              <a:lnSpc>
                <a:spcPct val="150000"/>
              </a:lnSpc>
              <a:buFont typeface="Wingdings" panose="05000000000000000000" pitchFamily="2" charset="2"/>
              <a:buChar char="§"/>
            </a:pPr>
            <a:r>
              <a:rPr lang="en-US" sz="2800" dirty="0"/>
              <a:t>And importantly, they’re using data and technology to give SMEs access to the one thing they really want: working capital when they need it. These FinTechs bundle business applications into a single platform, making it easy for them to turn features on an off as needed</a:t>
            </a:r>
          </a:p>
          <a:p>
            <a:pPr marL="514350" indent="-514350">
              <a:lnSpc>
                <a:spcPct val="150000"/>
              </a:lnSpc>
              <a:buFont typeface="Wingdings" panose="05000000000000000000" pitchFamily="2" charset="2"/>
              <a:buChar char="§"/>
            </a:pPr>
            <a:r>
              <a:rPr lang="en-US" sz="2800" dirty="0"/>
              <a:t>These platforms are raising the expectations of what SMEs now expect from their business banking relationship</a:t>
            </a:r>
          </a:p>
        </p:txBody>
      </p:sp>
    </p:spTree>
    <p:extLst>
      <p:ext uri="{BB962C8B-B14F-4D97-AF65-F5344CB8AC3E}">
        <p14:creationId xmlns:p14="http://schemas.microsoft.com/office/powerpoint/2010/main" val="338085047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06952-8895-2066-4641-5D9948EE72CC}"/>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C371E6E4-E1CE-1D93-58C5-F2233335E158}"/>
              </a:ext>
            </a:extLst>
          </p:cNvPr>
          <p:cNvSpPr txBox="1"/>
          <p:nvPr/>
        </p:nvSpPr>
        <p:spPr>
          <a:xfrm>
            <a:off x="902113" y="0"/>
            <a:ext cx="6256973" cy="778868"/>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DIGITAL-ONLY BANKS</a:t>
            </a:r>
          </a:p>
        </p:txBody>
      </p:sp>
      <p:pic>
        <p:nvPicPr>
          <p:cNvPr id="14" name="Picture 13">
            <a:extLst>
              <a:ext uri="{FF2B5EF4-FFF2-40B4-BE49-F238E27FC236}">
                <a16:creationId xmlns:a16="http://schemas.microsoft.com/office/drawing/2014/main" id="{6242D67A-26FC-B3C5-D4F3-6773840ABE57}"/>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32C06E97-4245-DB01-3F58-AD4A11E672AD}"/>
              </a:ext>
            </a:extLst>
          </p:cNvPr>
          <p:cNvSpPr txBox="1"/>
          <p:nvPr/>
        </p:nvSpPr>
        <p:spPr>
          <a:xfrm>
            <a:off x="316056" y="2952868"/>
            <a:ext cx="7098887" cy="4381264"/>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Popular</a:t>
            </a:r>
          </a:p>
          <a:p>
            <a:pPr marL="0" marR="0" lvl="0" indent="0" algn="ctr" defTabSz="457200" rtl="0" eaLnBrk="1" fontAlgn="auto" latinLnBrk="0" hangingPunct="1">
              <a:lnSpc>
                <a:spcPct val="150000"/>
              </a:lnSpc>
              <a:spcBef>
                <a:spcPts val="0"/>
              </a:spcBef>
              <a:spcAft>
                <a:spcPts val="0"/>
              </a:spcAft>
              <a:buClrTx/>
              <a:buSzTx/>
              <a:buFontTx/>
              <a:buNone/>
              <a:tabLst/>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Digital-Only</a:t>
            </a:r>
          </a:p>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Banks</a:t>
            </a:r>
          </a:p>
        </p:txBody>
      </p:sp>
    </p:spTree>
    <p:extLst>
      <p:ext uri="{BB962C8B-B14F-4D97-AF65-F5344CB8AC3E}">
        <p14:creationId xmlns:p14="http://schemas.microsoft.com/office/powerpoint/2010/main" val="9375473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E4485-D034-16FA-253D-DCB6DE1A838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35ED4E5-5A3D-321D-DA48-5BF1BD277B12}"/>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04398541-6752-608B-E5D1-2ED26928C923}"/>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F1F12022-0A93-5157-AAB3-7C3CE9B5C9FA}"/>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Digital-only Banks (Neobanks)</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AE86ABDB-E6F9-BA36-3B0D-3A5D780775C3}"/>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7D0CE879-5A44-E16C-9749-75BEBD46964E}"/>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D1CAADC5-81C9-E4D4-BD56-6296418F81AB}"/>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59</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1D27BF8F-D0F7-5B59-9E6E-C2DFC287F278}"/>
              </a:ext>
            </a:extLst>
          </p:cNvPr>
          <p:cNvSpPr txBox="1"/>
          <p:nvPr/>
        </p:nvSpPr>
        <p:spPr>
          <a:xfrm>
            <a:off x="756447" y="2644758"/>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Malaysia’s central bank is set to issue up to five digital banking licenses to qualified applicants looking to conduct either conventional or Islamic banking businesses in the country. BNM said that it looks to take a balanced approach to enable the admission of digital banks with strong value propositions while securing the stability of the financial system.</a:t>
            </a:r>
          </a:p>
          <a:p>
            <a:pPr marL="514350" indent="-514350" algn="just">
              <a:lnSpc>
                <a:spcPct val="200000"/>
              </a:lnSpc>
              <a:buFont typeface="Wingdings" panose="05000000000000000000" pitchFamily="2" charset="2"/>
              <a:buChar char="§"/>
            </a:pPr>
            <a:r>
              <a:rPr lang="en-US" sz="2800" dirty="0"/>
              <a:t>BNM also requires digital banks to maintain minimum capital funds, unimpaired by losses, of 100 million ringgit (US$24.2 million) and 300 million ringgit (US$72.6 million) thereafter.</a:t>
            </a:r>
          </a:p>
        </p:txBody>
      </p:sp>
      <p:sp>
        <p:nvSpPr>
          <p:cNvPr id="4" name="TextBox 6">
            <a:extLst>
              <a:ext uri="{FF2B5EF4-FFF2-40B4-BE49-F238E27FC236}">
                <a16:creationId xmlns:a16="http://schemas.microsoft.com/office/drawing/2014/main" id="{F62FA858-5837-D890-83E2-9355ED8E56A1}"/>
              </a:ext>
            </a:extLst>
          </p:cNvPr>
          <p:cNvSpPr txBox="1"/>
          <p:nvPr/>
        </p:nvSpPr>
        <p:spPr>
          <a:xfrm>
            <a:off x="756447" y="1805216"/>
            <a:ext cx="126293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Case Study - Malaysia</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211615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7B6CC-15EA-9F1F-45AB-C6DEC499C7D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FBDDCBA-FF84-BAC0-8D1F-A80154D51B05}"/>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48C8C3A7-AA47-8FA3-5085-969608B20DAC}"/>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B031994A-6F6C-0D99-6850-EBBB5CFD0725}"/>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Digital-only Banks – Case Study : Singapore</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B2333235-0547-8A14-09E5-520FE6B8422E}"/>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80142F59-A417-5364-6408-0D5475A8202D}"/>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5DC08B60-FF92-65A0-3BB5-D61A7263073C}"/>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60</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D971BAB-738F-150F-6098-5F720E4FAC8D}"/>
              </a:ext>
            </a:extLst>
          </p:cNvPr>
          <p:cNvSpPr txBox="1"/>
          <p:nvPr/>
        </p:nvSpPr>
        <p:spPr>
          <a:xfrm>
            <a:off x="756447" y="2644758"/>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Compared to Singapore and Hong Kong, Malaysia has ensured that new digital banks are able to access ATM networks and cheque infrastructure, acknowledging that some parts of the economy with unmet and unserved needs will still need access to these while using digital banks.</a:t>
            </a:r>
          </a:p>
          <a:p>
            <a:pPr marL="514350" indent="-514350" algn="just">
              <a:lnSpc>
                <a:spcPct val="200000"/>
              </a:lnSpc>
              <a:buFont typeface="Wingdings" panose="05000000000000000000" pitchFamily="2" charset="2"/>
              <a:buChar char="§"/>
            </a:pPr>
            <a:r>
              <a:rPr lang="en-US" sz="2800" dirty="0"/>
              <a:t>Malaysia clearly expressed a preference for local equity control to end debates about headquarter location, management, and operating and board control.</a:t>
            </a:r>
          </a:p>
        </p:txBody>
      </p:sp>
      <p:sp>
        <p:nvSpPr>
          <p:cNvPr id="4" name="TextBox 6">
            <a:extLst>
              <a:ext uri="{FF2B5EF4-FFF2-40B4-BE49-F238E27FC236}">
                <a16:creationId xmlns:a16="http://schemas.microsoft.com/office/drawing/2014/main" id="{F0297654-0366-B2F7-2E42-EE011145DAD4}"/>
              </a:ext>
            </a:extLst>
          </p:cNvPr>
          <p:cNvSpPr txBox="1"/>
          <p:nvPr/>
        </p:nvSpPr>
        <p:spPr>
          <a:xfrm>
            <a:off x="756447" y="1805216"/>
            <a:ext cx="126293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Digital-only Banking @ Malaysia</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893669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AAF79-5BA4-A1B4-D215-B877510B893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5488D7A-2067-D5F3-39D4-86251F569B37}"/>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F084F612-C566-C2B0-F82F-80257FB43621}"/>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3B14B1A-A707-9672-8071-1A6C1D2B28BB}"/>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SMEs and Fintech</a:t>
            </a:r>
          </a:p>
        </p:txBody>
      </p:sp>
      <p:sp>
        <p:nvSpPr>
          <p:cNvPr id="9" name="Date Placeholder 8">
            <a:extLst>
              <a:ext uri="{FF2B5EF4-FFF2-40B4-BE49-F238E27FC236}">
                <a16:creationId xmlns:a16="http://schemas.microsoft.com/office/drawing/2014/main" id="{06FD7FBE-88F9-814C-F1D1-2CA0B95314CD}"/>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1C22B931-59E3-740B-EC69-9F3E2A5BAB66}"/>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8AA4B391-62CA-0DA2-E68A-F11B81B6F4D4}"/>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61</a:t>
            </a:fld>
            <a:endParaRPr lang="en-US">
              <a:latin typeface="Segoe UI" panose="020B0502040204020203" pitchFamily="34" charset="0"/>
              <a:cs typeface="Segoe UI" panose="020B0502040204020203" pitchFamily="34" charset="0"/>
            </a:endParaRPr>
          </a:p>
        </p:txBody>
      </p:sp>
      <p:pic>
        <p:nvPicPr>
          <p:cNvPr id="4" name="Picture 3">
            <a:extLst>
              <a:ext uri="{FF2B5EF4-FFF2-40B4-BE49-F238E27FC236}">
                <a16:creationId xmlns:a16="http://schemas.microsoft.com/office/drawing/2014/main" id="{ECDF8547-6C74-C480-ECEA-77D1444640C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56447" y="1591980"/>
            <a:ext cx="16775106" cy="7810409"/>
          </a:xfrm>
          <a:prstGeom prst="rect">
            <a:avLst/>
          </a:prstGeom>
        </p:spPr>
      </p:pic>
    </p:spTree>
    <p:extLst>
      <p:ext uri="{BB962C8B-B14F-4D97-AF65-F5344CB8AC3E}">
        <p14:creationId xmlns:p14="http://schemas.microsoft.com/office/powerpoint/2010/main" val="33349063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1BD3B-8EAB-9774-FF84-C7B44C9D3B8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340B527-7B83-EC3A-0DE2-19D8AFFFD1DF}"/>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387938DD-C721-497A-647C-DE823D8CF15D}"/>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A6AE4753-4FDD-C758-68F9-F3B40AEA19AD}"/>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Digital-only Banks (Neobanks)</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147B8A49-CEB4-8D0C-91F6-1E506389451D}"/>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C2ED4689-44CF-81C0-6F96-D7F77D185CDD}"/>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A4B4F0C-B709-FB29-CCAE-48C03C09A0D0}"/>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62</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5962782F-4DD1-53A2-236F-BBA81268E1B9}"/>
              </a:ext>
            </a:extLst>
          </p:cNvPr>
          <p:cNvSpPr txBox="1"/>
          <p:nvPr/>
        </p:nvSpPr>
        <p:spPr>
          <a:xfrm>
            <a:off x="756447" y="2644758"/>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A total of 43 new challenger banks have entered the global marketplace in 2022. This is in spite of the world wide economic downturn triggered by the pandemic and international conflict. This rise is a 17.11% increase on new market entrants in 2021 - a year generally heralded as being a boomtime for fintechs as digital transformation saw massive investment in the space.</a:t>
            </a:r>
          </a:p>
          <a:p>
            <a:pPr marL="514350" indent="-514350" algn="just">
              <a:lnSpc>
                <a:spcPct val="200000"/>
              </a:lnSpc>
              <a:buFont typeface="Wingdings" panose="05000000000000000000" pitchFamily="2" charset="2"/>
              <a:buChar char="§"/>
            </a:pPr>
            <a:r>
              <a:rPr lang="en-US" sz="2800" dirty="0"/>
              <a:t>In 2021, there were 248 challenger banks globally. Today, at the close of Q4 2022, there are now 291</a:t>
            </a:r>
          </a:p>
        </p:txBody>
      </p:sp>
      <p:sp>
        <p:nvSpPr>
          <p:cNvPr id="4" name="TextBox 6">
            <a:extLst>
              <a:ext uri="{FF2B5EF4-FFF2-40B4-BE49-F238E27FC236}">
                <a16:creationId xmlns:a16="http://schemas.microsoft.com/office/drawing/2014/main" id="{AF61FB95-255B-2F36-DE3F-B05953A8F0FD}"/>
              </a:ext>
            </a:extLst>
          </p:cNvPr>
          <p:cNvSpPr txBox="1"/>
          <p:nvPr/>
        </p:nvSpPr>
        <p:spPr>
          <a:xfrm>
            <a:off x="756447" y="1805216"/>
            <a:ext cx="126293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Digital-only Banks in 2022</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446204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C825D-652C-E763-1348-4A970D2406A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1ED98B9-BA94-F963-52B3-1C82592CA018}"/>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4222DC1A-5934-221F-9E9D-0D9BE806ED59}"/>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302677C7-8AC3-6514-CD29-9B9E7DEC456B}"/>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Digital-only Banks in 2022</a:t>
            </a:r>
          </a:p>
        </p:txBody>
      </p:sp>
      <p:sp>
        <p:nvSpPr>
          <p:cNvPr id="9" name="Date Placeholder 8">
            <a:extLst>
              <a:ext uri="{FF2B5EF4-FFF2-40B4-BE49-F238E27FC236}">
                <a16:creationId xmlns:a16="http://schemas.microsoft.com/office/drawing/2014/main" id="{E5770713-8A43-38D4-035B-BA0AAEF31E85}"/>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75FD3C9B-F5CE-664F-6DAD-7EC94A588F96}"/>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2D755907-296A-9632-07B6-785964BE985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63</a:t>
            </a:fld>
            <a:endParaRPr lang="en-US">
              <a:latin typeface="Segoe UI" panose="020B0502040204020203" pitchFamily="34" charset="0"/>
              <a:cs typeface="Segoe UI" panose="020B0502040204020203" pitchFamily="34" charset="0"/>
            </a:endParaRPr>
          </a:p>
        </p:txBody>
      </p:sp>
      <p:pic>
        <p:nvPicPr>
          <p:cNvPr id="4" name="Picture 3">
            <a:extLst>
              <a:ext uri="{FF2B5EF4-FFF2-40B4-BE49-F238E27FC236}">
                <a16:creationId xmlns:a16="http://schemas.microsoft.com/office/drawing/2014/main" id="{0D984389-B8C7-E31C-ECE5-E3FD47FAE4B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56447" y="1591980"/>
            <a:ext cx="16775106" cy="7810409"/>
          </a:xfrm>
          <a:prstGeom prst="rect">
            <a:avLst/>
          </a:prstGeom>
        </p:spPr>
      </p:pic>
    </p:spTree>
    <p:extLst>
      <p:ext uri="{BB962C8B-B14F-4D97-AF65-F5344CB8AC3E}">
        <p14:creationId xmlns:p14="http://schemas.microsoft.com/office/powerpoint/2010/main" val="8573472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A7979-0B8A-82B4-F606-340A11693C9A}"/>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CA76EE4B-0A19-C457-8C2F-83046CC43FDF}"/>
              </a:ext>
            </a:extLst>
          </p:cNvPr>
          <p:cNvSpPr txBox="1"/>
          <p:nvPr/>
        </p:nvSpPr>
        <p:spPr>
          <a:xfrm>
            <a:off x="902113" y="0"/>
            <a:ext cx="6256973" cy="778868"/>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DIGITAL-ONLY BANKS</a:t>
            </a:r>
          </a:p>
        </p:txBody>
      </p:sp>
      <p:pic>
        <p:nvPicPr>
          <p:cNvPr id="14" name="Picture 13">
            <a:extLst>
              <a:ext uri="{FF2B5EF4-FFF2-40B4-BE49-F238E27FC236}">
                <a16:creationId xmlns:a16="http://schemas.microsoft.com/office/drawing/2014/main" id="{CD5AE449-0E01-5D34-1166-898432B3FC5D}"/>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8D945056-855E-823B-C0DB-145A3126F05A}"/>
              </a:ext>
            </a:extLst>
          </p:cNvPr>
          <p:cNvSpPr txBox="1"/>
          <p:nvPr/>
        </p:nvSpPr>
        <p:spPr>
          <a:xfrm>
            <a:off x="316056" y="2952868"/>
            <a:ext cx="7098887" cy="4381264"/>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Strategies </a:t>
            </a:r>
          </a:p>
          <a:p>
            <a:pPr marL="0" marR="0" lvl="0" indent="0" algn="ctr" defTabSz="457200" rtl="0" eaLnBrk="1" fontAlgn="auto" latinLnBrk="0" hangingPunct="1">
              <a:lnSpc>
                <a:spcPct val="150000"/>
              </a:lnSpc>
              <a:spcBef>
                <a:spcPts val="0"/>
              </a:spcBef>
              <a:spcAft>
                <a:spcPts val="0"/>
              </a:spcAft>
              <a:buClrTx/>
              <a:buSzTx/>
              <a:buFontTx/>
              <a:buNone/>
              <a:tabLst/>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For </a:t>
            </a:r>
          </a:p>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Incumbents</a:t>
            </a:r>
          </a:p>
        </p:txBody>
      </p:sp>
    </p:spTree>
    <p:extLst>
      <p:ext uri="{BB962C8B-B14F-4D97-AF65-F5344CB8AC3E}">
        <p14:creationId xmlns:p14="http://schemas.microsoft.com/office/powerpoint/2010/main" val="365144109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382E1-CEE0-33C9-51BF-808CFAE2312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FEA9BF5-450D-EAF7-7261-3C170B83BDAF}"/>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49FF2A74-0609-B7F3-E293-2BEE872C8F3E}"/>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F4683A6C-124A-D839-7127-5AC1E6EDB43A}"/>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Digital-only Banks (Neobanks)</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DF331345-0C30-4586-B110-8B7C39AABE6C}"/>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ED5F3A63-1547-F62D-BB29-0E5444D6E08E}"/>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737B6A3-3E52-5770-D5AB-3B88F7A3C19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65</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0F0F91EA-73F5-20DC-162B-60BDBB85C616}"/>
              </a:ext>
            </a:extLst>
          </p:cNvPr>
          <p:cNvSpPr txBox="1"/>
          <p:nvPr/>
        </p:nvSpPr>
        <p:spPr>
          <a:xfrm>
            <a:off x="756447" y="2644758"/>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A bank strategy today needs to start around a digitally enabled bank.</a:t>
            </a:r>
          </a:p>
          <a:p>
            <a:pPr marL="514350" indent="-514350" algn="just">
              <a:lnSpc>
                <a:spcPct val="200000"/>
              </a:lnSpc>
              <a:buFont typeface="Wingdings" panose="05000000000000000000" pitchFamily="2" charset="2"/>
              <a:buChar char="§"/>
            </a:pPr>
            <a:r>
              <a:rPr lang="en-US" sz="2800" dirty="0"/>
              <a:t>The bank would be based on </a:t>
            </a:r>
            <a:r>
              <a:rPr lang="en-US" sz="2800" dirty="0" err="1"/>
              <a:t>digitised</a:t>
            </a:r>
            <a:r>
              <a:rPr lang="en-US" sz="2800" dirty="0"/>
              <a:t> techniques of customer understanding in order to build processes from the customer viewpoint.</a:t>
            </a:r>
          </a:p>
          <a:p>
            <a:pPr marL="514350" indent="-514350" algn="just">
              <a:lnSpc>
                <a:spcPct val="200000"/>
              </a:lnSpc>
              <a:buFont typeface="Wingdings" panose="05000000000000000000" pitchFamily="2" charset="2"/>
              <a:buChar char="§"/>
            </a:pPr>
            <a:r>
              <a:rPr lang="en-US" sz="2800" dirty="0"/>
              <a:t>In recent years, several incumbents have decided to establish stand-alone digital-only banking units under separate brands to tackle competition from neobanks and satisfy demand from digitally active customers.</a:t>
            </a:r>
          </a:p>
        </p:txBody>
      </p:sp>
      <p:sp>
        <p:nvSpPr>
          <p:cNvPr id="4" name="TextBox 6">
            <a:extLst>
              <a:ext uri="{FF2B5EF4-FFF2-40B4-BE49-F238E27FC236}">
                <a16:creationId xmlns:a16="http://schemas.microsoft.com/office/drawing/2014/main" id="{94C0C252-EB6F-974F-AB99-438FA00B6336}"/>
              </a:ext>
            </a:extLst>
          </p:cNvPr>
          <p:cNvSpPr txBox="1"/>
          <p:nvPr/>
        </p:nvSpPr>
        <p:spPr>
          <a:xfrm>
            <a:off x="756447" y="1805216"/>
            <a:ext cx="126293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Strategies for Incumbents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106612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D63BE-0662-0A54-3C3A-CD61B45AFA3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D81A8BA-CF66-007C-24F2-5D46F8415FF9}"/>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CF7B16D7-2CF0-4C87-1A21-FFC27DA62B3B}"/>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AE51CDFD-00F8-4D09-E471-B3856C06E023}"/>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Digital-only Banks (Neobanks)</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4F068389-35EB-E2DB-D251-17616714D12D}"/>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3EC5C9AC-E22A-B56C-0E61-B49D3DF50AE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D5767EB3-9F67-5DEF-18EC-03EBCA74BEA7}"/>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66</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E2DE7952-5BA0-EF1D-1216-DD120C55E869}"/>
              </a:ext>
            </a:extLst>
          </p:cNvPr>
          <p:cNvSpPr txBox="1"/>
          <p:nvPr/>
        </p:nvSpPr>
        <p:spPr>
          <a:xfrm>
            <a:off x="756447" y="2644758"/>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Acquiring already existing neobanks can also turn out to be a bumpy road for traditional banks. French incumbent BPCE bought German digital-only player Fidor in 2016 and only two years later, it is reportedly seeking to sell it because of a “clash of cultures”</a:t>
            </a:r>
          </a:p>
          <a:p>
            <a:pPr marL="514350" indent="-514350" algn="just">
              <a:lnSpc>
                <a:spcPct val="200000"/>
              </a:lnSpc>
              <a:buFont typeface="Wingdings" panose="05000000000000000000" pitchFamily="2" charset="2"/>
              <a:buChar char="§"/>
            </a:pPr>
            <a:r>
              <a:rPr lang="en-US" sz="2800" dirty="0"/>
              <a:t>In another example, US neobank Simple had difficulties moving customer accounts to a new platform after being bought by Spanish incumbent BBVA in 2014. The buyer also took hefty write-downs for Simple after its $117 million acquisition</a:t>
            </a:r>
          </a:p>
        </p:txBody>
      </p:sp>
      <p:sp>
        <p:nvSpPr>
          <p:cNvPr id="4" name="TextBox 6">
            <a:extLst>
              <a:ext uri="{FF2B5EF4-FFF2-40B4-BE49-F238E27FC236}">
                <a16:creationId xmlns:a16="http://schemas.microsoft.com/office/drawing/2014/main" id="{136F9625-BE0A-757B-C8D8-3A4B66D61EF4}"/>
              </a:ext>
            </a:extLst>
          </p:cNvPr>
          <p:cNvSpPr txBox="1"/>
          <p:nvPr/>
        </p:nvSpPr>
        <p:spPr>
          <a:xfrm>
            <a:off x="756447" y="1805216"/>
            <a:ext cx="126293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Strategies for Incumbents #1</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498079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D4EA9-D169-8E72-7C23-9B2D2438FC8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F694344-B4BB-848E-1971-6990B10096A5}"/>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73FC3D5A-5FC7-BB48-4ED1-64E45E4C70EE}"/>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98271B8-E9A0-4C03-17FD-4DF6466F5574}"/>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Digital-only Banks (Neobanks)</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F451BD6C-1A50-61DF-438D-1F2FBA01934D}"/>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C8292E51-FDD9-6C5B-3933-6EC56878750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B010DA3-2786-AD6C-9C97-24549488F79F}"/>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67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1738D875-B5BF-2BBD-A210-FF70B58E7C89}"/>
              </a:ext>
            </a:extLst>
          </p:cNvPr>
          <p:cNvSpPr txBox="1"/>
          <p:nvPr/>
        </p:nvSpPr>
        <p:spPr>
          <a:xfrm>
            <a:off x="756447" y="2644758"/>
            <a:ext cx="16775106" cy="602132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b="1" dirty="0"/>
              <a:t>Acquisitions</a:t>
            </a:r>
            <a:endParaRPr lang="en-US" sz="2800" dirty="0"/>
          </a:p>
          <a:p>
            <a:pPr marL="514350" indent="-514350" algn="just">
              <a:lnSpc>
                <a:spcPct val="200000"/>
              </a:lnSpc>
              <a:buFont typeface="Wingdings" panose="05000000000000000000" pitchFamily="2" charset="2"/>
              <a:buChar char="§"/>
            </a:pPr>
            <a:r>
              <a:rPr lang="en-US" sz="2400" dirty="0"/>
              <a:t>Acquiring and investing in existing tech assets to build up digital reach and digital capabilities. BBVA utilized this strategy by acquiring Simple in 2014 for USD117 million, going on to invest in a 39% stake in UK-based Atom Bank in 2015. In 2016 they acquired Finnish bank </a:t>
            </a:r>
            <a:r>
              <a:rPr lang="en-US" sz="2400" dirty="0" err="1"/>
              <a:t>Holvi</a:t>
            </a:r>
            <a:r>
              <a:rPr lang="en-US" sz="2400" dirty="0"/>
              <a:t>, and invested in German </a:t>
            </a:r>
            <a:r>
              <a:rPr lang="en-US" sz="2400" dirty="0" err="1"/>
              <a:t>SolarisBank</a:t>
            </a:r>
            <a:r>
              <a:rPr lang="en-US" sz="2400" dirty="0"/>
              <a:t> in 2018.</a:t>
            </a:r>
          </a:p>
          <a:p>
            <a:pPr marL="514350" indent="-514350" algn="just">
              <a:lnSpc>
                <a:spcPct val="200000"/>
              </a:lnSpc>
              <a:buFont typeface="Wingdings" panose="05000000000000000000" pitchFamily="2" charset="2"/>
              <a:buChar char="§"/>
            </a:pPr>
            <a:r>
              <a:rPr lang="en-US" sz="2400" dirty="0"/>
              <a:t>Traditional banks setting up a neobank should consider building a new infrastructure for the “parallel bank” and using it as a sandbox to learn how to run a truly digital organization</a:t>
            </a:r>
          </a:p>
          <a:p>
            <a:pPr marL="514350" indent="-514350" algn="just">
              <a:lnSpc>
                <a:spcPct val="200000"/>
              </a:lnSpc>
              <a:buFont typeface="Wingdings" panose="05000000000000000000" pitchFamily="2" charset="2"/>
              <a:buChar char="§"/>
            </a:pPr>
            <a:r>
              <a:rPr lang="en-US" sz="2400" dirty="0"/>
              <a:t>They shouldn’t rush into integrating the new and old units, as the opportunities to experiment disappear with a merger. Also, building a neobank shouldn’t preclude the original </a:t>
            </a:r>
            <a:r>
              <a:rPr lang="en-US" sz="2400" dirty="0" err="1"/>
              <a:t>organisation</a:t>
            </a:r>
            <a:r>
              <a:rPr lang="en-US" sz="2400" dirty="0"/>
              <a:t> from carrying out its own digital transformation.</a:t>
            </a:r>
          </a:p>
        </p:txBody>
      </p:sp>
      <p:sp>
        <p:nvSpPr>
          <p:cNvPr id="4" name="TextBox 6">
            <a:extLst>
              <a:ext uri="{FF2B5EF4-FFF2-40B4-BE49-F238E27FC236}">
                <a16:creationId xmlns:a16="http://schemas.microsoft.com/office/drawing/2014/main" id="{658041E5-49AA-F469-C75C-C138DB43A270}"/>
              </a:ext>
            </a:extLst>
          </p:cNvPr>
          <p:cNvSpPr txBox="1"/>
          <p:nvPr/>
        </p:nvSpPr>
        <p:spPr>
          <a:xfrm>
            <a:off x="756447" y="1805216"/>
            <a:ext cx="126293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Strategies for Incumbents #1</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00369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57AF6-3788-745D-2304-08E12AA9269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1B71B53-C72C-7653-B9C1-6CFB7F371E75}"/>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08D438C4-3F58-FDD1-6E8F-DC3688F67F17}"/>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6E78BE69-3867-0C72-5BF5-EE786791EABB}"/>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Digital-only Banks (Neobanks)</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A52B204A-7846-C9B9-8D81-773A2C74DF06}"/>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51C71F25-8D9B-55AC-4B17-17C6F95AE440}"/>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B690B30-B819-8B4A-3AC9-D6CC1BE863A5}"/>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68</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5541BD10-EC54-05A7-C2E3-37572D6C773B}"/>
              </a:ext>
            </a:extLst>
          </p:cNvPr>
          <p:cNvSpPr txBox="1"/>
          <p:nvPr/>
        </p:nvSpPr>
        <p:spPr>
          <a:xfrm>
            <a:off x="756447" y="2644758"/>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There are 2 different approaches incumbent banks can take to developing a parallel brand…There are 2 different approaches incumbent banks can take to developing a parallel brand…</a:t>
            </a:r>
          </a:p>
          <a:p>
            <a:pPr marL="971550" lvl="1" indent="-514350" algn="just">
              <a:lnSpc>
                <a:spcPct val="200000"/>
              </a:lnSpc>
              <a:buFont typeface="Wingdings" panose="05000000000000000000" pitchFamily="2" charset="2"/>
              <a:buChar char="§"/>
            </a:pPr>
            <a:r>
              <a:rPr lang="en-US" sz="2800" dirty="0"/>
              <a:t>An approach that relies on bank’s IT infrastructure</a:t>
            </a:r>
          </a:p>
          <a:p>
            <a:pPr marL="971550" lvl="1" indent="-514350" algn="just">
              <a:lnSpc>
                <a:spcPct val="200000"/>
              </a:lnSpc>
              <a:buFont typeface="Wingdings" panose="05000000000000000000" pitchFamily="2" charset="2"/>
              <a:buChar char="§"/>
            </a:pPr>
            <a:r>
              <a:rPr lang="en-US" sz="2800" dirty="0"/>
              <a:t>Involves creating a new digital organization from the ground up</a:t>
            </a:r>
          </a:p>
          <a:p>
            <a:pPr marL="514350" indent="-514350" algn="just">
              <a:lnSpc>
                <a:spcPct val="200000"/>
              </a:lnSpc>
              <a:buFont typeface="Wingdings" panose="05000000000000000000" pitchFamily="2" charset="2"/>
              <a:buChar char="§"/>
            </a:pPr>
            <a:r>
              <a:rPr lang="en-US" sz="2800" dirty="0"/>
              <a:t>Banks can view a parallel brand as no more than a new brand attached to the parent institution → the parallel bank is simply an extension of the original organization → relying on the same legacy technology infrastructure → same institution wrapped in a new marketing strategy aimed at younger customers who don’t frequent branches.</a:t>
            </a:r>
          </a:p>
        </p:txBody>
      </p:sp>
      <p:sp>
        <p:nvSpPr>
          <p:cNvPr id="4" name="TextBox 6">
            <a:extLst>
              <a:ext uri="{FF2B5EF4-FFF2-40B4-BE49-F238E27FC236}">
                <a16:creationId xmlns:a16="http://schemas.microsoft.com/office/drawing/2014/main" id="{404C1861-B1BC-8AF3-DCDD-2DC6B57CCACB}"/>
              </a:ext>
            </a:extLst>
          </p:cNvPr>
          <p:cNvSpPr txBox="1"/>
          <p:nvPr/>
        </p:nvSpPr>
        <p:spPr>
          <a:xfrm>
            <a:off x="756447" y="1805216"/>
            <a:ext cx="126293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Strategy (Incumbents Setting Up Neobanks)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794997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77569-B12E-B8F9-ED57-6EEFDB9C941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708B2B9-789E-1762-9720-158C7B4DB697}"/>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5B51AB4-E735-E7A8-1CE7-9AB9A97ABE8F}"/>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BC5D4F8-03C3-94A5-B817-64165DBBE24C}"/>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Digital-only Banks (Neobanks)</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1CF642B8-B6D7-7838-3552-B70438353050}"/>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A49113D2-1D8B-8DEA-E435-55C594A30411}"/>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5696B5D8-C216-1B0F-2412-0A0070749DE8}"/>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69</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CB35DD01-76A2-6A6D-1F15-1FCFD8286324}"/>
              </a:ext>
            </a:extLst>
          </p:cNvPr>
          <p:cNvSpPr txBox="1"/>
          <p:nvPr/>
        </p:nvSpPr>
        <p:spPr>
          <a:xfrm>
            <a:off x="756447" y="2644758"/>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The second approach → treat the parallel bank as a completely new kind of organization → free from the constraints that have hampered legacy banks’ effort at digital transformation → it is a sandbox that allows the parent institution to learn how to build and operate a truly digital organization.</a:t>
            </a:r>
          </a:p>
          <a:p>
            <a:pPr marL="514350" indent="-514350" algn="just">
              <a:lnSpc>
                <a:spcPct val="200000"/>
              </a:lnSpc>
              <a:buFont typeface="Wingdings" panose="05000000000000000000" pitchFamily="2" charset="2"/>
              <a:buChar char="§"/>
            </a:pPr>
            <a:r>
              <a:rPr lang="en-US" sz="2800" dirty="0"/>
              <a:t>Taking this approach → need to build a new technology infrastructure that supports the parallel bank’s ability to integrate new technologies and partners → iterates quickly on new products and services.</a:t>
            </a:r>
          </a:p>
        </p:txBody>
      </p:sp>
      <p:sp>
        <p:nvSpPr>
          <p:cNvPr id="4" name="TextBox 6">
            <a:extLst>
              <a:ext uri="{FF2B5EF4-FFF2-40B4-BE49-F238E27FC236}">
                <a16:creationId xmlns:a16="http://schemas.microsoft.com/office/drawing/2014/main" id="{CD995BED-F9B1-B2E5-34E5-4AF54202CE3A}"/>
              </a:ext>
            </a:extLst>
          </p:cNvPr>
          <p:cNvSpPr txBox="1"/>
          <p:nvPr/>
        </p:nvSpPr>
        <p:spPr>
          <a:xfrm>
            <a:off x="756447" y="1805216"/>
            <a:ext cx="126293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Strategy #2 (Incumbents Setting Up Neobanks)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318028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73095-5D86-653F-FA33-92931ECE582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6DECEBA-6264-F9C5-CA70-13DB30E3A8AE}"/>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BCC6FDD-824B-77A5-8A89-D07DB247DF04}"/>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F1B00465-EB15-89A7-A6B1-BB3A9DFABA0B}"/>
              </a:ext>
            </a:extLst>
          </p:cNvPr>
          <p:cNvSpPr txBox="1"/>
          <p:nvPr/>
        </p:nvSpPr>
        <p:spPr>
          <a:xfrm>
            <a:off x="990600" y="300719"/>
            <a:ext cx="111252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Strategy #2 (Incumbents Setting Up Neobanks)</a:t>
            </a:r>
          </a:p>
        </p:txBody>
      </p:sp>
      <p:sp>
        <p:nvSpPr>
          <p:cNvPr id="9" name="Date Placeholder 8">
            <a:extLst>
              <a:ext uri="{FF2B5EF4-FFF2-40B4-BE49-F238E27FC236}">
                <a16:creationId xmlns:a16="http://schemas.microsoft.com/office/drawing/2014/main" id="{B6353586-BAAB-0D9A-8009-C1809C7061CE}"/>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88EE5698-9806-3CD6-6AC2-20191576CDFE}"/>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AD6B0CC7-0D34-171C-87A7-4B41581B2595}"/>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70</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1036916C-EB81-7023-7E27-81A9D5EC3CCA}"/>
              </a:ext>
            </a:extLst>
          </p:cNvPr>
          <p:cNvSpPr txBox="1"/>
          <p:nvPr/>
        </p:nvSpPr>
        <p:spPr>
          <a:xfrm>
            <a:off x="757618" y="1790700"/>
            <a:ext cx="16773935" cy="6488828"/>
          </a:xfrm>
          <a:prstGeom prst="rect">
            <a:avLst/>
          </a:prstGeom>
          <a:noFill/>
        </p:spPr>
        <p:txBody>
          <a:bodyPr wrap="square" rtlCol="0">
            <a:spAutoFit/>
          </a:bodyPr>
          <a:lstStyle/>
          <a:p>
            <a:pPr marL="514350" indent="-514350">
              <a:lnSpc>
                <a:spcPct val="150000"/>
              </a:lnSpc>
              <a:buFont typeface="Wingdings" panose="05000000000000000000" pitchFamily="2" charset="2"/>
              <a:buChar char="§"/>
            </a:pPr>
            <a:r>
              <a:rPr lang="en-US" sz="2800" dirty="0"/>
              <a:t>As the parallel bank experiments and grows, the parent organization can gain greater knowledge about …</a:t>
            </a:r>
          </a:p>
          <a:p>
            <a:pPr marL="971550" lvl="1" indent="-514350">
              <a:lnSpc>
                <a:spcPct val="150000"/>
              </a:lnSpc>
              <a:buFont typeface="Wingdings" panose="05000000000000000000" pitchFamily="2" charset="2"/>
              <a:buChar char="§"/>
            </a:pPr>
            <a:r>
              <a:rPr lang="en-US" sz="2800" dirty="0"/>
              <a:t>emerging technologies,</a:t>
            </a:r>
          </a:p>
          <a:p>
            <a:pPr marL="971550" lvl="1" indent="-514350">
              <a:lnSpc>
                <a:spcPct val="150000"/>
              </a:lnSpc>
              <a:buFont typeface="Wingdings" panose="05000000000000000000" pitchFamily="2" charset="2"/>
              <a:buChar char="§"/>
            </a:pPr>
            <a:r>
              <a:rPr lang="en-US" sz="2800" dirty="0"/>
              <a:t>potential startup partners,</a:t>
            </a:r>
          </a:p>
          <a:p>
            <a:pPr marL="971550" lvl="1" indent="-514350">
              <a:lnSpc>
                <a:spcPct val="150000"/>
              </a:lnSpc>
              <a:buFont typeface="Wingdings" panose="05000000000000000000" pitchFamily="2" charset="2"/>
              <a:buChar char="§"/>
            </a:pPr>
            <a:r>
              <a:rPr lang="en-US" sz="2800" dirty="0"/>
              <a:t>new business models,</a:t>
            </a:r>
          </a:p>
          <a:p>
            <a:pPr marL="971550" lvl="1" indent="-514350">
              <a:lnSpc>
                <a:spcPct val="150000"/>
              </a:lnSpc>
              <a:buFont typeface="Wingdings" panose="05000000000000000000" pitchFamily="2" charset="2"/>
              <a:buChar char="§"/>
            </a:pPr>
            <a:r>
              <a:rPr lang="en-US" sz="2800" dirty="0"/>
              <a:t>different organizational structures</a:t>
            </a:r>
          </a:p>
          <a:p>
            <a:pPr marL="971550" lvl="1" indent="-514350">
              <a:lnSpc>
                <a:spcPct val="150000"/>
              </a:lnSpc>
              <a:buFont typeface="Wingdings" panose="05000000000000000000" pitchFamily="2" charset="2"/>
              <a:buChar char="§"/>
            </a:pPr>
            <a:r>
              <a:rPr lang="en-US" sz="2800" dirty="0"/>
              <a:t>Forward-looking recruiting tactics</a:t>
            </a:r>
          </a:p>
          <a:p>
            <a:pPr marL="514350" indent="-514350">
              <a:lnSpc>
                <a:spcPct val="150000"/>
              </a:lnSpc>
              <a:buFont typeface="Wingdings" panose="05000000000000000000" pitchFamily="2" charset="2"/>
              <a:buChar char="§"/>
            </a:pPr>
            <a:r>
              <a:rPr lang="en-US" sz="2800" dirty="0"/>
              <a:t>In-house builds. Leveraging tech providers to power digital capabilities for a new digital bank. Singaporean legacy operator UOB embraced an in-house build to successfully launch its TMRW digital bank in Thailand in 2019. It plans to roll-out across other markets in Southeast Asia in coming years, thanks to the underlying architecture and personalization capabilities powered by tech providers </a:t>
            </a:r>
            <a:r>
              <a:rPr lang="en-US" sz="2800" dirty="0" err="1"/>
              <a:t>Personetics</a:t>
            </a:r>
            <a:r>
              <a:rPr lang="en-US" sz="2800" dirty="0"/>
              <a:t> and Meniga</a:t>
            </a:r>
          </a:p>
        </p:txBody>
      </p:sp>
    </p:spTree>
    <p:extLst>
      <p:ext uri="{BB962C8B-B14F-4D97-AF65-F5344CB8AC3E}">
        <p14:creationId xmlns:p14="http://schemas.microsoft.com/office/powerpoint/2010/main" val="64188662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B1480-091D-2254-B54C-C7AAAF0CF42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EAD8060-256C-3FCE-E316-93EB45CC0F85}"/>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78BFD194-8B84-E330-77D4-A2417E7C2F7F}"/>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1051BECF-4D47-B636-755B-A7672C3E46D3}"/>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Digital-only Banks (Neobanks)</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FCEFEBC2-843C-12F1-FB64-C2FF760D32CE}"/>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5A65287D-590B-9413-94F7-53808B65060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5D3673E9-4A26-9535-D833-BB6CC8529938}"/>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71</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A3FB14AF-E448-7758-8EE9-359D085B7B29}"/>
              </a:ext>
            </a:extLst>
          </p:cNvPr>
          <p:cNvSpPr txBox="1"/>
          <p:nvPr/>
        </p:nvSpPr>
        <p:spPr>
          <a:xfrm>
            <a:off x="756447" y="2644758"/>
            <a:ext cx="16775106" cy="3418756"/>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Partner. Providing banking licenses to create a joint digital bank with technology partner(s). European </a:t>
            </a:r>
            <a:r>
              <a:rPr lang="en-US" sz="2800" dirty="0" err="1"/>
              <a:t>VPBank</a:t>
            </a:r>
            <a:r>
              <a:rPr lang="en-US" sz="2800" dirty="0"/>
              <a:t> partnered with Timo to offer banking license and core banking systems, as well as KYC functionality as part of a revenue sharing agreement. In turn, Timo enabled </a:t>
            </a:r>
            <a:r>
              <a:rPr lang="en-US" sz="2800" dirty="0" err="1"/>
              <a:t>VPBank</a:t>
            </a:r>
            <a:r>
              <a:rPr lang="en-US" sz="2800" dirty="0"/>
              <a:t> to experiment with building a new technology stack, as well as adopting new on-boarding methodologies</a:t>
            </a:r>
          </a:p>
        </p:txBody>
      </p:sp>
      <p:sp>
        <p:nvSpPr>
          <p:cNvPr id="4" name="TextBox 6">
            <a:extLst>
              <a:ext uri="{FF2B5EF4-FFF2-40B4-BE49-F238E27FC236}">
                <a16:creationId xmlns:a16="http://schemas.microsoft.com/office/drawing/2014/main" id="{435C2DB6-BA66-61BA-D543-D8A72FCF9359}"/>
              </a:ext>
            </a:extLst>
          </p:cNvPr>
          <p:cNvSpPr txBox="1"/>
          <p:nvPr/>
        </p:nvSpPr>
        <p:spPr>
          <a:xfrm>
            <a:off x="756447" y="1805216"/>
            <a:ext cx="126293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Strategy #3 - Partnerships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143062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B225D-91F9-4EB4-BCC9-D15E3667622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6FED9DF-B953-878F-798C-5F3D9ACEFED3}"/>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C310A13-ED71-AF1F-7D00-70E605BF261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672BE00-08D0-921A-CCEF-F681356482D3}"/>
              </a:ext>
            </a:extLst>
          </p:cNvPr>
          <p:cNvSpPr txBox="1"/>
          <p:nvPr/>
        </p:nvSpPr>
        <p:spPr>
          <a:xfrm>
            <a:off x="990600" y="300719"/>
            <a:ext cx="111252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Strategy #3 - Partnerships</a:t>
            </a:r>
          </a:p>
        </p:txBody>
      </p:sp>
      <p:sp>
        <p:nvSpPr>
          <p:cNvPr id="9" name="Date Placeholder 8">
            <a:extLst>
              <a:ext uri="{FF2B5EF4-FFF2-40B4-BE49-F238E27FC236}">
                <a16:creationId xmlns:a16="http://schemas.microsoft.com/office/drawing/2014/main" id="{89CCEF84-5F1F-697B-4EC4-C493F5B7621C}"/>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CE89BA0E-C623-F9A6-DDCF-F5E7C1B9ACF7}"/>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AE1EAEB-954D-4391-346C-83CA42EEB6A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72</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597B794E-7000-82C0-D9D2-72F2F5C2232E}"/>
              </a:ext>
            </a:extLst>
          </p:cNvPr>
          <p:cNvSpPr txBox="1"/>
          <p:nvPr/>
        </p:nvSpPr>
        <p:spPr>
          <a:xfrm>
            <a:off x="757618" y="1790700"/>
            <a:ext cx="16773935" cy="5196166"/>
          </a:xfrm>
          <a:prstGeom prst="rect">
            <a:avLst/>
          </a:prstGeom>
          <a:noFill/>
        </p:spPr>
        <p:txBody>
          <a:bodyPr wrap="square" rtlCol="0">
            <a:spAutoFit/>
          </a:bodyPr>
          <a:lstStyle/>
          <a:p>
            <a:pPr marL="514350" indent="-514350">
              <a:lnSpc>
                <a:spcPct val="150000"/>
              </a:lnSpc>
              <a:buFont typeface="Wingdings" panose="05000000000000000000" pitchFamily="2" charset="2"/>
              <a:buChar char="§"/>
            </a:pPr>
            <a:r>
              <a:rPr lang="en-US" sz="2800" dirty="0"/>
              <a:t>Partner. Providing banking licenses to create a joint digital bank with technology partner(s). European </a:t>
            </a:r>
            <a:r>
              <a:rPr lang="en-US" sz="2800" dirty="0" err="1"/>
              <a:t>VPBank</a:t>
            </a:r>
            <a:r>
              <a:rPr lang="en-US" sz="2800" dirty="0"/>
              <a:t> partnered with Timo to offer banking license and core banking systems, as well as KYC functionality as part of a revenue sharing agreement. In turn, Timo enabled </a:t>
            </a:r>
            <a:r>
              <a:rPr lang="en-US" sz="2800" dirty="0" err="1"/>
              <a:t>VPBank</a:t>
            </a:r>
            <a:r>
              <a:rPr lang="en-US" sz="2800" dirty="0"/>
              <a:t> to experiment with building a new technology stack, as well as adopting new on-boarding methodologies</a:t>
            </a:r>
          </a:p>
          <a:p>
            <a:pPr marL="514350" indent="-514350">
              <a:lnSpc>
                <a:spcPct val="150000"/>
              </a:lnSpc>
              <a:buFont typeface="Wingdings" panose="05000000000000000000" pitchFamily="2" charset="2"/>
              <a:buChar char="§"/>
            </a:pPr>
            <a:r>
              <a:rPr lang="en-US" sz="2800" dirty="0"/>
              <a:t>Fintechs bring their innovative mindset, agility, customer centricity and digital infrastructure to the table, while incumbents can help fintechs scale better based on trust and brand recognition, and provide them with a distribution network.</a:t>
            </a:r>
          </a:p>
          <a:p>
            <a:pPr marL="514350" indent="-514350">
              <a:lnSpc>
                <a:spcPct val="150000"/>
              </a:lnSpc>
              <a:buFont typeface="Wingdings" panose="05000000000000000000" pitchFamily="2" charset="2"/>
              <a:buChar char="§"/>
            </a:pPr>
            <a:r>
              <a:rPr lang="en-US" sz="2800" dirty="0"/>
              <a:t>No wonder that half of US bank executives expect fintech</a:t>
            </a:r>
          </a:p>
        </p:txBody>
      </p:sp>
    </p:spTree>
    <p:extLst>
      <p:ext uri="{BB962C8B-B14F-4D97-AF65-F5344CB8AC3E}">
        <p14:creationId xmlns:p14="http://schemas.microsoft.com/office/powerpoint/2010/main" val="63163484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614AD-B1A4-5DA0-0584-916C9637DBD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2114CFD-B0C6-19DD-17CC-CCE6C151FF9B}"/>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9B695646-5D5D-50F7-18FB-3EE4267D0A4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D9DBFF3E-8997-F636-B7A9-09AF1D4C4440}"/>
              </a:ext>
            </a:extLst>
          </p:cNvPr>
          <p:cNvSpPr txBox="1"/>
          <p:nvPr/>
        </p:nvSpPr>
        <p:spPr>
          <a:xfrm>
            <a:off x="990600" y="300719"/>
            <a:ext cx="111252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Strategy #3 - Partnerships</a:t>
            </a:r>
          </a:p>
        </p:txBody>
      </p:sp>
      <p:sp>
        <p:nvSpPr>
          <p:cNvPr id="9" name="Date Placeholder 8">
            <a:extLst>
              <a:ext uri="{FF2B5EF4-FFF2-40B4-BE49-F238E27FC236}">
                <a16:creationId xmlns:a16="http://schemas.microsoft.com/office/drawing/2014/main" id="{75504159-4BCD-32A5-28EF-7CB271345CA6}"/>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D46DB9D5-44D2-B116-B199-6C258ED3B26E}"/>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212CE111-62E0-0124-494F-8CE9A46E752F}"/>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73</a:t>
            </a:fld>
            <a:endParaRPr lang="en-US">
              <a:latin typeface="Segoe UI" panose="020B0502040204020203" pitchFamily="34" charset="0"/>
              <a:cs typeface="Segoe UI" panose="020B0502040204020203" pitchFamily="34" charset="0"/>
            </a:endParaRPr>
          </a:p>
        </p:txBody>
      </p:sp>
      <p:pic>
        <p:nvPicPr>
          <p:cNvPr id="4" name="Picture 3">
            <a:extLst>
              <a:ext uri="{FF2B5EF4-FFF2-40B4-BE49-F238E27FC236}">
                <a16:creationId xmlns:a16="http://schemas.microsoft.com/office/drawing/2014/main" id="{C1C434E1-8C7E-C0D8-9DC2-32865CA9B00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56447" y="1591980"/>
            <a:ext cx="16775105" cy="7810409"/>
          </a:xfrm>
          <a:prstGeom prst="rect">
            <a:avLst/>
          </a:prstGeom>
        </p:spPr>
      </p:pic>
    </p:spTree>
    <p:extLst>
      <p:ext uri="{BB962C8B-B14F-4D97-AF65-F5344CB8AC3E}">
        <p14:creationId xmlns:p14="http://schemas.microsoft.com/office/powerpoint/2010/main" val="64267236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3577F-9BA3-C81C-E8FE-E0706079539E}"/>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7BA977C0-C8D4-C674-31E3-EFA8126C91BC}"/>
              </a:ext>
            </a:extLst>
          </p:cNvPr>
          <p:cNvSpPr txBox="1"/>
          <p:nvPr/>
        </p:nvSpPr>
        <p:spPr>
          <a:xfrm>
            <a:off x="902113" y="0"/>
            <a:ext cx="6256973" cy="778868"/>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DIGITAL-ONLY BANKS</a:t>
            </a:r>
          </a:p>
        </p:txBody>
      </p:sp>
      <p:pic>
        <p:nvPicPr>
          <p:cNvPr id="14" name="Picture 13">
            <a:extLst>
              <a:ext uri="{FF2B5EF4-FFF2-40B4-BE49-F238E27FC236}">
                <a16:creationId xmlns:a16="http://schemas.microsoft.com/office/drawing/2014/main" id="{2CFB3378-C873-CDAC-E610-F80746C27846}"/>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F648EE68-CBB0-26A5-83C7-E4A9B7B2C80C}"/>
              </a:ext>
            </a:extLst>
          </p:cNvPr>
          <p:cNvSpPr txBox="1"/>
          <p:nvPr/>
        </p:nvSpPr>
        <p:spPr>
          <a:xfrm>
            <a:off x="481155" y="4197468"/>
            <a:ext cx="7098887" cy="1334276"/>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Regulations</a:t>
            </a:r>
          </a:p>
        </p:txBody>
      </p:sp>
    </p:spTree>
    <p:extLst>
      <p:ext uri="{BB962C8B-B14F-4D97-AF65-F5344CB8AC3E}">
        <p14:creationId xmlns:p14="http://schemas.microsoft.com/office/powerpoint/2010/main" val="66729888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4BB55-47EC-85EB-DACE-9456DF88BA7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B9C42BC-ABE4-3DA2-389C-2D2098E4C96B}"/>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40A97CF3-8F91-6BB6-1A9B-7680F7C30354}"/>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9A917B49-3AE9-364E-E34C-54D63BDFEDE0}"/>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Digital-only Banks (Neobanks)</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AAAC0AA9-73DA-6898-55A3-79596F7FEC6C}"/>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DD773067-4950-B432-4E12-79895956350E}"/>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2C619F20-E27D-42D6-D0E5-C95A7CD5A9D3}"/>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75</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EC9DDD9-0ED6-49F7-2BE3-690D02D7EDD8}"/>
              </a:ext>
            </a:extLst>
          </p:cNvPr>
          <p:cNvSpPr txBox="1"/>
          <p:nvPr/>
        </p:nvSpPr>
        <p:spPr>
          <a:xfrm>
            <a:off x="756447" y="2644758"/>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The value of agility can only truly be enabled within an appropriate regulatory framework. Digital banks must work with regulators to unlock the full potential of this remarkable opportunity, ensuring that guide rails can steer transformation without limiting innovation</a:t>
            </a:r>
          </a:p>
          <a:p>
            <a:pPr marL="514350" indent="-514350" algn="just">
              <a:lnSpc>
                <a:spcPct val="200000"/>
              </a:lnSpc>
              <a:buFont typeface="Wingdings" panose="05000000000000000000" pitchFamily="2" charset="2"/>
              <a:buChar char="§"/>
            </a:pPr>
            <a:r>
              <a:rPr lang="en-US" sz="2800" dirty="0"/>
              <a:t>Regulators are seeking to assist digital banking growth, driven by two key imperatives.</a:t>
            </a:r>
          </a:p>
          <a:p>
            <a:pPr marL="971550" lvl="1" indent="-514350" algn="just">
              <a:lnSpc>
                <a:spcPct val="200000"/>
              </a:lnSpc>
              <a:buFont typeface="Wingdings" panose="05000000000000000000" pitchFamily="2" charset="2"/>
              <a:buChar char="§"/>
            </a:pPr>
            <a:r>
              <a:rPr lang="en-US" sz="2800" dirty="0"/>
              <a:t>The first is to create competition for traditional incumbents, amplifying the need for better and more effective products and services.</a:t>
            </a:r>
          </a:p>
          <a:p>
            <a:pPr marL="971550" lvl="1" indent="-514350" algn="just">
              <a:lnSpc>
                <a:spcPct val="200000"/>
              </a:lnSpc>
              <a:buFont typeface="Wingdings" panose="05000000000000000000" pitchFamily="2" charset="2"/>
              <a:buChar char="§"/>
            </a:pPr>
            <a:r>
              <a:rPr lang="en-US" sz="2800" dirty="0"/>
              <a:t>The second is the fundamental desire to drive better service delivery to underbanked segments.</a:t>
            </a:r>
          </a:p>
        </p:txBody>
      </p:sp>
      <p:sp>
        <p:nvSpPr>
          <p:cNvPr id="4" name="TextBox 6">
            <a:extLst>
              <a:ext uri="{FF2B5EF4-FFF2-40B4-BE49-F238E27FC236}">
                <a16:creationId xmlns:a16="http://schemas.microsoft.com/office/drawing/2014/main" id="{0F568FE5-B427-D9D4-71B9-5ADE8FE41CBD}"/>
              </a:ext>
            </a:extLst>
          </p:cNvPr>
          <p:cNvSpPr txBox="1"/>
          <p:nvPr/>
        </p:nvSpPr>
        <p:spPr>
          <a:xfrm>
            <a:off x="756447" y="1805216"/>
            <a:ext cx="126293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Regulations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266645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18799-941E-D463-93BD-84675EAEA98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1F95452-DEDA-712F-FAD2-97958014DB1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ECE7127D-5FF2-AE03-2B1E-3882B70D687F}"/>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E529D17C-3000-2154-ECBA-5F980988CE33}"/>
              </a:ext>
            </a:extLst>
          </p:cNvPr>
          <p:cNvSpPr txBox="1"/>
          <p:nvPr/>
        </p:nvSpPr>
        <p:spPr>
          <a:xfrm>
            <a:off x="990600" y="300719"/>
            <a:ext cx="111252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Regulations – Key Factors in Assessing Suitability</a:t>
            </a:r>
          </a:p>
        </p:txBody>
      </p:sp>
      <p:sp>
        <p:nvSpPr>
          <p:cNvPr id="9" name="Date Placeholder 8">
            <a:extLst>
              <a:ext uri="{FF2B5EF4-FFF2-40B4-BE49-F238E27FC236}">
                <a16:creationId xmlns:a16="http://schemas.microsoft.com/office/drawing/2014/main" id="{59EFEB1F-72B6-E0BC-9C4B-D183DBE44ADD}"/>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3D4F7AB7-2215-C78E-2472-1BE61CEFFF1E}"/>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84F6A1B2-5AD9-3D83-A00A-221F4D926621}"/>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76</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8F2E4B82-865C-2FE2-9E0F-208EDE44DC77}"/>
              </a:ext>
            </a:extLst>
          </p:cNvPr>
          <p:cNvSpPr txBox="1"/>
          <p:nvPr/>
        </p:nvSpPr>
        <p:spPr>
          <a:xfrm>
            <a:off x="757618" y="1790700"/>
            <a:ext cx="16773935" cy="5842497"/>
          </a:xfrm>
          <a:prstGeom prst="rect">
            <a:avLst/>
          </a:prstGeom>
          <a:noFill/>
        </p:spPr>
        <p:txBody>
          <a:bodyPr wrap="square" rtlCol="0">
            <a:spAutoFit/>
          </a:bodyPr>
          <a:lstStyle/>
          <a:p>
            <a:pPr marL="514350" indent="-514350">
              <a:lnSpc>
                <a:spcPct val="150000"/>
              </a:lnSpc>
              <a:buFont typeface="Wingdings" panose="05000000000000000000" pitchFamily="2" charset="2"/>
              <a:buChar char="§"/>
            </a:pPr>
            <a:r>
              <a:rPr lang="en-US" sz="2800" dirty="0"/>
              <a:t>The latter is a particular focus in Southeast Asia. Regulators are likely to examine five key factors in assessing the suitability of candidate digital banks:</a:t>
            </a:r>
          </a:p>
          <a:p>
            <a:pPr marL="971550" lvl="1" indent="-514350">
              <a:lnSpc>
                <a:spcPct val="150000"/>
              </a:lnSpc>
              <a:buFont typeface="Wingdings" panose="05000000000000000000" pitchFamily="2" charset="2"/>
              <a:buChar char="§"/>
            </a:pPr>
            <a:r>
              <a:rPr lang="en-US" sz="2800" dirty="0"/>
              <a:t>Regulators are likely to examine five key factors in assessing the suitability of candidate digital banks</a:t>
            </a:r>
          </a:p>
          <a:p>
            <a:pPr marL="971550" lvl="1" indent="-514350">
              <a:lnSpc>
                <a:spcPct val="150000"/>
              </a:lnSpc>
              <a:buFont typeface="Wingdings" panose="05000000000000000000" pitchFamily="2" charset="2"/>
              <a:buChar char="§"/>
            </a:pPr>
            <a:endParaRPr lang="en-US" sz="2800" dirty="0"/>
          </a:p>
          <a:p>
            <a:pPr marL="514350" indent="-514350">
              <a:lnSpc>
                <a:spcPct val="150000"/>
              </a:lnSpc>
              <a:buFont typeface="Wingdings" panose="05000000000000000000" pitchFamily="2" charset="2"/>
              <a:buChar char="§"/>
            </a:pPr>
            <a:r>
              <a:rPr lang="en-US" sz="2800" b="1" dirty="0"/>
              <a:t>Path to profitability</a:t>
            </a:r>
          </a:p>
          <a:p>
            <a:pPr marL="514350" indent="-514350">
              <a:lnSpc>
                <a:spcPct val="150000"/>
              </a:lnSpc>
              <a:buFont typeface="Wingdings" panose="05000000000000000000" pitchFamily="2" charset="2"/>
              <a:buChar char="§"/>
            </a:pPr>
            <a:r>
              <a:rPr lang="en-US" sz="2800" dirty="0"/>
              <a:t>Regulators will wish to see a convincing path towards profitability for candidate digital banks. Many operators have shown impressive user growth, without truly achieving a breakeven which will be fundamental to the sustainable success of digital banking. Many players have unproven business models, showing that innovation still requires recognition of financial demands</a:t>
            </a:r>
          </a:p>
        </p:txBody>
      </p:sp>
    </p:spTree>
    <p:extLst>
      <p:ext uri="{BB962C8B-B14F-4D97-AF65-F5344CB8AC3E}">
        <p14:creationId xmlns:p14="http://schemas.microsoft.com/office/powerpoint/2010/main" val="212568572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61054-016C-133A-EC48-B575BA2AC42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FA398E7-77B4-1137-5E27-519F1BE95A35}"/>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9FC54AB-3D37-19A8-989B-73797EBD9E79}"/>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3B38B00A-E32B-8756-6458-8B80BA6E6793}"/>
              </a:ext>
            </a:extLst>
          </p:cNvPr>
          <p:cNvSpPr txBox="1"/>
          <p:nvPr/>
        </p:nvSpPr>
        <p:spPr>
          <a:xfrm>
            <a:off x="990600" y="300719"/>
            <a:ext cx="111252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Regulations – Key Factors in Assessing Suitability</a:t>
            </a:r>
          </a:p>
        </p:txBody>
      </p:sp>
      <p:sp>
        <p:nvSpPr>
          <p:cNvPr id="9" name="Date Placeholder 8">
            <a:extLst>
              <a:ext uri="{FF2B5EF4-FFF2-40B4-BE49-F238E27FC236}">
                <a16:creationId xmlns:a16="http://schemas.microsoft.com/office/drawing/2014/main" id="{D223F04E-740A-BAC0-6A91-9B6402ED93E9}"/>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2BFB4230-E79E-DF7A-1E57-44F85D61A040}"/>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0073597-21A5-9DD3-A1D8-9F86951D1AC3}"/>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77</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E413496F-EC30-398B-AA90-AB84D02662B4}"/>
              </a:ext>
            </a:extLst>
          </p:cNvPr>
          <p:cNvSpPr txBox="1"/>
          <p:nvPr/>
        </p:nvSpPr>
        <p:spPr>
          <a:xfrm>
            <a:off x="757618" y="1790700"/>
            <a:ext cx="16773935" cy="7135158"/>
          </a:xfrm>
          <a:prstGeom prst="rect">
            <a:avLst/>
          </a:prstGeom>
          <a:noFill/>
        </p:spPr>
        <p:txBody>
          <a:bodyPr wrap="square" rtlCol="0">
            <a:spAutoFit/>
          </a:bodyPr>
          <a:lstStyle/>
          <a:p>
            <a:pPr marL="514350" indent="-514350">
              <a:lnSpc>
                <a:spcPct val="150000"/>
              </a:lnSpc>
              <a:buFont typeface="Wingdings" panose="05000000000000000000" pitchFamily="2" charset="2"/>
              <a:buChar char="§"/>
            </a:pPr>
            <a:r>
              <a:rPr lang="en-US" sz="2800" b="1" dirty="0"/>
              <a:t>Key differentiation</a:t>
            </a:r>
          </a:p>
          <a:p>
            <a:pPr marL="514350" indent="-514350">
              <a:lnSpc>
                <a:spcPct val="150000"/>
              </a:lnSpc>
              <a:buFont typeface="Wingdings" panose="05000000000000000000" pitchFamily="2" charset="2"/>
              <a:buChar char="§"/>
            </a:pPr>
            <a:r>
              <a:rPr lang="en-US" sz="2800" dirty="0"/>
              <a:t>With the priority around reaching underbanked segments foremost in mind, regulators are likely to want to understand what differentiates a digital bank’s proposition, and how unique it is in the marketplace. It is crucial for digital bank candidates to communicate how they are different from incumbents, and how they might employ transparent, robust technology approaches and design to cater to the demands of a customer-centric landscape</a:t>
            </a:r>
          </a:p>
          <a:p>
            <a:pPr marL="514350" indent="-514350">
              <a:lnSpc>
                <a:spcPct val="150000"/>
              </a:lnSpc>
              <a:buFont typeface="Wingdings" panose="05000000000000000000" pitchFamily="2" charset="2"/>
              <a:buChar char="§"/>
            </a:pPr>
            <a:endParaRPr lang="en-US" sz="2800" dirty="0"/>
          </a:p>
          <a:p>
            <a:pPr marL="514350" indent="-514350">
              <a:lnSpc>
                <a:spcPct val="150000"/>
              </a:lnSpc>
              <a:buFont typeface="Wingdings" panose="05000000000000000000" pitchFamily="2" charset="2"/>
              <a:buChar char="§"/>
            </a:pPr>
            <a:r>
              <a:rPr lang="en-US" sz="2800" b="1" dirty="0"/>
              <a:t>Adherence to regulation. </a:t>
            </a:r>
          </a:p>
          <a:p>
            <a:pPr marL="514350" indent="-514350">
              <a:lnSpc>
                <a:spcPct val="150000"/>
              </a:lnSpc>
              <a:buFont typeface="Wingdings" panose="05000000000000000000" pitchFamily="2" charset="2"/>
              <a:buChar char="§"/>
            </a:pPr>
            <a:r>
              <a:rPr lang="en-US" sz="2800" dirty="0"/>
              <a:t>While enabling digital banking opportunity requires freedom to innovative to scale, it must also cater to the underlying need to meet existing banking regulation. That includes those which apply to existing incumbent operators, as well as any evolving regulation which may apply to digital banks</a:t>
            </a:r>
          </a:p>
        </p:txBody>
      </p:sp>
    </p:spTree>
    <p:extLst>
      <p:ext uri="{BB962C8B-B14F-4D97-AF65-F5344CB8AC3E}">
        <p14:creationId xmlns:p14="http://schemas.microsoft.com/office/powerpoint/2010/main" val="135286161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1FA9E-AB0B-0404-5115-4FD0FA29FB9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241F2E6-96DF-8BC4-ECD5-602E43EEE3C8}"/>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462A4DE8-ECC0-C3AC-3F14-024489202FDA}"/>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1C623E4B-8B0C-121A-C3A1-76739D8B3727}"/>
              </a:ext>
            </a:extLst>
          </p:cNvPr>
          <p:cNvSpPr txBox="1"/>
          <p:nvPr/>
        </p:nvSpPr>
        <p:spPr>
          <a:xfrm>
            <a:off x="990600" y="300719"/>
            <a:ext cx="111252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Regulations – Key Factors in Assessing Suitability</a:t>
            </a:r>
          </a:p>
        </p:txBody>
      </p:sp>
      <p:sp>
        <p:nvSpPr>
          <p:cNvPr id="9" name="Date Placeholder 8">
            <a:extLst>
              <a:ext uri="{FF2B5EF4-FFF2-40B4-BE49-F238E27FC236}">
                <a16:creationId xmlns:a16="http://schemas.microsoft.com/office/drawing/2014/main" id="{CC930534-5505-2814-B615-FE84FE27311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0279610F-7D12-E3E5-13DB-859917F8A737}"/>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2497C69C-9A14-E311-4CA2-66E227F73911}"/>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78</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0DFF7ECB-D308-642B-586F-21CB36893EC7}"/>
              </a:ext>
            </a:extLst>
          </p:cNvPr>
          <p:cNvSpPr txBox="1"/>
          <p:nvPr/>
        </p:nvSpPr>
        <p:spPr>
          <a:xfrm>
            <a:off x="757618" y="1790700"/>
            <a:ext cx="16773935" cy="4549835"/>
          </a:xfrm>
          <a:prstGeom prst="rect">
            <a:avLst/>
          </a:prstGeom>
          <a:noFill/>
        </p:spPr>
        <p:txBody>
          <a:bodyPr wrap="square" rtlCol="0">
            <a:spAutoFit/>
          </a:bodyPr>
          <a:lstStyle/>
          <a:p>
            <a:pPr marL="514350" indent="-514350">
              <a:lnSpc>
                <a:spcPct val="150000"/>
              </a:lnSpc>
              <a:buFont typeface="Wingdings" panose="05000000000000000000" pitchFamily="2" charset="2"/>
              <a:buChar char="§"/>
            </a:pPr>
            <a:r>
              <a:rPr lang="en-US" sz="2800" b="1" dirty="0"/>
              <a:t>Consumer protection.</a:t>
            </a:r>
          </a:p>
          <a:p>
            <a:pPr marL="514350" indent="-514350">
              <a:lnSpc>
                <a:spcPct val="150000"/>
              </a:lnSpc>
              <a:buFont typeface="Wingdings" panose="05000000000000000000" pitchFamily="2" charset="2"/>
              <a:buChar char="§"/>
            </a:pPr>
            <a:r>
              <a:rPr lang="en-US" sz="2800" dirty="0"/>
              <a:t>Regulators will wish to see how consumer protection will be ensured, cybersecurity risks mitigated, and data protection robustly implemented.</a:t>
            </a:r>
          </a:p>
          <a:p>
            <a:pPr marL="514350" indent="-514350">
              <a:lnSpc>
                <a:spcPct val="150000"/>
              </a:lnSpc>
              <a:buFont typeface="Wingdings" panose="05000000000000000000" pitchFamily="2" charset="2"/>
              <a:buChar char="§"/>
            </a:pPr>
            <a:endParaRPr lang="en-US" sz="2800" dirty="0"/>
          </a:p>
          <a:p>
            <a:pPr marL="514350" indent="-514350">
              <a:lnSpc>
                <a:spcPct val="150000"/>
              </a:lnSpc>
              <a:buFont typeface="Wingdings" panose="05000000000000000000" pitchFamily="2" charset="2"/>
              <a:buChar char="§"/>
            </a:pPr>
            <a:r>
              <a:rPr lang="en-US" sz="2800" b="1" dirty="0"/>
              <a:t>Ability to serve underserved</a:t>
            </a:r>
          </a:p>
          <a:p>
            <a:pPr marL="514350" indent="-514350">
              <a:lnSpc>
                <a:spcPct val="150000"/>
              </a:lnSpc>
              <a:buFont typeface="Wingdings" panose="05000000000000000000" pitchFamily="2" charset="2"/>
              <a:buChar char="§"/>
            </a:pPr>
            <a:r>
              <a:rPr lang="en-US" sz="2800" dirty="0"/>
              <a:t>Regulators are likely to want to understand underbanked and underserved customer segments will be served by proposed digital banks</a:t>
            </a:r>
          </a:p>
        </p:txBody>
      </p:sp>
    </p:spTree>
    <p:extLst>
      <p:ext uri="{BB962C8B-B14F-4D97-AF65-F5344CB8AC3E}">
        <p14:creationId xmlns:p14="http://schemas.microsoft.com/office/powerpoint/2010/main" val="147459439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4ABA6-6BF0-A9F0-6048-94B658D53FF1}"/>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D4CDB16A-C12B-40AE-1821-BC065F812CC7}"/>
              </a:ext>
            </a:extLst>
          </p:cNvPr>
          <p:cNvSpPr txBox="1"/>
          <p:nvPr/>
        </p:nvSpPr>
        <p:spPr>
          <a:xfrm>
            <a:off x="902113" y="0"/>
            <a:ext cx="6256973" cy="778868"/>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DIGITAL-ONLY BANKS</a:t>
            </a:r>
          </a:p>
        </p:txBody>
      </p:sp>
      <p:pic>
        <p:nvPicPr>
          <p:cNvPr id="14" name="Picture 13">
            <a:extLst>
              <a:ext uri="{FF2B5EF4-FFF2-40B4-BE49-F238E27FC236}">
                <a16:creationId xmlns:a16="http://schemas.microsoft.com/office/drawing/2014/main" id="{F0C8DEA2-B6B0-1754-F9E8-EA035FB442E8}"/>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04C3C361-1276-528A-2733-60AE9BD692F0}"/>
              </a:ext>
            </a:extLst>
          </p:cNvPr>
          <p:cNvSpPr txBox="1"/>
          <p:nvPr/>
        </p:nvSpPr>
        <p:spPr>
          <a:xfrm>
            <a:off x="481155" y="4197468"/>
            <a:ext cx="7098887" cy="1334276"/>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Conclusion</a:t>
            </a:r>
          </a:p>
        </p:txBody>
      </p:sp>
    </p:spTree>
    <p:extLst>
      <p:ext uri="{BB962C8B-B14F-4D97-AF65-F5344CB8AC3E}">
        <p14:creationId xmlns:p14="http://schemas.microsoft.com/office/powerpoint/2010/main" val="17402982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C9449-17C4-65A0-5CD2-582EBFBE1BD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F61F60B-28ED-BF98-B51C-EA6C763BB509}"/>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483E06BE-B79A-3810-6859-4FF996DBADAF}"/>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FBD3597F-56F9-744B-90E8-15EEAF021E5E}"/>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Bank at Marketplace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8B8AB097-E5E6-2741-E529-0416225B7B78}"/>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5DD4E8F8-95A5-BC35-F279-28FE85C093B0}"/>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766BBD2D-0ED3-06A1-E3F7-5C441EC90D07}"/>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80</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F3120381-AB62-F26B-B5F5-E1ACC89A15EC}"/>
              </a:ext>
            </a:extLst>
          </p:cNvPr>
          <p:cNvSpPr txBox="1"/>
          <p:nvPr/>
        </p:nvSpPr>
        <p:spPr>
          <a:xfrm>
            <a:off x="756447" y="2644758"/>
            <a:ext cx="16775106" cy="3418756"/>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There is no doubt that neo banks are typically perceived as having better technology that provides better access and better services than the established players.</a:t>
            </a:r>
          </a:p>
          <a:p>
            <a:pPr marL="514350" indent="-514350" algn="just">
              <a:lnSpc>
                <a:spcPct val="200000"/>
              </a:lnSpc>
              <a:buFont typeface="Wingdings" panose="05000000000000000000" pitchFamily="2" charset="2"/>
              <a:buChar char="§"/>
            </a:pPr>
            <a:r>
              <a:rPr lang="en-US" sz="2800" dirty="0"/>
              <a:t>Neo banks also tend to speak to their customers with greater clarity providing transparency and better incentives or deals. They can also offer faster client onboarding.</a:t>
            </a:r>
          </a:p>
        </p:txBody>
      </p:sp>
      <p:sp>
        <p:nvSpPr>
          <p:cNvPr id="4" name="TextBox 6">
            <a:extLst>
              <a:ext uri="{FF2B5EF4-FFF2-40B4-BE49-F238E27FC236}">
                <a16:creationId xmlns:a16="http://schemas.microsoft.com/office/drawing/2014/main" id="{511BD83F-7126-EB23-6692-652EB7973A68}"/>
              </a:ext>
            </a:extLst>
          </p:cNvPr>
          <p:cNvSpPr txBox="1"/>
          <p:nvPr/>
        </p:nvSpPr>
        <p:spPr>
          <a:xfrm>
            <a:off x="756447" y="1805216"/>
            <a:ext cx="126293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Conclusion</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491160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C5533-C1A0-A16D-273B-6924BDBD38C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260C03B-DCAA-59C2-E0E3-F4733D93BDDB}"/>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17731CE5-56EA-9E7B-2B73-F2F15455163B}"/>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15D52B05-2576-ADFB-DE95-F598A61D1127}"/>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Bank at Marketplace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9AE45925-97F8-3DFC-A270-7E4DDB3543A5}"/>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704FD352-0EFE-E971-67CA-7FD97692B242}"/>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011B226C-5741-C2D6-3661-103FB76E2213}"/>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81</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F9E51F1-0241-5DF9-6764-693C8EC61F55}"/>
              </a:ext>
            </a:extLst>
          </p:cNvPr>
          <p:cNvSpPr txBox="1"/>
          <p:nvPr/>
        </p:nvSpPr>
        <p:spPr>
          <a:xfrm>
            <a:off x="756447" y="2644758"/>
            <a:ext cx="16775106" cy="3418756"/>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Who will benefit from this </a:t>
            </a:r>
            <a:r>
              <a:rPr lang="en-US" sz="2800" dirty="0" err="1"/>
              <a:t>rebundling</a:t>
            </a:r>
            <a:r>
              <a:rPr lang="en-US" sz="2800" dirty="0"/>
              <a:t> and from Open banking ?</a:t>
            </a:r>
          </a:p>
          <a:p>
            <a:pPr marL="514350" indent="-514350" algn="just">
              <a:lnSpc>
                <a:spcPct val="200000"/>
              </a:lnSpc>
              <a:buFont typeface="Wingdings" panose="05000000000000000000" pitchFamily="2" charset="2"/>
              <a:buChar char="§"/>
            </a:pPr>
            <a:r>
              <a:rPr lang="en-US" sz="2800" dirty="0"/>
              <a:t>Digital-only Banks → have more services to offer will make them more compelling.</a:t>
            </a:r>
          </a:p>
          <a:p>
            <a:pPr marL="514350" indent="-514350" algn="just">
              <a:lnSpc>
                <a:spcPct val="200000"/>
              </a:lnSpc>
              <a:buFont typeface="Wingdings" panose="05000000000000000000" pitchFamily="2" charset="2"/>
              <a:buChar char="§"/>
            </a:pPr>
            <a:r>
              <a:rPr lang="en-US" sz="2800" dirty="0"/>
              <a:t>Fintechs → Gives them more access to users via bank accounts.</a:t>
            </a:r>
          </a:p>
          <a:p>
            <a:pPr marL="514350" indent="-514350" algn="just">
              <a:lnSpc>
                <a:spcPct val="200000"/>
              </a:lnSpc>
              <a:buFont typeface="Wingdings" panose="05000000000000000000" pitchFamily="2" charset="2"/>
              <a:buChar char="§"/>
            </a:pPr>
            <a:r>
              <a:rPr lang="en-US" sz="2800" dirty="0"/>
              <a:t>Users → increases value proposition by having a digital-only bank account.</a:t>
            </a:r>
          </a:p>
        </p:txBody>
      </p:sp>
      <p:sp>
        <p:nvSpPr>
          <p:cNvPr id="4" name="TextBox 6">
            <a:extLst>
              <a:ext uri="{FF2B5EF4-FFF2-40B4-BE49-F238E27FC236}">
                <a16:creationId xmlns:a16="http://schemas.microsoft.com/office/drawing/2014/main" id="{397F20F9-BE0B-D3CA-068E-74AC9059F04D}"/>
              </a:ext>
            </a:extLst>
          </p:cNvPr>
          <p:cNvSpPr txBox="1"/>
          <p:nvPr/>
        </p:nvSpPr>
        <p:spPr>
          <a:xfrm>
            <a:off x="756447" y="1805216"/>
            <a:ext cx="154741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Digital-only Banks to “</a:t>
            </a:r>
            <a:r>
              <a:rPr lang="en-US" sz="32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rebundle</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 Services via Open Banking</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026668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BE8A8-2338-077A-8EBA-4D03906DD39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B5923FF-1274-058F-F057-01EEEA3FCD03}"/>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51F1384A-B1AF-10AC-717B-B234396909CC}"/>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3E254A7E-8B46-2EC1-D230-EB1B5E66DFEF}"/>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Bank at Marketplace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A3EE1862-278F-821B-96AE-BAE30DC47C64}"/>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766C8B72-5383-C268-F1C6-6075B2F4E849}"/>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5C49BC20-5A3C-817C-09D8-629E9FE831FC}"/>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82</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AFDA1604-2044-9E91-30DB-C9608B6B5CDD}"/>
              </a:ext>
            </a:extLst>
          </p:cNvPr>
          <p:cNvSpPr txBox="1"/>
          <p:nvPr/>
        </p:nvSpPr>
        <p:spPr>
          <a:xfrm>
            <a:off x="756447" y="2644758"/>
            <a:ext cx="16775106" cy="51595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400" dirty="0"/>
              <a:t>Challenger banks consolidation begins. Investors are more focused on profitability rather than expansion → funds are slowing down as this sectors reaches another stage of its maturity/growth.</a:t>
            </a:r>
          </a:p>
          <a:p>
            <a:pPr marL="514350" indent="-514350" algn="just">
              <a:lnSpc>
                <a:spcPct val="200000"/>
              </a:lnSpc>
              <a:buFont typeface="Wingdings" panose="05000000000000000000" pitchFamily="2" charset="2"/>
              <a:buChar char="§"/>
            </a:pPr>
            <a:r>
              <a:rPr lang="en-US" sz="2400" dirty="0"/>
              <a:t>Discuss → “Should we have built trading and crypto instead of launching in the US? In hindsight, it might have been a smart idea”, N26 co-founder and co-chief executive Max </a:t>
            </a:r>
            <a:r>
              <a:rPr lang="en-US" sz="2400" dirty="0" err="1"/>
              <a:t>Tayenthal</a:t>
            </a:r>
            <a:r>
              <a:rPr lang="en-US" sz="2400" dirty="0"/>
              <a:t> told the Financial Times in an interview</a:t>
            </a:r>
          </a:p>
          <a:p>
            <a:pPr marL="514350" indent="-514350" algn="just">
              <a:lnSpc>
                <a:spcPct val="200000"/>
              </a:lnSpc>
              <a:buFont typeface="Wingdings" panose="05000000000000000000" pitchFamily="2" charset="2"/>
              <a:buChar char="§"/>
            </a:pPr>
            <a:r>
              <a:rPr lang="en-US" sz="2400" dirty="0"/>
              <a:t>Fintech/Tech firms expanding into the banking sector by acquisitions of digital-only banks for their banking licenses.</a:t>
            </a:r>
          </a:p>
          <a:p>
            <a:pPr marL="514350" indent="-514350" algn="just">
              <a:lnSpc>
                <a:spcPct val="200000"/>
              </a:lnSpc>
              <a:buFont typeface="Wingdings" panose="05000000000000000000" pitchFamily="2" charset="2"/>
              <a:buChar char="§"/>
            </a:pPr>
            <a:r>
              <a:rPr lang="en-US" sz="2400" dirty="0"/>
              <a:t>(</a:t>
            </a:r>
            <a:r>
              <a:rPr lang="en-US" sz="2400" dirty="0" err="1"/>
              <a:t>eg.</a:t>
            </a:r>
            <a:r>
              <a:rPr lang="en-US" sz="2400" dirty="0"/>
              <a:t> June 2020. Credit Sesame (US) acquires Canadian digital-only bank, STACK). (</a:t>
            </a:r>
            <a:r>
              <a:rPr lang="en-US" sz="2400" dirty="0" err="1"/>
              <a:t>Eg.</a:t>
            </a:r>
            <a:r>
              <a:rPr lang="en-US" sz="2400" dirty="0"/>
              <a:t> July 2020. Opera (the web browser) acquiring challenger bank, Fjord Bank).</a:t>
            </a:r>
          </a:p>
        </p:txBody>
      </p:sp>
      <p:sp>
        <p:nvSpPr>
          <p:cNvPr id="4" name="TextBox 6">
            <a:extLst>
              <a:ext uri="{FF2B5EF4-FFF2-40B4-BE49-F238E27FC236}">
                <a16:creationId xmlns:a16="http://schemas.microsoft.com/office/drawing/2014/main" id="{5E0EE335-9B77-DD23-4446-5A0FD65A67D5}"/>
              </a:ext>
            </a:extLst>
          </p:cNvPr>
          <p:cNvSpPr txBox="1"/>
          <p:nvPr/>
        </p:nvSpPr>
        <p:spPr>
          <a:xfrm>
            <a:off x="756447" y="1805216"/>
            <a:ext cx="154741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Future Trend</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792405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7DB4D-3792-B4D0-5651-35E2FCC0F75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8E92BDF-4463-F74A-724A-96BBE9B9A716}"/>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EFB0E8DC-4B87-6628-44E0-D30F07A02CEE}"/>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797C92D0-D169-A1CB-7D9D-74AAF0484A55}"/>
              </a:ext>
            </a:extLst>
          </p:cNvPr>
          <p:cNvSpPr txBox="1"/>
          <p:nvPr/>
        </p:nvSpPr>
        <p:spPr>
          <a:xfrm>
            <a:off x="990600" y="300719"/>
            <a:ext cx="12192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Bank at Marketplace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2A495B76-5E6A-1AE2-8957-E8B919CC194E}"/>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F0F71BF0-0116-E7B7-FD9B-2D2041EC620B}"/>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24C80A8A-38FE-7CDF-3621-4DDEF08B244C}"/>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83</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8BF31DA2-3AEA-5883-76A8-E21BA945C1FC}"/>
              </a:ext>
            </a:extLst>
          </p:cNvPr>
          <p:cNvSpPr txBox="1"/>
          <p:nvPr/>
        </p:nvSpPr>
        <p:spPr>
          <a:xfrm>
            <a:off x="756447" y="2644758"/>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Neobanks are best placed to gain from the current economic climate and individual failings of specific traditional institutions and some of the cryptocurrency providers. Slowly gaining customer awareness, trust and use in recent years, large and SME-sized neobanks have demonstrated their robust security, accessibility, and attention to detail when it comes to servicing customer demands.</a:t>
            </a:r>
          </a:p>
          <a:p>
            <a:pPr marL="514350" indent="-514350" algn="just">
              <a:lnSpc>
                <a:spcPct val="200000"/>
              </a:lnSpc>
              <a:buFont typeface="Wingdings" panose="05000000000000000000" pitchFamily="2" charset="2"/>
              <a:buChar char="§"/>
            </a:pPr>
            <a:r>
              <a:rPr lang="en-US" sz="2800" dirty="0"/>
              <a:t>Popular with younger demographics, if banks continue to experience issues wider demographics will likely start considering a neo-bank account.</a:t>
            </a:r>
          </a:p>
        </p:txBody>
      </p:sp>
      <p:sp>
        <p:nvSpPr>
          <p:cNvPr id="4" name="TextBox 6">
            <a:extLst>
              <a:ext uri="{FF2B5EF4-FFF2-40B4-BE49-F238E27FC236}">
                <a16:creationId xmlns:a16="http://schemas.microsoft.com/office/drawing/2014/main" id="{1CF24ABF-6A25-17FC-4808-6E710FFF6717}"/>
              </a:ext>
            </a:extLst>
          </p:cNvPr>
          <p:cNvSpPr txBox="1"/>
          <p:nvPr/>
        </p:nvSpPr>
        <p:spPr>
          <a:xfrm>
            <a:off x="756447" y="1805216"/>
            <a:ext cx="154741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Conclusion</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176767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A1C32-F668-163D-7823-A162E9F5BE0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BB838D6-DAEB-4DB6-6D8B-5B1F60DC88C3}"/>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6B63ED4-F2D1-0CDD-0BB0-C73C4F926517}"/>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C4E77D6-65A4-FE6B-AFF5-1D71748357C0}"/>
              </a:ext>
            </a:extLst>
          </p:cNvPr>
          <p:cNvSpPr txBox="1"/>
          <p:nvPr/>
        </p:nvSpPr>
        <p:spPr>
          <a:xfrm>
            <a:off x="990600" y="300719"/>
            <a:ext cx="111252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Conclusion – Disruptive Innovation</a:t>
            </a:r>
          </a:p>
        </p:txBody>
      </p:sp>
      <p:sp>
        <p:nvSpPr>
          <p:cNvPr id="9" name="Date Placeholder 8">
            <a:extLst>
              <a:ext uri="{FF2B5EF4-FFF2-40B4-BE49-F238E27FC236}">
                <a16:creationId xmlns:a16="http://schemas.microsoft.com/office/drawing/2014/main" id="{B611A9EB-B419-7633-C7C6-F92FAF4C106A}"/>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A2FAB8A3-7F3D-D20A-DEDE-1F6A195D5B6E}"/>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35ED69A-BEF0-C5B7-6E65-47184B5EFDB3}"/>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84</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9E7B2037-42F5-973B-14B9-27FD171FF8D7}"/>
              </a:ext>
            </a:extLst>
          </p:cNvPr>
          <p:cNvSpPr txBox="1"/>
          <p:nvPr/>
        </p:nvSpPr>
        <p:spPr>
          <a:xfrm>
            <a:off x="757618" y="1790700"/>
            <a:ext cx="16773935" cy="7781489"/>
          </a:xfrm>
          <a:prstGeom prst="rect">
            <a:avLst/>
          </a:prstGeom>
          <a:noFill/>
        </p:spPr>
        <p:txBody>
          <a:bodyPr wrap="square" rtlCol="0">
            <a:spAutoFit/>
          </a:bodyPr>
          <a:lstStyle/>
          <a:p>
            <a:pPr marL="514350" indent="-514350">
              <a:lnSpc>
                <a:spcPct val="150000"/>
              </a:lnSpc>
              <a:buFont typeface="Wingdings" panose="05000000000000000000" pitchFamily="2" charset="2"/>
              <a:buChar char="§"/>
            </a:pPr>
            <a:r>
              <a:rPr lang="en-US" sz="2800" dirty="0"/>
              <a:t>In 2023, Lenders have to manage three big tailwinds in today’s market:</a:t>
            </a:r>
          </a:p>
          <a:p>
            <a:pPr marL="971550" lvl="1" indent="-514350">
              <a:lnSpc>
                <a:spcPct val="150000"/>
              </a:lnSpc>
              <a:buFont typeface="Wingdings" panose="05000000000000000000" pitchFamily="2" charset="2"/>
              <a:buChar char="§"/>
            </a:pPr>
            <a:r>
              <a:rPr lang="en-US" sz="2800" dirty="0"/>
              <a:t>Rising delinquency rates and charge-offs.</a:t>
            </a:r>
          </a:p>
          <a:p>
            <a:pPr marL="971550" lvl="1" indent="-514350">
              <a:lnSpc>
                <a:spcPct val="150000"/>
              </a:lnSpc>
              <a:buFont typeface="Wingdings" panose="05000000000000000000" pitchFamily="2" charset="2"/>
              <a:buChar char="§"/>
            </a:pPr>
            <a:r>
              <a:rPr lang="en-US" sz="2800" dirty="0"/>
              <a:t>Higher cost of capital for the debt they lend.</a:t>
            </a:r>
          </a:p>
          <a:p>
            <a:pPr marL="971550" lvl="1" indent="-514350">
              <a:lnSpc>
                <a:spcPct val="150000"/>
              </a:lnSpc>
              <a:buFont typeface="Wingdings" panose="05000000000000000000" pitchFamily="2" charset="2"/>
              <a:buChar char="§"/>
            </a:pPr>
            <a:r>
              <a:rPr lang="en-US" sz="2800" dirty="0"/>
              <a:t>Decreasing demand from customers because of higher interest rates</a:t>
            </a:r>
          </a:p>
          <a:p>
            <a:pPr marL="514350" indent="-514350">
              <a:lnSpc>
                <a:spcPct val="150000"/>
              </a:lnSpc>
              <a:buFont typeface="Wingdings" panose="05000000000000000000" pitchFamily="2" charset="2"/>
              <a:buChar char="§"/>
            </a:pPr>
            <a:r>
              <a:rPr lang="en-US" sz="2800" dirty="0"/>
              <a:t>Do not settle for incremental improvement ,,, go for disruption. Building a solution that makes a task just incrementally easier, or embedding financial services into an existing app, doesn’t generate impactful change for users or the market. Fintech needs companies that will redefine finance.</a:t>
            </a:r>
          </a:p>
          <a:p>
            <a:pPr marL="514350" indent="-514350">
              <a:lnSpc>
                <a:spcPct val="150000"/>
              </a:lnSpc>
              <a:buFont typeface="Wingdings" panose="05000000000000000000" pitchFamily="2" charset="2"/>
              <a:buChar char="§"/>
            </a:pPr>
            <a:r>
              <a:rPr lang="en-US" sz="2800" dirty="0"/>
              <a:t>For example, Klarna and Affirm redesigned and redefined point-of-sale financing with buy-now-pay-later (BNPL). BNPL presents consumers with an entirely new way to think about financing purchases (closed-end installment loans as opposed to open-ended credit with traditional credit cards). BNPL also allows merchants to incentivize specific product purchases with interest-free financing (which the merchant can subsidize), something not</a:t>
            </a:r>
          </a:p>
        </p:txBody>
      </p:sp>
    </p:spTree>
    <p:extLst>
      <p:ext uri="{BB962C8B-B14F-4D97-AF65-F5344CB8AC3E}">
        <p14:creationId xmlns:p14="http://schemas.microsoft.com/office/powerpoint/2010/main" val="87592222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DBED5-E323-AC14-B7DF-E524FAF9F43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458DA65-B7AE-2A8F-6F1D-03D58FA3D4E8}"/>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5B38F987-694B-0471-AC4A-7B1051E8E5F5}"/>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73FD73FF-9ABD-68E9-CBEB-8EB8AB47F176}"/>
              </a:ext>
            </a:extLst>
          </p:cNvPr>
          <p:cNvSpPr txBox="1"/>
          <p:nvPr/>
        </p:nvSpPr>
        <p:spPr>
          <a:xfrm>
            <a:off x="990600" y="300719"/>
            <a:ext cx="111252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Conclusion – Disruptive Innovation</a:t>
            </a:r>
          </a:p>
        </p:txBody>
      </p:sp>
      <p:sp>
        <p:nvSpPr>
          <p:cNvPr id="9" name="Date Placeholder 8">
            <a:extLst>
              <a:ext uri="{FF2B5EF4-FFF2-40B4-BE49-F238E27FC236}">
                <a16:creationId xmlns:a16="http://schemas.microsoft.com/office/drawing/2014/main" id="{A4D0901E-4D49-DDF8-9225-536CBCEDFECD}"/>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66C50301-81C6-2DE1-4F9F-4F36F1EB2328}"/>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BFF1F62F-C7DA-4CEC-83C8-BE8AAD7930F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85</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676FDA7E-991F-25EE-5509-6332CC64D155}"/>
              </a:ext>
            </a:extLst>
          </p:cNvPr>
          <p:cNvSpPr txBox="1"/>
          <p:nvPr/>
        </p:nvSpPr>
        <p:spPr>
          <a:xfrm>
            <a:off x="757618" y="1790700"/>
            <a:ext cx="16773935" cy="5842497"/>
          </a:xfrm>
          <a:prstGeom prst="rect">
            <a:avLst/>
          </a:prstGeom>
          <a:noFill/>
        </p:spPr>
        <p:txBody>
          <a:bodyPr wrap="square" rtlCol="0">
            <a:spAutoFit/>
          </a:bodyPr>
          <a:lstStyle/>
          <a:p>
            <a:pPr marL="514350" indent="-514350">
              <a:lnSpc>
                <a:spcPct val="150000"/>
              </a:lnSpc>
              <a:buFont typeface="Wingdings" panose="05000000000000000000" pitchFamily="2" charset="2"/>
              <a:buChar char="§"/>
            </a:pPr>
            <a:r>
              <a:rPr lang="en-US" sz="2800" dirty="0"/>
              <a:t>Disruptive innovation is welcome in other areas of finance, too. For example, banks are extremely conservative when it comes to offering lines of credit for small businesses, as monitoring can become operationally  straining for the bank and thus less appealing for smaller, less-lucrative lines.</a:t>
            </a:r>
          </a:p>
          <a:p>
            <a:pPr marL="514350" indent="-514350">
              <a:lnSpc>
                <a:spcPct val="150000"/>
              </a:lnSpc>
              <a:buFont typeface="Wingdings" panose="05000000000000000000" pitchFamily="2" charset="2"/>
              <a:buChar char="§"/>
            </a:pPr>
            <a:r>
              <a:rPr lang="en-US" sz="2800" dirty="0"/>
              <a:t>It is easy to anchor your product to what others are doing or to pursue incremental innovation. Looking at the many neobanks cropping up, many look the same. Disruptive innovation will always be a challenge, and those players that dare to fully redefine the $800 billion banking market are the ones who will succeed the same way Apple did with consumer technology. Those limiting themselves to merely beating out incumbents will either pivot or fizzle out.</a:t>
            </a:r>
          </a:p>
          <a:p>
            <a:pPr marL="514350" indent="-514350">
              <a:lnSpc>
                <a:spcPct val="150000"/>
              </a:lnSpc>
              <a:buFont typeface="Wingdings" panose="05000000000000000000" pitchFamily="2" charset="2"/>
              <a:buChar char="§"/>
            </a:pPr>
            <a:endParaRPr lang="en-US" sz="2800" dirty="0"/>
          </a:p>
        </p:txBody>
      </p:sp>
    </p:spTree>
    <p:extLst>
      <p:ext uri="{BB962C8B-B14F-4D97-AF65-F5344CB8AC3E}">
        <p14:creationId xmlns:p14="http://schemas.microsoft.com/office/powerpoint/2010/main" val="363828534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9FCF5-8DE7-0D70-008E-5B76A8FC2AD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8DDBC08-0805-3C22-F9BA-856444F8D4DB}"/>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C0BE0F27-30ED-2F2C-9979-96141E51183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06DEC36E-5CE0-B1A7-CF73-59DB75A2FD10}"/>
              </a:ext>
            </a:extLst>
          </p:cNvPr>
          <p:cNvSpPr txBox="1"/>
          <p:nvPr/>
        </p:nvSpPr>
        <p:spPr>
          <a:xfrm>
            <a:off x="990600" y="300719"/>
            <a:ext cx="111252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Conclusion – Adding Value</a:t>
            </a:r>
          </a:p>
        </p:txBody>
      </p:sp>
      <p:sp>
        <p:nvSpPr>
          <p:cNvPr id="9" name="Date Placeholder 8">
            <a:extLst>
              <a:ext uri="{FF2B5EF4-FFF2-40B4-BE49-F238E27FC236}">
                <a16:creationId xmlns:a16="http://schemas.microsoft.com/office/drawing/2014/main" id="{B9B2157B-553B-E8BC-3CAE-65871F7B6DD9}"/>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904F97B6-7407-CE99-29B5-D5B1CE8213C1}"/>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83B1BD51-57AA-4394-16B7-94DF1F9B0DA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86</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58C14172-75C3-FE87-ED36-D4290A4521DA}"/>
              </a:ext>
            </a:extLst>
          </p:cNvPr>
          <p:cNvSpPr txBox="1"/>
          <p:nvPr/>
        </p:nvSpPr>
        <p:spPr>
          <a:xfrm>
            <a:off x="757618" y="1790700"/>
            <a:ext cx="16773935" cy="5196166"/>
          </a:xfrm>
          <a:prstGeom prst="rect">
            <a:avLst/>
          </a:prstGeom>
          <a:noFill/>
        </p:spPr>
        <p:txBody>
          <a:bodyPr wrap="square" rtlCol="0">
            <a:spAutoFit/>
          </a:bodyPr>
          <a:lstStyle/>
          <a:p>
            <a:pPr marL="514350" indent="-514350">
              <a:lnSpc>
                <a:spcPct val="150000"/>
              </a:lnSpc>
              <a:buFont typeface="Wingdings" panose="05000000000000000000" pitchFamily="2" charset="2"/>
              <a:buChar char="§"/>
            </a:pPr>
            <a:r>
              <a:rPr lang="en-US" sz="2800" b="1" dirty="0"/>
              <a:t>Do not build superfluous features instead of adding value.</a:t>
            </a:r>
          </a:p>
          <a:p>
            <a:pPr marL="514350" indent="-514350">
              <a:lnSpc>
                <a:spcPct val="150000"/>
              </a:lnSpc>
              <a:buFont typeface="Wingdings" panose="05000000000000000000" pitchFamily="2" charset="2"/>
              <a:buChar char="§"/>
            </a:pPr>
            <a:r>
              <a:rPr lang="en-US" sz="2800" dirty="0"/>
              <a:t>To provide value for your segment, consider your task and focus on doing it well. While the number of your features will be continuously growing, success is rarely measured by their quantity. …quality beats quantity any day of the week.</a:t>
            </a:r>
          </a:p>
          <a:p>
            <a:pPr marL="514350" indent="-514350">
              <a:lnSpc>
                <a:spcPct val="150000"/>
              </a:lnSpc>
              <a:buFont typeface="Wingdings" panose="05000000000000000000" pitchFamily="2" charset="2"/>
              <a:buChar char="§"/>
            </a:pPr>
            <a:r>
              <a:rPr lang="en-US" sz="2800" dirty="0"/>
              <a:t>There are fintechs that focus on sheer feature velocity or build things that just look “cool” versus thinking critically about their customers’ needs and how to add value to their everyday lives. Some fintechs boast a vast number of third-party integrations for their users, but in reality, many of these external services are rarely used by their target segment.</a:t>
            </a:r>
          </a:p>
        </p:txBody>
      </p:sp>
    </p:spTree>
    <p:extLst>
      <p:ext uri="{BB962C8B-B14F-4D97-AF65-F5344CB8AC3E}">
        <p14:creationId xmlns:p14="http://schemas.microsoft.com/office/powerpoint/2010/main" val="78093727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4F445-2462-F056-C56D-79E298E295A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8BE05F0-876F-ED1E-AE14-35D1E14D145C}"/>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D2BFBDA-5052-C3CA-B25D-182B6B5FD511}"/>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94EE76A-30E4-EAB2-2164-AB5B76226F40}"/>
              </a:ext>
            </a:extLst>
          </p:cNvPr>
          <p:cNvSpPr txBox="1"/>
          <p:nvPr/>
        </p:nvSpPr>
        <p:spPr>
          <a:xfrm>
            <a:off x="990600" y="300719"/>
            <a:ext cx="111252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Conclusion – Adding Value</a:t>
            </a:r>
          </a:p>
        </p:txBody>
      </p:sp>
      <p:sp>
        <p:nvSpPr>
          <p:cNvPr id="9" name="Date Placeholder 8">
            <a:extLst>
              <a:ext uri="{FF2B5EF4-FFF2-40B4-BE49-F238E27FC236}">
                <a16:creationId xmlns:a16="http://schemas.microsoft.com/office/drawing/2014/main" id="{4B132E88-000F-54EE-DA8B-19A549C847DB}"/>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486D2E2F-89CA-05B6-A6CE-5F073C4253FF}"/>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31328D35-4C32-B90C-D597-B54D57C183C7}"/>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87</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BFC40190-F417-80A0-5F03-54C471A1AC8F}"/>
              </a:ext>
            </a:extLst>
          </p:cNvPr>
          <p:cNvSpPr txBox="1"/>
          <p:nvPr/>
        </p:nvSpPr>
        <p:spPr>
          <a:xfrm>
            <a:off x="757618" y="1790700"/>
            <a:ext cx="16773935" cy="5842497"/>
          </a:xfrm>
          <a:prstGeom prst="rect">
            <a:avLst/>
          </a:prstGeom>
          <a:noFill/>
        </p:spPr>
        <p:txBody>
          <a:bodyPr wrap="square" rtlCol="0">
            <a:spAutoFit/>
          </a:bodyPr>
          <a:lstStyle/>
          <a:p>
            <a:pPr marL="514350" indent="-514350">
              <a:lnSpc>
                <a:spcPct val="150000"/>
              </a:lnSpc>
              <a:buFont typeface="Wingdings" panose="05000000000000000000" pitchFamily="2" charset="2"/>
              <a:buChar char="§"/>
            </a:pPr>
            <a:r>
              <a:rPr lang="en-US" sz="2800" dirty="0"/>
              <a:t>This kind of window dressing is a misallocation of resources that could be better spent improving and iterating your core offering.</a:t>
            </a:r>
          </a:p>
          <a:p>
            <a:pPr marL="514350" indent="-514350">
              <a:lnSpc>
                <a:spcPct val="150000"/>
              </a:lnSpc>
              <a:buFont typeface="Wingdings" panose="05000000000000000000" pitchFamily="2" charset="2"/>
              <a:buChar char="§"/>
            </a:pPr>
            <a:r>
              <a:rPr lang="en-US" sz="2800" dirty="0"/>
              <a:t>Another example: many consumers don’t actually want or need sophisticated financial visualization tools, like cash-flow prediction. But we continue to see these extraneous features in banking apps because, again, they look cool (or sound good to investors). But backend functionality, like fast money movement, should be prioritized instead.</a:t>
            </a:r>
          </a:p>
          <a:p>
            <a:pPr marL="514350" indent="-514350">
              <a:lnSpc>
                <a:spcPct val="150000"/>
              </a:lnSpc>
              <a:buFont typeface="Wingdings" panose="05000000000000000000" pitchFamily="2" charset="2"/>
              <a:buChar char="§"/>
            </a:pPr>
            <a:r>
              <a:rPr lang="en-US" sz="2800" dirty="0"/>
              <a:t>Functionalities should be purposeful, thoughtful and driven by customer needs or feedback. People will find a way to access the services they need, whether it’s within your platform or living elsewhere. There are needs in the market and so many jobs to be done, so question whether a given functionality is your company’s job.</a:t>
            </a:r>
          </a:p>
        </p:txBody>
      </p:sp>
    </p:spTree>
    <p:extLst>
      <p:ext uri="{BB962C8B-B14F-4D97-AF65-F5344CB8AC3E}">
        <p14:creationId xmlns:p14="http://schemas.microsoft.com/office/powerpoint/2010/main" val="218291110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D7EFB-5878-25A4-2A32-6D3E467657E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97C35C8-0EB3-B8B7-982F-E8C958A19198}"/>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EEE20CD6-157E-EDA2-6D29-96A784DC959D}"/>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86000245-9592-495B-9037-7DC782483970}"/>
              </a:ext>
            </a:extLst>
          </p:cNvPr>
          <p:cNvSpPr txBox="1"/>
          <p:nvPr/>
        </p:nvSpPr>
        <p:spPr>
          <a:xfrm>
            <a:off x="990600" y="300719"/>
            <a:ext cx="111252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Conclusion – Live Support</a:t>
            </a:r>
          </a:p>
        </p:txBody>
      </p:sp>
      <p:sp>
        <p:nvSpPr>
          <p:cNvPr id="9" name="Date Placeholder 8">
            <a:extLst>
              <a:ext uri="{FF2B5EF4-FFF2-40B4-BE49-F238E27FC236}">
                <a16:creationId xmlns:a16="http://schemas.microsoft.com/office/drawing/2014/main" id="{C7887BA0-0C06-F9EE-85EF-D6ABF6B3D1F9}"/>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FF0921C6-94EB-854A-0A4E-1AFA3A4A17ED}"/>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970BA196-04E5-EB1C-7634-73C9D629057C}"/>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88</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ABA2B487-2FE2-3824-F1C5-F687AE7996B5}"/>
              </a:ext>
            </a:extLst>
          </p:cNvPr>
          <p:cNvSpPr txBox="1"/>
          <p:nvPr/>
        </p:nvSpPr>
        <p:spPr>
          <a:xfrm>
            <a:off x="757618" y="1790700"/>
            <a:ext cx="16773935" cy="7135158"/>
          </a:xfrm>
          <a:prstGeom prst="rect">
            <a:avLst/>
          </a:prstGeom>
          <a:noFill/>
        </p:spPr>
        <p:txBody>
          <a:bodyPr wrap="square" rtlCol="0">
            <a:spAutoFit/>
          </a:bodyPr>
          <a:lstStyle/>
          <a:p>
            <a:pPr marL="514350" indent="-514350">
              <a:lnSpc>
                <a:spcPct val="150000"/>
              </a:lnSpc>
              <a:buFont typeface="Wingdings" panose="05000000000000000000" pitchFamily="2" charset="2"/>
              <a:buChar char="§"/>
            </a:pPr>
            <a:r>
              <a:rPr lang="en-US" sz="2800" b="1" dirty="0"/>
              <a:t>Do not neglect live support in favor of technology.</a:t>
            </a:r>
          </a:p>
          <a:p>
            <a:pPr marL="514350" indent="-514350">
              <a:lnSpc>
                <a:spcPct val="150000"/>
              </a:lnSpc>
              <a:buFont typeface="Wingdings" panose="05000000000000000000" pitchFamily="2" charset="2"/>
              <a:buChar char="§"/>
            </a:pPr>
            <a:r>
              <a:rPr lang="en-US" sz="2800" dirty="0"/>
              <a:t>Digital finance doesn’t mean 100% self-serve. Of course, the model must work and offer efficiencies from being digitally native, but there are many areas – banking being one of them – where live support is vital. Over-reliance on AI-powered chatbots, voice assistants or self-serve online resources is not only poorly received by current users, but does a disservice to the growth of your business.</a:t>
            </a:r>
          </a:p>
          <a:p>
            <a:pPr marL="514350" indent="-514350">
              <a:lnSpc>
                <a:spcPct val="150000"/>
              </a:lnSpc>
              <a:buFont typeface="Wingdings" panose="05000000000000000000" pitchFamily="2" charset="2"/>
              <a:buChar char="§"/>
            </a:pPr>
            <a:r>
              <a:rPr lang="en-US" sz="2800" dirty="0"/>
              <a:t>This goes back to the idea of understanding that your offering is more than a product – it’s excellent to have a resource center for common questions or troubleshooting, for example, but relying solely on that plus email support is a major shortcoming.</a:t>
            </a:r>
          </a:p>
          <a:p>
            <a:pPr marL="514350" indent="-514350">
              <a:lnSpc>
                <a:spcPct val="150000"/>
              </a:lnSpc>
              <a:buFont typeface="Wingdings" panose="05000000000000000000" pitchFamily="2" charset="2"/>
              <a:buChar char="§"/>
            </a:pPr>
            <a:r>
              <a:rPr lang="en-US" sz="2800" dirty="0"/>
              <a:t>Robust customer support services require various avenues of contact – email, phone, SMS, in-app chat assistance – and, importantly, reliable human support. Never needed, always there should be what you’re optimizing for and ultimately what customers appreciate</a:t>
            </a:r>
          </a:p>
        </p:txBody>
      </p:sp>
    </p:spTree>
    <p:extLst>
      <p:ext uri="{BB962C8B-B14F-4D97-AF65-F5344CB8AC3E}">
        <p14:creationId xmlns:p14="http://schemas.microsoft.com/office/powerpoint/2010/main" val="369724437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F953A-DA71-145A-DCA8-54D782C6FDC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F964A72-D9FC-96AE-C66B-677BBD05735D}"/>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E5E3CE9B-0C71-47C6-7ABE-9A864B7BCABF}"/>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0B347586-312F-AA98-B620-9DCEDBC2760A}"/>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SUMMARY</a:t>
            </a:r>
          </a:p>
        </p:txBody>
      </p:sp>
      <p:sp>
        <p:nvSpPr>
          <p:cNvPr id="9" name="Date Placeholder 8">
            <a:extLst>
              <a:ext uri="{FF2B5EF4-FFF2-40B4-BE49-F238E27FC236}">
                <a16:creationId xmlns:a16="http://schemas.microsoft.com/office/drawing/2014/main" id="{3C04D99B-80CF-7265-1CBC-A9C5E8FDB3D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a:t>
            </a:r>
          </a:p>
        </p:txBody>
      </p:sp>
      <p:sp>
        <p:nvSpPr>
          <p:cNvPr id="10" name="Footer Placeholder 9">
            <a:extLst>
              <a:ext uri="{FF2B5EF4-FFF2-40B4-BE49-F238E27FC236}">
                <a16:creationId xmlns:a16="http://schemas.microsoft.com/office/drawing/2014/main" id="{5EAD191B-ADE5-6634-B227-09832F21B02E}"/>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F0DDB6F-E6A7-30A5-6814-87B6FEB68A5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89</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46B281DE-2C70-56DC-A4FF-BC6BD1E2D79C}"/>
              </a:ext>
            </a:extLst>
          </p:cNvPr>
          <p:cNvSpPr txBox="1"/>
          <p:nvPr/>
        </p:nvSpPr>
        <p:spPr>
          <a:xfrm>
            <a:off x="757618" y="1555896"/>
            <a:ext cx="16773935" cy="7966155"/>
          </a:xfrm>
          <a:prstGeom prst="rect">
            <a:avLst/>
          </a:prstGeom>
          <a:noFill/>
        </p:spPr>
        <p:txBody>
          <a:bodyPr wrap="square" rtlCol="0">
            <a:spAutoFit/>
          </a:bodyPr>
          <a:lstStyle/>
          <a:p>
            <a:r>
              <a:rPr lang="en-US" sz="2800" dirty="0"/>
              <a:t>By the end of this session:</a:t>
            </a:r>
            <a:endParaRPr lang="en-MY" sz="2600" dirty="0"/>
          </a:p>
          <a:p>
            <a:pPr marL="514350" indent="-514350">
              <a:buFont typeface="+mj-lt"/>
              <a:buAutoNum type="arabicPeriod"/>
            </a:pPr>
            <a:endParaRPr lang="en-MY" sz="2600" dirty="0"/>
          </a:p>
          <a:p>
            <a:pPr marL="514350" indent="-514350">
              <a:lnSpc>
                <a:spcPct val="150000"/>
              </a:lnSpc>
              <a:buFont typeface="+mj-lt"/>
              <a:buAutoNum type="arabicPeriod"/>
            </a:pPr>
            <a:r>
              <a:rPr lang="en-US" sz="2800" b="1" dirty="0"/>
              <a:t>Value Proposition:</a:t>
            </a:r>
            <a:r>
              <a:rPr lang="en-US" sz="2800" dirty="0"/>
              <a:t> Branchless digital banks have 40-70% lower operating costs than traditional banks. This enables them to offer lower fees, higher interest rates , and rapid, paperless account setup. </a:t>
            </a:r>
            <a:endParaRPr lang="en-US" sz="1000" b="1" dirty="0"/>
          </a:p>
          <a:p>
            <a:pPr marL="514350" indent="-514350">
              <a:lnSpc>
                <a:spcPct val="150000"/>
              </a:lnSpc>
              <a:buFont typeface="+mj-lt"/>
              <a:buAutoNum type="arabicPeriod"/>
            </a:pPr>
            <a:r>
              <a:rPr lang="en-US" sz="2800" b="1" dirty="0"/>
              <a:t>Customer Focus:</a:t>
            </a:r>
            <a:r>
              <a:rPr lang="en-US" sz="2800" dirty="0"/>
              <a:t> Customers are switching to digital banks for better user experiences. They prefer the simplicity, transparency , and personalized, data-driven insights that neobanks provide. </a:t>
            </a:r>
            <a:endParaRPr lang="en-US" sz="1000" dirty="0"/>
          </a:p>
          <a:p>
            <a:pPr marL="514350" indent="-514350">
              <a:lnSpc>
                <a:spcPct val="150000"/>
              </a:lnSpc>
              <a:buFont typeface="+mj-lt"/>
              <a:buAutoNum type="arabicPeriod"/>
            </a:pPr>
            <a:r>
              <a:rPr lang="en-US" sz="2800" b="1" dirty="0"/>
              <a:t>Profitability Challenge:</a:t>
            </a:r>
            <a:r>
              <a:rPr lang="en-US" sz="2800" dirty="0"/>
              <a:t> Achieving sustainable profit is a major hurdle, as many operate at a loss just to acquire customers. To survive, they are shifting focus to higher-margin products like lending and paid subscription tiers. </a:t>
            </a:r>
            <a:endParaRPr lang="en-US" sz="1000" dirty="0"/>
          </a:p>
          <a:p>
            <a:pPr marL="514350" indent="-514350">
              <a:lnSpc>
                <a:spcPct val="150000"/>
              </a:lnSpc>
              <a:buFont typeface="+mj-lt"/>
              <a:buAutoNum type="arabicPeriod"/>
            </a:pPr>
            <a:r>
              <a:rPr lang="en-US" sz="2800" b="1" dirty="0"/>
              <a:t>Incumbent Strategies:</a:t>
            </a:r>
            <a:r>
              <a:rPr lang="en-US" sz="2800" dirty="0"/>
              <a:t> Traditional banks are fighting back by building their own standalone digital brands , acquiring existing neobanks , or forming strategic partnerships with fintech companies. </a:t>
            </a:r>
          </a:p>
          <a:p>
            <a:pPr marL="514350" indent="-514350">
              <a:lnSpc>
                <a:spcPct val="150000"/>
              </a:lnSpc>
              <a:buFont typeface="+mj-lt"/>
              <a:buAutoNum type="arabicPeriod"/>
            </a:pPr>
            <a:r>
              <a:rPr lang="en-US" sz="2800" b="1" dirty="0"/>
              <a:t>Risks &amp; Regulations:</a:t>
            </a:r>
            <a:r>
              <a:rPr lang="en-US" sz="2800" dirty="0"/>
              <a:t> While regulators support digital banks to increase competition and serve underbanked populations , these banks face significant cybersecurity risks and must prove to regulators they have a clear path to profitability. </a:t>
            </a:r>
          </a:p>
        </p:txBody>
      </p:sp>
    </p:spTree>
    <p:extLst>
      <p:ext uri="{BB962C8B-B14F-4D97-AF65-F5344CB8AC3E}">
        <p14:creationId xmlns:p14="http://schemas.microsoft.com/office/powerpoint/2010/main" val="106739016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56447" y="1563443"/>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p:cNvSpPr/>
          <p:nvPr/>
        </p:nvSpPr>
        <p:spPr>
          <a:xfrm flipV="1">
            <a:off x="1028700" y="9534526"/>
            <a:ext cx="16502853"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 name="Group 4"/>
          <p:cNvGrpSpPr/>
          <p:nvPr/>
        </p:nvGrpSpPr>
        <p:grpSpPr>
          <a:xfrm>
            <a:off x="4648200" y="4777861"/>
            <a:ext cx="8037635" cy="3503005"/>
            <a:chOff x="0" y="0"/>
            <a:chExt cx="2337006" cy="1018527"/>
          </a:xfrm>
          <a:noFill/>
        </p:grpSpPr>
        <p:sp>
          <p:nvSpPr>
            <p:cNvPr id="5" name="Freeform 5"/>
            <p:cNvSpPr/>
            <p:nvPr/>
          </p:nvSpPr>
          <p:spPr>
            <a:xfrm>
              <a:off x="0" y="0"/>
              <a:ext cx="2337006" cy="1018527"/>
            </a:xfrm>
            <a:custGeom>
              <a:avLst/>
              <a:gdLst/>
              <a:ahLst/>
              <a:cxnLst/>
              <a:rect l="l" t="t" r="r" b="b"/>
              <a:pathLst>
                <a:path w="2337006" h="1018527">
                  <a:moveTo>
                    <a:pt x="0" y="0"/>
                  </a:moveTo>
                  <a:lnTo>
                    <a:pt x="2337006" y="0"/>
                  </a:lnTo>
                  <a:lnTo>
                    <a:pt x="2337006" y="1018527"/>
                  </a:lnTo>
                  <a:lnTo>
                    <a:pt x="0" y="1018527"/>
                  </a:lnTo>
                  <a:close/>
                </a:path>
              </a:pathLst>
            </a:custGeom>
            <a:grpFill/>
            <a:ln w="38100" cap="sq">
              <a:solidFill>
                <a:schemeClr val="tx1"/>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p:cNvSpPr txBox="1"/>
            <p:nvPr/>
          </p:nvSpPr>
          <p:spPr>
            <a:xfrm>
              <a:off x="0" y="-38100"/>
              <a:ext cx="2337006" cy="1056627"/>
            </a:xfrm>
            <a:prstGeom prst="rect">
              <a:avLst/>
            </a:prstGeom>
            <a:grpFill/>
          </p:spPr>
          <p:txBody>
            <a:bodyPr lIns="50800" tIns="50800" rIns="50800" bIns="50800" rtlCol="0" anchor="ctr"/>
            <a:lstStyle/>
            <a:p>
              <a:pPr marL="0" marR="0" lvl="0" indent="0" algn="ctr" defTabSz="457200" rtl="0" eaLnBrk="1" fontAlgn="auto" latinLnBrk="0" hangingPunct="1">
                <a:lnSpc>
                  <a:spcPts val="2737"/>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 name="TextBox 8"/>
          <p:cNvSpPr txBox="1"/>
          <p:nvPr/>
        </p:nvSpPr>
        <p:spPr>
          <a:xfrm>
            <a:off x="3042298" y="3005254"/>
            <a:ext cx="10822028" cy="1371979"/>
          </a:xfrm>
          <a:prstGeom prst="rect">
            <a:avLst/>
          </a:prstGeom>
          <a:noFill/>
        </p:spPr>
        <p:txBody>
          <a:bodyPr lIns="0" tIns="0" rIns="0" bIns="0" rtlCol="0" anchor="t">
            <a:spAutoFit/>
          </a:bodyPr>
          <a:lstStyle/>
          <a:p>
            <a:pPr marL="0" marR="0" lvl="0" indent="0" algn="ctr" defTabSz="457200" rtl="0" eaLnBrk="1" fontAlgn="auto" latinLnBrk="0" hangingPunct="1">
              <a:lnSpc>
                <a:spcPts val="11855"/>
              </a:lnSpc>
              <a:spcBef>
                <a:spcPct val="0"/>
              </a:spcBef>
              <a:spcAft>
                <a:spcPts val="0"/>
              </a:spcAft>
              <a:buClrTx/>
              <a:buSzTx/>
              <a:buFontTx/>
              <a:buNone/>
              <a:tabLst/>
              <a:defRPr/>
            </a:pPr>
            <a:r>
              <a:rPr kumimoji="0" lang="en-US" sz="7799" b="1" i="0" u="none" strike="noStrike" kern="1200" cap="none" spc="0" normalizeH="0" baseline="0" noProof="0">
                <a:ln>
                  <a:noFill/>
                </a:ln>
                <a:gradFill>
                  <a:gsLst>
                    <a:gs pos="0">
                      <a:schemeClr val="accent5">
                        <a:lumMod val="75000"/>
                      </a:scheme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rPr>
              <a:t>THANK YOU</a:t>
            </a:r>
          </a:p>
        </p:txBody>
      </p:sp>
      <p:sp>
        <p:nvSpPr>
          <p:cNvPr id="10" name="TextBox 10"/>
          <p:cNvSpPr txBox="1"/>
          <p:nvPr/>
        </p:nvSpPr>
        <p:spPr>
          <a:xfrm>
            <a:off x="5614211" y="5660960"/>
            <a:ext cx="5678202" cy="396367"/>
          </a:xfrm>
          <a:prstGeom prst="rect">
            <a:avLst/>
          </a:prstGeom>
        </p:spPr>
        <p:txBody>
          <a:bodyPr lIns="0" tIns="0" rIns="0" bIns="0" rtlCol="0" anchor="t">
            <a:spAutoFit/>
          </a:bodyPr>
          <a:lstStyle/>
          <a:p>
            <a:pPr marL="0" marR="0" lvl="0" indent="0" algn="ctr" defTabSz="457200" rtl="0" eaLnBrk="1" fontAlgn="auto" latinLnBrk="0" hangingPunct="1">
              <a:lnSpc>
                <a:spcPts val="3343"/>
              </a:lnSpc>
              <a:spcBef>
                <a:spcPts val="0"/>
              </a:spcBef>
              <a:spcAft>
                <a:spcPts val="0"/>
              </a:spcAft>
              <a:buClrTx/>
              <a:buSzTx/>
              <a:buFontTx/>
              <a:buNone/>
              <a:tabLst/>
              <a:defRPr/>
            </a:pPr>
            <a:r>
              <a:rPr kumimoji="0" lang="en-US" sz="2199"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Aptos"/>
                <a:ea typeface="Aptos"/>
                <a:cs typeface="Aptos"/>
                <a:sym typeface="Aptos"/>
              </a:rPr>
              <a:t>DEPARTMENT OF COMPUTING</a:t>
            </a:r>
          </a:p>
        </p:txBody>
      </p:sp>
      <p:sp>
        <p:nvSpPr>
          <p:cNvPr id="11" name="TextBox 11"/>
          <p:cNvSpPr txBox="1"/>
          <p:nvPr/>
        </p:nvSpPr>
        <p:spPr>
          <a:xfrm>
            <a:off x="5074241" y="5186980"/>
            <a:ext cx="6758143" cy="893130"/>
          </a:xfrm>
          <a:prstGeom prst="rect">
            <a:avLst/>
          </a:prstGeom>
        </p:spPr>
        <p:txBody>
          <a:bodyPr lIns="0" tIns="0" rIns="0" bIns="0" rtlCol="0" anchor="t">
            <a:spAutoFit/>
          </a:bodyPr>
          <a:lstStyle/>
          <a:p>
            <a:pPr algn="ctr">
              <a:lnSpc>
                <a:spcPts val="3647"/>
              </a:lnSpc>
              <a:defRPr/>
            </a:pPr>
            <a:r>
              <a:rPr lang="en-MY" sz="2399" spc="98" dirty="0">
                <a:gradFill>
                  <a:gsLst>
                    <a:gs pos="0">
                      <a:srgbClr val="000000">
                        <a:alpha val="100000"/>
                      </a:srgbClr>
                    </a:gs>
                    <a:gs pos="50000">
                      <a:srgbClr val="002F31">
                        <a:alpha val="100000"/>
                      </a:srgbClr>
                    </a:gs>
                    <a:gs pos="100000">
                      <a:srgbClr val="00959A">
                        <a:alpha val="100000"/>
                      </a:srgbClr>
                    </a:gs>
                  </a:gsLst>
                  <a:lin ang="2700000"/>
                </a:gradFill>
                <a:latin typeface="Aptos"/>
              </a:rPr>
              <a:t>Shuhaida Bt M Shuhidan</a:t>
            </a:r>
          </a:p>
          <a:p>
            <a:pPr marL="0" marR="0" lvl="0" indent="0" algn="ctr" defTabSz="457200" rtl="0" eaLnBrk="1" fontAlgn="auto" latinLnBrk="0" hangingPunct="1">
              <a:lnSpc>
                <a:spcPts val="3647"/>
              </a:lnSpc>
              <a:spcBef>
                <a:spcPts val="0"/>
              </a:spcBef>
              <a:spcAft>
                <a:spcPts val="0"/>
              </a:spcAft>
              <a:buClrTx/>
              <a:buSzTx/>
              <a:buFontTx/>
              <a:buNone/>
              <a:tabLst/>
              <a:defRPr/>
            </a:pPr>
            <a:endParaRPr kumimoji="0" lang="en-US" sz="2399" b="0" i="0" u="none" strike="noStrike" kern="1200" cap="none" spc="98"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Aptos"/>
              <a:ea typeface="Aptos"/>
              <a:cs typeface="Aptos"/>
              <a:sym typeface="Aptos"/>
            </a:endParaRPr>
          </a:p>
        </p:txBody>
      </p:sp>
      <p:grpSp>
        <p:nvGrpSpPr>
          <p:cNvPr id="12" name="Group 12"/>
          <p:cNvGrpSpPr/>
          <p:nvPr/>
        </p:nvGrpSpPr>
        <p:grpSpPr>
          <a:xfrm>
            <a:off x="5509434" y="6611027"/>
            <a:ext cx="5101859" cy="425112"/>
            <a:chOff x="0" y="0"/>
            <a:chExt cx="6802476" cy="566816"/>
          </a:xfrm>
        </p:grpSpPr>
        <p:sp>
          <p:nvSpPr>
            <p:cNvPr id="13" name="Freeform 13"/>
            <p:cNvSpPr/>
            <p:nvPr/>
          </p:nvSpPr>
          <p:spPr>
            <a:xfrm>
              <a:off x="0" y="0"/>
              <a:ext cx="577647" cy="566816"/>
            </a:xfrm>
            <a:custGeom>
              <a:avLst/>
              <a:gdLst/>
              <a:ahLst/>
              <a:cxnLst/>
              <a:rect l="l" t="t" r="r" b="b"/>
              <a:pathLst>
                <a:path w="577647" h="566816">
                  <a:moveTo>
                    <a:pt x="0" y="0"/>
                  </a:moveTo>
                  <a:lnTo>
                    <a:pt x="577647" y="0"/>
                  </a:lnTo>
                  <a:lnTo>
                    <a:pt x="577647" y="566816"/>
                  </a:lnTo>
                  <a:lnTo>
                    <a:pt x="0" y="56681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Box 14"/>
            <p:cNvSpPr txBox="1"/>
            <p:nvPr/>
          </p:nvSpPr>
          <p:spPr>
            <a:xfrm>
              <a:off x="1009574" y="58111"/>
              <a:ext cx="5792902" cy="479448"/>
            </a:xfrm>
            <a:prstGeom prst="rect">
              <a:avLst/>
            </a:prstGeom>
          </p:spPr>
          <p:txBody>
            <a:bodyPr wrap="square" lIns="0" tIns="0" rIns="0" bIns="0" rtlCol="0" anchor="t">
              <a:spAutoFit/>
            </a:bodyPr>
            <a:lstStyle/>
            <a:p>
              <a:pPr lvl="0">
                <a:lnSpc>
                  <a:spcPts val="3040"/>
                </a:lnSpc>
                <a:defRPr/>
              </a:pPr>
              <a:r>
                <a:rPr lang="en-US" sz="2000" spc="82" dirty="0">
                  <a:gradFill>
                    <a:gsLst>
                      <a:gs pos="0">
                        <a:srgbClr val="000000">
                          <a:alpha val="100000"/>
                        </a:srgbClr>
                      </a:gs>
                      <a:gs pos="50000">
                        <a:srgbClr val="002F31">
                          <a:alpha val="100000"/>
                        </a:srgbClr>
                      </a:gs>
                      <a:gs pos="100000">
                        <a:srgbClr val="00959A">
                          <a:alpha val="100000"/>
                        </a:srgbClr>
                      </a:gs>
                    </a:gsLst>
                    <a:lin ang="2700000"/>
                  </a:gradFill>
                  <a:latin typeface="Aptos"/>
                  <a:sym typeface="Aptos"/>
                  <a:hlinkClick r:id="rId4"/>
                </a:rPr>
                <a:t>shuhaida.shuhidan@utp.edu.my</a:t>
              </a:r>
              <a:r>
                <a:rPr lang="en-US" sz="2000" spc="82" dirty="0">
                  <a:gradFill>
                    <a:gsLst>
                      <a:gs pos="0">
                        <a:srgbClr val="000000">
                          <a:alpha val="100000"/>
                        </a:srgbClr>
                      </a:gs>
                      <a:gs pos="50000">
                        <a:srgbClr val="002F31">
                          <a:alpha val="100000"/>
                        </a:srgbClr>
                      </a:gs>
                      <a:gs pos="100000">
                        <a:srgbClr val="00959A">
                          <a:alpha val="100000"/>
                        </a:srgbClr>
                      </a:gs>
                    </a:gsLst>
                    <a:lin ang="2700000"/>
                  </a:gradFill>
                  <a:latin typeface="Aptos"/>
                  <a:sym typeface="Aptos"/>
                </a:rPr>
                <a:t> </a:t>
              </a:r>
            </a:p>
          </p:txBody>
        </p:sp>
      </p:grpSp>
      <p:grpSp>
        <p:nvGrpSpPr>
          <p:cNvPr id="15" name="Group 15"/>
          <p:cNvGrpSpPr/>
          <p:nvPr/>
        </p:nvGrpSpPr>
        <p:grpSpPr>
          <a:xfrm>
            <a:off x="5509434" y="7391229"/>
            <a:ext cx="3326815" cy="512496"/>
            <a:chOff x="0" y="0"/>
            <a:chExt cx="4435752" cy="683328"/>
          </a:xfrm>
        </p:grpSpPr>
        <p:sp>
          <p:nvSpPr>
            <p:cNvPr id="16" name="Freeform 16"/>
            <p:cNvSpPr/>
            <p:nvPr/>
          </p:nvSpPr>
          <p:spPr>
            <a:xfrm>
              <a:off x="0" y="0"/>
              <a:ext cx="550390" cy="683328"/>
            </a:xfrm>
            <a:custGeom>
              <a:avLst/>
              <a:gdLst/>
              <a:ahLst/>
              <a:cxnLst/>
              <a:rect l="l" t="t" r="r" b="b"/>
              <a:pathLst>
                <a:path w="550390" h="683328">
                  <a:moveTo>
                    <a:pt x="0" y="0"/>
                  </a:moveTo>
                  <a:lnTo>
                    <a:pt x="550390" y="0"/>
                  </a:lnTo>
                  <a:lnTo>
                    <a:pt x="550390" y="683328"/>
                  </a:lnTo>
                  <a:lnTo>
                    <a:pt x="0" y="68332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Box 17"/>
            <p:cNvSpPr txBox="1"/>
            <p:nvPr/>
          </p:nvSpPr>
          <p:spPr>
            <a:xfrm>
              <a:off x="1009575" y="75176"/>
              <a:ext cx="3426177" cy="479448"/>
            </a:xfrm>
            <a:prstGeom prst="rect">
              <a:avLst/>
            </a:prstGeom>
          </p:spPr>
          <p:txBody>
            <a:bodyPr lIns="0" tIns="0" rIns="0" bIns="0" rtlCol="0" anchor="t">
              <a:spAutoFit/>
            </a:bodyPr>
            <a:lstStyle/>
            <a:p>
              <a:pPr marL="0" marR="0" lvl="0" indent="0" algn="l" defTabSz="457200" rtl="0" eaLnBrk="1" fontAlgn="auto" latinLnBrk="0" hangingPunct="1">
                <a:lnSpc>
                  <a:spcPts val="3040"/>
                </a:lnSpc>
                <a:spcBef>
                  <a:spcPts val="0"/>
                </a:spcBef>
                <a:spcAft>
                  <a:spcPts val="0"/>
                </a:spcAft>
                <a:buClrTx/>
                <a:buSzTx/>
                <a:buFontTx/>
                <a:buNone/>
                <a:tabLst/>
                <a:defRPr/>
              </a:pPr>
              <a:r>
                <a:rPr kumimoji="0" lang="en-US" sz="2000" b="0" i="0" u="none" strike="noStrike" kern="1200" cap="none" spc="82"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Aptos"/>
                  <a:ea typeface="Aptos"/>
                  <a:cs typeface="Aptos"/>
                  <a:sym typeface="Aptos"/>
                </a:rPr>
                <a:t>01-03-31</a:t>
              </a:r>
            </a:p>
          </p:txBody>
        </p:sp>
      </p:grpSp>
      <p:sp>
        <p:nvSpPr>
          <p:cNvPr id="18" name="Freeform 18"/>
          <p:cNvSpPr/>
          <p:nvPr/>
        </p:nvSpPr>
        <p:spPr>
          <a:xfrm>
            <a:off x="13452568" y="161232"/>
            <a:ext cx="3806732" cy="1350171"/>
          </a:xfrm>
          <a:custGeom>
            <a:avLst/>
            <a:gdLst/>
            <a:ahLst/>
            <a:cxnLst/>
            <a:rect l="l" t="t" r="r" b="b"/>
            <a:pathLst>
              <a:path w="3806732" h="1350171">
                <a:moveTo>
                  <a:pt x="0" y="0"/>
                </a:moveTo>
                <a:lnTo>
                  <a:pt x="3806732" y="0"/>
                </a:lnTo>
                <a:lnTo>
                  <a:pt x="3806732" y="1350171"/>
                </a:lnTo>
                <a:lnTo>
                  <a:pt x="0" y="1350171"/>
                </a:lnTo>
                <a:lnTo>
                  <a:pt x="0" y="0"/>
                </a:lnTo>
                <a:close/>
              </a:path>
            </a:pathLst>
          </a:custGeom>
          <a:blipFill>
            <a:blip r:embed="rId6"/>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969CC0C1-CEE6-7AFD-F08C-9037DCAEDE15}"/>
              </a:ext>
            </a:extLst>
          </p:cNvPr>
          <p:cNvSpPr>
            <a:spLocks noGrp="1"/>
          </p:cNvSpPr>
          <p:nvPr>
            <p:ph type="dt" sz="half" idx="10"/>
          </p:nvPr>
        </p:nvSpPr>
        <p:spPr/>
        <p:txBody>
          <a:bodyPr/>
          <a:lstStyle/>
          <a:p>
            <a:r>
              <a:rPr lang="en-US" dirty="0"/>
              <a:t>Week I</a:t>
            </a:r>
          </a:p>
        </p:txBody>
      </p:sp>
      <p:sp>
        <p:nvSpPr>
          <p:cNvPr id="19" name="Footer Placeholder 18">
            <a:extLst>
              <a:ext uri="{FF2B5EF4-FFF2-40B4-BE49-F238E27FC236}">
                <a16:creationId xmlns:a16="http://schemas.microsoft.com/office/drawing/2014/main" id="{559E3EB5-D08C-1B33-945D-C91DA725F3E7}"/>
              </a:ext>
            </a:extLst>
          </p:cNvPr>
          <p:cNvSpPr>
            <a:spLocks noGrp="1"/>
          </p:cNvSpPr>
          <p:nvPr>
            <p:ph type="ftr" sz="quarter" idx="11"/>
          </p:nvPr>
        </p:nvSpPr>
        <p:spPr>
          <a:xfrm>
            <a:off x="6057900" y="9534526"/>
            <a:ext cx="7658100" cy="547688"/>
          </a:xfrm>
        </p:spPr>
        <p:txBody>
          <a:bodyPr/>
          <a:lstStyle/>
          <a:p>
            <a:r>
              <a:rPr lang="en-US"/>
              <a:t>For educational use only. Not to be distributed or shared without permission.</a:t>
            </a:r>
          </a:p>
        </p:txBody>
      </p:sp>
      <p:sp>
        <p:nvSpPr>
          <p:cNvPr id="20" name="Slide Number Placeholder 19">
            <a:extLst>
              <a:ext uri="{FF2B5EF4-FFF2-40B4-BE49-F238E27FC236}">
                <a16:creationId xmlns:a16="http://schemas.microsoft.com/office/drawing/2014/main" id="{1A546E35-A579-1253-4F8D-BE6DFA9A4D02}"/>
              </a:ext>
            </a:extLst>
          </p:cNvPr>
          <p:cNvSpPr>
            <a:spLocks noGrp="1"/>
          </p:cNvSpPr>
          <p:nvPr>
            <p:ph type="sldNum" sz="quarter" idx="12"/>
          </p:nvPr>
        </p:nvSpPr>
        <p:spPr/>
        <p:txBody>
          <a:bodyPr/>
          <a:lstStyle/>
          <a:p>
            <a:fld id="{B6F15528-21DE-4FAA-801E-634DDDAF4B2B}" type="slidenum">
              <a:rPr lang="en-US" smtClean="0"/>
              <a:pPr/>
              <a:t>90</a:t>
            </a:fld>
            <a:endParaRPr lang="en-US"/>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C87EB35ACF9448AB6AF0166C74B31C" ma:contentTypeVersion="20" ma:contentTypeDescription="Create a new document." ma:contentTypeScope="" ma:versionID="afd188c47451dba45a86e012c1481767">
  <xsd:schema xmlns:xsd="http://www.w3.org/2001/XMLSchema" xmlns:xs="http://www.w3.org/2001/XMLSchema" xmlns:p="http://schemas.microsoft.com/office/2006/metadata/properties" xmlns:ns1="http://schemas.microsoft.com/sharepoint/v3" xmlns:ns3="f604542f-3f98-4180-a530-dccd8eb96459" xmlns:ns4="161b1d0b-c5d9-4346-b7aa-7c23791df872" targetNamespace="http://schemas.microsoft.com/office/2006/metadata/properties" ma:root="true" ma:fieldsID="f8830e1d0cf709f132b06e9cca8a370a" ns1:_="" ns3:_="" ns4:_="">
    <xsd:import namespace="http://schemas.microsoft.com/sharepoint/v3"/>
    <xsd:import namespace="f604542f-3f98-4180-a530-dccd8eb96459"/>
    <xsd:import namespace="161b1d0b-c5d9-4346-b7aa-7c23791df87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1:_ip_UnifiedCompliancePolicyProperties" minOccurs="0"/>
                <xsd:element ref="ns1:_ip_UnifiedCompliancePolicyUIAction" minOccurs="0"/>
                <xsd:element ref="ns3:MediaServiceAutoKeyPoints" minOccurs="0"/>
                <xsd:element ref="ns3:MediaServiceKeyPoints" minOccurs="0"/>
                <xsd:element ref="ns3:MediaLengthInSeconds" minOccurs="0"/>
                <xsd:element ref="ns3:_activity" minOccurs="0"/>
                <xsd:element ref="ns3:MediaServiceObjectDetectorVersions" minOccurs="0"/>
                <xsd:element ref="ns3:MediaServiceSystemTags" minOccurs="0"/>
                <xsd:element ref="ns3:MediaServiceSearchPropertie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04542f-3f98-4180-a530-dccd8eb964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description="" ma:hidden="true" ma:indexed="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_activity" ma:index="23" nillable="true" ma:displayName="_activity" ma:hidden="true" ma:internalName="_activity">
      <xsd:simpleType>
        <xsd:restriction base="dms:Note"/>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ystemTags" ma:index="25" nillable="true" ma:displayName="MediaServiceSystemTags" ma:hidden="true" ma:internalName="MediaServiceSystemTags" ma:readOnly="true">
      <xsd:simpleType>
        <xsd:restriction base="dms:Note"/>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Location" ma:index="27"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1b1d0b-c5d9-4346-b7aa-7c23791df87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_activity xmlns="f604542f-3f98-4180-a530-dccd8eb96459" xsi:nil="true"/>
  </documentManagement>
</p:properties>
</file>

<file path=customXml/itemProps1.xml><?xml version="1.0" encoding="utf-8"?>
<ds:datastoreItem xmlns:ds="http://schemas.openxmlformats.org/officeDocument/2006/customXml" ds:itemID="{07F07991-DBC0-402D-BD53-7E5C26CAE5A5}">
  <ds:schemaRefs>
    <ds:schemaRef ds:uri="161b1d0b-c5d9-4346-b7aa-7c23791df872"/>
    <ds:schemaRef ds:uri="f604542f-3f98-4180-a530-dccd8eb9645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59B6550-91B7-456B-A940-ECDA25AB84F3}">
  <ds:schemaRefs>
    <ds:schemaRef ds:uri="http://schemas.microsoft.com/sharepoint/v3/contenttype/forms"/>
  </ds:schemaRefs>
</ds:datastoreItem>
</file>

<file path=customXml/itemProps3.xml><?xml version="1.0" encoding="utf-8"?>
<ds:datastoreItem xmlns:ds="http://schemas.openxmlformats.org/officeDocument/2006/customXml" ds:itemID="{BF8EABEC-D4DA-4635-9F5B-DEE1FFF379A2}">
  <ds:schemaRefs>
    <ds:schemaRef ds:uri="http://purl.org/dc/dcmitype/"/>
    <ds:schemaRef ds:uri="http://www.w3.org/XML/1998/namespace"/>
    <ds:schemaRef ds:uri="http://schemas.microsoft.com/office/infopath/2007/PartnerControls"/>
    <ds:schemaRef ds:uri="http://schemas.openxmlformats.org/package/2006/metadata/core-properties"/>
    <ds:schemaRef ds:uri="161b1d0b-c5d9-4346-b7aa-7c23791df872"/>
    <ds:schemaRef ds:uri="http://schemas.microsoft.com/office/2006/documentManagement/types"/>
    <ds:schemaRef ds:uri="http://purl.org/dc/elements/1.1/"/>
    <ds:schemaRef ds:uri="f604542f-3f98-4180-a530-dccd8eb96459"/>
    <ds:schemaRef ds:uri="http://schemas.microsoft.com/sharepoint/v3"/>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1495</TotalTime>
  <Words>12958</Words>
  <Application>Microsoft Office PowerPoint</Application>
  <PresentationFormat>Custom</PresentationFormat>
  <Paragraphs>1535</Paragraphs>
  <Slides>90</Slides>
  <Notes>90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90</vt:i4>
      </vt:variant>
    </vt:vector>
  </HeadingPairs>
  <TitlesOfParts>
    <vt:vector size="98" baseType="lpstr">
      <vt:lpstr>Calibri</vt:lpstr>
      <vt:lpstr>Aptos</vt:lpstr>
      <vt:lpstr>Museo Sans 300</vt:lpstr>
      <vt:lpstr>Segoe UI</vt:lpstr>
      <vt:lpstr>Arial</vt:lpstr>
      <vt:lpstr>Calibri Light</vt:lpstr>
      <vt:lpstr>Wingdings</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DG Slide Ver02</dc:title>
  <dc:creator>Nurul Fazilah Bt Esa (FSMC/UTP)</dc:creator>
  <cp:lastModifiedBy>Khan Reeyan Afzal</cp:lastModifiedBy>
  <cp:revision>514</cp:revision>
  <dcterms:created xsi:type="dcterms:W3CDTF">2006-08-16T00:00:00Z</dcterms:created>
  <dcterms:modified xsi:type="dcterms:W3CDTF">2026-05-18T10:04:53Z</dcterms:modified>
  <dc:identifier>DAG_MRG_x0E</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0x0101000DC87EB35ACF9448AB6AF0166C74B31C</vt:lpwstr>
  </property>
</Properties>
</file>