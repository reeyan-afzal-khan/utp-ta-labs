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31" r:id="rId4"/>
  </p:sldMasterIdLst>
  <p:notesMasterIdLst>
    <p:notesMasterId r:id="rId54"/>
  </p:notesMasterIdLst>
  <p:handoutMasterIdLst>
    <p:handoutMasterId r:id="rId55"/>
  </p:handoutMasterIdLst>
  <p:sldIdLst>
    <p:sldId id="268" r:id="rId5"/>
    <p:sldId id="277" r:id="rId6"/>
    <p:sldId id="407" r:id="rId7"/>
    <p:sldId id="276" r:id="rId8"/>
    <p:sldId id="321" r:id="rId9"/>
    <p:sldId id="257" r:id="rId10"/>
    <p:sldId id="380" r:id="rId11"/>
    <p:sldId id="365" r:id="rId12"/>
    <p:sldId id="282" r:id="rId13"/>
    <p:sldId id="366" r:id="rId14"/>
    <p:sldId id="367" r:id="rId15"/>
    <p:sldId id="368" r:id="rId16"/>
    <p:sldId id="369" r:id="rId17"/>
    <p:sldId id="370" r:id="rId18"/>
    <p:sldId id="371" r:id="rId19"/>
    <p:sldId id="372" r:id="rId20"/>
    <p:sldId id="373" r:id="rId21"/>
    <p:sldId id="374" r:id="rId22"/>
    <p:sldId id="338" r:id="rId23"/>
    <p:sldId id="375" r:id="rId24"/>
    <p:sldId id="376" r:id="rId25"/>
    <p:sldId id="377" r:id="rId26"/>
    <p:sldId id="378" r:id="rId27"/>
    <p:sldId id="379" r:id="rId28"/>
    <p:sldId id="382" r:id="rId29"/>
    <p:sldId id="383" r:id="rId30"/>
    <p:sldId id="384" r:id="rId31"/>
    <p:sldId id="385" r:id="rId32"/>
    <p:sldId id="381" r:id="rId33"/>
    <p:sldId id="387" r:id="rId34"/>
    <p:sldId id="388" r:id="rId35"/>
    <p:sldId id="389" r:id="rId36"/>
    <p:sldId id="390" r:id="rId37"/>
    <p:sldId id="391" r:id="rId38"/>
    <p:sldId id="394" r:id="rId39"/>
    <p:sldId id="395" r:id="rId40"/>
    <p:sldId id="396" r:id="rId41"/>
    <p:sldId id="397" r:id="rId42"/>
    <p:sldId id="398" r:id="rId43"/>
    <p:sldId id="399" r:id="rId44"/>
    <p:sldId id="400" r:id="rId45"/>
    <p:sldId id="401" r:id="rId46"/>
    <p:sldId id="402" r:id="rId47"/>
    <p:sldId id="403" r:id="rId48"/>
    <p:sldId id="404" r:id="rId49"/>
    <p:sldId id="405" r:id="rId50"/>
    <p:sldId id="406" r:id="rId51"/>
    <p:sldId id="320" r:id="rId52"/>
    <p:sldId id="270" r:id="rId53"/>
  </p:sldIdLst>
  <p:sldSz cx="18288000" cy="10287000"/>
  <p:notesSz cx="6858000" cy="9144000"/>
  <p:embeddedFontLst>
    <p:embeddedFont>
      <p:font typeface="Arial MT" pitchFamily="50" charset="0"/>
      <p:regular r:id="rId56"/>
      <p:bold r:id="rId57"/>
      <p:italic r:id="rId58"/>
      <p:boldItalic r:id="rId59"/>
    </p:embeddedFont>
    <p:embeddedFont>
      <p:font typeface="Droid Serif Bold" panose="020B0604020202020204" charset="0"/>
      <p:bold r:id="rId60"/>
      <p:italic r:id="rId61"/>
      <p:boldItalic r:id="rId62"/>
    </p:embeddedFont>
    <p:embeddedFont>
      <p:font typeface="Museo Sans 300" panose="02000000000000000000" charset="0"/>
      <p:regular r:id="rId63"/>
      <p:bold r:id="rId64"/>
      <p:italic r:id="rId65"/>
    </p:embeddedFont>
    <p:embeddedFont>
      <p:font typeface="Segoe UI" panose="020B0502040204020203" pitchFamily="34" charset="0"/>
      <p:regular r:id="rId66"/>
      <p:bold r:id="rId67"/>
      <p:italic r:id="rId68"/>
      <p:boldItalic r:id="rId6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616" autoAdjust="0"/>
    <p:restoredTop sz="73957" autoAdjust="0"/>
  </p:normalViewPr>
  <p:slideViewPr>
    <p:cSldViewPr snapToGrid="0">
      <p:cViewPr varScale="1">
        <p:scale>
          <a:sx n="34" d="100"/>
          <a:sy n="34" d="100"/>
        </p:scale>
        <p:origin x="96" y="75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8.fntdata"/><Relationship Id="rId68" Type="http://schemas.openxmlformats.org/officeDocument/2006/relationships/font" Target="fonts/font13.fntdata"/><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font" Target="fonts/font3.fntdata"/><Relationship Id="rId66" Type="http://schemas.openxmlformats.org/officeDocument/2006/relationships/font" Target="fonts/font11.fntdata"/><Relationship Id="rId5" Type="http://schemas.openxmlformats.org/officeDocument/2006/relationships/slide" Target="slides/slide1.xml"/><Relationship Id="rId61" Type="http://schemas.openxmlformats.org/officeDocument/2006/relationships/font" Target="fonts/font6.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font" Target="fonts/font14.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4.fntdata"/><Relationship Id="rId67" Type="http://schemas.openxmlformats.org/officeDocument/2006/relationships/font" Target="fonts/font12.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62" Type="http://schemas.openxmlformats.org/officeDocument/2006/relationships/font" Target="fonts/font7.fntdata"/><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font" Target="fonts/font2.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font" Target="fonts/font5.fntdata"/><Relationship Id="rId65" Type="http://schemas.openxmlformats.org/officeDocument/2006/relationships/font" Target="fonts/font10.fntdata"/><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B93D41-E753-CA08-512C-7FD9149E95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a:extLst>
              <a:ext uri="{FF2B5EF4-FFF2-40B4-BE49-F238E27FC236}">
                <a16:creationId xmlns:a16="http://schemas.microsoft.com/office/drawing/2014/main" id="{EB683311-34CD-10A6-71A7-5FEC1EAC08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D391DD-0852-4038-9481-BE0C8E4C0068}" type="datetimeFigureOut">
              <a:rPr lang="en-MY" smtClean="0"/>
              <a:t>18/5/2026</a:t>
            </a:fld>
            <a:endParaRPr lang="en-MY"/>
          </a:p>
        </p:txBody>
      </p:sp>
      <p:sp>
        <p:nvSpPr>
          <p:cNvPr id="4" name="Footer Placeholder 3">
            <a:extLst>
              <a:ext uri="{FF2B5EF4-FFF2-40B4-BE49-F238E27FC236}">
                <a16:creationId xmlns:a16="http://schemas.microsoft.com/office/drawing/2014/main" id="{7B82A957-AB6C-53B4-A4E1-0374492AD1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5" name="Slide Number Placeholder 4">
            <a:extLst>
              <a:ext uri="{FF2B5EF4-FFF2-40B4-BE49-F238E27FC236}">
                <a16:creationId xmlns:a16="http://schemas.microsoft.com/office/drawing/2014/main" id="{1EA79F2C-EAFF-B3B1-975D-3770C8024B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3BE2F9-A3A4-483F-A619-855FC01C419C}" type="slidenum">
              <a:rPr lang="en-MY" smtClean="0"/>
              <a:t>‹#›</a:t>
            </a:fld>
            <a:endParaRPr lang="en-MY"/>
          </a:p>
        </p:txBody>
      </p:sp>
    </p:spTree>
    <p:extLst>
      <p:ext uri="{BB962C8B-B14F-4D97-AF65-F5344CB8AC3E}">
        <p14:creationId xmlns:p14="http://schemas.microsoft.com/office/powerpoint/2010/main" val="409590229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B1111C-7368-49FD-8B9D-8D05AE4C3340}" type="datetimeFigureOut">
              <a:rPr lang="en-MY" smtClean="0"/>
              <a:t>18/5/2026</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061F1A-E494-4223-A600-C9DDF71EE410}" type="slidenum">
              <a:rPr lang="en-MY" smtClean="0"/>
              <a:t>‹#›</a:t>
            </a:fld>
            <a:endParaRPr lang="en-MY"/>
          </a:p>
        </p:txBody>
      </p:sp>
    </p:spTree>
    <p:extLst>
      <p:ext uri="{BB962C8B-B14F-4D97-AF65-F5344CB8AC3E}">
        <p14:creationId xmlns:p14="http://schemas.microsoft.com/office/powerpoint/2010/main" val="28362439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1</a:t>
            </a:fld>
            <a:endParaRPr lang="en-MY"/>
          </a:p>
        </p:txBody>
      </p:sp>
    </p:spTree>
    <p:extLst>
      <p:ext uri="{BB962C8B-B14F-4D97-AF65-F5344CB8AC3E}">
        <p14:creationId xmlns:p14="http://schemas.microsoft.com/office/powerpoint/2010/main" val="3036044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u="none" strike="noStrike" kern="1200" dirty="0">
                <a:solidFill>
                  <a:schemeClr val="tx1"/>
                </a:solidFill>
                <a:effectLst/>
                <a:latin typeface="+mn-lt"/>
                <a:ea typeface="+mn-ea"/>
                <a:cs typeface="+mn-cs"/>
              </a:rPr>
              <a:t>Learning Outcomes Slide</a:t>
            </a:r>
            <a:endParaRPr lang="en-MY" sz="1200" u="none" strike="noStrike" kern="1200" dirty="0">
              <a:solidFill>
                <a:schemeClr val="tx1"/>
              </a:solidFill>
              <a:effectLst/>
              <a:latin typeface="+mn-lt"/>
              <a:ea typeface="+mn-ea"/>
              <a:cs typeface="+mn-cs"/>
            </a:endParaRPr>
          </a:p>
          <a:p>
            <a:pPr lvl="0"/>
            <a:endParaRPr lang="en-MY" sz="1200" kern="1200" dirty="0">
              <a:solidFill>
                <a:schemeClr val="tx1"/>
              </a:solidFill>
              <a:effectLst/>
              <a:latin typeface="+mn-lt"/>
              <a:ea typeface="+mn-ea"/>
              <a:cs typeface="+mn-cs"/>
            </a:endParaRPr>
          </a:p>
          <a:p>
            <a:pPr lvl="0"/>
            <a:r>
              <a:rPr lang="en-MY" sz="1200" kern="1200" dirty="0">
                <a:solidFill>
                  <a:schemeClr val="tx1"/>
                </a:solidFill>
                <a:effectLst/>
                <a:latin typeface="+mn-lt"/>
                <a:ea typeface="+mn-ea"/>
                <a:cs typeface="+mn-cs"/>
              </a:rPr>
              <a:t>Note: </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Include 2–4 lecture-level learning outcomes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Use measurable action verbs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Map explicitly to Course Learning Outcomes (CLOs)</a:t>
            </a:r>
          </a:p>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2</a:t>
            </a:fld>
            <a:endParaRPr lang="en-MY"/>
          </a:p>
        </p:txBody>
      </p:sp>
    </p:spTree>
    <p:extLst>
      <p:ext uri="{BB962C8B-B14F-4D97-AF65-F5344CB8AC3E}">
        <p14:creationId xmlns:p14="http://schemas.microsoft.com/office/powerpoint/2010/main" val="2622563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C1DDC-A607-C8E3-520C-E8A7305364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BCCE91-7DDF-FACB-291F-B0B82F5D3F5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237DD4F-A686-8C78-AD03-327D45CC594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u="none" strike="noStrike" kern="1200" dirty="0">
                <a:solidFill>
                  <a:schemeClr val="tx1"/>
                </a:solidFill>
                <a:effectLst/>
                <a:latin typeface="+mn-lt"/>
                <a:ea typeface="+mn-ea"/>
                <a:cs typeface="+mn-cs"/>
              </a:rPr>
              <a:t>Learning Outcomes Slide</a:t>
            </a:r>
            <a:endParaRPr lang="en-MY" sz="1200" u="none" strike="noStrike" kern="1200" dirty="0">
              <a:solidFill>
                <a:schemeClr val="tx1"/>
              </a:solidFill>
              <a:effectLst/>
              <a:latin typeface="+mn-lt"/>
              <a:ea typeface="+mn-ea"/>
              <a:cs typeface="+mn-cs"/>
            </a:endParaRPr>
          </a:p>
          <a:p>
            <a:pPr lvl="0"/>
            <a:endParaRPr lang="en-MY" sz="1200" kern="1200" dirty="0">
              <a:solidFill>
                <a:schemeClr val="tx1"/>
              </a:solidFill>
              <a:effectLst/>
              <a:latin typeface="+mn-lt"/>
              <a:ea typeface="+mn-ea"/>
              <a:cs typeface="+mn-cs"/>
            </a:endParaRPr>
          </a:p>
          <a:p>
            <a:pPr lvl="0"/>
            <a:r>
              <a:rPr lang="en-MY" sz="1200" kern="1200" dirty="0">
                <a:solidFill>
                  <a:schemeClr val="tx1"/>
                </a:solidFill>
                <a:effectLst/>
                <a:latin typeface="+mn-lt"/>
                <a:ea typeface="+mn-ea"/>
                <a:cs typeface="+mn-cs"/>
              </a:rPr>
              <a:t>Note: </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Include 2–4 lecture-level learning outcomes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Use measurable action verbs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Map explicitly to Course Learning Outcomes (CLOs)</a:t>
            </a:r>
          </a:p>
          <a:p>
            <a:endParaRPr lang="en-MY" dirty="0"/>
          </a:p>
        </p:txBody>
      </p:sp>
      <p:sp>
        <p:nvSpPr>
          <p:cNvPr id="4" name="Footer Placeholder 3">
            <a:extLst>
              <a:ext uri="{FF2B5EF4-FFF2-40B4-BE49-F238E27FC236}">
                <a16:creationId xmlns:a16="http://schemas.microsoft.com/office/drawing/2014/main" id="{163E0ADC-E4F7-BCFB-1B74-94BE1207D21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8CBC36D-A740-ED88-E090-F14F416D4A04}"/>
              </a:ext>
            </a:extLst>
          </p:cNvPr>
          <p:cNvSpPr>
            <a:spLocks noGrp="1"/>
          </p:cNvSpPr>
          <p:nvPr>
            <p:ph type="sldNum" sz="quarter" idx="5"/>
          </p:nvPr>
        </p:nvSpPr>
        <p:spPr/>
        <p:txBody>
          <a:bodyPr/>
          <a:lstStyle/>
          <a:p>
            <a:fld id="{D2061F1A-E494-4223-A600-C9DDF71EE410}" type="slidenum">
              <a:rPr lang="en-MY" smtClean="0"/>
              <a:t>3</a:t>
            </a:fld>
            <a:endParaRPr lang="en-MY"/>
          </a:p>
        </p:txBody>
      </p:sp>
    </p:spTree>
    <p:extLst>
      <p:ext uri="{BB962C8B-B14F-4D97-AF65-F5344CB8AC3E}">
        <p14:creationId xmlns:p14="http://schemas.microsoft.com/office/powerpoint/2010/main" val="15980663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4</a:t>
            </a:fld>
            <a:endParaRPr lang="en-MY"/>
          </a:p>
        </p:txBody>
      </p:sp>
    </p:spTree>
    <p:extLst>
      <p:ext uri="{BB962C8B-B14F-4D97-AF65-F5344CB8AC3E}">
        <p14:creationId xmlns:p14="http://schemas.microsoft.com/office/powerpoint/2010/main" val="2586465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DDE61-0B2B-6421-69D6-13A3FAB8FA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8F5E25-AF2B-027E-72EB-A90BFFC85C6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1903249-990C-FFCD-2046-6466D96FEFB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89097D0E-1BE0-1465-FDBC-8C6A0392742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BC7418A-D8BB-6939-BF7A-4D48F575970E}"/>
              </a:ext>
            </a:extLst>
          </p:cNvPr>
          <p:cNvSpPr>
            <a:spLocks noGrp="1"/>
          </p:cNvSpPr>
          <p:nvPr>
            <p:ph type="sldNum" sz="quarter" idx="5"/>
          </p:nvPr>
        </p:nvSpPr>
        <p:spPr/>
        <p:txBody>
          <a:bodyPr/>
          <a:lstStyle/>
          <a:p>
            <a:fld id="{D2061F1A-E494-4223-A600-C9DDF71EE410}" type="slidenum">
              <a:rPr lang="en-MY" smtClean="0"/>
              <a:t>5</a:t>
            </a:fld>
            <a:endParaRPr lang="en-MY"/>
          </a:p>
        </p:txBody>
      </p:sp>
    </p:spTree>
    <p:extLst>
      <p:ext uri="{BB962C8B-B14F-4D97-AF65-F5344CB8AC3E}">
        <p14:creationId xmlns:p14="http://schemas.microsoft.com/office/powerpoint/2010/main" val="1158691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6</a:t>
            </a:fld>
            <a:endParaRPr lang="en-MY"/>
          </a:p>
        </p:txBody>
      </p:sp>
    </p:spTree>
    <p:extLst>
      <p:ext uri="{BB962C8B-B14F-4D97-AF65-F5344CB8AC3E}">
        <p14:creationId xmlns:p14="http://schemas.microsoft.com/office/powerpoint/2010/main" val="29927461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0746F-CF3E-116C-FF4B-2D10255C10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042507-FA87-871A-04EF-DE66A876EF3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7E64F95-0221-D1D6-7C00-19D7333FEFC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8F1B8531-DDDC-36D3-2709-FD9FEF2567B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F7ED232-8481-9C8A-996E-228B2035D482}"/>
              </a:ext>
            </a:extLst>
          </p:cNvPr>
          <p:cNvSpPr>
            <a:spLocks noGrp="1"/>
          </p:cNvSpPr>
          <p:nvPr>
            <p:ph type="sldNum" sz="quarter" idx="5"/>
          </p:nvPr>
        </p:nvSpPr>
        <p:spPr/>
        <p:txBody>
          <a:bodyPr/>
          <a:lstStyle/>
          <a:p>
            <a:fld id="{D2061F1A-E494-4223-A600-C9DDF71EE410}" type="slidenum">
              <a:rPr lang="en-MY" smtClean="0"/>
              <a:t>7</a:t>
            </a:fld>
            <a:endParaRPr lang="en-MY"/>
          </a:p>
        </p:txBody>
      </p:sp>
    </p:spTree>
    <p:extLst>
      <p:ext uri="{BB962C8B-B14F-4D97-AF65-F5344CB8AC3E}">
        <p14:creationId xmlns:p14="http://schemas.microsoft.com/office/powerpoint/2010/main" val="34653597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03AB5-B534-77D9-F89C-9BF470610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D4C31-3D26-853B-8D15-2D9A179B86B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5970C61-9D07-9E14-FA19-E8C5DE10060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0E62F17-F868-F82B-0A34-BE664154CB2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BAAFF73-1E8F-06C9-CCE4-D040194BB7ED}"/>
              </a:ext>
            </a:extLst>
          </p:cNvPr>
          <p:cNvSpPr>
            <a:spLocks noGrp="1"/>
          </p:cNvSpPr>
          <p:nvPr>
            <p:ph type="sldNum" sz="quarter" idx="5"/>
          </p:nvPr>
        </p:nvSpPr>
        <p:spPr/>
        <p:txBody>
          <a:bodyPr/>
          <a:lstStyle/>
          <a:p>
            <a:fld id="{D2061F1A-E494-4223-A600-C9DDF71EE410}" type="slidenum">
              <a:rPr lang="en-MY" smtClean="0"/>
              <a:t>8</a:t>
            </a:fld>
            <a:endParaRPr lang="en-MY"/>
          </a:p>
        </p:txBody>
      </p:sp>
    </p:spTree>
    <p:extLst>
      <p:ext uri="{BB962C8B-B14F-4D97-AF65-F5344CB8AC3E}">
        <p14:creationId xmlns:p14="http://schemas.microsoft.com/office/powerpoint/2010/main" val="2652304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DC458-ABD2-6554-4EEC-0D16A32B0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BC865-94A3-188F-B3E6-5A7610E719E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C79109B-9008-0773-3AD8-E8915AC0A01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781BED9-7438-FFAF-C137-6ACCDC21506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7F82F19-6671-66BA-EB51-B8BCB6771018}"/>
              </a:ext>
            </a:extLst>
          </p:cNvPr>
          <p:cNvSpPr>
            <a:spLocks noGrp="1"/>
          </p:cNvSpPr>
          <p:nvPr>
            <p:ph type="sldNum" sz="quarter" idx="5"/>
          </p:nvPr>
        </p:nvSpPr>
        <p:spPr/>
        <p:txBody>
          <a:bodyPr/>
          <a:lstStyle/>
          <a:p>
            <a:fld id="{D2061F1A-E494-4223-A600-C9DDF71EE410}" type="slidenum">
              <a:rPr lang="en-MY" smtClean="0"/>
              <a:t>9</a:t>
            </a:fld>
            <a:endParaRPr lang="en-MY"/>
          </a:p>
        </p:txBody>
      </p:sp>
    </p:spTree>
    <p:extLst>
      <p:ext uri="{BB962C8B-B14F-4D97-AF65-F5344CB8AC3E}">
        <p14:creationId xmlns:p14="http://schemas.microsoft.com/office/powerpoint/2010/main" val="17352589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1274D-F919-B6D1-328B-E13CD452D0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5DB89-2A27-E540-2933-5C2B4E9F9F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524357-5529-CAFE-4D56-306CB22474D0}"/>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882FAC30-47CC-96B0-7BB7-B6DF1ACD3BB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B2F11A0-FFB1-2667-D1B0-6F769EF7375F}"/>
              </a:ext>
            </a:extLst>
          </p:cNvPr>
          <p:cNvSpPr>
            <a:spLocks noGrp="1"/>
          </p:cNvSpPr>
          <p:nvPr>
            <p:ph type="sldNum" sz="quarter" idx="5"/>
          </p:nvPr>
        </p:nvSpPr>
        <p:spPr/>
        <p:txBody>
          <a:bodyPr/>
          <a:lstStyle/>
          <a:p>
            <a:fld id="{D2061F1A-E494-4223-A600-C9DDF71EE410}" type="slidenum">
              <a:rPr lang="en-MY" smtClean="0"/>
              <a:t>10</a:t>
            </a:fld>
            <a:endParaRPr lang="en-MY"/>
          </a:p>
        </p:txBody>
      </p:sp>
    </p:spTree>
    <p:extLst>
      <p:ext uri="{BB962C8B-B14F-4D97-AF65-F5344CB8AC3E}">
        <p14:creationId xmlns:p14="http://schemas.microsoft.com/office/powerpoint/2010/main" val="3429031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51DE7-F4EB-DD2E-D6F7-0E8DA9CC5B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2294DB-A15A-955C-C6EB-ADED0981AF3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59EFDDF-8993-E2CE-9E3A-0AB531FB5A4E}"/>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BA1064AE-6EC9-64CF-7E3C-061E63C0C5E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7FB5649-1655-2C2F-876B-BCAA73AE603B}"/>
              </a:ext>
            </a:extLst>
          </p:cNvPr>
          <p:cNvSpPr>
            <a:spLocks noGrp="1"/>
          </p:cNvSpPr>
          <p:nvPr>
            <p:ph type="sldNum" sz="quarter" idx="5"/>
          </p:nvPr>
        </p:nvSpPr>
        <p:spPr/>
        <p:txBody>
          <a:bodyPr/>
          <a:lstStyle/>
          <a:p>
            <a:fld id="{D2061F1A-E494-4223-A600-C9DDF71EE410}" type="slidenum">
              <a:rPr lang="en-MY" smtClean="0"/>
              <a:t>11</a:t>
            </a:fld>
            <a:endParaRPr lang="en-MY"/>
          </a:p>
        </p:txBody>
      </p:sp>
    </p:spTree>
    <p:extLst>
      <p:ext uri="{BB962C8B-B14F-4D97-AF65-F5344CB8AC3E}">
        <p14:creationId xmlns:p14="http://schemas.microsoft.com/office/powerpoint/2010/main" val="25824421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03AB5-B534-77D9-F89C-9BF470610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D4C31-3D26-853B-8D15-2D9A179B86B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5970C61-9D07-9E14-FA19-E8C5DE10060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0E62F17-F868-F82B-0A34-BE664154CB2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BAAFF73-1E8F-06C9-CCE4-D040194BB7ED}"/>
              </a:ext>
            </a:extLst>
          </p:cNvPr>
          <p:cNvSpPr>
            <a:spLocks noGrp="1"/>
          </p:cNvSpPr>
          <p:nvPr>
            <p:ph type="sldNum" sz="quarter" idx="5"/>
          </p:nvPr>
        </p:nvSpPr>
        <p:spPr/>
        <p:txBody>
          <a:bodyPr/>
          <a:lstStyle/>
          <a:p>
            <a:fld id="{D2061F1A-E494-4223-A600-C9DDF71EE410}" type="slidenum">
              <a:rPr lang="en-MY" smtClean="0"/>
              <a:t>12</a:t>
            </a:fld>
            <a:endParaRPr lang="en-MY"/>
          </a:p>
        </p:txBody>
      </p:sp>
    </p:spTree>
    <p:extLst>
      <p:ext uri="{BB962C8B-B14F-4D97-AF65-F5344CB8AC3E}">
        <p14:creationId xmlns:p14="http://schemas.microsoft.com/office/powerpoint/2010/main" val="2652304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5CD33-B8D8-87A5-B113-128ABE0943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4EE1BA-A7EC-A0BB-187C-3D7678F2499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AF58DF7-0835-0134-E5BE-8B95C67CE09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FE3288E7-B0D8-E3AD-3195-4B6F674489C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7697C11-22BC-4CCE-6F2B-68DFE1E483DD}"/>
              </a:ext>
            </a:extLst>
          </p:cNvPr>
          <p:cNvSpPr>
            <a:spLocks noGrp="1"/>
          </p:cNvSpPr>
          <p:nvPr>
            <p:ph type="sldNum" sz="quarter" idx="5"/>
          </p:nvPr>
        </p:nvSpPr>
        <p:spPr/>
        <p:txBody>
          <a:bodyPr/>
          <a:lstStyle/>
          <a:p>
            <a:fld id="{D2061F1A-E494-4223-A600-C9DDF71EE410}" type="slidenum">
              <a:rPr lang="en-MY" smtClean="0"/>
              <a:t>13</a:t>
            </a:fld>
            <a:endParaRPr lang="en-MY"/>
          </a:p>
        </p:txBody>
      </p:sp>
    </p:spTree>
    <p:extLst>
      <p:ext uri="{BB962C8B-B14F-4D97-AF65-F5344CB8AC3E}">
        <p14:creationId xmlns:p14="http://schemas.microsoft.com/office/powerpoint/2010/main" val="40087780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769FF-6842-C35C-E731-F0B72CB0F2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520190-6D95-27DC-F3B8-80DC4BD3A0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1F799D-1162-0763-D0B3-C08B17B60689}"/>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B026CD0D-A099-259C-F30E-D66086CD6E5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9D71F1E-FC8A-8BEA-659C-6B70870A6752}"/>
              </a:ext>
            </a:extLst>
          </p:cNvPr>
          <p:cNvSpPr>
            <a:spLocks noGrp="1"/>
          </p:cNvSpPr>
          <p:nvPr>
            <p:ph type="sldNum" sz="quarter" idx="5"/>
          </p:nvPr>
        </p:nvSpPr>
        <p:spPr/>
        <p:txBody>
          <a:bodyPr/>
          <a:lstStyle/>
          <a:p>
            <a:fld id="{D2061F1A-E494-4223-A600-C9DDF71EE410}" type="slidenum">
              <a:rPr lang="en-MY" smtClean="0"/>
              <a:t>14</a:t>
            </a:fld>
            <a:endParaRPr lang="en-MY"/>
          </a:p>
        </p:txBody>
      </p:sp>
    </p:spTree>
    <p:extLst>
      <p:ext uri="{BB962C8B-B14F-4D97-AF65-F5344CB8AC3E}">
        <p14:creationId xmlns:p14="http://schemas.microsoft.com/office/powerpoint/2010/main" val="14276494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D0A1A-6F5B-3408-4805-983CABF98E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B36C3-05F1-1B80-565D-6A0243DF0F9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8FDC1DA-5FAE-3651-EDE2-59E3A254A5B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FEFC4681-C744-6867-F28D-F9A91E8BEDA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E834A4D-A89B-FE8B-35EB-6D07799FE34B}"/>
              </a:ext>
            </a:extLst>
          </p:cNvPr>
          <p:cNvSpPr>
            <a:spLocks noGrp="1"/>
          </p:cNvSpPr>
          <p:nvPr>
            <p:ph type="sldNum" sz="quarter" idx="5"/>
          </p:nvPr>
        </p:nvSpPr>
        <p:spPr/>
        <p:txBody>
          <a:bodyPr/>
          <a:lstStyle/>
          <a:p>
            <a:fld id="{D2061F1A-E494-4223-A600-C9DDF71EE410}" type="slidenum">
              <a:rPr lang="en-MY" smtClean="0"/>
              <a:t>15</a:t>
            </a:fld>
            <a:endParaRPr lang="en-MY"/>
          </a:p>
        </p:txBody>
      </p:sp>
    </p:spTree>
    <p:extLst>
      <p:ext uri="{BB962C8B-B14F-4D97-AF65-F5344CB8AC3E}">
        <p14:creationId xmlns:p14="http://schemas.microsoft.com/office/powerpoint/2010/main" val="17536619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32F75-9022-2FCC-F3E2-5D085FB205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059C80-E7B2-EC32-CD69-E6E3B8352A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FAEC4C-3233-D02F-F1B7-D10BFA8651A9}"/>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374072CB-8CD1-40F2-D1C9-89C04A31318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9F64781-E8A7-B9FA-79D0-1C04C3490B97}"/>
              </a:ext>
            </a:extLst>
          </p:cNvPr>
          <p:cNvSpPr>
            <a:spLocks noGrp="1"/>
          </p:cNvSpPr>
          <p:nvPr>
            <p:ph type="sldNum" sz="quarter" idx="5"/>
          </p:nvPr>
        </p:nvSpPr>
        <p:spPr/>
        <p:txBody>
          <a:bodyPr/>
          <a:lstStyle/>
          <a:p>
            <a:fld id="{D2061F1A-E494-4223-A600-C9DDF71EE410}" type="slidenum">
              <a:rPr lang="en-MY" smtClean="0"/>
              <a:t>16</a:t>
            </a:fld>
            <a:endParaRPr lang="en-MY"/>
          </a:p>
        </p:txBody>
      </p:sp>
    </p:spTree>
    <p:extLst>
      <p:ext uri="{BB962C8B-B14F-4D97-AF65-F5344CB8AC3E}">
        <p14:creationId xmlns:p14="http://schemas.microsoft.com/office/powerpoint/2010/main" val="2362719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D375E-A0A4-C2A5-11BD-AB2FE4821D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8B4CD6-6808-E7C4-65C9-B2D1F3115B2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1A20D19-AEA2-4495-075B-7E5C94CBAD9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8339B8E-C3D6-991C-98E4-12E51EDE4CA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02B4A61-3253-7BD1-EE2A-9F6DF5F4E5BD}"/>
              </a:ext>
            </a:extLst>
          </p:cNvPr>
          <p:cNvSpPr>
            <a:spLocks noGrp="1"/>
          </p:cNvSpPr>
          <p:nvPr>
            <p:ph type="sldNum" sz="quarter" idx="5"/>
          </p:nvPr>
        </p:nvSpPr>
        <p:spPr/>
        <p:txBody>
          <a:bodyPr/>
          <a:lstStyle/>
          <a:p>
            <a:fld id="{D2061F1A-E494-4223-A600-C9DDF71EE410}" type="slidenum">
              <a:rPr lang="en-MY" smtClean="0"/>
              <a:t>17</a:t>
            </a:fld>
            <a:endParaRPr lang="en-MY"/>
          </a:p>
        </p:txBody>
      </p:sp>
    </p:spTree>
    <p:extLst>
      <p:ext uri="{BB962C8B-B14F-4D97-AF65-F5344CB8AC3E}">
        <p14:creationId xmlns:p14="http://schemas.microsoft.com/office/powerpoint/2010/main" val="36498466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88ADE-196B-8238-2026-0DADE34D22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9434E-580E-E54D-5E49-21041CCC969A}"/>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E8747A4-37ED-3888-0F9F-D4E310335B4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D848BBF-4208-4435-D241-1E6108DB918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F6718BF-4CC0-B88A-E837-ACDD1C4ADAC4}"/>
              </a:ext>
            </a:extLst>
          </p:cNvPr>
          <p:cNvSpPr>
            <a:spLocks noGrp="1"/>
          </p:cNvSpPr>
          <p:nvPr>
            <p:ph type="sldNum" sz="quarter" idx="5"/>
          </p:nvPr>
        </p:nvSpPr>
        <p:spPr/>
        <p:txBody>
          <a:bodyPr/>
          <a:lstStyle/>
          <a:p>
            <a:fld id="{D2061F1A-E494-4223-A600-C9DDF71EE410}" type="slidenum">
              <a:rPr lang="en-MY" smtClean="0"/>
              <a:t>18</a:t>
            </a:fld>
            <a:endParaRPr lang="en-MY"/>
          </a:p>
        </p:txBody>
      </p:sp>
    </p:spTree>
    <p:extLst>
      <p:ext uri="{BB962C8B-B14F-4D97-AF65-F5344CB8AC3E}">
        <p14:creationId xmlns:p14="http://schemas.microsoft.com/office/powerpoint/2010/main" val="2139260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18B4-65C2-AD71-7ED0-4B11EEB5FF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89C4AD-20E1-657F-4BE1-BB142124F80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F28C899-3CCF-86D4-E477-78FFB4032FD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A7FF774-2EA7-4A84-7064-B5499A85F6B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A84CE99-B373-E5D6-D7F3-8E189DBA7E5A}"/>
              </a:ext>
            </a:extLst>
          </p:cNvPr>
          <p:cNvSpPr>
            <a:spLocks noGrp="1"/>
          </p:cNvSpPr>
          <p:nvPr>
            <p:ph type="sldNum" sz="quarter" idx="5"/>
          </p:nvPr>
        </p:nvSpPr>
        <p:spPr/>
        <p:txBody>
          <a:bodyPr/>
          <a:lstStyle/>
          <a:p>
            <a:fld id="{D2061F1A-E494-4223-A600-C9DDF71EE410}" type="slidenum">
              <a:rPr lang="en-MY" smtClean="0"/>
              <a:t>19</a:t>
            </a:fld>
            <a:endParaRPr lang="en-MY"/>
          </a:p>
        </p:txBody>
      </p:sp>
    </p:spTree>
    <p:extLst>
      <p:ext uri="{BB962C8B-B14F-4D97-AF65-F5344CB8AC3E}">
        <p14:creationId xmlns:p14="http://schemas.microsoft.com/office/powerpoint/2010/main" val="918629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C8D4D-90AE-20BA-CD82-F6CE8779AA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474423-F413-D4F5-2CEC-D33C0D7E3C1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4B7960E-0ACB-AFD8-5A60-E2029FFAA75E}"/>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625F8F4-399C-57DA-5BF6-083AD3B7F20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1078727-5C99-CB40-5631-0456456D073A}"/>
              </a:ext>
            </a:extLst>
          </p:cNvPr>
          <p:cNvSpPr>
            <a:spLocks noGrp="1"/>
          </p:cNvSpPr>
          <p:nvPr>
            <p:ph type="sldNum" sz="quarter" idx="5"/>
          </p:nvPr>
        </p:nvSpPr>
        <p:spPr/>
        <p:txBody>
          <a:bodyPr/>
          <a:lstStyle/>
          <a:p>
            <a:fld id="{D2061F1A-E494-4223-A600-C9DDF71EE410}" type="slidenum">
              <a:rPr lang="en-MY" smtClean="0"/>
              <a:t>20</a:t>
            </a:fld>
            <a:endParaRPr lang="en-MY"/>
          </a:p>
        </p:txBody>
      </p:sp>
    </p:spTree>
    <p:extLst>
      <p:ext uri="{BB962C8B-B14F-4D97-AF65-F5344CB8AC3E}">
        <p14:creationId xmlns:p14="http://schemas.microsoft.com/office/powerpoint/2010/main" val="6279043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A082F-ADF7-AB57-7964-60A5CFF0E4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AADEBB-4706-C8D6-C12A-55098E3611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56F356-FA43-C9EE-7235-427938704677}"/>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18225C6C-87E5-8468-04B0-DC677D1703F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C4514DA-D5D3-96BF-DDC5-7F00B86059B4}"/>
              </a:ext>
            </a:extLst>
          </p:cNvPr>
          <p:cNvSpPr>
            <a:spLocks noGrp="1"/>
          </p:cNvSpPr>
          <p:nvPr>
            <p:ph type="sldNum" sz="quarter" idx="5"/>
          </p:nvPr>
        </p:nvSpPr>
        <p:spPr/>
        <p:txBody>
          <a:bodyPr/>
          <a:lstStyle/>
          <a:p>
            <a:fld id="{D2061F1A-E494-4223-A600-C9DDF71EE410}" type="slidenum">
              <a:rPr lang="en-MY" smtClean="0"/>
              <a:t>21</a:t>
            </a:fld>
            <a:endParaRPr lang="en-MY"/>
          </a:p>
        </p:txBody>
      </p:sp>
    </p:spTree>
    <p:extLst>
      <p:ext uri="{BB962C8B-B14F-4D97-AF65-F5344CB8AC3E}">
        <p14:creationId xmlns:p14="http://schemas.microsoft.com/office/powerpoint/2010/main" val="6358465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17577-A3A9-DF58-B883-0D010EC6FC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9F09E-3AB1-77B6-67A8-B71B5300866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0BB9077-D600-7978-EAFB-0B28914A67B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E45309F-3855-069D-FB43-3C7569152F8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E017F66-8854-A9A1-FF6D-DD089AD4670A}"/>
              </a:ext>
            </a:extLst>
          </p:cNvPr>
          <p:cNvSpPr>
            <a:spLocks noGrp="1"/>
          </p:cNvSpPr>
          <p:nvPr>
            <p:ph type="sldNum" sz="quarter" idx="5"/>
          </p:nvPr>
        </p:nvSpPr>
        <p:spPr/>
        <p:txBody>
          <a:bodyPr/>
          <a:lstStyle/>
          <a:p>
            <a:fld id="{D2061F1A-E494-4223-A600-C9DDF71EE410}" type="slidenum">
              <a:rPr lang="en-MY" smtClean="0"/>
              <a:t>22</a:t>
            </a:fld>
            <a:endParaRPr lang="en-MY"/>
          </a:p>
        </p:txBody>
      </p:sp>
    </p:spTree>
    <p:extLst>
      <p:ext uri="{BB962C8B-B14F-4D97-AF65-F5344CB8AC3E}">
        <p14:creationId xmlns:p14="http://schemas.microsoft.com/office/powerpoint/2010/main" val="42779366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22A88-9D5C-1DD3-D028-BF5A660CC4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3577AC-9363-6995-13CC-4ECB41A518D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F7EE0E6-9A1B-43B1-8321-C6627AD2FC3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7BFD45D-F6FE-FA01-2C48-16448BE18A0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43D4E1B-13E6-8668-68AF-CBC1518E6FC6}"/>
              </a:ext>
            </a:extLst>
          </p:cNvPr>
          <p:cNvSpPr>
            <a:spLocks noGrp="1"/>
          </p:cNvSpPr>
          <p:nvPr>
            <p:ph type="sldNum" sz="quarter" idx="5"/>
          </p:nvPr>
        </p:nvSpPr>
        <p:spPr/>
        <p:txBody>
          <a:bodyPr/>
          <a:lstStyle/>
          <a:p>
            <a:fld id="{D2061F1A-E494-4223-A600-C9DDF71EE410}" type="slidenum">
              <a:rPr lang="en-MY" smtClean="0"/>
              <a:t>23</a:t>
            </a:fld>
            <a:endParaRPr lang="en-MY"/>
          </a:p>
        </p:txBody>
      </p:sp>
    </p:spTree>
    <p:extLst>
      <p:ext uri="{BB962C8B-B14F-4D97-AF65-F5344CB8AC3E}">
        <p14:creationId xmlns:p14="http://schemas.microsoft.com/office/powerpoint/2010/main" val="29618499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2CA32-CE4A-C2E7-7195-714B37AE69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A00DB9-C168-E006-15F6-28C16317E36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6B83180-3129-9DEA-2A4E-10F65F2A78A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437B3FDE-2C65-EB1D-A12C-63C01CC03B7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C0B32A0-3F80-CE71-FA5A-A544F6CAC2EE}"/>
              </a:ext>
            </a:extLst>
          </p:cNvPr>
          <p:cNvSpPr>
            <a:spLocks noGrp="1"/>
          </p:cNvSpPr>
          <p:nvPr>
            <p:ph type="sldNum" sz="quarter" idx="5"/>
          </p:nvPr>
        </p:nvSpPr>
        <p:spPr/>
        <p:txBody>
          <a:bodyPr/>
          <a:lstStyle/>
          <a:p>
            <a:fld id="{D2061F1A-E494-4223-A600-C9DDF71EE410}" type="slidenum">
              <a:rPr lang="en-MY" smtClean="0"/>
              <a:t>24</a:t>
            </a:fld>
            <a:endParaRPr lang="en-MY"/>
          </a:p>
        </p:txBody>
      </p:sp>
    </p:spTree>
    <p:extLst>
      <p:ext uri="{BB962C8B-B14F-4D97-AF65-F5344CB8AC3E}">
        <p14:creationId xmlns:p14="http://schemas.microsoft.com/office/powerpoint/2010/main" val="9468198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4BD04-E278-03DD-ED15-05D1F27893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187043-500E-4AF6-86B5-01DB0660512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4FEBD3A-3C25-A4AD-B0C8-1BA1FE024BB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D569C40-112A-D790-5903-AE5FA90BCBE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E810FB0-65CB-4FC2-33EA-99DCD03ED487}"/>
              </a:ext>
            </a:extLst>
          </p:cNvPr>
          <p:cNvSpPr>
            <a:spLocks noGrp="1"/>
          </p:cNvSpPr>
          <p:nvPr>
            <p:ph type="sldNum" sz="quarter" idx="5"/>
          </p:nvPr>
        </p:nvSpPr>
        <p:spPr/>
        <p:txBody>
          <a:bodyPr/>
          <a:lstStyle/>
          <a:p>
            <a:fld id="{D2061F1A-E494-4223-A600-C9DDF71EE410}" type="slidenum">
              <a:rPr lang="en-MY" smtClean="0"/>
              <a:t>25</a:t>
            </a:fld>
            <a:endParaRPr lang="en-MY"/>
          </a:p>
        </p:txBody>
      </p:sp>
    </p:spTree>
    <p:extLst>
      <p:ext uri="{BB962C8B-B14F-4D97-AF65-F5344CB8AC3E}">
        <p14:creationId xmlns:p14="http://schemas.microsoft.com/office/powerpoint/2010/main" val="36663294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A14A-2F0F-12E2-EDDD-8E2DA537B4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8806CC-A458-8D62-D92B-2A4C64B1373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07032205-BEE5-DB99-43FB-BE672B64558A}"/>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647D582-6669-0BD6-F19F-D98856A891C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5412F1B4-7A47-E7AF-F42D-24B8D68CBF3C}"/>
              </a:ext>
            </a:extLst>
          </p:cNvPr>
          <p:cNvSpPr>
            <a:spLocks noGrp="1"/>
          </p:cNvSpPr>
          <p:nvPr>
            <p:ph type="sldNum" sz="quarter" idx="5"/>
          </p:nvPr>
        </p:nvSpPr>
        <p:spPr/>
        <p:txBody>
          <a:bodyPr/>
          <a:lstStyle/>
          <a:p>
            <a:fld id="{D2061F1A-E494-4223-A600-C9DDF71EE410}" type="slidenum">
              <a:rPr lang="en-MY" smtClean="0"/>
              <a:t>26</a:t>
            </a:fld>
            <a:endParaRPr lang="en-MY"/>
          </a:p>
        </p:txBody>
      </p:sp>
    </p:spTree>
    <p:extLst>
      <p:ext uri="{BB962C8B-B14F-4D97-AF65-F5344CB8AC3E}">
        <p14:creationId xmlns:p14="http://schemas.microsoft.com/office/powerpoint/2010/main" val="33190033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84E63-27C8-C6AF-AC45-20ED811FE7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06178B-B378-4C32-CD43-B282CE93740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0C9A1B3-CD92-33D1-7983-553B55189190}"/>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828DDDC-43FA-8A0E-7B8D-73AB327D44C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F27B95E-8395-34BF-F215-7B57C5586D8F}"/>
              </a:ext>
            </a:extLst>
          </p:cNvPr>
          <p:cNvSpPr>
            <a:spLocks noGrp="1"/>
          </p:cNvSpPr>
          <p:nvPr>
            <p:ph type="sldNum" sz="quarter" idx="5"/>
          </p:nvPr>
        </p:nvSpPr>
        <p:spPr/>
        <p:txBody>
          <a:bodyPr/>
          <a:lstStyle/>
          <a:p>
            <a:fld id="{D2061F1A-E494-4223-A600-C9DDF71EE410}" type="slidenum">
              <a:rPr lang="en-MY" smtClean="0"/>
              <a:t>27</a:t>
            </a:fld>
            <a:endParaRPr lang="en-MY"/>
          </a:p>
        </p:txBody>
      </p:sp>
    </p:spTree>
    <p:extLst>
      <p:ext uri="{BB962C8B-B14F-4D97-AF65-F5344CB8AC3E}">
        <p14:creationId xmlns:p14="http://schemas.microsoft.com/office/powerpoint/2010/main" val="26623576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A3C57-DBD5-3CEC-CDE3-17A380BA4A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451DBB-D682-86A9-FCBC-F7902B6C8C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5C2F4E-AA00-C41E-15D4-F0D4902A958A}"/>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B6A0E59E-69F8-94EE-4402-6B01C937267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064542E-9104-41C1-F2CC-990316B1B2A8}"/>
              </a:ext>
            </a:extLst>
          </p:cNvPr>
          <p:cNvSpPr>
            <a:spLocks noGrp="1"/>
          </p:cNvSpPr>
          <p:nvPr>
            <p:ph type="sldNum" sz="quarter" idx="5"/>
          </p:nvPr>
        </p:nvSpPr>
        <p:spPr/>
        <p:txBody>
          <a:bodyPr/>
          <a:lstStyle/>
          <a:p>
            <a:fld id="{D2061F1A-E494-4223-A600-C9DDF71EE410}" type="slidenum">
              <a:rPr lang="en-MY" smtClean="0"/>
              <a:t>28</a:t>
            </a:fld>
            <a:endParaRPr lang="en-MY"/>
          </a:p>
        </p:txBody>
      </p:sp>
    </p:spTree>
    <p:extLst>
      <p:ext uri="{BB962C8B-B14F-4D97-AF65-F5344CB8AC3E}">
        <p14:creationId xmlns:p14="http://schemas.microsoft.com/office/powerpoint/2010/main" val="12534800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C0DB2-1C95-DC61-602A-6C65DEBB0B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FB4A5-839C-0054-BBF1-35A657B9288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839E221-7BFB-8A70-C3D9-ABF5E3ED1FE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5340BEC-306C-236F-57D6-6C7677D05AE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39F64916-9934-BEA6-FDAA-F837571410F3}"/>
              </a:ext>
            </a:extLst>
          </p:cNvPr>
          <p:cNvSpPr>
            <a:spLocks noGrp="1"/>
          </p:cNvSpPr>
          <p:nvPr>
            <p:ph type="sldNum" sz="quarter" idx="5"/>
          </p:nvPr>
        </p:nvSpPr>
        <p:spPr/>
        <p:txBody>
          <a:bodyPr/>
          <a:lstStyle/>
          <a:p>
            <a:fld id="{D2061F1A-E494-4223-A600-C9DDF71EE410}" type="slidenum">
              <a:rPr lang="en-MY" smtClean="0"/>
              <a:t>29</a:t>
            </a:fld>
            <a:endParaRPr lang="en-MY"/>
          </a:p>
        </p:txBody>
      </p:sp>
    </p:spTree>
    <p:extLst>
      <p:ext uri="{BB962C8B-B14F-4D97-AF65-F5344CB8AC3E}">
        <p14:creationId xmlns:p14="http://schemas.microsoft.com/office/powerpoint/2010/main" val="14565903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5A89B-E824-5DDE-6DD1-B3F3DA9F26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D20A7F-BF17-9403-644F-D80D4513A98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87E224C-F141-D2B4-5737-14FA43DF56A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2351055-A5F8-BCE9-D1FF-408F951BFE5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A8BF49F-FE81-677F-B847-363DA00F1CA5}"/>
              </a:ext>
            </a:extLst>
          </p:cNvPr>
          <p:cNvSpPr>
            <a:spLocks noGrp="1"/>
          </p:cNvSpPr>
          <p:nvPr>
            <p:ph type="sldNum" sz="quarter" idx="5"/>
          </p:nvPr>
        </p:nvSpPr>
        <p:spPr/>
        <p:txBody>
          <a:bodyPr/>
          <a:lstStyle/>
          <a:p>
            <a:fld id="{D2061F1A-E494-4223-A600-C9DDF71EE410}" type="slidenum">
              <a:rPr lang="en-MY" smtClean="0"/>
              <a:t>30</a:t>
            </a:fld>
            <a:endParaRPr lang="en-MY"/>
          </a:p>
        </p:txBody>
      </p:sp>
    </p:spTree>
    <p:extLst>
      <p:ext uri="{BB962C8B-B14F-4D97-AF65-F5344CB8AC3E}">
        <p14:creationId xmlns:p14="http://schemas.microsoft.com/office/powerpoint/2010/main" val="28158093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A7A6B-A7FF-D226-12A5-D27BDCCAFA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FF047-F9AF-2A50-0889-ABD139A043C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BE90351-F4AC-6873-C885-8286E2731AA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26828E8-8EEC-40B3-8543-41E413E2CEF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4E716D1-BFC1-B725-A3E4-A7C9C81EB49F}"/>
              </a:ext>
            </a:extLst>
          </p:cNvPr>
          <p:cNvSpPr>
            <a:spLocks noGrp="1"/>
          </p:cNvSpPr>
          <p:nvPr>
            <p:ph type="sldNum" sz="quarter" idx="5"/>
          </p:nvPr>
        </p:nvSpPr>
        <p:spPr/>
        <p:txBody>
          <a:bodyPr/>
          <a:lstStyle/>
          <a:p>
            <a:fld id="{D2061F1A-E494-4223-A600-C9DDF71EE410}" type="slidenum">
              <a:rPr lang="en-MY" smtClean="0"/>
              <a:t>31</a:t>
            </a:fld>
            <a:endParaRPr lang="en-MY"/>
          </a:p>
        </p:txBody>
      </p:sp>
    </p:spTree>
    <p:extLst>
      <p:ext uri="{BB962C8B-B14F-4D97-AF65-F5344CB8AC3E}">
        <p14:creationId xmlns:p14="http://schemas.microsoft.com/office/powerpoint/2010/main" val="4319989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C98C2-823D-C6F7-EFC6-5205DFAB23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908584-FBAC-3F77-89FF-73CD5A38688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C0896CF-8896-2BB6-637E-312BB73BF0B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88048263-AC88-E5FB-8495-EB354460313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5AFF1742-3D01-D155-1E61-4AD250F278BE}"/>
              </a:ext>
            </a:extLst>
          </p:cNvPr>
          <p:cNvSpPr>
            <a:spLocks noGrp="1"/>
          </p:cNvSpPr>
          <p:nvPr>
            <p:ph type="sldNum" sz="quarter" idx="5"/>
          </p:nvPr>
        </p:nvSpPr>
        <p:spPr/>
        <p:txBody>
          <a:bodyPr/>
          <a:lstStyle/>
          <a:p>
            <a:fld id="{D2061F1A-E494-4223-A600-C9DDF71EE410}" type="slidenum">
              <a:rPr lang="en-MY" smtClean="0"/>
              <a:t>32</a:t>
            </a:fld>
            <a:endParaRPr lang="en-MY"/>
          </a:p>
        </p:txBody>
      </p:sp>
    </p:spTree>
    <p:extLst>
      <p:ext uri="{BB962C8B-B14F-4D97-AF65-F5344CB8AC3E}">
        <p14:creationId xmlns:p14="http://schemas.microsoft.com/office/powerpoint/2010/main" val="19732178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8A6A8-D831-12BF-8CF2-664A2515B1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6D84F8-7E49-FBBC-A9E8-D8739BC3D63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B26B16D-52E1-8709-14FF-E3F5314B1D9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F77DE572-A4EB-9F66-3E94-AB61D2E1821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BCDE4D4-33DB-5852-0133-EE7ABD7B0C28}"/>
              </a:ext>
            </a:extLst>
          </p:cNvPr>
          <p:cNvSpPr>
            <a:spLocks noGrp="1"/>
          </p:cNvSpPr>
          <p:nvPr>
            <p:ph type="sldNum" sz="quarter" idx="5"/>
          </p:nvPr>
        </p:nvSpPr>
        <p:spPr/>
        <p:txBody>
          <a:bodyPr/>
          <a:lstStyle/>
          <a:p>
            <a:fld id="{D2061F1A-E494-4223-A600-C9DDF71EE410}" type="slidenum">
              <a:rPr lang="en-MY" smtClean="0"/>
              <a:t>33</a:t>
            </a:fld>
            <a:endParaRPr lang="en-MY"/>
          </a:p>
        </p:txBody>
      </p:sp>
    </p:spTree>
    <p:extLst>
      <p:ext uri="{BB962C8B-B14F-4D97-AF65-F5344CB8AC3E}">
        <p14:creationId xmlns:p14="http://schemas.microsoft.com/office/powerpoint/2010/main" val="37174191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4F34-4FE1-C2BA-B241-4394C82C7B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622E9-5962-AB61-4A63-D3FB1C670E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925835-2E9D-5D3B-AA17-FE4909FF5B28}"/>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DBC92DF7-B699-AA06-1B6C-5CCD2740CD1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5AA5DC4B-B57D-676C-CA96-0CE7AE25F8C0}"/>
              </a:ext>
            </a:extLst>
          </p:cNvPr>
          <p:cNvSpPr>
            <a:spLocks noGrp="1"/>
          </p:cNvSpPr>
          <p:nvPr>
            <p:ph type="sldNum" sz="quarter" idx="5"/>
          </p:nvPr>
        </p:nvSpPr>
        <p:spPr/>
        <p:txBody>
          <a:bodyPr/>
          <a:lstStyle/>
          <a:p>
            <a:fld id="{D2061F1A-E494-4223-A600-C9DDF71EE410}" type="slidenum">
              <a:rPr lang="en-MY" smtClean="0"/>
              <a:t>34</a:t>
            </a:fld>
            <a:endParaRPr lang="en-MY"/>
          </a:p>
        </p:txBody>
      </p:sp>
    </p:spTree>
    <p:extLst>
      <p:ext uri="{BB962C8B-B14F-4D97-AF65-F5344CB8AC3E}">
        <p14:creationId xmlns:p14="http://schemas.microsoft.com/office/powerpoint/2010/main" val="10081240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B6371-A694-768C-EEF1-409FD1B04C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9A4925-6F93-171E-1E3E-76DA6407A52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8CF3CA0-6C59-390D-F7AB-876A1D92BF10}"/>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A05186C-ECD7-E96A-076D-BCFCD883B77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F297026-DB05-856A-979A-D786390B1175}"/>
              </a:ext>
            </a:extLst>
          </p:cNvPr>
          <p:cNvSpPr>
            <a:spLocks noGrp="1"/>
          </p:cNvSpPr>
          <p:nvPr>
            <p:ph type="sldNum" sz="quarter" idx="5"/>
          </p:nvPr>
        </p:nvSpPr>
        <p:spPr/>
        <p:txBody>
          <a:bodyPr/>
          <a:lstStyle/>
          <a:p>
            <a:fld id="{D2061F1A-E494-4223-A600-C9DDF71EE410}" type="slidenum">
              <a:rPr lang="en-MY" smtClean="0"/>
              <a:t>35</a:t>
            </a:fld>
            <a:endParaRPr lang="en-MY"/>
          </a:p>
        </p:txBody>
      </p:sp>
    </p:spTree>
    <p:extLst>
      <p:ext uri="{BB962C8B-B14F-4D97-AF65-F5344CB8AC3E}">
        <p14:creationId xmlns:p14="http://schemas.microsoft.com/office/powerpoint/2010/main" val="14284547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F2108-8648-60BB-147D-5ACE2A97FE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588C1C-79DF-247F-3425-B97D20054F8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52C6060-64FD-6D26-B423-3ECECB44E8B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FC5DFF59-C838-54B8-7235-C4C9BD2D8BB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BD6DE48-B22D-C5C1-13AC-4F1011A7B57D}"/>
              </a:ext>
            </a:extLst>
          </p:cNvPr>
          <p:cNvSpPr>
            <a:spLocks noGrp="1"/>
          </p:cNvSpPr>
          <p:nvPr>
            <p:ph type="sldNum" sz="quarter" idx="5"/>
          </p:nvPr>
        </p:nvSpPr>
        <p:spPr/>
        <p:txBody>
          <a:bodyPr/>
          <a:lstStyle/>
          <a:p>
            <a:fld id="{D2061F1A-E494-4223-A600-C9DDF71EE410}" type="slidenum">
              <a:rPr lang="en-MY" smtClean="0"/>
              <a:t>36</a:t>
            </a:fld>
            <a:endParaRPr lang="en-MY"/>
          </a:p>
        </p:txBody>
      </p:sp>
    </p:spTree>
    <p:extLst>
      <p:ext uri="{BB962C8B-B14F-4D97-AF65-F5344CB8AC3E}">
        <p14:creationId xmlns:p14="http://schemas.microsoft.com/office/powerpoint/2010/main" val="8959517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90564-756B-8B0E-8419-8480C8E04E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9BEEED-6253-07FA-4708-B83DA30B377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FF12156-7327-E698-36D9-6EEB683A8FF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5C249477-A409-146F-B8D6-F26387977EF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59AD1C8-F7A5-1775-4EA0-7C3929A5BC50}"/>
              </a:ext>
            </a:extLst>
          </p:cNvPr>
          <p:cNvSpPr>
            <a:spLocks noGrp="1"/>
          </p:cNvSpPr>
          <p:nvPr>
            <p:ph type="sldNum" sz="quarter" idx="5"/>
          </p:nvPr>
        </p:nvSpPr>
        <p:spPr/>
        <p:txBody>
          <a:bodyPr/>
          <a:lstStyle/>
          <a:p>
            <a:fld id="{D2061F1A-E494-4223-A600-C9DDF71EE410}" type="slidenum">
              <a:rPr lang="en-MY" smtClean="0"/>
              <a:t>37</a:t>
            </a:fld>
            <a:endParaRPr lang="en-MY"/>
          </a:p>
        </p:txBody>
      </p:sp>
    </p:spTree>
    <p:extLst>
      <p:ext uri="{BB962C8B-B14F-4D97-AF65-F5344CB8AC3E}">
        <p14:creationId xmlns:p14="http://schemas.microsoft.com/office/powerpoint/2010/main" val="34419819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47B5A-17F4-77A4-6CAB-CFD6794D0F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2A2757-EEF4-E730-06F7-184A741D1748}"/>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2C463F4-2603-4481-0E6F-3D79F9459BBD}"/>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1C54EE4-9E75-AB90-DE09-0268E2F2E0C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E0B7F78-8ED5-629F-D9FB-9C883A4998B3}"/>
              </a:ext>
            </a:extLst>
          </p:cNvPr>
          <p:cNvSpPr>
            <a:spLocks noGrp="1"/>
          </p:cNvSpPr>
          <p:nvPr>
            <p:ph type="sldNum" sz="quarter" idx="5"/>
          </p:nvPr>
        </p:nvSpPr>
        <p:spPr/>
        <p:txBody>
          <a:bodyPr/>
          <a:lstStyle/>
          <a:p>
            <a:fld id="{D2061F1A-E494-4223-A600-C9DDF71EE410}" type="slidenum">
              <a:rPr lang="en-MY" smtClean="0"/>
              <a:t>38</a:t>
            </a:fld>
            <a:endParaRPr lang="en-MY"/>
          </a:p>
        </p:txBody>
      </p:sp>
    </p:spTree>
    <p:extLst>
      <p:ext uri="{BB962C8B-B14F-4D97-AF65-F5344CB8AC3E}">
        <p14:creationId xmlns:p14="http://schemas.microsoft.com/office/powerpoint/2010/main" val="38479770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859DE-30FC-ED19-D7BD-6E7B8FD250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0A4FAE-F617-6C9B-FD4A-8D13D6B3BAE8}"/>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3F0F418-D2C7-4A31-768A-AA00BA1FC17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80FBC919-0E5C-C1A6-BD98-11408BE89D2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5EBDF5E2-C124-7557-2415-379132823F12}"/>
              </a:ext>
            </a:extLst>
          </p:cNvPr>
          <p:cNvSpPr>
            <a:spLocks noGrp="1"/>
          </p:cNvSpPr>
          <p:nvPr>
            <p:ph type="sldNum" sz="quarter" idx="5"/>
          </p:nvPr>
        </p:nvSpPr>
        <p:spPr/>
        <p:txBody>
          <a:bodyPr/>
          <a:lstStyle/>
          <a:p>
            <a:fld id="{D2061F1A-E494-4223-A600-C9DDF71EE410}" type="slidenum">
              <a:rPr lang="en-MY" smtClean="0"/>
              <a:t>39</a:t>
            </a:fld>
            <a:endParaRPr lang="en-MY"/>
          </a:p>
        </p:txBody>
      </p:sp>
    </p:spTree>
    <p:extLst>
      <p:ext uri="{BB962C8B-B14F-4D97-AF65-F5344CB8AC3E}">
        <p14:creationId xmlns:p14="http://schemas.microsoft.com/office/powerpoint/2010/main" val="16066845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DABCF-2E1E-C8D0-0F8A-86F306C6AC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633B04-C304-19A0-7A3A-C337BE65E23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55B6627-6F66-D7AC-3FB9-60C0F7FD1E5A}"/>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6BE10531-71A8-C8D6-E3AF-277ACF5A80A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F668B4C-0F48-DC58-090D-D3F6E142452E}"/>
              </a:ext>
            </a:extLst>
          </p:cNvPr>
          <p:cNvSpPr>
            <a:spLocks noGrp="1"/>
          </p:cNvSpPr>
          <p:nvPr>
            <p:ph type="sldNum" sz="quarter" idx="5"/>
          </p:nvPr>
        </p:nvSpPr>
        <p:spPr/>
        <p:txBody>
          <a:bodyPr/>
          <a:lstStyle/>
          <a:p>
            <a:fld id="{D2061F1A-E494-4223-A600-C9DDF71EE410}" type="slidenum">
              <a:rPr lang="en-MY" smtClean="0"/>
              <a:t>40</a:t>
            </a:fld>
            <a:endParaRPr lang="en-MY"/>
          </a:p>
        </p:txBody>
      </p:sp>
    </p:spTree>
    <p:extLst>
      <p:ext uri="{BB962C8B-B14F-4D97-AF65-F5344CB8AC3E}">
        <p14:creationId xmlns:p14="http://schemas.microsoft.com/office/powerpoint/2010/main" val="38039326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B510C-42A5-0DC3-E628-E343FF452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4A7764-2505-47E0-E245-22BEE8966E0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06730F32-A2D7-B22F-963C-204246FBB69E}"/>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62AA3FD8-189D-619F-08DB-F88BAA8A065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F98CB93-F3E2-C530-7D69-DA2F2739263E}"/>
              </a:ext>
            </a:extLst>
          </p:cNvPr>
          <p:cNvSpPr>
            <a:spLocks noGrp="1"/>
          </p:cNvSpPr>
          <p:nvPr>
            <p:ph type="sldNum" sz="quarter" idx="5"/>
          </p:nvPr>
        </p:nvSpPr>
        <p:spPr/>
        <p:txBody>
          <a:bodyPr/>
          <a:lstStyle/>
          <a:p>
            <a:fld id="{D2061F1A-E494-4223-A600-C9DDF71EE410}" type="slidenum">
              <a:rPr lang="en-MY" smtClean="0"/>
              <a:t>41</a:t>
            </a:fld>
            <a:endParaRPr lang="en-MY"/>
          </a:p>
        </p:txBody>
      </p:sp>
    </p:spTree>
    <p:extLst>
      <p:ext uri="{BB962C8B-B14F-4D97-AF65-F5344CB8AC3E}">
        <p14:creationId xmlns:p14="http://schemas.microsoft.com/office/powerpoint/2010/main" val="39861385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34436-6F4A-20B3-B200-E0FFD95F8F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925218-0516-9BA0-CA42-CD07268C956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1E3A437D-57CE-120E-CCC6-56EC54EB899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1D2C1242-B481-C0A6-551F-63A2E0D2F92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D17D062-C95B-AB59-1A02-210132ED9018}"/>
              </a:ext>
            </a:extLst>
          </p:cNvPr>
          <p:cNvSpPr>
            <a:spLocks noGrp="1"/>
          </p:cNvSpPr>
          <p:nvPr>
            <p:ph type="sldNum" sz="quarter" idx="5"/>
          </p:nvPr>
        </p:nvSpPr>
        <p:spPr/>
        <p:txBody>
          <a:bodyPr/>
          <a:lstStyle/>
          <a:p>
            <a:fld id="{D2061F1A-E494-4223-A600-C9DDF71EE410}" type="slidenum">
              <a:rPr lang="en-MY" smtClean="0"/>
              <a:t>42</a:t>
            </a:fld>
            <a:endParaRPr lang="en-MY"/>
          </a:p>
        </p:txBody>
      </p:sp>
    </p:spTree>
    <p:extLst>
      <p:ext uri="{BB962C8B-B14F-4D97-AF65-F5344CB8AC3E}">
        <p14:creationId xmlns:p14="http://schemas.microsoft.com/office/powerpoint/2010/main" val="23286417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4A9E8-EC00-91C1-5C8D-B0BF3D106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B144CD-EC84-0318-1243-EB9CD31B8BA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FD5C332-3AA6-821E-4922-7C4B5F6A22D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8EB3CB5-35E5-707A-5102-D1CA541F813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2A081A6-2431-7CD3-7C5C-9AF75B8B32D7}"/>
              </a:ext>
            </a:extLst>
          </p:cNvPr>
          <p:cNvSpPr>
            <a:spLocks noGrp="1"/>
          </p:cNvSpPr>
          <p:nvPr>
            <p:ph type="sldNum" sz="quarter" idx="5"/>
          </p:nvPr>
        </p:nvSpPr>
        <p:spPr/>
        <p:txBody>
          <a:bodyPr/>
          <a:lstStyle/>
          <a:p>
            <a:fld id="{D2061F1A-E494-4223-A600-C9DDF71EE410}" type="slidenum">
              <a:rPr lang="en-MY" smtClean="0"/>
              <a:t>43</a:t>
            </a:fld>
            <a:endParaRPr lang="en-MY"/>
          </a:p>
        </p:txBody>
      </p:sp>
    </p:spTree>
    <p:extLst>
      <p:ext uri="{BB962C8B-B14F-4D97-AF65-F5344CB8AC3E}">
        <p14:creationId xmlns:p14="http://schemas.microsoft.com/office/powerpoint/2010/main" val="10292916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388CE-0A79-C101-6E10-59D399A40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DE9D26-4799-67A0-AF3C-030F36A42FB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855EFF1-E48B-630E-A0FA-77ECD6D3FE95}"/>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40E83FA0-3320-1321-8978-0DCEE214221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7FD9C71-9D2E-324C-1E06-C4940D82F47C}"/>
              </a:ext>
            </a:extLst>
          </p:cNvPr>
          <p:cNvSpPr>
            <a:spLocks noGrp="1"/>
          </p:cNvSpPr>
          <p:nvPr>
            <p:ph type="sldNum" sz="quarter" idx="5"/>
          </p:nvPr>
        </p:nvSpPr>
        <p:spPr/>
        <p:txBody>
          <a:bodyPr/>
          <a:lstStyle/>
          <a:p>
            <a:fld id="{D2061F1A-E494-4223-A600-C9DDF71EE410}" type="slidenum">
              <a:rPr lang="en-MY" smtClean="0"/>
              <a:t>44</a:t>
            </a:fld>
            <a:endParaRPr lang="en-MY"/>
          </a:p>
        </p:txBody>
      </p:sp>
    </p:spTree>
    <p:extLst>
      <p:ext uri="{BB962C8B-B14F-4D97-AF65-F5344CB8AC3E}">
        <p14:creationId xmlns:p14="http://schemas.microsoft.com/office/powerpoint/2010/main" val="38993070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15C50-E72C-5EA8-F8C7-248DBE68BB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F5CD50-8060-2382-61C1-2AE44B17DCF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111FC8B3-E6CA-3BD4-503F-CB53EEA77CE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33B2D15-1318-BA52-370E-DFEB14B768F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2ECE45D-A1FB-B4BD-8DE5-7B050ABBC106}"/>
              </a:ext>
            </a:extLst>
          </p:cNvPr>
          <p:cNvSpPr>
            <a:spLocks noGrp="1"/>
          </p:cNvSpPr>
          <p:nvPr>
            <p:ph type="sldNum" sz="quarter" idx="5"/>
          </p:nvPr>
        </p:nvSpPr>
        <p:spPr/>
        <p:txBody>
          <a:bodyPr/>
          <a:lstStyle/>
          <a:p>
            <a:fld id="{D2061F1A-E494-4223-A600-C9DDF71EE410}" type="slidenum">
              <a:rPr lang="en-MY" smtClean="0"/>
              <a:t>45</a:t>
            </a:fld>
            <a:endParaRPr lang="en-MY"/>
          </a:p>
        </p:txBody>
      </p:sp>
    </p:spTree>
    <p:extLst>
      <p:ext uri="{BB962C8B-B14F-4D97-AF65-F5344CB8AC3E}">
        <p14:creationId xmlns:p14="http://schemas.microsoft.com/office/powerpoint/2010/main" val="1154782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A0397-FF76-B27F-82E7-3EF594AF17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826EC9-AEE7-C06E-FF70-32388CAA3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6D777A-F01D-8355-E1E6-74837BDC0D8C}"/>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4BBD748A-ADA9-68D0-22B1-00BABF8840B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7C19232-A8AC-81B0-E703-7822AA8D24C4}"/>
              </a:ext>
            </a:extLst>
          </p:cNvPr>
          <p:cNvSpPr>
            <a:spLocks noGrp="1"/>
          </p:cNvSpPr>
          <p:nvPr>
            <p:ph type="sldNum" sz="quarter" idx="5"/>
          </p:nvPr>
        </p:nvSpPr>
        <p:spPr/>
        <p:txBody>
          <a:bodyPr/>
          <a:lstStyle/>
          <a:p>
            <a:fld id="{D2061F1A-E494-4223-A600-C9DDF71EE410}" type="slidenum">
              <a:rPr lang="en-MY" smtClean="0"/>
              <a:t>46</a:t>
            </a:fld>
            <a:endParaRPr lang="en-MY"/>
          </a:p>
        </p:txBody>
      </p:sp>
    </p:spTree>
    <p:extLst>
      <p:ext uri="{BB962C8B-B14F-4D97-AF65-F5344CB8AC3E}">
        <p14:creationId xmlns:p14="http://schemas.microsoft.com/office/powerpoint/2010/main" val="204511918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51CCE-5CFB-8817-AFF4-DF78EE86A7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DCB5FB-6354-2E6A-83F4-8531625DD44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A9BE4C5-E41C-2F90-14B3-5AE59E733CA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69079A4-D16A-DC07-35BB-0EF66F53506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7891715-8461-4B92-492E-9201DB82B88C}"/>
              </a:ext>
            </a:extLst>
          </p:cNvPr>
          <p:cNvSpPr>
            <a:spLocks noGrp="1"/>
          </p:cNvSpPr>
          <p:nvPr>
            <p:ph type="sldNum" sz="quarter" idx="5"/>
          </p:nvPr>
        </p:nvSpPr>
        <p:spPr/>
        <p:txBody>
          <a:bodyPr/>
          <a:lstStyle/>
          <a:p>
            <a:fld id="{D2061F1A-E494-4223-A600-C9DDF71EE410}" type="slidenum">
              <a:rPr lang="en-MY" smtClean="0"/>
              <a:t>47</a:t>
            </a:fld>
            <a:endParaRPr lang="en-MY"/>
          </a:p>
        </p:txBody>
      </p:sp>
    </p:spTree>
    <p:extLst>
      <p:ext uri="{BB962C8B-B14F-4D97-AF65-F5344CB8AC3E}">
        <p14:creationId xmlns:p14="http://schemas.microsoft.com/office/powerpoint/2010/main" val="13344227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546BF-A5D3-EB79-8532-8103923B69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DEB233-6E98-A4D7-3CFA-91FC449B049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9DEE791-79F6-781C-908F-2C1653054A75}"/>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C9266662-7A37-20FB-7C55-439CE5E4D63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18BAF71-B897-AB83-45DD-3E3C58F8DC85}"/>
              </a:ext>
            </a:extLst>
          </p:cNvPr>
          <p:cNvSpPr>
            <a:spLocks noGrp="1"/>
          </p:cNvSpPr>
          <p:nvPr>
            <p:ph type="sldNum" sz="quarter" idx="5"/>
          </p:nvPr>
        </p:nvSpPr>
        <p:spPr/>
        <p:txBody>
          <a:bodyPr/>
          <a:lstStyle/>
          <a:p>
            <a:fld id="{D2061F1A-E494-4223-A600-C9DDF71EE410}" type="slidenum">
              <a:rPr lang="en-MY" smtClean="0"/>
              <a:t>48</a:t>
            </a:fld>
            <a:endParaRPr lang="en-MY"/>
          </a:p>
        </p:txBody>
      </p:sp>
    </p:spTree>
    <p:extLst>
      <p:ext uri="{BB962C8B-B14F-4D97-AF65-F5344CB8AC3E}">
        <p14:creationId xmlns:p14="http://schemas.microsoft.com/office/powerpoint/2010/main" val="266173263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49</a:t>
            </a:fld>
            <a:endParaRPr lang="en-MY"/>
          </a:p>
        </p:txBody>
      </p:sp>
    </p:spTree>
    <p:extLst>
      <p:ext uri="{BB962C8B-B14F-4D97-AF65-F5344CB8AC3E}">
        <p14:creationId xmlns:p14="http://schemas.microsoft.com/office/powerpoint/2010/main" val="3454728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0153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22051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84934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97787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Week XX</a:t>
            </a:r>
          </a:p>
        </p:txBody>
      </p:sp>
      <p:sp>
        <p:nvSpPr>
          <p:cNvPr id="8" name="Footer Placeholder 7"/>
          <p:cNvSpPr>
            <a:spLocks noGrp="1"/>
          </p:cNvSpPr>
          <p:nvPr>
            <p:ph type="ftr" sz="quarter" idx="11"/>
          </p:nvPr>
        </p:nvSpPr>
        <p:spPr/>
        <p:txBody>
          <a:bodyPr/>
          <a:lstStyle/>
          <a:p>
            <a:r>
              <a:rPr lang="en-US"/>
              <a:t>For educational use only. Not to be distributed or shared without permission.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99058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Week XX</a:t>
            </a:r>
          </a:p>
        </p:txBody>
      </p:sp>
      <p:sp>
        <p:nvSpPr>
          <p:cNvPr id="4" name="Footer Placeholder 3"/>
          <p:cNvSpPr>
            <a:spLocks noGrp="1"/>
          </p:cNvSpPr>
          <p:nvPr>
            <p:ph type="ftr" sz="quarter" idx="11"/>
          </p:nvPr>
        </p:nvSpPr>
        <p:spPr/>
        <p:txBody>
          <a:bodyPr/>
          <a:lstStyle/>
          <a:p>
            <a:r>
              <a:rPr lang="en-US"/>
              <a:t>For educational use only. Not to be distributed or shared without permission.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55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Week XX</a:t>
            </a:r>
          </a:p>
        </p:txBody>
      </p:sp>
      <p:sp>
        <p:nvSpPr>
          <p:cNvPr id="3" name="Footer Placeholder 2"/>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60093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36636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6593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7984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309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r>
              <a:rPr lang="en-US"/>
              <a:t>Week XX</a:t>
            </a:r>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For educational use only. Not to be distributed or shared without permission.</a:t>
            </a:r>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07601668"/>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9.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hyperlink" Target="mailto:shuhaida.shuhidan@utp.edu.m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106887" y="1511403"/>
            <a:ext cx="11424666" cy="5204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a:off x="6106887" y="9410700"/>
            <a:ext cx="1142466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7426192" y="1942813"/>
            <a:ext cx="9036316" cy="1752887"/>
            <a:chOff x="0" y="0"/>
            <a:chExt cx="2337006" cy="292155"/>
          </a:xfrm>
          <a:noFill/>
        </p:grpSpPr>
        <p:sp>
          <p:nvSpPr>
            <p:cNvPr id="5" name="Freeform 5"/>
            <p:cNvSpPr/>
            <p:nvPr/>
          </p:nvSpPr>
          <p:spPr>
            <a:xfrm>
              <a:off x="0" y="0"/>
              <a:ext cx="2337006" cy="292155"/>
            </a:xfrm>
            <a:custGeom>
              <a:avLst/>
              <a:gdLst/>
              <a:ahLst/>
              <a:cxnLst/>
              <a:rect l="l" t="t" r="r" b="b"/>
              <a:pathLst>
                <a:path w="2337006" h="292155">
                  <a:moveTo>
                    <a:pt x="0" y="0"/>
                  </a:moveTo>
                  <a:lnTo>
                    <a:pt x="2337006" y="0"/>
                  </a:lnTo>
                  <a:lnTo>
                    <a:pt x="2337006" y="292155"/>
                  </a:lnTo>
                  <a:lnTo>
                    <a:pt x="0" y="292155"/>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330255"/>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 name="Group 8"/>
          <p:cNvGrpSpPr/>
          <p:nvPr/>
        </p:nvGrpSpPr>
        <p:grpSpPr>
          <a:xfrm>
            <a:off x="1" y="0"/>
            <a:ext cx="6106886" cy="10286998"/>
            <a:chOff x="-10330" y="-104775"/>
            <a:chExt cx="1377733" cy="2182730"/>
          </a:xfrm>
        </p:grpSpPr>
        <p:sp>
          <p:nvSpPr>
            <p:cNvPr id="9" name="Freeform 9"/>
            <p:cNvSpPr/>
            <p:nvPr/>
          </p:nvSpPr>
          <p:spPr>
            <a:xfrm>
              <a:off x="-10330" y="-104775"/>
              <a:ext cx="1377733" cy="2182730"/>
            </a:xfrm>
            <a:custGeom>
              <a:avLst/>
              <a:gdLst/>
              <a:ahLst/>
              <a:cxnLst/>
              <a:rect l="l" t="t" r="r" b="b"/>
              <a:pathLst>
                <a:path w="1282673" h="2091166">
                  <a:moveTo>
                    <a:pt x="0" y="0"/>
                  </a:moveTo>
                  <a:lnTo>
                    <a:pt x="1282673" y="0"/>
                  </a:lnTo>
                  <a:lnTo>
                    <a:pt x="1282673" y="2091166"/>
                  </a:lnTo>
                  <a:lnTo>
                    <a:pt x="0" y="2091166"/>
                  </a:lnTo>
                  <a:close/>
                </a:path>
              </a:pathLst>
            </a:custGeom>
            <a:solidFill>
              <a:schemeClr val="bg2">
                <a:lumMod val="90000"/>
              </a:schemeClr>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10"/>
            <p:cNvSpPr txBox="1"/>
            <p:nvPr/>
          </p:nvSpPr>
          <p:spPr>
            <a:xfrm>
              <a:off x="0" y="-104775"/>
              <a:ext cx="1282673" cy="1906122"/>
            </a:xfrm>
            <a:prstGeom prst="rect">
              <a:avLst/>
            </a:prstGeom>
          </p:spPr>
          <p:txBody>
            <a:bodyPr lIns="50800" tIns="50800" rIns="50800" bIns="50800" rtlCol="0" anchor="ctr"/>
            <a:lstStyle/>
            <a:p>
              <a:pPr marL="0" marR="0" lvl="0" indent="0" algn="ctr" defTabSz="457200" rtl="0" eaLnBrk="1" fontAlgn="auto" latinLnBrk="0" hangingPunct="1">
                <a:lnSpc>
                  <a:spcPts val="5015"/>
                </a:lnSpc>
                <a:spcBef>
                  <a:spcPts val="0"/>
                </a:spcBef>
                <a:spcAft>
                  <a:spcPts val="0"/>
                </a:spcAft>
                <a:buClrTx/>
                <a:buSzTx/>
                <a:buFontTx/>
                <a:buNone/>
                <a:tabLst/>
                <a:defRPr/>
              </a:pPr>
              <a:r>
                <a:rPr kumimoji="0" lang="en-US" sz="3299" b="0" i="0" u="none" strike="noStrike" kern="1200" cap="none" spc="135" normalizeH="0" baseline="0" noProof="0">
                  <a:ln>
                    <a:noFill/>
                  </a:ln>
                  <a:solidFill>
                    <a:srgbClr val="000000"/>
                  </a:solidFill>
                  <a:effectLst/>
                  <a:uLnTx/>
                  <a:uFillTx/>
                  <a:latin typeface="Aptos"/>
                  <a:ea typeface="Aptos"/>
                  <a:cs typeface="Aptos"/>
                  <a:sym typeface="Aptos"/>
                </a:rPr>
                <a:t>Insert relevant picture related to the topic</a:t>
              </a:r>
            </a:p>
            <a:p>
              <a:pPr marL="0" marR="0" lvl="0" indent="0" algn="ctr" defTabSz="457200" rtl="0" eaLnBrk="1" fontAlgn="auto" latinLnBrk="0" hangingPunct="1">
                <a:lnSpc>
                  <a:spcPts val="5015"/>
                </a:lnSpc>
                <a:spcBef>
                  <a:spcPts val="0"/>
                </a:spcBef>
                <a:spcAft>
                  <a:spcPts val="0"/>
                </a:spcAft>
                <a:buClrTx/>
                <a:buSzTx/>
                <a:buFontTx/>
                <a:buNone/>
                <a:tabLst/>
                <a:defRPr/>
              </a:pPr>
              <a:endParaRPr kumimoji="0" lang="en-US" sz="3299" b="0" i="0" u="none" strike="noStrike" kern="1200" cap="none" spc="135" normalizeH="0" baseline="0" noProof="0">
                <a:ln>
                  <a:noFill/>
                </a:ln>
                <a:solidFill>
                  <a:srgbClr val="000000"/>
                </a:solidFill>
                <a:effectLst/>
                <a:uLnTx/>
                <a:uFillTx/>
                <a:latin typeface="Aptos"/>
                <a:ea typeface="Aptos"/>
                <a:cs typeface="Aptos"/>
                <a:sym typeface="Aptos"/>
              </a:endParaRPr>
            </a:p>
          </p:txBody>
        </p:sp>
      </p:grpSp>
      <p:sp>
        <p:nvSpPr>
          <p:cNvPr id="11" name="TextBox 11"/>
          <p:cNvSpPr txBox="1"/>
          <p:nvPr/>
        </p:nvSpPr>
        <p:spPr>
          <a:xfrm>
            <a:off x="6468506" y="4249467"/>
            <a:ext cx="11424666" cy="1652568"/>
          </a:xfrm>
          <a:prstGeom prst="rect">
            <a:avLst/>
          </a:prstGeom>
        </p:spPr>
        <p:txBody>
          <a:bodyPr wrap="square" lIns="0" tIns="0" rIns="0" bIns="0" rtlCol="0" anchor="t">
            <a:spAutoFit/>
          </a:bodyPr>
          <a:lstStyle/>
          <a:p>
            <a:pPr marL="0" marR="0" lvl="0" indent="0" algn="ctr" defTabSz="457200" rtl="0" eaLnBrk="1" fontAlgn="auto" latinLnBrk="0" hangingPunct="1">
              <a:lnSpc>
                <a:spcPts val="6688"/>
              </a:lnSpc>
              <a:spcBef>
                <a:spcPct val="0"/>
              </a:spcBef>
              <a:spcAft>
                <a:spcPts val="0"/>
              </a:spcAft>
              <a:buClrTx/>
              <a:buSzTx/>
              <a:buFontTx/>
              <a:buNone/>
              <a:tabLst/>
              <a:defRPr/>
            </a:pPr>
            <a:r>
              <a:rPr kumimoji="0" lang="en-US" sz="4400" b="1" i="0"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WEEK II</a:t>
            </a:r>
            <a:endParaRPr kumimoji="0" lang="en-US" sz="4400" i="1"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endParaRPr>
          </a:p>
          <a:p>
            <a:pPr marL="0" marR="0" lvl="0" indent="0" algn="ctr" defTabSz="457200" rtl="0" eaLnBrk="1" fontAlgn="auto" latinLnBrk="0" hangingPunct="1">
              <a:lnSpc>
                <a:spcPts val="6688"/>
              </a:lnSpc>
              <a:spcBef>
                <a:spcPct val="0"/>
              </a:spcBef>
              <a:spcAft>
                <a:spcPts val="0"/>
              </a:spcAft>
              <a:buClrTx/>
              <a:buSzTx/>
              <a:buFontTx/>
              <a:buNone/>
              <a:tabLst/>
              <a:defRPr/>
            </a:pPr>
            <a:r>
              <a:rPr kumimoji="0" lang="en-US" sz="4400" b="1" i="0" u="none" strike="noStrike" kern="1200" cap="none" spc="0" normalizeH="0" baseline="0" noProof="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FINANCIAL INCLUSION</a:t>
            </a:r>
            <a:endParaRPr kumimoji="0" lang="en-US" sz="4400" b="1"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endParaRPr>
          </a:p>
        </p:txBody>
      </p:sp>
      <p:sp>
        <p:nvSpPr>
          <p:cNvPr id="12" name="TextBox 12"/>
          <p:cNvSpPr txBox="1"/>
          <p:nvPr/>
        </p:nvSpPr>
        <p:spPr>
          <a:xfrm>
            <a:off x="8965993" y="2479851"/>
            <a:ext cx="6429692" cy="512961"/>
          </a:xfrm>
          <a:prstGeom prst="rect">
            <a:avLst/>
          </a:prstGeom>
        </p:spPr>
        <p:txBody>
          <a:bodyPr lIns="0" tIns="0" rIns="0" bIns="0" rtlCol="0" anchor="t">
            <a:spAutoFit/>
          </a:bodyPr>
          <a:lstStyle/>
          <a:p>
            <a:pPr marL="0" marR="0" lvl="0" indent="0" algn="ctr" defTabSz="457200" rtl="0" eaLnBrk="1" fontAlgn="auto" latinLnBrk="0" hangingPunct="1">
              <a:lnSpc>
                <a:spcPts val="4255"/>
              </a:lnSpc>
              <a:spcBef>
                <a:spcPts val="0"/>
              </a:spcBef>
              <a:spcAft>
                <a:spcPts val="0"/>
              </a:spcAft>
              <a:buClrTx/>
              <a:buSzTx/>
              <a:buFontTx/>
              <a:buNone/>
              <a:tabLst/>
              <a:defRPr/>
            </a:pPr>
            <a:r>
              <a:rPr kumimoji="0" lang="en-US" sz="2799" b="0" i="0" u="none" strike="noStrike" kern="1200" cap="none" spc="103"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TFB3323 FINTECH INNOVATION</a:t>
            </a:r>
          </a:p>
        </p:txBody>
      </p:sp>
      <p:sp>
        <p:nvSpPr>
          <p:cNvPr id="14" name="TextBox 14"/>
          <p:cNvSpPr txBox="1"/>
          <p:nvPr/>
        </p:nvSpPr>
        <p:spPr>
          <a:xfrm>
            <a:off x="8527172" y="6957133"/>
            <a:ext cx="7337522" cy="804451"/>
          </a:xfrm>
          <a:prstGeom prst="rect">
            <a:avLst/>
          </a:prstGeom>
        </p:spPr>
        <p:txBody>
          <a:bodyPr wrap="square" lIns="0" tIns="0" rIns="0" bIns="0" rtlCol="0" anchor="t">
            <a:spAutoFit/>
          </a:bodyPr>
          <a:lstStyle/>
          <a:p>
            <a:pPr algn="ctr">
              <a:lnSpc>
                <a:spcPts val="3343"/>
              </a:lnSpc>
              <a:defRPr/>
            </a:pPr>
            <a:r>
              <a:rPr lang="en-MY" sz="2000" spc="98" dirty="0">
                <a:gradFill>
                  <a:gsLst>
                    <a:gs pos="0">
                      <a:srgbClr val="000000">
                        <a:alpha val="100000"/>
                      </a:srgbClr>
                    </a:gs>
                    <a:gs pos="50000">
                      <a:srgbClr val="002F31">
                        <a:alpha val="100000"/>
                      </a:srgbClr>
                    </a:gs>
                    <a:gs pos="100000">
                      <a:srgbClr val="00959A">
                        <a:alpha val="100000"/>
                      </a:srgbClr>
                    </a:gs>
                  </a:gsLst>
                  <a:lin ang="2700000"/>
                </a:gradFill>
                <a:latin typeface="Aptos"/>
              </a:rPr>
              <a:t>Shuhaida Bt M Shuhidan</a:t>
            </a:r>
          </a:p>
          <a:p>
            <a:pPr algn="ctr">
              <a:lnSpc>
                <a:spcPts val="3343"/>
              </a:lnSpc>
              <a:defRPr/>
            </a:pPr>
            <a:r>
              <a:rPr kumimoji="0" lang="en-US" sz="2199" b="0" i="0"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 </a:t>
            </a:r>
            <a:r>
              <a:rPr kumimoji="0" lang="en-US" sz="2199" b="0" i="1"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(D</a:t>
            </a:r>
            <a:r>
              <a:rPr lang="en-MY" sz="2199" i="1" spc="8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 (FSMC/UTP)</a:t>
            </a:r>
            <a:r>
              <a:rPr kumimoji="0" lang="en-US" sz="2199" b="0" i="1"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a:t>
            </a:r>
          </a:p>
        </p:txBody>
      </p:sp>
      <p:sp>
        <p:nvSpPr>
          <p:cNvPr id="15" name="TextBox 15"/>
          <p:cNvSpPr txBox="1"/>
          <p:nvPr/>
        </p:nvSpPr>
        <p:spPr>
          <a:xfrm>
            <a:off x="8085066" y="7789617"/>
            <a:ext cx="8221734" cy="1240083"/>
          </a:xfrm>
          <a:prstGeom prst="rect">
            <a:avLst/>
          </a:prstGeom>
        </p:spPr>
        <p:txBody>
          <a:bodyPr wrap="square"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BACHELOR OF XXXXXX</a:t>
            </a:r>
          </a:p>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DEPARTMENT OF COMPUTING</a:t>
            </a:r>
          </a:p>
          <a:p>
            <a:pPr marL="0" marR="0" lvl="0" indent="0" algn="ctr" defTabSz="457200" rtl="0" eaLnBrk="1" fontAlgn="auto" latinLnBrk="0" hangingPunct="1">
              <a:lnSpc>
                <a:spcPts val="3343"/>
              </a:lnSpc>
              <a:spcBef>
                <a:spcPts val="0"/>
              </a:spcBef>
              <a:spcAft>
                <a:spcPts val="0"/>
              </a:spcAft>
              <a:buClrTx/>
              <a:buSzTx/>
              <a:buFontTx/>
              <a:buNone/>
              <a:tabLst/>
              <a:defRPr/>
            </a:pPr>
            <a:r>
              <a:rPr lang="en-US" sz="2200" spc="90"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Aptos"/>
                <a:cs typeface="Segoe UI" panose="020B0502040204020203" pitchFamily="34" charset="0"/>
                <a:sym typeface="Aptos"/>
              </a:rPr>
              <a:t>FACULTY OF SCIENCE, MANAGEMENT &amp; COMPUTING</a:t>
            </a: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 </a:t>
            </a:r>
          </a:p>
        </p:txBody>
      </p:sp>
      <p:sp>
        <p:nvSpPr>
          <p:cNvPr id="13" name="Text Box 2">
            <a:extLst>
              <a:ext uri="{FF2B5EF4-FFF2-40B4-BE49-F238E27FC236}">
                <a16:creationId xmlns:a16="http://schemas.microsoft.com/office/drawing/2014/main" id="{486EF194-5755-EE7E-90D6-9FC063183FE5}"/>
              </a:ext>
            </a:extLst>
          </p:cNvPr>
          <p:cNvSpPr txBox="1">
            <a:spLocks/>
          </p:cNvSpPr>
          <p:nvPr/>
        </p:nvSpPr>
        <p:spPr>
          <a:xfrm>
            <a:off x="6629400" y="9582308"/>
            <a:ext cx="10629900" cy="553998"/>
          </a:xfrm>
          <a:prstGeom prst="rect">
            <a:avLst/>
          </a:prstGeom>
          <a:solidFill>
            <a:sysClr val="window" lastClr="FFFFFF"/>
          </a:solidFill>
          <a:ln w="19050" cap="flat" cmpd="sng" algn="ctr">
            <a:noFill/>
            <a:prstDash val="solid"/>
            <a:miter lim="800000"/>
          </a:ln>
          <a:effectLst/>
        </p:spPr>
        <p:txBody>
          <a:bodyPr wrap="square">
            <a:spAutoFit/>
          </a:bodyPr>
          <a:lstStyle/>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 2026 INSTITUTE OF TECHNOLOGY PETRONAS SDN BHD </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All rights reserved. No part of this document may be reproduced, stored in a retrieval system or transmitted in any form or by any means (electronic, mechanical, photocopying, recording or otherwise) without the permission of the copyright owner.</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258BF3AB-9F7F-0AAB-2719-4300608236EE}"/>
              </a:ext>
            </a:extLst>
          </p:cNvPr>
          <p:cNvPicPr>
            <a:picLocks noChangeAspect="1"/>
          </p:cNvPicPr>
          <p:nvPr/>
        </p:nvPicPr>
        <p:blipFill>
          <a:blip r:embed="rId3"/>
          <a:stretch>
            <a:fillRect/>
          </a:stretch>
        </p:blipFill>
        <p:spPr>
          <a:xfrm>
            <a:off x="14913864" y="272259"/>
            <a:ext cx="2617689" cy="1144394"/>
          </a:xfrm>
          <a:prstGeom prst="rect">
            <a:avLst/>
          </a:prstGeom>
        </p:spPr>
      </p:pic>
      <p:pic>
        <p:nvPicPr>
          <p:cNvPr id="16" name="Picture 15">
            <a:extLst>
              <a:ext uri="{FF2B5EF4-FFF2-40B4-BE49-F238E27FC236}">
                <a16:creationId xmlns:a16="http://schemas.microsoft.com/office/drawing/2014/main" id="{62CD8673-E9DB-F8F6-A947-9976EA5209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6106887"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D2C32-2405-2D6D-2E95-4FEAC1828E0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C44FB3C-D441-A268-21DB-28FD335B7FB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B94D0FD-7DD1-81BC-FF9E-48321CC5887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7ADA04D-2EEC-3768-1CF2-E10510389D1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RECAP FROM PREVIOUS LECTURE</a:t>
            </a:r>
          </a:p>
        </p:txBody>
      </p:sp>
      <p:sp>
        <p:nvSpPr>
          <p:cNvPr id="9" name="Date Placeholder 8">
            <a:extLst>
              <a:ext uri="{FF2B5EF4-FFF2-40B4-BE49-F238E27FC236}">
                <a16:creationId xmlns:a16="http://schemas.microsoft.com/office/drawing/2014/main" id="{3124E5E4-CE96-F8F9-06CC-0229CED8662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FFD37AF0-935A-8041-2A98-8EECF509494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94D0C17-6852-F3DE-F2D9-1043BAB09D4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8888069C-B9FA-8666-48B0-7AC1BCF6D470}"/>
              </a:ext>
            </a:extLst>
          </p:cNvPr>
          <p:cNvSpPr txBox="1"/>
          <p:nvPr/>
        </p:nvSpPr>
        <p:spPr>
          <a:xfrm>
            <a:off x="757618" y="1595405"/>
            <a:ext cx="16773935" cy="7791044"/>
          </a:xfrm>
          <a:prstGeom prst="rect">
            <a:avLst/>
          </a:prstGeom>
          <a:noFill/>
        </p:spPr>
        <p:txBody>
          <a:bodyPr wrap="square" rtlCol="0">
            <a:spAutoFit/>
          </a:bodyPr>
          <a:lstStyle/>
          <a:p>
            <a:pPr marL="514350" indent="-514350" algn="just">
              <a:lnSpc>
                <a:spcPct val="150000"/>
              </a:lnSpc>
              <a:buFont typeface="+mj-lt"/>
              <a:buAutoNum type="arabicPeriod"/>
            </a:pPr>
            <a:r>
              <a:rPr lang="en-US" sz="2400" b="1" dirty="0"/>
              <a:t>The Core of FinTech:</a:t>
            </a:r>
            <a:r>
              <a:rPr lang="en-US" sz="2400" dirty="0"/>
              <a:t> It merges financial services with modern technology to offer faster, cheaper, and more accessible alternatives to traditional banking.</a:t>
            </a:r>
          </a:p>
          <a:p>
            <a:pPr marL="514350" indent="-514350" algn="just">
              <a:lnSpc>
                <a:spcPct val="150000"/>
              </a:lnSpc>
              <a:buFont typeface="+mj-lt"/>
              <a:buAutoNum type="arabicPeriod"/>
            </a:pPr>
            <a:endParaRPr lang="en-US" sz="2400" dirty="0"/>
          </a:p>
          <a:p>
            <a:pPr marL="514350" indent="-514350" algn="just">
              <a:lnSpc>
                <a:spcPct val="150000"/>
              </a:lnSpc>
              <a:buFont typeface="+mj-lt"/>
              <a:buAutoNum type="arabicPeriod"/>
            </a:pPr>
            <a:r>
              <a:rPr lang="en-US" sz="2400" b="1" dirty="0"/>
              <a:t>The Power of "Unbundling": </a:t>
            </a:r>
            <a:r>
              <a:rPr lang="en-US" sz="2400" dirty="0"/>
              <a:t>Instead of trying to be a one-stop shop, FinTech startups break apart traditional bank services to focus on doing one specific thing exceptionally well.</a:t>
            </a:r>
          </a:p>
          <a:p>
            <a:pPr marL="514350" indent="-514350" algn="just">
              <a:lnSpc>
                <a:spcPct val="150000"/>
              </a:lnSpc>
              <a:buFont typeface="+mj-lt"/>
              <a:buAutoNum type="arabicPeriod"/>
            </a:pPr>
            <a:endParaRPr lang="en-US" sz="2400" dirty="0"/>
          </a:p>
          <a:p>
            <a:pPr marL="514350" indent="-514350" algn="just">
              <a:lnSpc>
                <a:spcPct val="150000"/>
              </a:lnSpc>
              <a:buFont typeface="+mj-lt"/>
              <a:buAutoNum type="arabicPeriod"/>
            </a:pPr>
            <a:r>
              <a:rPr lang="en-US" sz="2400" b="1" dirty="0"/>
              <a:t>Main Growth Drivers</a:t>
            </a:r>
            <a:r>
              <a:rPr lang="en-US" sz="2400" dirty="0"/>
              <a:t>: The industry's rise is fueled by the shift to mobile tech, AI, changing consumer expectations (especially from millennials), and the need to reach underbanked populations.</a:t>
            </a:r>
          </a:p>
          <a:p>
            <a:pPr marL="514350" indent="-514350" algn="just">
              <a:lnSpc>
                <a:spcPct val="150000"/>
              </a:lnSpc>
              <a:buFont typeface="+mj-lt"/>
              <a:buAutoNum type="arabicPeriod"/>
            </a:pPr>
            <a:endParaRPr lang="en-US" sz="2400" dirty="0"/>
          </a:p>
          <a:p>
            <a:pPr marL="514350" indent="-514350" algn="just">
              <a:lnSpc>
                <a:spcPct val="150000"/>
              </a:lnSpc>
              <a:buFont typeface="+mj-lt"/>
              <a:buAutoNum type="arabicPeriod"/>
            </a:pPr>
            <a:r>
              <a:rPr lang="en-US" sz="2400" b="1" dirty="0"/>
              <a:t>Shared Industry Hurdles: </a:t>
            </a:r>
            <a:r>
              <a:rPr lang="en-US" sz="2400" dirty="0"/>
              <a:t>Traditional banks struggle to adapt their legacy systems to new competition, while FinTechs face tough challenges with complex regulations, cybersecurity, and scaling their customer base.</a:t>
            </a:r>
          </a:p>
          <a:p>
            <a:pPr marL="514350" indent="-514350" algn="just">
              <a:lnSpc>
                <a:spcPct val="150000"/>
              </a:lnSpc>
              <a:buFont typeface="+mj-lt"/>
              <a:buAutoNum type="arabicPeriod"/>
            </a:pPr>
            <a:endParaRPr lang="en-US" sz="2400" dirty="0"/>
          </a:p>
          <a:p>
            <a:pPr marL="514350" indent="-514350" algn="just">
              <a:lnSpc>
                <a:spcPct val="150000"/>
              </a:lnSpc>
              <a:buFont typeface="+mj-lt"/>
              <a:buAutoNum type="arabicPeriod"/>
            </a:pPr>
            <a:r>
              <a:rPr lang="en-US" sz="2400" b="1" dirty="0"/>
              <a:t>A Global Boom: </a:t>
            </a:r>
            <a:r>
              <a:rPr lang="en-US" sz="2400" dirty="0"/>
              <a:t>FinTech investment has skyrocketed globally, with Asia (specifically China and the ASEAN region) standing out as a massive hub for digital innovation and "unicorn" companies.</a:t>
            </a:r>
            <a:endParaRPr lang="en-MY" sz="2400" dirty="0"/>
          </a:p>
        </p:txBody>
      </p:sp>
    </p:spTree>
    <p:extLst>
      <p:ext uri="{BB962C8B-B14F-4D97-AF65-F5344CB8AC3E}">
        <p14:creationId xmlns:p14="http://schemas.microsoft.com/office/powerpoint/2010/main" val="1717797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970CE-E668-0E4B-4727-97E9404DA78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5FC68A2-D920-C0EB-5B03-CB84806ED61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CFB61CA-9454-ED4D-2B46-B8301286570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7BD885E1-5D17-16AD-1641-F3D64EBB7FE5}"/>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LEARNING OUTCOMES</a:t>
            </a:r>
          </a:p>
        </p:txBody>
      </p:sp>
      <p:sp>
        <p:nvSpPr>
          <p:cNvPr id="9" name="Date Placeholder 8">
            <a:extLst>
              <a:ext uri="{FF2B5EF4-FFF2-40B4-BE49-F238E27FC236}">
                <a16:creationId xmlns:a16="http://schemas.microsoft.com/office/drawing/2014/main" id="{308710D6-4FA2-BB9E-2B64-D18C2921D71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42524792-7DA4-222A-53C4-AD5F023C927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EC4BABA-0938-47E5-7C03-DA0B48E6923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161F31F3-2E81-A3A5-5FBF-B92F2FEB52F0}"/>
              </a:ext>
            </a:extLst>
          </p:cNvPr>
          <p:cNvSpPr txBox="1"/>
          <p:nvPr/>
        </p:nvSpPr>
        <p:spPr>
          <a:xfrm>
            <a:off x="757618" y="1595405"/>
            <a:ext cx="16773935" cy="7692875"/>
          </a:xfrm>
          <a:prstGeom prst="rect">
            <a:avLst/>
          </a:prstGeom>
          <a:noFill/>
        </p:spPr>
        <p:txBody>
          <a:bodyPr wrap="square" rtlCol="0">
            <a:spAutoFit/>
          </a:bodyPr>
          <a:lstStyle/>
          <a:p>
            <a:pPr algn="just"/>
            <a:r>
              <a:rPr lang="en-US" sz="2400" dirty="0"/>
              <a:t>By the end of this session, students will be able to:</a:t>
            </a:r>
            <a:endParaRPr lang="en-MY" sz="2000" dirty="0"/>
          </a:p>
          <a:p>
            <a:pPr marL="514350" indent="-514350" algn="just">
              <a:buFont typeface="+mj-lt"/>
              <a:buAutoNum type="arabicPeriod"/>
            </a:pPr>
            <a:endParaRPr lang="en-MY" sz="2000" dirty="0"/>
          </a:p>
          <a:p>
            <a:pPr marL="514350" indent="-514350" algn="just">
              <a:lnSpc>
                <a:spcPct val="150000"/>
              </a:lnSpc>
              <a:buFont typeface="+mj-lt"/>
              <a:buAutoNum type="arabicPeriod"/>
            </a:pPr>
            <a:r>
              <a:rPr lang="en-US" sz="2400" b="1" dirty="0"/>
              <a:t>Understand the FinTech Ecosystem:</a:t>
            </a:r>
            <a:r>
              <a:rPr lang="en-US" sz="2400" dirty="0"/>
              <a:t> Identify the key parts of the ecosystem, such as demand, talent, capital, policy, and solutions. </a:t>
            </a:r>
          </a:p>
          <a:p>
            <a:pPr marL="514350" indent="-514350" algn="just">
              <a:lnSpc>
                <a:spcPct val="150000"/>
              </a:lnSpc>
              <a:buFont typeface="+mj-lt"/>
              <a:buAutoNum type="arabicPeriod"/>
            </a:pPr>
            <a:endParaRPr lang="en-US" sz="900" b="1" dirty="0"/>
          </a:p>
          <a:p>
            <a:pPr marL="514350" indent="-514350" algn="just">
              <a:lnSpc>
                <a:spcPct val="150000"/>
              </a:lnSpc>
              <a:buFont typeface="+mj-lt"/>
              <a:buAutoNum type="arabicPeriod"/>
            </a:pPr>
            <a:r>
              <a:rPr lang="en-US" sz="2400" b="1" dirty="0"/>
              <a:t>Identify the Unbanked and Underbanked:</a:t>
            </a:r>
            <a:r>
              <a:rPr lang="en-US" sz="2400" dirty="0"/>
              <a:t> Define who lacks access to traditional banking, why they are excluded , and how millennials are driving the demand for new solutions. </a:t>
            </a:r>
          </a:p>
          <a:p>
            <a:pPr marL="514350" indent="-514350" algn="just">
              <a:lnSpc>
                <a:spcPct val="150000"/>
              </a:lnSpc>
              <a:buFont typeface="+mj-lt"/>
              <a:buAutoNum type="arabicPeriod"/>
            </a:pPr>
            <a:endParaRPr lang="en-US" sz="900" dirty="0"/>
          </a:p>
          <a:p>
            <a:pPr marL="514350" indent="-514350" algn="just">
              <a:lnSpc>
                <a:spcPct val="150000"/>
              </a:lnSpc>
              <a:buFont typeface="+mj-lt"/>
              <a:buAutoNum type="arabicPeriod"/>
            </a:pPr>
            <a:r>
              <a:rPr lang="en-US" sz="2400" b="1" dirty="0"/>
              <a:t>Define Financial Inclusion:</a:t>
            </a:r>
            <a:r>
              <a:rPr lang="en-US" sz="2400" dirty="0"/>
              <a:t> Grasp the main goals of making financial services accessible, affordable, relevant, easy to use, and high quality for everyone. </a:t>
            </a:r>
          </a:p>
          <a:p>
            <a:pPr marL="514350" indent="-514350" algn="just">
              <a:lnSpc>
                <a:spcPct val="150000"/>
              </a:lnSpc>
              <a:buFont typeface="+mj-lt"/>
              <a:buAutoNum type="arabicPeriod"/>
            </a:pPr>
            <a:endParaRPr lang="en-US" sz="900" dirty="0"/>
          </a:p>
          <a:p>
            <a:pPr marL="514350" indent="-514350" algn="just">
              <a:lnSpc>
                <a:spcPct val="150000"/>
              </a:lnSpc>
              <a:buFont typeface="+mj-lt"/>
              <a:buAutoNum type="arabicPeriod"/>
            </a:pPr>
            <a:r>
              <a:rPr lang="en-US" sz="2400" b="1" dirty="0"/>
              <a:t>Evaluate Digital Financial Services (DFS):</a:t>
            </a:r>
            <a:r>
              <a:rPr lang="en-US" sz="2400" dirty="0"/>
              <a:t> Learn how digital tools lower costs, boost economic growth, and make banking available to more people.</a:t>
            </a:r>
          </a:p>
          <a:p>
            <a:pPr marL="514350" indent="-514350" algn="just">
              <a:lnSpc>
                <a:spcPct val="150000"/>
              </a:lnSpc>
              <a:buFont typeface="+mj-lt"/>
              <a:buAutoNum type="arabicPeriod"/>
            </a:pPr>
            <a:endParaRPr lang="en-US" sz="900" dirty="0"/>
          </a:p>
          <a:p>
            <a:pPr marL="514350" indent="-514350" algn="just">
              <a:lnSpc>
                <a:spcPct val="150000"/>
              </a:lnSpc>
              <a:buFont typeface="+mj-lt"/>
              <a:buAutoNum type="arabicPeriod"/>
            </a:pPr>
            <a:r>
              <a:rPr lang="en-US" sz="2400" b="1" dirty="0"/>
              <a:t>Analyze Barriers to Inclusion:</a:t>
            </a:r>
            <a:r>
              <a:rPr lang="en-US" sz="2400" dirty="0"/>
              <a:t> Recognize the challenges stopping financial inclusion from both the customer side (demand) and the provider side (supply). </a:t>
            </a:r>
          </a:p>
          <a:p>
            <a:pPr marL="514350" indent="-514350" algn="just">
              <a:lnSpc>
                <a:spcPct val="150000"/>
              </a:lnSpc>
              <a:buFont typeface="+mj-lt"/>
              <a:buAutoNum type="arabicPeriod"/>
            </a:pPr>
            <a:endParaRPr lang="en-US" sz="1000" dirty="0"/>
          </a:p>
          <a:p>
            <a:pPr marL="514350" indent="-514350" algn="just">
              <a:lnSpc>
                <a:spcPct val="150000"/>
              </a:lnSpc>
              <a:buFont typeface="+mj-lt"/>
              <a:buAutoNum type="arabicPeriod"/>
            </a:pPr>
            <a:r>
              <a:rPr lang="en-US" sz="2000" b="1" dirty="0"/>
              <a:t>Examine Real-World Impact:</a:t>
            </a:r>
            <a:r>
              <a:rPr lang="en-US" sz="2000" dirty="0"/>
              <a:t> See how FinTech companies like Ant Financial have successfully used digital tools to reduce poverty and improve financial access in China.</a:t>
            </a:r>
            <a:endParaRPr lang="en-MY" sz="2000" dirty="0"/>
          </a:p>
        </p:txBody>
      </p:sp>
    </p:spTree>
    <p:extLst>
      <p:ext uri="{BB962C8B-B14F-4D97-AF65-F5344CB8AC3E}">
        <p14:creationId xmlns:p14="http://schemas.microsoft.com/office/powerpoint/2010/main" val="543736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9CD0D-972B-FE6D-B005-F472E53C011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2F305BD-B647-52A1-7229-8D1C689775A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0AD37D0-AB7C-531D-442D-316B5352ACD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EE389B7-4BDC-9F88-5E29-C825141ABF62}"/>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TOPICS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74AC5EDA-CD04-CA81-5505-46F71DF9814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984BAFFF-0B17-2D6B-F88C-8FD53E5AEA2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EFAFA90-B6A0-006E-2A2C-78E3AA19E6A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a:t>
            </a:fld>
            <a:endParaRPr lang="en-US">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6368044F-6D69-5ECE-F229-C0DDFB6CEC83}"/>
              </a:ext>
            </a:extLst>
          </p:cNvPr>
          <p:cNvSpPr txBox="1"/>
          <p:nvPr/>
        </p:nvSpPr>
        <p:spPr>
          <a:xfrm>
            <a:off x="757618" y="1586466"/>
            <a:ext cx="16773935" cy="8217634"/>
          </a:xfrm>
          <a:prstGeom prst="rect">
            <a:avLst/>
          </a:prstGeom>
          <a:noFill/>
        </p:spPr>
        <p:txBody>
          <a:bodyPr wrap="square" rtlCol="0">
            <a:spAutoFit/>
          </a:bodyPr>
          <a:lstStyle/>
          <a:p>
            <a:pPr marL="514350" indent="-514350">
              <a:buFont typeface="+mj-lt"/>
              <a:buAutoNum type="arabicPeriod"/>
            </a:pPr>
            <a:r>
              <a:rPr lang="en-MY" sz="2800" b="1" dirty="0"/>
              <a:t>Financial Ecosystem &amp; Infrastructure?</a:t>
            </a:r>
          </a:p>
          <a:p>
            <a:pPr lvl="1"/>
            <a:r>
              <a:rPr lang="en-MY" sz="2400" dirty="0"/>
              <a:t>	1.1. FinTech Ecosystem Stakeholders </a:t>
            </a:r>
          </a:p>
          <a:p>
            <a:pPr lvl="1"/>
            <a:r>
              <a:rPr lang="en-MY" sz="2400" dirty="0"/>
              <a:t>	1.2. </a:t>
            </a:r>
            <a:r>
              <a:rPr lang="en-US" sz="2400" dirty="0"/>
              <a:t>Ecosystem Components (Demand, Talent, Capital, Policy, Solutions) </a:t>
            </a:r>
            <a:endParaRPr lang="en-MY" sz="2400" dirty="0"/>
          </a:p>
          <a:p>
            <a:pPr lvl="1"/>
            <a:endParaRPr lang="en-MY" sz="1000" dirty="0"/>
          </a:p>
          <a:p>
            <a:r>
              <a:rPr lang="en-MY" sz="2800" b="1" dirty="0"/>
              <a:t>2. 	Unbanked, Underbanked &amp; the Millennials?</a:t>
            </a:r>
          </a:p>
          <a:p>
            <a:r>
              <a:rPr lang="en-MY" sz="2800" dirty="0"/>
              <a:t>		</a:t>
            </a:r>
            <a:r>
              <a:rPr lang="en-MY" sz="2400" dirty="0"/>
              <a:t>2.1. </a:t>
            </a:r>
            <a:r>
              <a:rPr lang="en-US" sz="2400" dirty="0"/>
              <a:t>Defining the Unbanked and Underbanked </a:t>
            </a:r>
            <a:r>
              <a:rPr lang="en-MY" sz="2400" dirty="0"/>
              <a:t>?</a:t>
            </a:r>
          </a:p>
          <a:p>
            <a:r>
              <a:rPr lang="en-MY" sz="2400" dirty="0"/>
              <a:t>		2.2. Reasons for Financial Exclusion?</a:t>
            </a:r>
          </a:p>
          <a:p>
            <a:r>
              <a:rPr lang="en-MY" sz="2400" dirty="0"/>
              <a:t>		2.3. </a:t>
            </a:r>
            <a:r>
              <a:rPr lang="en-US" sz="2400" dirty="0"/>
              <a:t>Millennials: Digital Natives &amp; the 'No-Wait Generation’ </a:t>
            </a:r>
            <a:r>
              <a:rPr lang="en-MY" sz="2400" dirty="0"/>
              <a:t>?</a:t>
            </a:r>
          </a:p>
          <a:p>
            <a:r>
              <a:rPr lang="en-MY" sz="2400" dirty="0"/>
              <a:t>		2.4. Unbanked &amp; Underbanked Populations in ASEAN</a:t>
            </a:r>
          </a:p>
          <a:p>
            <a:endParaRPr lang="en-MY" sz="1000" dirty="0"/>
          </a:p>
          <a:p>
            <a:pPr marL="514350" indent="-514350">
              <a:buAutoNum type="arabicPeriod" startAt="3"/>
            </a:pPr>
            <a:r>
              <a:rPr lang="en-MY" sz="2800" b="1" dirty="0"/>
              <a:t>Financial Inclusion &amp; Digital Financial Services (DFS)</a:t>
            </a:r>
          </a:p>
          <a:p>
            <a:r>
              <a:rPr lang="en-MY" sz="2800" dirty="0"/>
              <a:t>		</a:t>
            </a:r>
            <a:r>
              <a:rPr lang="en-MY" sz="2400" dirty="0"/>
              <a:t>3.1. What is Financial Inclusion? </a:t>
            </a:r>
          </a:p>
          <a:p>
            <a:r>
              <a:rPr lang="en-MY" sz="2400" dirty="0"/>
              <a:t>		3.2. </a:t>
            </a:r>
            <a:r>
              <a:rPr lang="en-US" sz="2400" dirty="0"/>
              <a:t>Key Components of Financial Inclusion </a:t>
            </a:r>
            <a:endParaRPr lang="en-MY" sz="2400" dirty="0"/>
          </a:p>
          <a:p>
            <a:r>
              <a:rPr lang="en-MY" sz="2400" dirty="0"/>
              <a:t>		3.3. </a:t>
            </a:r>
            <a:r>
              <a:rPr lang="en-US" sz="2400" dirty="0"/>
              <a:t>The Role and Benefits of Digital Financial Services</a:t>
            </a:r>
            <a:endParaRPr lang="en-MY" sz="2400" dirty="0"/>
          </a:p>
          <a:p>
            <a:r>
              <a:rPr lang="en-MY" sz="2400" dirty="0"/>
              <a:t>		3.4. The Secret to Success</a:t>
            </a:r>
          </a:p>
          <a:p>
            <a:r>
              <a:rPr lang="en-MY" sz="2400" dirty="0"/>
              <a:t>		3.5. Financial Innovations: Information and Communication</a:t>
            </a:r>
          </a:p>
          <a:p>
            <a:r>
              <a:rPr lang="en-MY" sz="2400" dirty="0"/>
              <a:t>		3.6. </a:t>
            </a:r>
            <a:r>
              <a:rPr lang="en-US" sz="2400" dirty="0"/>
              <a:t>New Types of Information for Credit Worthiness</a:t>
            </a:r>
          </a:p>
          <a:p>
            <a:endParaRPr lang="en-US" sz="1000" dirty="0"/>
          </a:p>
          <a:p>
            <a:pPr marL="514350" indent="-514350">
              <a:buFont typeface="+mj-lt"/>
              <a:buAutoNum type="arabicPeriod" startAt="4"/>
            </a:pPr>
            <a:r>
              <a:rPr lang="en-MY" sz="2800" b="1" dirty="0"/>
              <a:t>Constraints to Financial Inclusion</a:t>
            </a:r>
          </a:p>
          <a:p>
            <a:r>
              <a:rPr lang="en-MY" sz="2800" b="1" dirty="0"/>
              <a:t>		</a:t>
            </a:r>
            <a:r>
              <a:rPr lang="en-MY" sz="2400" dirty="0"/>
              <a:t>5.1. Demand-Side Constraints (Income, Geography, Documentation, Literacy) </a:t>
            </a:r>
          </a:p>
          <a:p>
            <a:r>
              <a:rPr lang="en-MY" sz="2400" dirty="0"/>
              <a:t>		5.2. </a:t>
            </a:r>
            <a:r>
              <a:rPr lang="en-US" sz="2400" dirty="0"/>
              <a:t>Supply-Side Constraints (Operating Costs, Legacy Models, Limited Competition) </a:t>
            </a:r>
            <a:endParaRPr lang="en-MY" sz="2400" dirty="0"/>
          </a:p>
          <a:p>
            <a:endParaRPr lang="en-MY" sz="2400" dirty="0"/>
          </a:p>
        </p:txBody>
      </p:sp>
    </p:spTree>
    <p:extLst>
      <p:ext uri="{BB962C8B-B14F-4D97-AF65-F5344CB8AC3E}">
        <p14:creationId xmlns:p14="http://schemas.microsoft.com/office/powerpoint/2010/main" val="3162996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C3826-2609-CEBE-A7B2-96451DA1837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D331663-388B-8DD5-CCA0-914A551F047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F9221E4-7ACC-AFA8-6F14-ACF59BEEFDA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0355A3B-3EFE-F204-1A72-509BD8561B39}"/>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TOPICS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2BC305C8-3CA1-ED31-11A3-D9FA94488DC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6C198C23-CD3F-EFB0-17F9-EB5C18BBEB8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4E11F2C-90FE-ACEA-1E6A-6F01CC6FBFB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a:t>
            </a:fld>
            <a:endParaRPr lang="en-US">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6C7090C1-3F51-E1DB-33CB-533461E5D2C4}"/>
              </a:ext>
            </a:extLst>
          </p:cNvPr>
          <p:cNvSpPr txBox="1"/>
          <p:nvPr/>
        </p:nvSpPr>
        <p:spPr>
          <a:xfrm>
            <a:off x="757618" y="1586466"/>
            <a:ext cx="16773935" cy="2369880"/>
          </a:xfrm>
          <a:prstGeom prst="rect">
            <a:avLst/>
          </a:prstGeom>
          <a:noFill/>
        </p:spPr>
        <p:txBody>
          <a:bodyPr wrap="square" rtlCol="0">
            <a:spAutoFit/>
          </a:bodyPr>
          <a:lstStyle/>
          <a:p>
            <a:pPr marL="514350" indent="-514350">
              <a:buFont typeface="+mj-lt"/>
              <a:buAutoNum type="arabicPeriod" startAt="5"/>
            </a:pPr>
            <a:r>
              <a:rPr lang="en-US" sz="2800" b="1" dirty="0"/>
              <a:t>China, Fintech and Financial Inclusion</a:t>
            </a:r>
            <a:endParaRPr lang="en-MY" sz="2800" b="1" dirty="0"/>
          </a:p>
          <a:p>
            <a:pPr lvl="1"/>
            <a:r>
              <a:rPr lang="en-MY" sz="2400" dirty="0"/>
              <a:t>	5.1. </a:t>
            </a:r>
            <a:r>
              <a:rPr lang="en-US" sz="2400" dirty="0"/>
              <a:t>How FinTech has Helped Reduce Poverty </a:t>
            </a:r>
          </a:p>
          <a:p>
            <a:pPr lvl="1"/>
            <a:r>
              <a:rPr lang="en-MY" sz="2400" dirty="0"/>
              <a:t>	5.2. </a:t>
            </a:r>
            <a:r>
              <a:rPr lang="en-US" sz="2400" dirty="0"/>
              <a:t>Case Study: Ant Financial and Sesame Credit</a:t>
            </a:r>
          </a:p>
          <a:p>
            <a:pPr lvl="1"/>
            <a:r>
              <a:rPr lang="en-US" sz="2400" dirty="0"/>
              <a:t>	5.3. Social and Economic Impacts of FinTech in China </a:t>
            </a:r>
          </a:p>
          <a:p>
            <a:pPr lvl="1"/>
            <a:r>
              <a:rPr lang="en-US" sz="2400" dirty="0"/>
              <a:t>	5.4. Why China's FinTech Sector is Successful</a:t>
            </a:r>
            <a:endParaRPr lang="en-MY" sz="2400" dirty="0"/>
          </a:p>
          <a:p>
            <a:endParaRPr lang="en-MY" sz="2400" dirty="0"/>
          </a:p>
        </p:txBody>
      </p:sp>
    </p:spTree>
    <p:extLst>
      <p:ext uri="{BB962C8B-B14F-4D97-AF65-F5344CB8AC3E}">
        <p14:creationId xmlns:p14="http://schemas.microsoft.com/office/powerpoint/2010/main" val="570710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902113" y="0"/>
            <a:ext cx="6256973" cy="1649683"/>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INTRODUCTION TO FINTECH</a:t>
            </a:r>
          </a:p>
        </p:txBody>
      </p:sp>
      <p:pic>
        <p:nvPicPr>
          <p:cNvPr id="14" name="Picture 13">
            <a:extLst>
              <a:ext uri="{FF2B5EF4-FFF2-40B4-BE49-F238E27FC236}">
                <a16:creationId xmlns:a16="http://schemas.microsoft.com/office/drawing/2014/main" id="{498808D3-A836-5EDC-7B8C-309249F397B2}"/>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99669084-3CCA-1770-6024-E848243FA0B7}"/>
              </a:ext>
            </a:extLst>
          </p:cNvPr>
          <p:cNvSpPr txBox="1"/>
          <p:nvPr/>
        </p:nvSpPr>
        <p:spPr>
          <a:xfrm>
            <a:off x="316056" y="4076531"/>
            <a:ext cx="7098887" cy="1212961"/>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en-US" sz="6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Inclusion</a:t>
            </a:r>
            <a:endParaRPr kumimoji="0" lang="en-US" sz="60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6A591-0BAF-6E1F-6182-34E94594487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71B2479-FEA6-A115-A857-BF582B205C0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DA017FB-D8A1-6BFD-94AC-A64146133B3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489493F-4859-3484-5DA0-5973AAB33233}"/>
              </a:ext>
            </a:extLst>
          </p:cNvPr>
          <p:cNvSpPr txBox="1"/>
          <p:nvPr/>
        </p:nvSpPr>
        <p:spPr>
          <a:xfrm>
            <a:off x="990600" y="300719"/>
            <a:ext cx="9356377" cy="634084"/>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FinTech Ecosystem &amp; Stakeholders</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3AC86A15-C09A-43A5-6272-08AD5D6D4A2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9EB15D0C-D038-E8AB-E9BB-4C9F4444647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5CF4183-0471-87E1-FEE0-535D02C1068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a:t>
            </a:fld>
            <a:endParaRPr lang="en-US">
              <a:latin typeface="Segoe UI" panose="020B0502040204020203" pitchFamily="34" charset="0"/>
              <a:cs typeface="Segoe UI" panose="020B0502040204020203" pitchFamily="34" charset="0"/>
            </a:endParaRPr>
          </a:p>
        </p:txBody>
      </p:sp>
      <p:pic>
        <p:nvPicPr>
          <p:cNvPr id="7" name="Picture 6">
            <a:extLst>
              <a:ext uri="{FF2B5EF4-FFF2-40B4-BE49-F238E27FC236}">
                <a16:creationId xmlns:a16="http://schemas.microsoft.com/office/drawing/2014/main" id="{617CAE27-00A6-845F-6CE0-8DC38DB16A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47" y="1418549"/>
            <a:ext cx="16775106" cy="8037648"/>
          </a:xfrm>
          <a:prstGeom prst="rect">
            <a:avLst/>
          </a:prstGeom>
        </p:spPr>
      </p:pic>
    </p:spTree>
    <p:extLst>
      <p:ext uri="{BB962C8B-B14F-4D97-AF65-F5344CB8AC3E}">
        <p14:creationId xmlns:p14="http://schemas.microsoft.com/office/powerpoint/2010/main" val="1773056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B736F996-7635-1787-F807-1C7FEC317A8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4A366B4-B572-DAE1-DF2F-B770D0BED8D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9CF50E5-C002-3A45-783D-A8BBBE0D520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7D3C917-8FEB-127C-5C2A-5F099C2969F8}"/>
              </a:ext>
            </a:extLst>
          </p:cNvPr>
          <p:cNvSpPr txBox="1"/>
          <p:nvPr/>
        </p:nvSpPr>
        <p:spPr>
          <a:xfrm>
            <a:off x="990600" y="300719"/>
            <a:ext cx="9356377" cy="621902"/>
          </a:xfrm>
          <a:prstGeom prst="rect">
            <a:avLst/>
          </a:prstGeom>
        </p:spPr>
        <p:txBody>
          <a:bodyPr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GB" dirty="0"/>
              <a:t>FinTech Ecosystem &amp; Stakeholders</a:t>
            </a:r>
            <a:endParaRPr lang="en-US" dirty="0">
              <a:sym typeface="Droid Serif Bold"/>
            </a:endParaRPr>
          </a:p>
        </p:txBody>
      </p:sp>
      <p:sp>
        <p:nvSpPr>
          <p:cNvPr id="9" name="Date Placeholder 8">
            <a:extLst>
              <a:ext uri="{FF2B5EF4-FFF2-40B4-BE49-F238E27FC236}">
                <a16:creationId xmlns:a16="http://schemas.microsoft.com/office/drawing/2014/main" id="{A5024C9A-42D5-5989-7E7B-2E9419BC75D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B59FEC39-794D-5D70-F15F-446880331E7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210C44E-CE92-0AE7-E274-3C48AFC7051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E2F114F-A8D1-E966-EA67-876B68FB94EE}"/>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b="1" dirty="0"/>
              <a:t>Fintech ecosystems </a:t>
            </a:r>
            <a:r>
              <a:rPr lang="en-GB" sz="2800" dirty="0"/>
              <a:t>are collections of organisations working together to reach a common goal. In financial services, this usually refers to the development and adoption of new technologies to improve or disrupt the traditional banking sector.</a:t>
            </a:r>
          </a:p>
          <a:p>
            <a:pPr marL="514350" indent="-514350" algn="just">
              <a:lnSpc>
                <a:spcPct val="200000"/>
              </a:lnSpc>
              <a:buFont typeface="Wingdings" panose="05000000000000000000" pitchFamily="2" charset="2"/>
              <a:buChar char="§"/>
            </a:pPr>
            <a:endParaRPr lang="en-US" sz="2800" spc="-25" dirty="0">
              <a:latin typeface="Arial MT"/>
              <a:cs typeface="Arial MT"/>
            </a:endParaRPr>
          </a:p>
          <a:p>
            <a:pPr marL="514350" indent="-514350" algn="just">
              <a:lnSpc>
                <a:spcPct val="200000"/>
              </a:lnSpc>
              <a:buFont typeface="Wingdings" panose="05000000000000000000" pitchFamily="2" charset="2"/>
              <a:buChar char="§"/>
            </a:pPr>
            <a:r>
              <a:rPr lang="en-GB" sz="2800" b="1" dirty="0"/>
              <a:t>Fintech ecosystems </a:t>
            </a:r>
            <a:r>
              <a:rPr lang="en-GB" sz="2800" dirty="0"/>
              <a:t>improve the industrial development of the industry by providing an environment where fintech companies, financial institutions and regulators can collaborate. This helps improve the quality of products and services offered and allows for the sharing knowledge and best practices.</a:t>
            </a:r>
          </a:p>
        </p:txBody>
      </p:sp>
      <p:sp>
        <p:nvSpPr>
          <p:cNvPr id="4" name="TextBox 6">
            <a:extLst>
              <a:ext uri="{FF2B5EF4-FFF2-40B4-BE49-F238E27FC236}">
                <a16:creationId xmlns:a16="http://schemas.microsoft.com/office/drawing/2014/main" id="{D7703A2D-8146-8388-7268-39977DADB52D}"/>
              </a:ext>
            </a:extLst>
          </p:cNvPr>
          <p:cNvSpPr txBox="1"/>
          <p:nvPr/>
        </p:nvSpPr>
        <p:spPr>
          <a:xfrm>
            <a:off x="756447" y="1805216"/>
            <a:ext cx="9356377" cy="634020"/>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FinTech Ecosystem</a:t>
            </a:r>
          </a:p>
        </p:txBody>
      </p:sp>
    </p:spTree>
    <p:extLst>
      <p:ext uri="{BB962C8B-B14F-4D97-AF65-F5344CB8AC3E}">
        <p14:creationId xmlns:p14="http://schemas.microsoft.com/office/powerpoint/2010/main" val="411120812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48EDD-1AD8-A93D-2F0C-0256E0EF127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B29E743-F08C-2A28-8387-1FDBA5663B2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D39295D-258C-08A1-BFF4-83EAC04C3AF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CB5C3F0-4E18-CF00-22B6-4744A98E6809}"/>
              </a:ext>
            </a:extLst>
          </p:cNvPr>
          <p:cNvSpPr txBox="1"/>
          <p:nvPr/>
        </p:nvSpPr>
        <p:spPr>
          <a:xfrm>
            <a:off x="990600" y="300719"/>
            <a:ext cx="11896725"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FinTech Ecosystem &amp; Stakeholders (FinTech Ecosystem)</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03FB0C2A-3580-D389-11A8-6383AB855F9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B1EAA7E7-1297-38D9-4BAE-37BD3680167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7D4ED1F-674C-1DE0-90DF-983A26A3740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38D0F06-535A-9AB2-1DB2-4724056BCE9B}"/>
              </a:ext>
            </a:extLst>
          </p:cNvPr>
          <p:cNvSpPr txBox="1"/>
          <p:nvPr/>
        </p:nvSpPr>
        <p:spPr>
          <a:xfrm>
            <a:off x="756447" y="1608990"/>
            <a:ext cx="16775106" cy="6792950"/>
          </a:xfrm>
          <a:prstGeom prst="rect">
            <a:avLst/>
          </a:prstGeom>
          <a:noFill/>
        </p:spPr>
        <p:txBody>
          <a:bodyPr wrap="square" rtlCol="0">
            <a:spAutoFit/>
          </a:bodyPr>
          <a:lstStyle/>
          <a:p>
            <a:pPr marL="514350" indent="-514350" algn="just">
              <a:lnSpc>
                <a:spcPct val="250000"/>
              </a:lnSpc>
              <a:buFont typeface="+mj-lt"/>
              <a:buAutoNum type="arabicPeriod"/>
            </a:pPr>
            <a:r>
              <a:rPr lang="en-GB" sz="3600" b="1" dirty="0"/>
              <a:t>Demand: </a:t>
            </a:r>
            <a:r>
              <a:rPr lang="en-GB" sz="3600" dirty="0"/>
              <a:t>the across consumers, corporates, and financial institutions.</a:t>
            </a:r>
          </a:p>
          <a:p>
            <a:pPr marL="514350" indent="-514350" algn="just">
              <a:lnSpc>
                <a:spcPct val="250000"/>
              </a:lnSpc>
              <a:buFont typeface="+mj-lt"/>
              <a:buAutoNum type="arabicPeriod"/>
            </a:pPr>
            <a:r>
              <a:rPr lang="en-GB" sz="3600" b="1" dirty="0"/>
              <a:t>Talent: </a:t>
            </a:r>
            <a:r>
              <a:rPr lang="en-GB" sz="3600" dirty="0"/>
              <a:t>the availability of technological, financial services, and entrepreneurial talents.</a:t>
            </a:r>
          </a:p>
          <a:p>
            <a:pPr marL="514350" indent="-514350" algn="just">
              <a:lnSpc>
                <a:spcPct val="250000"/>
              </a:lnSpc>
              <a:buFont typeface="+mj-lt"/>
              <a:buAutoNum type="arabicPeriod"/>
            </a:pPr>
            <a:r>
              <a:rPr lang="en-GB" sz="3600" b="1" dirty="0"/>
              <a:t>Capital: </a:t>
            </a:r>
            <a:r>
              <a:rPr lang="en-GB" sz="3600" dirty="0"/>
              <a:t>the availability of financial resources for </a:t>
            </a:r>
            <a:r>
              <a:rPr lang="en-GB" sz="3600" dirty="0" err="1"/>
              <a:t>statups</a:t>
            </a:r>
            <a:r>
              <a:rPr lang="en-GB" sz="3600" dirty="0"/>
              <a:t> and internal initiatives.</a:t>
            </a:r>
          </a:p>
          <a:p>
            <a:pPr marL="514350" indent="-514350" algn="just">
              <a:lnSpc>
                <a:spcPct val="250000"/>
              </a:lnSpc>
              <a:buFont typeface="+mj-lt"/>
              <a:buAutoNum type="arabicPeriod"/>
            </a:pPr>
            <a:r>
              <a:rPr lang="en-GB" sz="3600" b="1" dirty="0"/>
              <a:t>Policy: </a:t>
            </a:r>
            <a:r>
              <a:rPr lang="en-GB" sz="3600" dirty="0"/>
              <a:t>the government policies on regulations, taxes, and innovation initiatives.</a:t>
            </a:r>
          </a:p>
          <a:p>
            <a:pPr marL="514350" indent="-514350" algn="just">
              <a:lnSpc>
                <a:spcPct val="250000"/>
              </a:lnSpc>
              <a:buFont typeface="+mj-lt"/>
              <a:buAutoNum type="arabicPeriod"/>
            </a:pPr>
            <a:r>
              <a:rPr lang="en-GB" sz="3600" b="1" dirty="0"/>
              <a:t>Solutions: </a:t>
            </a:r>
            <a:r>
              <a:rPr lang="en-GB" sz="3600" dirty="0"/>
              <a:t>the introduction of new technology, 	products, services, and processes</a:t>
            </a:r>
          </a:p>
        </p:txBody>
      </p:sp>
    </p:spTree>
    <p:extLst>
      <p:ext uri="{BB962C8B-B14F-4D97-AF65-F5344CB8AC3E}">
        <p14:creationId xmlns:p14="http://schemas.microsoft.com/office/powerpoint/2010/main" val="3499890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B3448-6C76-9FA6-1662-D322A3081B04}"/>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9207D189-1F6F-6E76-30EA-BE1D98B2E81A}"/>
              </a:ext>
            </a:extLst>
          </p:cNvPr>
          <p:cNvSpPr txBox="1"/>
          <p:nvPr/>
        </p:nvSpPr>
        <p:spPr>
          <a:xfrm>
            <a:off x="902113" y="0"/>
            <a:ext cx="6256973" cy="1638077"/>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FINANCIAL </a:t>
            </a:r>
          </a:p>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INCLUSION</a:t>
            </a:r>
          </a:p>
        </p:txBody>
      </p:sp>
      <p:pic>
        <p:nvPicPr>
          <p:cNvPr id="14" name="Picture 13">
            <a:extLst>
              <a:ext uri="{FF2B5EF4-FFF2-40B4-BE49-F238E27FC236}">
                <a16:creationId xmlns:a16="http://schemas.microsoft.com/office/drawing/2014/main" id="{939F87CE-A555-9186-4304-B2EB3DB63F4B}"/>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D578A76E-E994-6035-4020-191F767CDB74}"/>
              </a:ext>
            </a:extLst>
          </p:cNvPr>
          <p:cNvSpPr txBox="1"/>
          <p:nvPr/>
        </p:nvSpPr>
        <p:spPr>
          <a:xfrm>
            <a:off x="481155" y="3351150"/>
            <a:ext cx="7098887" cy="3584699"/>
          </a:xfrm>
          <a:prstGeom prst="rect">
            <a:avLst/>
          </a:prstGeom>
        </p:spPr>
        <p:txBody>
          <a:bodyPr wrap="square" lIns="0" tIns="0" rIns="0" bIns="0" rtlCol="0" anchor="t">
            <a:spAutoFit/>
          </a:bodyPr>
          <a:lstStyle/>
          <a:p>
            <a:pPr lvl="0" algn="ctr">
              <a:lnSpc>
                <a:spcPct val="150000"/>
              </a:lnSpc>
              <a:defRPr/>
            </a:pPr>
            <a:r>
              <a:rPr lang="en-US" sz="54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Unbanked, Underbanked</a:t>
            </a:r>
          </a:p>
          <a:p>
            <a:pPr lvl="0" algn="ctr">
              <a:lnSpc>
                <a:spcPct val="150000"/>
              </a:lnSpc>
              <a:defRPr/>
            </a:pPr>
            <a:r>
              <a:rPr lang="en-US" sz="54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and the Millennials</a:t>
            </a:r>
            <a:endParaRPr kumimoji="0" lang="en-US" sz="54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extLst>
      <p:ext uri="{BB962C8B-B14F-4D97-AF65-F5344CB8AC3E}">
        <p14:creationId xmlns:p14="http://schemas.microsoft.com/office/powerpoint/2010/main" val="3720785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2A27B-BF4F-FBC4-8B15-DB73918A6F3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BC458B4-4136-9586-224B-9EA3CBBA132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AD518D0-7D84-97BE-F7A0-6A7B262897C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9233AD6-3E3D-C2C2-B0B4-5E5ADB5AAF51}"/>
              </a:ext>
            </a:extLst>
          </p:cNvPr>
          <p:cNvSpPr txBox="1"/>
          <p:nvPr/>
        </p:nvSpPr>
        <p:spPr>
          <a:xfrm>
            <a:off x="990600" y="300719"/>
            <a:ext cx="9356377" cy="621902"/>
          </a:xfrm>
          <a:prstGeom prst="rect">
            <a:avLst/>
          </a:prstGeom>
        </p:spPr>
        <p:txBody>
          <a:bodyPr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GB" dirty="0"/>
              <a:t>Unbanked, Underbanked &amp; the Millennials </a:t>
            </a:r>
            <a:endParaRPr lang="en-US" dirty="0">
              <a:sym typeface="Droid Serif Bold"/>
            </a:endParaRPr>
          </a:p>
        </p:txBody>
      </p:sp>
      <p:sp>
        <p:nvSpPr>
          <p:cNvPr id="9" name="Date Placeholder 8">
            <a:extLst>
              <a:ext uri="{FF2B5EF4-FFF2-40B4-BE49-F238E27FC236}">
                <a16:creationId xmlns:a16="http://schemas.microsoft.com/office/drawing/2014/main" id="{4C6E9DED-1BC6-D176-88E8-556DCB6977C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 I</a:t>
            </a:r>
          </a:p>
        </p:txBody>
      </p:sp>
      <p:sp>
        <p:nvSpPr>
          <p:cNvPr id="10" name="Footer Placeholder 9">
            <a:extLst>
              <a:ext uri="{FF2B5EF4-FFF2-40B4-BE49-F238E27FC236}">
                <a16:creationId xmlns:a16="http://schemas.microsoft.com/office/drawing/2014/main" id="{DD89BBAE-16D6-80A9-A883-3349F895718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0A1F3A8-9AE6-899C-C94A-2B0A4322EF3E}"/>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FCD14F15-D61F-5185-BD4F-2031BE50C353}"/>
              </a:ext>
            </a:extLst>
          </p:cNvPr>
          <p:cNvSpPr txBox="1"/>
          <p:nvPr/>
        </p:nvSpPr>
        <p:spPr>
          <a:xfrm>
            <a:off x="756447" y="2644758"/>
            <a:ext cx="16775106" cy="6071662"/>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400" dirty="0">
                <a:latin typeface="Arial"/>
                <a:cs typeface="Arial"/>
              </a:rPr>
              <a:t>Who are the “unbanked” ? Those adults without an account at a bank or other financial institution and are considered to be outside the mainstream for one reason or another.</a:t>
            </a:r>
          </a:p>
          <a:p>
            <a:pPr marL="514350" indent="-514350" algn="just">
              <a:lnSpc>
                <a:spcPct val="200000"/>
              </a:lnSpc>
              <a:buFont typeface="Wingdings" panose="05000000000000000000" pitchFamily="2" charset="2"/>
              <a:buChar char="§"/>
            </a:pPr>
            <a:endParaRPr lang="en-GB" sz="1000" dirty="0">
              <a:latin typeface="Arial"/>
              <a:cs typeface="Arial"/>
            </a:endParaRPr>
          </a:p>
          <a:p>
            <a:pPr marL="514350" indent="-514350" algn="just">
              <a:lnSpc>
                <a:spcPct val="200000"/>
              </a:lnSpc>
              <a:buFont typeface="Wingdings" panose="05000000000000000000" pitchFamily="2" charset="2"/>
              <a:buChar char="§"/>
            </a:pPr>
            <a:r>
              <a:rPr lang="en-GB" sz="2400" dirty="0">
                <a:latin typeface="Arial"/>
                <a:cs typeface="Arial"/>
              </a:rPr>
              <a:t>Unbanked persons generally pay for things in cash or else purchase money orders. Unbanked persons also typically do not have insurance, pensions or any other type of professional money-related services.</a:t>
            </a:r>
          </a:p>
          <a:p>
            <a:pPr marL="514350" indent="-514350" algn="just">
              <a:lnSpc>
                <a:spcPct val="200000"/>
              </a:lnSpc>
              <a:buFont typeface="Wingdings" panose="05000000000000000000" pitchFamily="2" charset="2"/>
              <a:buChar char="§"/>
            </a:pPr>
            <a:endParaRPr lang="en-US" sz="1000" dirty="0">
              <a:latin typeface="Arial"/>
              <a:cs typeface="Arial"/>
            </a:endParaRPr>
          </a:p>
          <a:p>
            <a:pPr marL="514350" indent="-514350" algn="just">
              <a:lnSpc>
                <a:spcPct val="200000"/>
              </a:lnSpc>
              <a:buFont typeface="Wingdings" panose="05000000000000000000" pitchFamily="2" charset="2"/>
              <a:buChar char="§"/>
            </a:pPr>
            <a:r>
              <a:rPr lang="en-GB" sz="2400" dirty="0">
                <a:latin typeface="Arial"/>
                <a:cs typeface="Arial"/>
              </a:rPr>
              <a:t>Who are the “underbanked” ?…. used to describe groups of people with a particular level of income who do not use all the financial services that those with that income would normally be expected to use.</a:t>
            </a:r>
          </a:p>
          <a:p>
            <a:pPr marL="514350" indent="-514350" algn="just">
              <a:lnSpc>
                <a:spcPct val="200000"/>
              </a:lnSpc>
              <a:buFont typeface="Wingdings" panose="05000000000000000000" pitchFamily="2" charset="2"/>
              <a:buChar char="§"/>
            </a:pPr>
            <a:endParaRPr lang="en-GB" sz="1000" dirty="0">
              <a:latin typeface="Arial"/>
              <a:cs typeface="Arial"/>
            </a:endParaRPr>
          </a:p>
          <a:p>
            <a:pPr marL="514350" indent="-514350" algn="just">
              <a:lnSpc>
                <a:spcPct val="200000"/>
              </a:lnSpc>
              <a:buFont typeface="Wingdings" panose="05000000000000000000" pitchFamily="2" charset="2"/>
              <a:buChar char="§"/>
            </a:pPr>
            <a:r>
              <a:rPr lang="en-GB" sz="2400" dirty="0">
                <a:latin typeface="Arial"/>
                <a:cs typeface="Arial"/>
              </a:rPr>
              <a:t>Estimated 2.5 billion unbanked/underbanked in the world.</a:t>
            </a:r>
          </a:p>
        </p:txBody>
      </p:sp>
      <p:sp>
        <p:nvSpPr>
          <p:cNvPr id="4" name="TextBox 6">
            <a:extLst>
              <a:ext uri="{FF2B5EF4-FFF2-40B4-BE49-F238E27FC236}">
                <a16:creationId xmlns:a16="http://schemas.microsoft.com/office/drawing/2014/main" id="{B7306632-D5F4-1464-4F44-1BE1F8115EBC}"/>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The Unbanked and Underbanked – Who </a:t>
            </a:r>
          </a:p>
        </p:txBody>
      </p:sp>
    </p:spTree>
    <p:extLst>
      <p:ext uri="{BB962C8B-B14F-4D97-AF65-F5344CB8AC3E}">
        <p14:creationId xmlns:p14="http://schemas.microsoft.com/office/powerpoint/2010/main" val="2622146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fade">
                                      <p:cBhvr>
                                        <p:cTn id="2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6F996-7635-1787-F807-1C7FEC317A8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4A366B4-B572-DAE1-DF2F-B770D0BED8D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9CF50E5-C002-3A45-783D-A8BBBE0D520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7D3C917-8FEB-127C-5C2A-5F099C2969F8}"/>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Unbanked, Underbanked &amp; the Millennials </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A5024C9A-42D5-5989-7E7B-2E9419BC75D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B59FEC39-794D-5D70-F15F-446880331E7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210C44E-CE92-0AE7-E274-3C48AFC7051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E2F114F-A8D1-E966-EA67-876B68FB94EE}"/>
              </a:ext>
            </a:extLst>
          </p:cNvPr>
          <p:cNvSpPr txBox="1"/>
          <p:nvPr/>
        </p:nvSpPr>
        <p:spPr>
          <a:xfrm>
            <a:off x="756447" y="1586466"/>
            <a:ext cx="16775106" cy="660244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3200" dirty="0" err="1"/>
              <a:t>FinTechs</a:t>
            </a:r>
            <a:r>
              <a:rPr lang="en-US" sz="3200" dirty="0"/>
              <a:t> are offering:</a:t>
            </a:r>
          </a:p>
          <a:p>
            <a:pPr marL="971550" lvl="1" indent="-514350" algn="just">
              <a:lnSpc>
                <a:spcPct val="150000"/>
              </a:lnSpc>
              <a:buFont typeface="Arial" panose="020B0604020202020204" pitchFamily="34" charset="0"/>
              <a:buChar char="•"/>
            </a:pPr>
            <a:r>
              <a:rPr lang="en-US" sz="3200" dirty="0"/>
              <a:t>They </a:t>
            </a:r>
            <a:r>
              <a:rPr lang="en-GB" sz="3200" dirty="0"/>
              <a:t>Solutions for customers unable to get loans with no or poor credit scores. No credit score -&gt; makes them invisible to the mainstream financial system.</a:t>
            </a:r>
          </a:p>
          <a:p>
            <a:pPr marL="971550" lvl="1" indent="-514350" algn="just">
              <a:lnSpc>
                <a:spcPct val="150000"/>
              </a:lnSpc>
              <a:buFont typeface="Arial" panose="020B0604020202020204" pitchFamily="34" charset="0"/>
              <a:buChar char="•"/>
            </a:pPr>
            <a:r>
              <a:rPr lang="en-GB" sz="3200" dirty="0"/>
              <a:t>Peer-to-peer (P2P) marketplaces for customers unable to secure loans from the traditional sources</a:t>
            </a:r>
          </a:p>
          <a:p>
            <a:pPr marL="971550" lvl="1" indent="-514350" algn="just">
              <a:lnSpc>
                <a:spcPct val="150000"/>
              </a:lnSpc>
              <a:buFont typeface="Arial" panose="020B0604020202020204" pitchFamily="34" charset="0"/>
              <a:buChar char="•"/>
            </a:pPr>
            <a:r>
              <a:rPr lang="en-GB" sz="3200" dirty="0"/>
              <a:t>Personal finance management tools</a:t>
            </a:r>
            <a:endParaRPr lang="en-US" sz="3200" dirty="0"/>
          </a:p>
          <a:p>
            <a:pPr marL="514350" indent="-514350" algn="just">
              <a:lnSpc>
                <a:spcPct val="200000"/>
              </a:lnSpc>
              <a:buFont typeface="Wingdings" panose="05000000000000000000" pitchFamily="2" charset="2"/>
              <a:buChar char="§"/>
            </a:pPr>
            <a:r>
              <a:rPr lang="en-GB" sz="3200" dirty="0"/>
              <a:t>No credit score….why is this important? Because a credit 	score → access to financial services—is usually necessary 	to buy a home, build a business, or send your children to 	college.</a:t>
            </a:r>
          </a:p>
        </p:txBody>
      </p:sp>
    </p:spTree>
    <p:extLst>
      <p:ext uri="{BB962C8B-B14F-4D97-AF65-F5344CB8AC3E}">
        <p14:creationId xmlns:p14="http://schemas.microsoft.com/office/powerpoint/2010/main" val="1038372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6DF67-3D9B-296D-7C11-0E203C4EC48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0A69386-490D-1F85-1AC2-0E87DF3E4E2D}"/>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77E6C55E-B109-DD78-068A-41BE2F70DE3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E75FFD29-5A47-A121-8EC4-15816DAEE348}"/>
              </a:ext>
            </a:extLst>
          </p:cNvPr>
          <p:cNvSpPr txBox="1"/>
          <p:nvPr/>
        </p:nvSpPr>
        <p:spPr>
          <a:xfrm>
            <a:off x="990600" y="300719"/>
            <a:ext cx="9356377" cy="621902"/>
          </a:xfrm>
          <a:prstGeom prst="rect">
            <a:avLst/>
          </a:prstGeom>
        </p:spPr>
        <p:txBody>
          <a:bodyPr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GB" dirty="0"/>
              <a:t>Unbanked, Underbanked &amp; the Millennials </a:t>
            </a:r>
            <a:endParaRPr lang="en-US" dirty="0">
              <a:sym typeface="Droid Serif Bold"/>
            </a:endParaRPr>
          </a:p>
        </p:txBody>
      </p:sp>
      <p:sp>
        <p:nvSpPr>
          <p:cNvPr id="9" name="Date Placeholder 8">
            <a:extLst>
              <a:ext uri="{FF2B5EF4-FFF2-40B4-BE49-F238E27FC236}">
                <a16:creationId xmlns:a16="http://schemas.microsoft.com/office/drawing/2014/main" id="{05838665-45AC-D80F-BCFF-862630072A8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42A97138-B4CC-92F6-92EB-917C573D050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FF69962-7FE6-461D-A04A-7E8B1937812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A573B72-1574-9312-B9E9-A69EEB2309EA}"/>
              </a:ext>
            </a:extLst>
          </p:cNvPr>
          <p:cNvSpPr txBox="1"/>
          <p:nvPr/>
        </p:nvSpPr>
        <p:spPr>
          <a:xfrm>
            <a:off x="756447" y="2644758"/>
            <a:ext cx="16775106" cy="5637441"/>
          </a:xfrm>
          <a:prstGeom prst="rect">
            <a:avLst/>
          </a:prstGeom>
          <a:noFill/>
        </p:spPr>
        <p:txBody>
          <a:bodyPr wrap="square" rtlCol="0">
            <a:spAutoFit/>
          </a:bodyPr>
          <a:lstStyle/>
          <a:p>
            <a:pPr marL="514350" indent="-514350" algn="just">
              <a:buFont typeface="Wingdings" panose="05000000000000000000" pitchFamily="2" charset="2"/>
              <a:buChar char="§"/>
            </a:pPr>
            <a:r>
              <a:rPr lang="en-GB" sz="2800" b="1" dirty="0">
                <a:latin typeface="Arial"/>
                <a:cs typeface="Arial"/>
              </a:rPr>
              <a:t>Lack of Money: </a:t>
            </a:r>
            <a:r>
              <a:rPr lang="en-GB" sz="3200" dirty="0"/>
              <a:t>Less money often means consumers can’t qualify for certain accounts that require a higher maintained balance.</a:t>
            </a:r>
          </a:p>
          <a:p>
            <a:pPr marL="514350" indent="-514350" algn="just">
              <a:buFont typeface="Wingdings" panose="05000000000000000000" pitchFamily="2" charset="2"/>
              <a:buChar char="§"/>
            </a:pPr>
            <a:endParaRPr lang="en-GB" sz="3200" dirty="0"/>
          </a:p>
          <a:p>
            <a:pPr marL="812165" lvl="1" indent="-342265">
              <a:spcBef>
                <a:spcPts val="105"/>
              </a:spcBef>
              <a:buClr>
                <a:srgbClr val="7888FA"/>
              </a:buClr>
              <a:buFont typeface="Wingdings"/>
              <a:buChar char=""/>
              <a:tabLst>
                <a:tab pos="354965" algn="l"/>
              </a:tabLst>
            </a:pPr>
            <a:r>
              <a:rPr lang="en-GB" sz="3200" b="1" dirty="0"/>
              <a:t>Lack of Documentation Distrust. </a:t>
            </a:r>
            <a:r>
              <a:rPr lang="en-GB" sz="3200" dirty="0"/>
              <a:t>Impersonal service and negative past experiences.</a:t>
            </a:r>
          </a:p>
          <a:p>
            <a:pPr marL="812165" lvl="1" indent="-342265">
              <a:spcBef>
                <a:spcPts val="345"/>
              </a:spcBef>
              <a:buClr>
                <a:srgbClr val="7888FA"/>
              </a:buClr>
              <a:buFont typeface="Wingdings"/>
              <a:buChar char=""/>
              <a:tabLst>
                <a:tab pos="354965" algn="l"/>
              </a:tabLst>
            </a:pPr>
            <a:r>
              <a:rPr lang="en-GB" sz="3200" b="1" dirty="0"/>
              <a:t>Lack of Literacy. </a:t>
            </a:r>
            <a:r>
              <a:rPr lang="en-GB" sz="3200" dirty="0"/>
              <a:t>Lack of understanding about banks, rates and the benefits of maintaining an account</a:t>
            </a:r>
          </a:p>
          <a:p>
            <a:pPr marL="812165" lvl="1" indent="-342265">
              <a:spcBef>
                <a:spcPts val="345"/>
              </a:spcBef>
              <a:buClr>
                <a:srgbClr val="7888FA"/>
              </a:buClr>
              <a:buFont typeface="Wingdings"/>
              <a:buChar char=""/>
              <a:tabLst>
                <a:tab pos="354965" algn="l"/>
              </a:tabLst>
            </a:pPr>
            <a:r>
              <a:rPr lang="en-GB" sz="3200" b="1" dirty="0"/>
              <a:t>Blacklisted</a:t>
            </a:r>
            <a:r>
              <a:rPr lang="en-GB" sz="3200" dirty="0"/>
              <a:t>. Others also are unable to open an account if they have a negative financial history, such as bounced checks or excessive account overdrafts.</a:t>
            </a:r>
          </a:p>
          <a:p>
            <a:pPr marL="812165" lvl="1" indent="-342265">
              <a:spcBef>
                <a:spcPts val="345"/>
              </a:spcBef>
              <a:buClr>
                <a:srgbClr val="7888FA"/>
              </a:buClr>
              <a:buFont typeface="Wingdings"/>
              <a:buChar char=""/>
              <a:tabLst>
                <a:tab pos="354965" algn="l"/>
              </a:tabLst>
            </a:pPr>
            <a:r>
              <a:rPr lang="en-GB" sz="3200" b="1" dirty="0"/>
              <a:t>Inconvenience and Geographical Barriers. </a:t>
            </a:r>
            <a:r>
              <a:rPr lang="en-GB" sz="3200" dirty="0"/>
              <a:t>Some unbanked and underbanked consumers say their </a:t>
            </a:r>
            <a:r>
              <a:rPr lang="en-GB" sz="3200" dirty="0" err="1"/>
              <a:t>communicaties</a:t>
            </a:r>
            <a:r>
              <a:rPr lang="en-GB" sz="3200" dirty="0"/>
              <a:t> don’t have enough nearby bank branches to use them regularly. They also cite their limited hours  of operations  for those who work different. Shifts.                                                                                                                                                                                                                         </a:t>
            </a:r>
          </a:p>
        </p:txBody>
      </p:sp>
      <p:sp>
        <p:nvSpPr>
          <p:cNvPr id="4" name="TextBox 6">
            <a:extLst>
              <a:ext uri="{FF2B5EF4-FFF2-40B4-BE49-F238E27FC236}">
                <a16:creationId xmlns:a16="http://schemas.microsoft.com/office/drawing/2014/main" id="{91D06DA9-772B-1DF3-B90C-265FCE7489C0}"/>
              </a:ext>
            </a:extLst>
          </p:cNvPr>
          <p:cNvSpPr txBox="1"/>
          <p:nvPr/>
        </p:nvSpPr>
        <p:spPr>
          <a:xfrm>
            <a:off x="756447" y="1805216"/>
            <a:ext cx="114694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The Unbanked and Underbanked – The Reasons </a:t>
            </a:r>
          </a:p>
        </p:txBody>
      </p:sp>
    </p:spTree>
    <p:extLst>
      <p:ext uri="{BB962C8B-B14F-4D97-AF65-F5344CB8AC3E}">
        <p14:creationId xmlns:p14="http://schemas.microsoft.com/office/powerpoint/2010/main" val="1232074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19A69-43B0-42CD-7153-C488E2869197}"/>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1D5D2C87-90F8-A3EE-EF50-67D30B361776}"/>
              </a:ext>
            </a:extLst>
          </p:cNvPr>
          <p:cNvSpPr txBox="1"/>
          <p:nvPr/>
        </p:nvSpPr>
        <p:spPr>
          <a:xfrm>
            <a:off x="902113" y="0"/>
            <a:ext cx="6256973" cy="1649683"/>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Unbanked, Underbanked &amp; the millennials</a:t>
            </a:r>
          </a:p>
        </p:txBody>
      </p:sp>
      <p:pic>
        <p:nvPicPr>
          <p:cNvPr id="14" name="Picture 13">
            <a:extLst>
              <a:ext uri="{FF2B5EF4-FFF2-40B4-BE49-F238E27FC236}">
                <a16:creationId xmlns:a16="http://schemas.microsoft.com/office/drawing/2014/main" id="{1E347A3C-3D7F-D30B-55B8-FAA60BD1A9BD}"/>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901B2029-2779-7A6A-F86B-3EFD5C173317}"/>
              </a:ext>
            </a:extLst>
          </p:cNvPr>
          <p:cNvSpPr txBox="1"/>
          <p:nvPr/>
        </p:nvSpPr>
        <p:spPr>
          <a:xfrm>
            <a:off x="316056" y="3351150"/>
            <a:ext cx="7098887" cy="3584699"/>
          </a:xfrm>
          <a:prstGeom prst="rect">
            <a:avLst/>
          </a:prstGeom>
        </p:spPr>
        <p:txBody>
          <a:bodyPr wrap="square" lIns="0" tIns="0" rIns="0" bIns="0" rtlCol="0" anchor="t">
            <a:spAutoFit/>
          </a:bodyPr>
          <a:lstStyle/>
          <a:p>
            <a:pPr lvl="0" algn="ctr">
              <a:lnSpc>
                <a:spcPct val="150000"/>
              </a:lnSpc>
              <a:defRPr/>
            </a:pPr>
            <a:r>
              <a:rPr lang="en-US" sz="54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Millennials – Digital Natives &amp; ‘No-Wait Generation’</a:t>
            </a:r>
            <a:endParaRPr kumimoji="0" lang="en-US" sz="54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extLst>
      <p:ext uri="{BB962C8B-B14F-4D97-AF65-F5344CB8AC3E}">
        <p14:creationId xmlns:p14="http://schemas.microsoft.com/office/powerpoint/2010/main" val="897467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FF39B-23E6-82FE-2905-CE38818D8C6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FCE47FE-0059-1137-A655-D56047266DD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3D267E5-C206-9EA2-84E0-92310DD04C8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E85F763B-CD81-87F2-1D8D-152BB7D8FE43}"/>
              </a:ext>
            </a:extLst>
          </p:cNvPr>
          <p:cNvSpPr txBox="1"/>
          <p:nvPr/>
        </p:nvSpPr>
        <p:spPr>
          <a:xfrm>
            <a:off x="990600" y="300719"/>
            <a:ext cx="9356377" cy="621902"/>
          </a:xfrm>
          <a:prstGeom prst="rect">
            <a:avLst/>
          </a:prstGeom>
        </p:spPr>
        <p:txBody>
          <a:bodyPr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GB" dirty="0"/>
              <a:t>Unbanked, Underbanked &amp; the Millennials </a:t>
            </a:r>
            <a:endParaRPr lang="en-US" dirty="0">
              <a:sym typeface="Droid Serif Bold"/>
            </a:endParaRPr>
          </a:p>
        </p:txBody>
      </p:sp>
      <p:sp>
        <p:nvSpPr>
          <p:cNvPr id="9" name="Date Placeholder 8">
            <a:extLst>
              <a:ext uri="{FF2B5EF4-FFF2-40B4-BE49-F238E27FC236}">
                <a16:creationId xmlns:a16="http://schemas.microsoft.com/office/drawing/2014/main" id="{C8C8EBF1-AEEF-9130-71CA-B3554900C80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7C6C5BBA-7753-38A9-5C92-994AC674481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7560AEBA-2B45-9571-6208-994F46114C7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406C364-8DCE-7E60-C629-2F05E6E5CB42}"/>
              </a:ext>
            </a:extLst>
          </p:cNvPr>
          <p:cNvSpPr txBox="1"/>
          <p:nvPr/>
        </p:nvSpPr>
        <p:spPr>
          <a:xfrm>
            <a:off x="756447" y="2644758"/>
            <a:ext cx="16775106" cy="6852773"/>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latin typeface="Arial"/>
                <a:cs typeface="Arial"/>
              </a:rPr>
              <a:t>The most crucial he most crucial factor that helped FinTech become a disruptive force in the financial world is the millennial population.</a:t>
            </a:r>
          </a:p>
          <a:p>
            <a:pPr marL="514350" indent="-514350" algn="just">
              <a:lnSpc>
                <a:spcPct val="200000"/>
              </a:lnSpc>
              <a:buFont typeface="Wingdings" panose="05000000000000000000" pitchFamily="2" charset="2"/>
              <a:buChar char="§"/>
            </a:pPr>
            <a:r>
              <a:rPr lang="en-GB" sz="2800" b="1" dirty="0">
                <a:latin typeface="Arial"/>
                <a:cs typeface="Arial"/>
              </a:rPr>
              <a:t>Millennials or Generation Z </a:t>
            </a:r>
            <a:r>
              <a:rPr lang="en-GB" sz="2800" dirty="0">
                <a:latin typeface="Arial"/>
                <a:cs typeface="Arial"/>
              </a:rPr>
              <a:t>are very demanding and less loyal as they expect personalized products and services according to their needs. </a:t>
            </a:r>
          </a:p>
          <a:p>
            <a:pPr marL="514350" indent="-514350" algn="just">
              <a:lnSpc>
                <a:spcPct val="200000"/>
              </a:lnSpc>
              <a:buFont typeface="Wingdings" panose="05000000000000000000" pitchFamily="2" charset="2"/>
              <a:buChar char="§"/>
            </a:pPr>
            <a:r>
              <a:rPr lang="en-GB" sz="2800" dirty="0">
                <a:latin typeface="Arial"/>
                <a:cs typeface="Arial"/>
              </a:rPr>
              <a:t>Demand from the Millennial generation to innovate and to think about financial services differently has been a major catalyst for the disruptive change in the finance industry.</a:t>
            </a:r>
          </a:p>
          <a:p>
            <a:pPr marL="514350" indent="-514350" algn="just">
              <a:lnSpc>
                <a:spcPct val="200000"/>
              </a:lnSpc>
              <a:buFont typeface="Wingdings" panose="05000000000000000000" pitchFamily="2" charset="2"/>
              <a:buChar char="§"/>
            </a:pPr>
            <a:r>
              <a:rPr lang="en-GB" sz="2800" dirty="0">
                <a:latin typeface="Arial"/>
                <a:cs typeface="Arial"/>
              </a:rPr>
              <a:t>Millennials were raised with the idea that the first place to learn something, share something, or buy something is the Internet.</a:t>
            </a:r>
          </a:p>
        </p:txBody>
      </p:sp>
      <p:sp>
        <p:nvSpPr>
          <p:cNvPr id="4" name="TextBox 6">
            <a:extLst>
              <a:ext uri="{FF2B5EF4-FFF2-40B4-BE49-F238E27FC236}">
                <a16:creationId xmlns:a16="http://schemas.microsoft.com/office/drawing/2014/main" id="{C2CA57F6-7E2B-C071-AC69-26AF9D295110}"/>
              </a:ext>
            </a:extLst>
          </p:cNvPr>
          <p:cNvSpPr txBox="1"/>
          <p:nvPr/>
        </p:nvSpPr>
        <p:spPr>
          <a:xfrm>
            <a:off x="756447" y="1805216"/>
            <a:ext cx="1357339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Millennials – Digital Natives &amp; ‘No-Wait Generation’ </a:t>
            </a:r>
          </a:p>
        </p:txBody>
      </p:sp>
    </p:spTree>
    <p:extLst>
      <p:ext uri="{BB962C8B-B14F-4D97-AF65-F5344CB8AC3E}">
        <p14:creationId xmlns:p14="http://schemas.microsoft.com/office/powerpoint/2010/main" val="243401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454F7-FE19-5E4F-8E22-08E00F838952}"/>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2CA9087C-54EB-895F-5566-86F0C885DDD3}"/>
              </a:ext>
            </a:extLst>
          </p:cNvPr>
          <p:cNvSpPr txBox="1"/>
          <p:nvPr/>
        </p:nvSpPr>
        <p:spPr>
          <a:xfrm>
            <a:off x="902113" y="0"/>
            <a:ext cx="6256973" cy="1638077"/>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FINANCIAL </a:t>
            </a:r>
          </a:p>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INCLUSION</a:t>
            </a:r>
          </a:p>
        </p:txBody>
      </p:sp>
      <p:pic>
        <p:nvPicPr>
          <p:cNvPr id="14" name="Picture 13">
            <a:extLst>
              <a:ext uri="{FF2B5EF4-FFF2-40B4-BE49-F238E27FC236}">
                <a16:creationId xmlns:a16="http://schemas.microsoft.com/office/drawing/2014/main" id="{4FB2610C-F069-59C3-64A6-CB1909B98BEF}"/>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81221E7D-8149-913D-3785-2276BE6B65A2}"/>
              </a:ext>
            </a:extLst>
          </p:cNvPr>
          <p:cNvSpPr txBox="1"/>
          <p:nvPr/>
        </p:nvSpPr>
        <p:spPr>
          <a:xfrm>
            <a:off x="316056" y="4076531"/>
            <a:ext cx="7098887" cy="2857770"/>
          </a:xfrm>
          <a:prstGeom prst="rect">
            <a:avLst/>
          </a:prstGeom>
        </p:spPr>
        <p:txBody>
          <a:bodyPr wrap="square" lIns="0" tIns="0" rIns="0" bIns="0" rtlCol="0" anchor="t">
            <a:spAutoFit/>
          </a:bodyPr>
          <a:lstStyle/>
          <a:p>
            <a:pPr lvl="0" algn="ctr">
              <a:lnSpc>
                <a:spcPct val="150000"/>
              </a:lnSpc>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Inclusion</a:t>
            </a:r>
            <a:endPar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extLst>
      <p:ext uri="{BB962C8B-B14F-4D97-AF65-F5344CB8AC3E}">
        <p14:creationId xmlns:p14="http://schemas.microsoft.com/office/powerpoint/2010/main" val="5918438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433FF-4F83-BCE4-8956-FC3129FA047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57101C1-B7F3-8F52-90E5-88FA3F5B4CB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E86EC96-6646-E0F8-26D2-0324AEC6300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EB61279-0185-DAFB-9CF7-1A3B27F7030C}"/>
              </a:ext>
            </a:extLst>
          </p:cNvPr>
          <p:cNvSpPr txBox="1"/>
          <p:nvPr/>
        </p:nvSpPr>
        <p:spPr>
          <a:xfrm>
            <a:off x="990600" y="300719"/>
            <a:ext cx="9356377" cy="621902"/>
          </a:xfrm>
          <a:prstGeom prst="rect">
            <a:avLst/>
          </a:prstGeom>
        </p:spPr>
        <p:txBody>
          <a:bodyPr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GB" dirty="0"/>
              <a:t>Financial Inclusion</a:t>
            </a:r>
          </a:p>
        </p:txBody>
      </p:sp>
      <p:sp>
        <p:nvSpPr>
          <p:cNvPr id="9" name="Date Placeholder 8">
            <a:extLst>
              <a:ext uri="{FF2B5EF4-FFF2-40B4-BE49-F238E27FC236}">
                <a16:creationId xmlns:a16="http://schemas.microsoft.com/office/drawing/2014/main" id="{788F1EE2-DBD3-B2C5-1534-66E8949DFF9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6F2F5127-68C6-A47C-C259-CE627810FA05}"/>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3346788-976A-E514-BC10-F689446139D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10369E9-2DEE-3B28-2BE4-1E3CDDFBE758}"/>
              </a:ext>
            </a:extLst>
          </p:cNvPr>
          <p:cNvSpPr txBox="1"/>
          <p:nvPr/>
        </p:nvSpPr>
        <p:spPr>
          <a:xfrm>
            <a:off x="756447" y="2644758"/>
            <a:ext cx="16775106" cy="426751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latin typeface="Arial"/>
                <a:cs typeface="Arial"/>
              </a:rPr>
              <a:t>Financial inclusion refers to the efforts and policies aimed at making financial services accessible at affordable costs to all individuals and businesses, regardless of their personal net worth or company size. It's an important aspect of promoting overall economic and social development. Financial inclusion seeks to address and offer solutions to the constraints that exclude people from participating in the financial sector.</a:t>
            </a:r>
          </a:p>
        </p:txBody>
      </p:sp>
      <p:sp>
        <p:nvSpPr>
          <p:cNvPr id="4" name="TextBox 6">
            <a:extLst>
              <a:ext uri="{FF2B5EF4-FFF2-40B4-BE49-F238E27FC236}">
                <a16:creationId xmlns:a16="http://schemas.microsoft.com/office/drawing/2014/main" id="{DC7B38C0-3553-347D-3597-8B3E550F7A2E}"/>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What is Financial Inclusion ?</a:t>
            </a:r>
          </a:p>
        </p:txBody>
      </p:sp>
    </p:spTree>
    <p:extLst>
      <p:ext uri="{BB962C8B-B14F-4D97-AF65-F5344CB8AC3E}">
        <p14:creationId xmlns:p14="http://schemas.microsoft.com/office/powerpoint/2010/main" val="3962720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E8EA2-D533-6EFA-AD1B-29A6221FC6C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8AAED23-5211-B0FB-B180-7DFBCB0DAEB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1F48FA5-5B8B-0F27-D0E3-E1AE15606B2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B52D825-1664-BD09-58E9-9B9E3C3DE3D2}"/>
              </a:ext>
            </a:extLst>
          </p:cNvPr>
          <p:cNvSpPr txBox="1"/>
          <p:nvPr/>
        </p:nvSpPr>
        <p:spPr>
          <a:xfrm>
            <a:off x="990600" y="300719"/>
            <a:ext cx="11896725"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What is Financial Inclusion?</a:t>
            </a:r>
          </a:p>
        </p:txBody>
      </p:sp>
      <p:sp>
        <p:nvSpPr>
          <p:cNvPr id="9" name="Date Placeholder 8">
            <a:extLst>
              <a:ext uri="{FF2B5EF4-FFF2-40B4-BE49-F238E27FC236}">
                <a16:creationId xmlns:a16="http://schemas.microsoft.com/office/drawing/2014/main" id="{523D885D-5862-4DA0-9A50-B9316A3FEBD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5665171C-BF25-D1A7-8DDC-4F4B2BE9FAA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5F91403-F64C-B591-ABE1-A6F3D889BC9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18</a:t>
            </a:fld>
            <a:endParaRPr lang="en-US">
              <a:latin typeface="Segoe UI" panose="020B0502040204020203" pitchFamily="34" charset="0"/>
              <a:cs typeface="Segoe UI" panose="020B0502040204020203" pitchFamily="34" charset="0"/>
            </a:endParaRPr>
          </a:p>
        </p:txBody>
      </p:sp>
      <p:sp>
        <p:nvSpPr>
          <p:cNvPr id="12" name="TextBox 11">
            <a:extLst>
              <a:ext uri="{FF2B5EF4-FFF2-40B4-BE49-F238E27FC236}">
                <a16:creationId xmlns:a16="http://schemas.microsoft.com/office/drawing/2014/main" id="{C81D379E-A8C0-451F-AF88-CD84BBA8D2FE}"/>
              </a:ext>
            </a:extLst>
          </p:cNvPr>
          <p:cNvSpPr txBox="1"/>
          <p:nvPr/>
        </p:nvSpPr>
        <p:spPr>
          <a:xfrm>
            <a:off x="757618" y="1595405"/>
            <a:ext cx="16773935" cy="7152856"/>
          </a:xfrm>
          <a:prstGeom prst="rect">
            <a:avLst/>
          </a:prstGeom>
          <a:noFill/>
        </p:spPr>
        <p:txBody>
          <a:bodyPr wrap="square" rtlCol="0">
            <a:spAutoFit/>
          </a:bodyPr>
          <a:lstStyle/>
          <a:p>
            <a:pPr marL="342900" indent="-342900" algn="just">
              <a:buFont typeface="Arial" panose="020B0604020202020204" pitchFamily="34" charset="0"/>
              <a:buChar char="•"/>
            </a:pPr>
            <a:r>
              <a:rPr lang="en-GB" sz="2400" dirty="0"/>
              <a:t>Key components of financial inclusion include:</a:t>
            </a:r>
            <a:endParaRPr lang="en-MY" sz="2400" dirty="0"/>
          </a:p>
          <a:p>
            <a:pPr marL="514350" indent="-514350" algn="just">
              <a:buFont typeface="+mj-lt"/>
              <a:buAutoNum type="arabicPeriod"/>
            </a:pPr>
            <a:endParaRPr lang="en-MY" sz="2000" dirty="0"/>
          </a:p>
          <a:p>
            <a:pPr marL="514350" indent="-514350" algn="just">
              <a:lnSpc>
                <a:spcPct val="150000"/>
              </a:lnSpc>
              <a:buFont typeface="+mj-lt"/>
              <a:buAutoNum type="arabicPeriod"/>
            </a:pPr>
            <a:r>
              <a:rPr lang="en-GB" sz="2800" b="1" dirty="0">
                <a:latin typeface="Arial"/>
                <a:cs typeface="Arial"/>
              </a:rPr>
              <a:t>Accessibility: </a:t>
            </a:r>
            <a:r>
              <a:rPr lang="en-GB" sz="2800" dirty="0">
                <a:latin typeface="Arial"/>
                <a:cs typeface="Arial"/>
              </a:rPr>
              <a:t>Ensuring that financial services are within reach for every member of society, especially those living in remote or underserved areas.</a:t>
            </a:r>
          </a:p>
          <a:p>
            <a:pPr marL="514350" indent="-514350" algn="just">
              <a:lnSpc>
                <a:spcPct val="150000"/>
              </a:lnSpc>
              <a:buFont typeface="+mj-lt"/>
              <a:buAutoNum type="arabicPeriod"/>
            </a:pPr>
            <a:r>
              <a:rPr lang="en-GB" sz="2800" b="1" dirty="0">
                <a:latin typeface="Arial"/>
                <a:cs typeface="Arial"/>
              </a:rPr>
              <a:t>Affordability: </a:t>
            </a:r>
            <a:r>
              <a:rPr lang="en-GB" sz="2800" dirty="0">
                <a:latin typeface="Arial"/>
                <a:cs typeface="Arial"/>
              </a:rPr>
              <a:t>Making sure that the costs of financial services are not prohibitive for low-income individuals. </a:t>
            </a:r>
          </a:p>
          <a:p>
            <a:pPr marL="514350" indent="-514350" algn="just">
              <a:lnSpc>
                <a:spcPct val="150000"/>
              </a:lnSpc>
              <a:buFont typeface="+mj-lt"/>
              <a:buAutoNum type="arabicPeriod"/>
            </a:pPr>
            <a:r>
              <a:rPr lang="en-GB" sz="2800" b="1" dirty="0">
                <a:latin typeface="Arial"/>
                <a:cs typeface="Arial"/>
              </a:rPr>
              <a:t>Relevance: </a:t>
            </a:r>
            <a:r>
              <a:rPr lang="en-GB" sz="2800" dirty="0">
                <a:latin typeface="Arial"/>
                <a:cs typeface="Arial"/>
              </a:rPr>
              <a:t>Offering financial products  and services that meet the specific needs of diverse groups, including savings, loans, insurance, and payment services. </a:t>
            </a:r>
          </a:p>
          <a:p>
            <a:pPr marL="514350" indent="-514350" algn="just">
              <a:lnSpc>
                <a:spcPct val="150000"/>
              </a:lnSpc>
              <a:buFont typeface="+mj-lt"/>
              <a:buAutoNum type="arabicPeriod"/>
            </a:pPr>
            <a:r>
              <a:rPr lang="en-GB" sz="2800" b="1" dirty="0">
                <a:latin typeface="Arial"/>
                <a:cs typeface="Arial"/>
              </a:rPr>
              <a:t>Usefulness and Usability: </a:t>
            </a:r>
            <a:r>
              <a:rPr lang="en-GB" sz="2800" dirty="0">
                <a:latin typeface="Arial"/>
                <a:cs typeface="Arial"/>
              </a:rPr>
              <a:t>Ensuring that financial products are easy to understand and use, enabling people to make informed decisions about their finances.</a:t>
            </a:r>
          </a:p>
          <a:p>
            <a:pPr marL="514350" indent="-514350" algn="just">
              <a:lnSpc>
                <a:spcPct val="150000"/>
              </a:lnSpc>
              <a:buFont typeface="+mj-lt"/>
              <a:buAutoNum type="arabicPeriod"/>
            </a:pPr>
            <a:r>
              <a:rPr lang="en-GB" sz="2800" b="1" dirty="0">
                <a:latin typeface="Arial"/>
                <a:cs typeface="Arial"/>
              </a:rPr>
              <a:t>Quality of Service: </a:t>
            </a:r>
            <a:r>
              <a:rPr lang="en-GB" sz="2800" dirty="0">
                <a:latin typeface="Arial"/>
                <a:cs typeface="Arial"/>
              </a:rPr>
              <a:t>Providing customer service that helps users to access services effectively, including education on the use of financial products</a:t>
            </a:r>
          </a:p>
        </p:txBody>
      </p:sp>
    </p:spTree>
    <p:extLst>
      <p:ext uri="{BB962C8B-B14F-4D97-AF65-F5344CB8AC3E}">
        <p14:creationId xmlns:p14="http://schemas.microsoft.com/office/powerpoint/2010/main" val="38046730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00208-BA76-DCA1-C27B-5511FF2EC41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CC47B45-2CE9-9E8F-E7DB-B873D3BD122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71731FF-7E13-67DF-2B4F-CF4D99D8941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57926DA-E68E-B056-5839-5E03CF93649E}"/>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What is Financial Inclusion?</a:t>
            </a:r>
          </a:p>
        </p:txBody>
      </p:sp>
      <p:sp>
        <p:nvSpPr>
          <p:cNvPr id="9" name="Date Placeholder 8">
            <a:extLst>
              <a:ext uri="{FF2B5EF4-FFF2-40B4-BE49-F238E27FC236}">
                <a16:creationId xmlns:a16="http://schemas.microsoft.com/office/drawing/2014/main" id="{B26E7663-D142-1081-7A25-E7C6881934D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1CF884CE-945E-536E-C51F-5AA5947C237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C083630-9DC9-32F1-4D16-89ADE1EF7AB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19</a:t>
            </a:fld>
            <a:endParaRPr lang="en-US">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9248F056-A36E-D804-C83F-2C6378860BFC}"/>
              </a:ext>
            </a:extLst>
          </p:cNvPr>
          <p:cNvSpPr txBox="1"/>
          <p:nvPr/>
        </p:nvSpPr>
        <p:spPr>
          <a:xfrm>
            <a:off x="756447" y="1795676"/>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latin typeface="Arial"/>
                <a:cs typeface="Arial"/>
              </a:rPr>
              <a:t>Financial inclusion initiatives often focus on the unbanked and underbanked populations, aiming to integrate them into the formal financial system. This can be achieved through traditional banking products tailored to their needs, microfinance, digital financial services like mobile money, and other innovative banking and financial solutions. The ultimate goal of financial inclusion is to empower individuals and businesses to improve their quality of life and contribute</a:t>
            </a:r>
          </a:p>
          <a:p>
            <a:pPr marL="514350" indent="-514350" algn="just">
              <a:lnSpc>
                <a:spcPct val="200000"/>
              </a:lnSpc>
              <a:buFont typeface="Wingdings" panose="05000000000000000000" pitchFamily="2" charset="2"/>
              <a:buChar char="§"/>
            </a:pPr>
            <a:endParaRPr lang="en-US" sz="2800" dirty="0">
              <a:latin typeface="Arial MT"/>
              <a:cs typeface="Arial MT"/>
            </a:endParaRPr>
          </a:p>
        </p:txBody>
      </p:sp>
    </p:spTree>
    <p:extLst>
      <p:ext uri="{BB962C8B-B14F-4D97-AF65-F5344CB8AC3E}">
        <p14:creationId xmlns:p14="http://schemas.microsoft.com/office/powerpoint/2010/main" val="1554139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2B31E-419D-92F3-2F70-E18DBB91D51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F1FDE3E-BD43-E579-E15B-04CB73E1C73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28D21DE-F984-BA57-DBFB-3E992D5529C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A6F57F2-FCF8-836E-3156-0B56128AC591}"/>
              </a:ext>
            </a:extLst>
          </p:cNvPr>
          <p:cNvSpPr txBox="1"/>
          <p:nvPr/>
        </p:nvSpPr>
        <p:spPr>
          <a:xfrm>
            <a:off x="990600" y="300719"/>
            <a:ext cx="9356377" cy="621902"/>
          </a:xfrm>
          <a:prstGeom prst="rect">
            <a:avLst/>
          </a:prstGeom>
        </p:spPr>
        <p:txBody>
          <a:bodyPr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GB" dirty="0"/>
              <a:t>Unbanked, Underbanked &amp; the Millennials </a:t>
            </a:r>
            <a:endParaRPr lang="en-US" dirty="0">
              <a:sym typeface="Droid Serif Bold"/>
            </a:endParaRPr>
          </a:p>
        </p:txBody>
      </p:sp>
      <p:sp>
        <p:nvSpPr>
          <p:cNvPr id="9" name="Date Placeholder 8">
            <a:extLst>
              <a:ext uri="{FF2B5EF4-FFF2-40B4-BE49-F238E27FC236}">
                <a16:creationId xmlns:a16="http://schemas.microsoft.com/office/drawing/2014/main" id="{DB5798C3-DBAD-0F90-32A0-72F19DC6A39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78D2731D-7045-D4BA-A0F1-777F939DD29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98BC588-52E8-B84B-1FE2-0002C8A7860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A02EE04-0297-CC8C-E203-81726F6603B5}"/>
              </a:ext>
            </a:extLst>
          </p:cNvPr>
          <p:cNvSpPr txBox="1"/>
          <p:nvPr/>
        </p:nvSpPr>
        <p:spPr>
          <a:xfrm>
            <a:off x="756447" y="2644758"/>
            <a:ext cx="16775106" cy="512922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latin typeface="Arial"/>
                <a:cs typeface="Arial"/>
              </a:rPr>
              <a:t>Singapore – Unbanked: 2 %; underbanked: 38 %;banked: 60 %</a:t>
            </a:r>
          </a:p>
          <a:p>
            <a:pPr marL="514350" indent="-514350" algn="just">
              <a:lnSpc>
                <a:spcPct val="200000"/>
              </a:lnSpc>
              <a:buFont typeface="Wingdings" panose="05000000000000000000" pitchFamily="2" charset="2"/>
              <a:buChar char="§"/>
            </a:pPr>
            <a:r>
              <a:rPr lang="en-GB" sz="2800" dirty="0">
                <a:latin typeface="Arial"/>
                <a:cs typeface="Arial"/>
              </a:rPr>
              <a:t>Malaysia – Unbanked: 15 %; underbanked: 40 %; banked: 45 %.</a:t>
            </a:r>
          </a:p>
          <a:p>
            <a:pPr marL="514350" indent="-514350" algn="just">
              <a:lnSpc>
                <a:spcPct val="200000"/>
              </a:lnSpc>
              <a:buFont typeface="Wingdings" panose="05000000000000000000" pitchFamily="2" charset="2"/>
              <a:buChar char="§"/>
            </a:pPr>
            <a:r>
              <a:rPr lang="en-GB" sz="2800" dirty="0">
                <a:latin typeface="Arial"/>
                <a:cs typeface="Arial"/>
              </a:rPr>
              <a:t>Thailand– Unbanked: 18 %; underbanked: 45 %; banked: 37 %.</a:t>
            </a:r>
          </a:p>
          <a:p>
            <a:pPr marL="514350" indent="-514350" algn="just">
              <a:lnSpc>
                <a:spcPct val="200000"/>
              </a:lnSpc>
              <a:buFont typeface="Wingdings" panose="05000000000000000000" pitchFamily="2" charset="2"/>
              <a:buChar char="§"/>
            </a:pPr>
            <a:r>
              <a:rPr lang="en-GB" sz="2800" dirty="0">
                <a:latin typeface="Arial"/>
                <a:cs typeface="Arial"/>
              </a:rPr>
              <a:t>Indonesia– Unbanked: 51 %; underbanked: 26 %; banked: 23 %.</a:t>
            </a:r>
          </a:p>
          <a:p>
            <a:pPr marL="514350" indent="-514350" algn="just">
              <a:lnSpc>
                <a:spcPct val="200000"/>
              </a:lnSpc>
              <a:buFont typeface="Wingdings" panose="05000000000000000000" pitchFamily="2" charset="2"/>
              <a:buChar char="§"/>
            </a:pPr>
            <a:r>
              <a:rPr lang="en-GB" sz="2800" dirty="0">
                <a:latin typeface="Arial"/>
                <a:cs typeface="Arial"/>
              </a:rPr>
              <a:t>Philippines– Unbanked: 65 % underbanked: 13 %; banked: 22 %.</a:t>
            </a:r>
          </a:p>
          <a:p>
            <a:pPr marL="514350" indent="-514350" algn="just">
              <a:lnSpc>
                <a:spcPct val="200000"/>
              </a:lnSpc>
              <a:buFont typeface="Wingdings" panose="05000000000000000000" pitchFamily="2" charset="2"/>
              <a:buChar char="§"/>
            </a:pPr>
            <a:r>
              <a:rPr lang="en-GB" sz="2800" dirty="0">
                <a:latin typeface="Arial"/>
                <a:cs typeface="Arial"/>
              </a:rPr>
              <a:t>Vietnam– Unbanked: 69 %; underbanked: 10 %; banked: 21 %.</a:t>
            </a:r>
          </a:p>
        </p:txBody>
      </p:sp>
      <p:sp>
        <p:nvSpPr>
          <p:cNvPr id="4" name="TextBox 6">
            <a:extLst>
              <a:ext uri="{FF2B5EF4-FFF2-40B4-BE49-F238E27FC236}">
                <a16:creationId xmlns:a16="http://schemas.microsoft.com/office/drawing/2014/main" id="{ED462994-C72A-FC6D-F585-052A37335B50}"/>
              </a:ext>
            </a:extLst>
          </p:cNvPr>
          <p:cNvSpPr txBox="1"/>
          <p:nvPr/>
        </p:nvSpPr>
        <p:spPr>
          <a:xfrm>
            <a:off x="756447" y="1805216"/>
            <a:ext cx="1357339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Unbanked &amp; Underbanked In ASEAN</a:t>
            </a:r>
          </a:p>
        </p:txBody>
      </p:sp>
    </p:spTree>
    <p:extLst>
      <p:ext uri="{BB962C8B-B14F-4D97-AF65-F5344CB8AC3E}">
        <p14:creationId xmlns:p14="http://schemas.microsoft.com/office/powerpoint/2010/main" val="663377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38766-7048-192F-5654-83EDB2EEFE63}"/>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7E3F772D-3DF1-AD44-EB12-094E0135C4B3}"/>
              </a:ext>
            </a:extLst>
          </p:cNvPr>
          <p:cNvSpPr txBox="1"/>
          <p:nvPr/>
        </p:nvSpPr>
        <p:spPr>
          <a:xfrm>
            <a:off x="902113" y="0"/>
            <a:ext cx="6256973" cy="1638077"/>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FINANCIAL</a:t>
            </a:r>
          </a:p>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INCLUSION</a:t>
            </a:r>
          </a:p>
        </p:txBody>
      </p:sp>
      <p:pic>
        <p:nvPicPr>
          <p:cNvPr id="14" name="Picture 13">
            <a:extLst>
              <a:ext uri="{FF2B5EF4-FFF2-40B4-BE49-F238E27FC236}">
                <a16:creationId xmlns:a16="http://schemas.microsoft.com/office/drawing/2014/main" id="{CAD00F3D-702B-AAF8-E21E-4FBEBCF5AFF9}"/>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8A3557EC-237C-BBBF-2908-AF8CDBBEB14E}"/>
              </a:ext>
            </a:extLst>
          </p:cNvPr>
          <p:cNvSpPr txBox="1"/>
          <p:nvPr/>
        </p:nvSpPr>
        <p:spPr>
          <a:xfrm>
            <a:off x="316056" y="4076531"/>
            <a:ext cx="7098887" cy="2857770"/>
          </a:xfrm>
          <a:prstGeom prst="rect">
            <a:avLst/>
          </a:prstGeom>
        </p:spPr>
        <p:txBody>
          <a:bodyPr wrap="square" lIns="0" tIns="0" rIns="0" bIns="0" rtlCol="0" anchor="t">
            <a:spAutoFit/>
          </a:bodyPr>
          <a:lstStyle/>
          <a:p>
            <a:pPr lvl="0" algn="ctr">
              <a:lnSpc>
                <a:spcPct val="150000"/>
              </a:lnSpc>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 Financial Services (DFS)</a:t>
            </a:r>
            <a:endPar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extLst>
      <p:ext uri="{BB962C8B-B14F-4D97-AF65-F5344CB8AC3E}">
        <p14:creationId xmlns:p14="http://schemas.microsoft.com/office/powerpoint/2010/main" val="38632275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CA699-E15B-8757-3265-0B17ADBA7C7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40880E7-63C7-F503-9AAD-2D04A968E96F}"/>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2854460-A0DB-FB72-A46F-56A34ABDDB9B}"/>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7A45E5B8-06ED-D7E4-2E60-F38925A38A5A}"/>
              </a:ext>
            </a:extLst>
          </p:cNvPr>
          <p:cNvSpPr txBox="1"/>
          <p:nvPr/>
        </p:nvSpPr>
        <p:spPr>
          <a:xfrm>
            <a:off x="990600" y="300719"/>
            <a:ext cx="9356377" cy="621902"/>
          </a:xfrm>
          <a:prstGeom prst="rect">
            <a:avLst/>
          </a:prstGeom>
        </p:spPr>
        <p:txBody>
          <a:bodyPr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GB" dirty="0"/>
              <a:t>Financial Inclusion &amp; Digital-ID</a:t>
            </a:r>
          </a:p>
        </p:txBody>
      </p:sp>
      <p:sp>
        <p:nvSpPr>
          <p:cNvPr id="9" name="Date Placeholder 8">
            <a:extLst>
              <a:ext uri="{FF2B5EF4-FFF2-40B4-BE49-F238E27FC236}">
                <a16:creationId xmlns:a16="http://schemas.microsoft.com/office/drawing/2014/main" id="{6710196D-9BFA-CF82-9FA7-5B6379E9AC8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D3F6FF23-DCFC-C37A-E2EA-6953D22413D5}"/>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E19B1CC-4011-3BF4-986C-75366833CB3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E9573C7-7B74-E795-7F38-8959C8CDFB36}"/>
              </a:ext>
            </a:extLst>
          </p:cNvPr>
          <p:cNvSpPr txBox="1"/>
          <p:nvPr/>
        </p:nvSpPr>
        <p:spPr>
          <a:xfrm>
            <a:off x="756447" y="2644758"/>
            <a:ext cx="16775106" cy="512922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latin typeface="Arial"/>
                <a:cs typeface="Arial"/>
              </a:rPr>
              <a:t>Financial inclusion Digital financial services play a crucial role in modern economies and societies for several reasons, significantly enhancing financial inclusion, efficiency, and innovation.</a:t>
            </a:r>
          </a:p>
          <a:p>
            <a:pPr marL="514350" indent="-514350" algn="just">
              <a:lnSpc>
                <a:spcPct val="200000"/>
              </a:lnSpc>
              <a:buFont typeface="+mj-lt"/>
              <a:buAutoNum type="arabicPeriod"/>
            </a:pPr>
            <a:r>
              <a:rPr lang="en-GB" sz="2800" dirty="0">
                <a:latin typeface="Arial"/>
                <a:cs typeface="Arial"/>
              </a:rPr>
              <a:t>Increased Financial Inclusion: Digital financial services make banking and financial transactions accessible to people in remote or underserved areas who might not have access to traditional banking facilities. This includes individuals in developing countries, contributing to reducing  poverty and promoting economic empowerment.</a:t>
            </a:r>
          </a:p>
        </p:txBody>
      </p:sp>
      <p:sp>
        <p:nvSpPr>
          <p:cNvPr id="4" name="TextBox 6">
            <a:extLst>
              <a:ext uri="{FF2B5EF4-FFF2-40B4-BE49-F238E27FC236}">
                <a16:creationId xmlns:a16="http://schemas.microsoft.com/office/drawing/2014/main" id="{C6647608-50C7-9663-7D52-4B874D2A8A82}"/>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 Financial Services (DFS)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19064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AC2B5-AFEB-8E6F-B733-B3124E48C00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DED78D9-5CF6-542D-B8F9-18443667F6C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69B993D-B8EE-AD16-F63F-0991F432032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DD846B8-CD75-C78B-A6C5-4573F3C0E4B5}"/>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What is Financial Inclusion?</a:t>
            </a:r>
          </a:p>
        </p:txBody>
      </p:sp>
      <p:sp>
        <p:nvSpPr>
          <p:cNvPr id="9" name="Date Placeholder 8">
            <a:extLst>
              <a:ext uri="{FF2B5EF4-FFF2-40B4-BE49-F238E27FC236}">
                <a16:creationId xmlns:a16="http://schemas.microsoft.com/office/drawing/2014/main" id="{0DC030FA-E194-B0DB-A2A7-969654815D4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9E4CD7FC-7DBB-15D8-1575-E61E30C54A0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7E31854-620E-0DE8-20F6-D7B98B1DDE0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23</a:t>
            </a:fld>
            <a:endParaRPr lang="en-US">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F647E690-1FFD-65BF-2A90-DC699A02B8EE}"/>
              </a:ext>
            </a:extLst>
          </p:cNvPr>
          <p:cNvSpPr txBox="1"/>
          <p:nvPr/>
        </p:nvSpPr>
        <p:spPr>
          <a:xfrm>
            <a:off x="756447" y="1795676"/>
            <a:ext cx="16775106" cy="5990999"/>
          </a:xfrm>
          <a:prstGeom prst="rect">
            <a:avLst/>
          </a:prstGeom>
          <a:noFill/>
        </p:spPr>
        <p:txBody>
          <a:bodyPr wrap="square" rtlCol="0">
            <a:spAutoFit/>
          </a:bodyPr>
          <a:lstStyle/>
          <a:p>
            <a:pPr marL="514350" indent="-514350" algn="just">
              <a:lnSpc>
                <a:spcPct val="200000"/>
              </a:lnSpc>
              <a:buFont typeface="+mj-lt"/>
              <a:buAutoNum type="arabicPeriod" startAt="2"/>
            </a:pPr>
            <a:r>
              <a:rPr lang="en-GB" sz="2800" b="1" dirty="0">
                <a:latin typeface="Arial"/>
                <a:cs typeface="Arial"/>
              </a:rPr>
              <a:t>Lower Costs: </a:t>
            </a:r>
            <a:r>
              <a:rPr lang="en-GB" sz="2800" dirty="0">
                <a:latin typeface="Arial"/>
                <a:cs typeface="Arial"/>
              </a:rPr>
              <a:t>Operating digitally reduces costs for financial institutions, savings that can be passed on to consumers in the form of lower fees. It also allows for small transaction sizes, making financial services more affordable to lower-income individuals.</a:t>
            </a:r>
          </a:p>
          <a:p>
            <a:pPr marL="514350" indent="-514350" algn="just">
              <a:lnSpc>
                <a:spcPct val="200000"/>
              </a:lnSpc>
              <a:buFont typeface="+mj-lt"/>
              <a:buAutoNum type="arabicPeriod" startAt="2"/>
            </a:pPr>
            <a:r>
              <a:rPr lang="en-GB" sz="2800" b="1" dirty="0">
                <a:latin typeface="Arial"/>
                <a:cs typeface="Arial"/>
              </a:rPr>
              <a:t>Innovation and New Services: </a:t>
            </a:r>
            <a:r>
              <a:rPr lang="en-GB" sz="2800" dirty="0">
                <a:latin typeface="Arial"/>
                <a:cs typeface="Arial"/>
              </a:rPr>
              <a:t>The digital financial ecosystem fosters innovation, leading to the development of new financial products and services that can cater to a wide range of needs, including microloans, insurance products, and investment solutions tailored to the needs of various demographic groups.</a:t>
            </a:r>
          </a:p>
        </p:txBody>
      </p:sp>
    </p:spTree>
    <p:extLst>
      <p:ext uri="{BB962C8B-B14F-4D97-AF65-F5344CB8AC3E}">
        <p14:creationId xmlns:p14="http://schemas.microsoft.com/office/powerpoint/2010/main" val="4123343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52AA0-9F93-B647-2FA3-81B253561F4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4AB9B3B-5B46-6891-3F51-0DEEF3A7FE6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F60F00B-4386-AF25-71A9-D46683B151D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7149B19-6625-4A51-A149-ED15C2913CF2}"/>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What is Financial Inclusion?</a:t>
            </a:r>
          </a:p>
        </p:txBody>
      </p:sp>
      <p:sp>
        <p:nvSpPr>
          <p:cNvPr id="9" name="Date Placeholder 8">
            <a:extLst>
              <a:ext uri="{FF2B5EF4-FFF2-40B4-BE49-F238E27FC236}">
                <a16:creationId xmlns:a16="http://schemas.microsoft.com/office/drawing/2014/main" id="{87F8FC9E-F112-3553-35AF-AEAD1E2E4EB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96D49104-ED67-7F59-71FF-14AE7652B52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248DDA59-0A64-7D25-F58B-110BECC42AA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24</a:t>
            </a:fld>
            <a:endParaRPr lang="en-US">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EC7997A4-BCF4-C159-8815-4A2170931244}"/>
              </a:ext>
            </a:extLst>
          </p:cNvPr>
          <p:cNvSpPr txBox="1"/>
          <p:nvPr/>
        </p:nvSpPr>
        <p:spPr>
          <a:xfrm>
            <a:off x="756447" y="1795676"/>
            <a:ext cx="16775106" cy="7714548"/>
          </a:xfrm>
          <a:prstGeom prst="rect">
            <a:avLst/>
          </a:prstGeom>
          <a:noFill/>
        </p:spPr>
        <p:txBody>
          <a:bodyPr wrap="square" rtlCol="0">
            <a:spAutoFit/>
          </a:bodyPr>
          <a:lstStyle/>
          <a:p>
            <a:pPr marL="514350" indent="-514350" algn="just">
              <a:lnSpc>
                <a:spcPct val="200000"/>
              </a:lnSpc>
              <a:buFont typeface="+mj-lt"/>
              <a:buAutoNum type="arabicPeriod" startAt="4"/>
            </a:pPr>
            <a:r>
              <a:rPr lang="en-GB" sz="2800" b="1" dirty="0">
                <a:latin typeface="Arial"/>
                <a:cs typeface="Arial"/>
              </a:rPr>
              <a:t>Economic Growth: </a:t>
            </a:r>
            <a:r>
              <a:rPr lang="en-GB" sz="2800" dirty="0">
                <a:latin typeface="Arial"/>
                <a:cs typeface="Arial"/>
              </a:rPr>
              <a:t>By facilitating smoother and more efficient transactions, digital financial services can contribute to economic growth. They enable businesses to operate more efficiently and help to create markets and opportunities for new types of businesses.</a:t>
            </a:r>
          </a:p>
          <a:p>
            <a:pPr marL="514350" indent="-514350" algn="just">
              <a:lnSpc>
                <a:spcPct val="200000"/>
              </a:lnSpc>
              <a:buFont typeface="+mj-lt"/>
              <a:buAutoNum type="arabicPeriod" startAt="4"/>
            </a:pPr>
            <a:r>
              <a:rPr lang="en-GB" sz="2800" b="1" dirty="0">
                <a:latin typeface="Arial"/>
                <a:cs typeface="Arial"/>
              </a:rPr>
              <a:t>Transparency and Security</a:t>
            </a:r>
            <a:r>
              <a:rPr lang="en-GB" sz="2800" dirty="0">
                <a:latin typeface="Arial"/>
                <a:cs typeface="Arial"/>
              </a:rPr>
              <a:t>: Digital transactions can offer greater security and transparency than cash transactions, reducing opportunities for corruption and theft. They also allow for easier tracking and management of personal finances.</a:t>
            </a:r>
          </a:p>
          <a:p>
            <a:pPr marL="514350" indent="-514350" algn="just">
              <a:lnSpc>
                <a:spcPct val="200000"/>
              </a:lnSpc>
              <a:buFont typeface="+mj-lt"/>
              <a:buAutoNum type="arabicPeriod" startAt="4"/>
            </a:pPr>
            <a:r>
              <a:rPr lang="en-GB" sz="2800" b="1" dirty="0">
                <a:latin typeface="Arial"/>
                <a:cs typeface="Arial"/>
              </a:rPr>
              <a:t>Financial Literacy and Empowerment</a:t>
            </a:r>
            <a:r>
              <a:rPr lang="en-GB" sz="2800" dirty="0">
                <a:latin typeface="Arial"/>
                <a:cs typeface="Arial"/>
              </a:rPr>
              <a:t>: The use of digital financial services can promote financial literacy and empowerment among users by providing them with tools and resources to manage their finances effectively.</a:t>
            </a:r>
          </a:p>
        </p:txBody>
      </p:sp>
    </p:spTree>
    <p:extLst>
      <p:ext uri="{BB962C8B-B14F-4D97-AF65-F5344CB8AC3E}">
        <p14:creationId xmlns:p14="http://schemas.microsoft.com/office/powerpoint/2010/main" val="1993598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84B4B-0646-B325-8AFB-804235B0283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35F6A97-9C37-F832-F535-50B86451DB2D}"/>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7DDF3421-1CDF-7871-6752-6E1146FCFAD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A2068D3-CB7A-FFD5-BCED-B251C7054C37}"/>
              </a:ext>
            </a:extLst>
          </p:cNvPr>
          <p:cNvSpPr txBox="1"/>
          <p:nvPr/>
        </p:nvSpPr>
        <p:spPr>
          <a:xfrm>
            <a:off x="990600" y="300719"/>
            <a:ext cx="9356377" cy="621902"/>
          </a:xfrm>
          <a:prstGeom prst="rect">
            <a:avLst/>
          </a:prstGeom>
        </p:spPr>
        <p:txBody>
          <a:bodyPr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GB" dirty="0"/>
              <a:t>FinTech Ecosystem &amp; Stakeholders</a:t>
            </a:r>
            <a:endParaRPr lang="en-US" dirty="0">
              <a:sym typeface="Droid Serif Bold"/>
            </a:endParaRPr>
          </a:p>
        </p:txBody>
      </p:sp>
      <p:sp>
        <p:nvSpPr>
          <p:cNvPr id="9" name="Date Placeholder 8">
            <a:extLst>
              <a:ext uri="{FF2B5EF4-FFF2-40B4-BE49-F238E27FC236}">
                <a16:creationId xmlns:a16="http://schemas.microsoft.com/office/drawing/2014/main" id="{28B06A97-FD0B-3F54-710E-E164FC72E48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1030AE6E-2570-3189-83B2-627341CDE759}"/>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6E0DDAE-4F44-35EF-5E45-6B9F9ADF09D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EE303FC-DA60-CCB7-A903-BF916F0E4160}"/>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Fintech ecosystems </a:t>
            </a:r>
            <a:r>
              <a:rPr lang="en-US" sz="2800" dirty="0"/>
              <a:t>Recent IMF and ECB (European Central Bank) staff research distinguishes two areas of financial innovation.</a:t>
            </a:r>
          </a:p>
          <a:p>
            <a:pPr marL="514350" indent="-514350" algn="just">
              <a:lnSpc>
                <a:spcPct val="200000"/>
              </a:lnSpc>
              <a:buFont typeface="+mj-lt"/>
              <a:buAutoNum type="arabicPeriod"/>
            </a:pPr>
            <a:r>
              <a:rPr lang="en-US" sz="2800" b="1" dirty="0"/>
              <a:t>Innovation in Information </a:t>
            </a:r>
            <a:r>
              <a:rPr lang="en-US" sz="2800" dirty="0"/>
              <a:t>new tools to collect, process and analyze data on customers. Mainly, the increase in use of new types of data coming from the digital footprint of customers’ various online activities—mainly for credit-worthiness analysis.</a:t>
            </a:r>
          </a:p>
          <a:p>
            <a:pPr marL="514350" indent="-514350" algn="just">
              <a:lnSpc>
                <a:spcPct val="200000"/>
              </a:lnSpc>
              <a:buFont typeface="+mj-lt"/>
              <a:buAutoNum type="arabicPeriod"/>
            </a:pPr>
            <a:r>
              <a:rPr lang="en-US" sz="2800" b="1" dirty="0"/>
              <a:t>Innovation in Communication: </a:t>
            </a:r>
            <a:r>
              <a:rPr lang="en-US" sz="2800" dirty="0"/>
              <a:t>new approaches to customer relationships and the distribution of financial products.</a:t>
            </a:r>
          </a:p>
          <a:p>
            <a:pPr marL="514350" indent="-514350" algn="just">
              <a:lnSpc>
                <a:spcPct val="200000"/>
              </a:lnSpc>
              <a:buFont typeface="+mj-lt"/>
              <a:buAutoNum type="arabicPeriod"/>
            </a:pPr>
            <a:endParaRPr lang="en-GB" sz="2800" dirty="0"/>
          </a:p>
        </p:txBody>
      </p:sp>
      <p:sp>
        <p:nvSpPr>
          <p:cNvPr id="4" name="TextBox 6">
            <a:extLst>
              <a:ext uri="{FF2B5EF4-FFF2-40B4-BE49-F238E27FC236}">
                <a16:creationId xmlns:a16="http://schemas.microsoft.com/office/drawing/2014/main" id="{D2C45F24-4303-8260-5B0E-65DCB9FE9A1B}"/>
              </a:ext>
            </a:extLst>
          </p:cNvPr>
          <p:cNvSpPr txBox="1"/>
          <p:nvPr/>
        </p:nvSpPr>
        <p:spPr>
          <a:xfrm>
            <a:off x="756447" y="1805216"/>
            <a:ext cx="9356377" cy="634020"/>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Financial Innovations</a:t>
            </a:r>
          </a:p>
        </p:txBody>
      </p:sp>
    </p:spTree>
    <p:extLst>
      <p:ext uri="{BB962C8B-B14F-4D97-AF65-F5344CB8AC3E}">
        <p14:creationId xmlns:p14="http://schemas.microsoft.com/office/powerpoint/2010/main" val="3389582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616BA-0A93-529F-98A5-336450B3C05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58B2914-28B3-B9B2-9A5A-C2F1D7B0808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14AA0BB-C64C-7BEF-443A-2E1F49763B3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7CEEF81F-8758-28A8-3998-5E5D01A00101}"/>
              </a:ext>
            </a:extLst>
          </p:cNvPr>
          <p:cNvSpPr txBox="1"/>
          <p:nvPr/>
        </p:nvSpPr>
        <p:spPr>
          <a:xfrm>
            <a:off x="990600" y="300719"/>
            <a:ext cx="9356377" cy="621902"/>
          </a:xfrm>
          <a:prstGeom prst="rect">
            <a:avLst/>
          </a:prstGeom>
        </p:spPr>
        <p:txBody>
          <a:bodyPr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GB" dirty="0"/>
              <a:t>FinTech Ecosystem &amp; Stakeholders</a:t>
            </a:r>
            <a:endParaRPr lang="en-US" dirty="0">
              <a:sym typeface="Droid Serif Bold"/>
            </a:endParaRPr>
          </a:p>
        </p:txBody>
      </p:sp>
      <p:sp>
        <p:nvSpPr>
          <p:cNvPr id="9" name="Date Placeholder 8">
            <a:extLst>
              <a:ext uri="{FF2B5EF4-FFF2-40B4-BE49-F238E27FC236}">
                <a16:creationId xmlns:a16="http://schemas.microsoft.com/office/drawing/2014/main" id="{DFCE11CE-2AC0-3C64-F03D-393F9A2D589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17B52E5E-D650-D49F-DEA7-2B68ADC8B56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904587C-C39E-D8B2-7A44-9F3EB09B0BB9}"/>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FA1FACE8-4AEB-114B-8CAB-CDD07530650D}"/>
              </a:ext>
            </a:extLst>
          </p:cNvPr>
          <p:cNvSpPr txBox="1"/>
          <p:nvPr/>
        </p:nvSpPr>
        <p:spPr>
          <a:xfrm>
            <a:off x="756447" y="2644758"/>
            <a:ext cx="16775106" cy="3418756"/>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The most transformative information innovation is the increase in use of new types of data coming from the digital footprint of customers’ various online activities — mainly for credit-worthiness analysis.</a:t>
            </a:r>
          </a:p>
          <a:p>
            <a:pPr marL="514350" indent="-514350" algn="just">
              <a:lnSpc>
                <a:spcPct val="200000"/>
              </a:lnSpc>
              <a:buFont typeface="Wingdings" panose="05000000000000000000" pitchFamily="2" charset="2"/>
              <a:buChar char="§"/>
            </a:pPr>
            <a:r>
              <a:rPr lang="en-US" sz="2800" dirty="0"/>
              <a:t>Credit scoring using so-called hard information (income, employment time, assets and debts) is nothing new. Typically, the more data is available, the more accurate is the assessment.</a:t>
            </a:r>
          </a:p>
        </p:txBody>
      </p:sp>
      <p:sp>
        <p:nvSpPr>
          <p:cNvPr id="4" name="TextBox 6">
            <a:extLst>
              <a:ext uri="{FF2B5EF4-FFF2-40B4-BE49-F238E27FC236}">
                <a16:creationId xmlns:a16="http://schemas.microsoft.com/office/drawing/2014/main" id="{AE071186-5542-9D30-75C2-F1C695E6F358}"/>
              </a:ext>
            </a:extLst>
          </p:cNvPr>
          <p:cNvSpPr txBox="1"/>
          <p:nvPr/>
        </p:nvSpPr>
        <p:spPr>
          <a:xfrm>
            <a:off x="756447" y="1805216"/>
            <a:ext cx="9356377" cy="634020"/>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New Types of Information</a:t>
            </a:r>
          </a:p>
        </p:txBody>
      </p:sp>
    </p:spTree>
    <p:extLst>
      <p:ext uri="{BB962C8B-B14F-4D97-AF65-F5344CB8AC3E}">
        <p14:creationId xmlns:p14="http://schemas.microsoft.com/office/powerpoint/2010/main" val="3390588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A3C2E-A566-1B94-79FD-46A5BFE9D2B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999996C-B813-29AD-9EE1-5E9AF70FA62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0F4D94E-C599-1740-F171-A43882FCB74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08B8ABA-576C-2C20-506A-87BDCEB1882E}"/>
              </a:ext>
            </a:extLst>
          </p:cNvPr>
          <p:cNvSpPr txBox="1"/>
          <p:nvPr/>
        </p:nvSpPr>
        <p:spPr>
          <a:xfrm>
            <a:off x="990600" y="300719"/>
            <a:ext cx="9356377" cy="621902"/>
          </a:xfrm>
          <a:prstGeom prst="rect">
            <a:avLst/>
          </a:prstGeom>
        </p:spPr>
        <p:txBody>
          <a:bodyPr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GB" dirty="0"/>
              <a:t>FinTech Ecosystem &amp; Stakeholders</a:t>
            </a:r>
            <a:endParaRPr lang="en-US" dirty="0">
              <a:sym typeface="Droid Serif Bold"/>
            </a:endParaRPr>
          </a:p>
        </p:txBody>
      </p:sp>
      <p:sp>
        <p:nvSpPr>
          <p:cNvPr id="9" name="Date Placeholder 8">
            <a:extLst>
              <a:ext uri="{FF2B5EF4-FFF2-40B4-BE49-F238E27FC236}">
                <a16:creationId xmlns:a16="http://schemas.microsoft.com/office/drawing/2014/main" id="{D14CAA69-27B6-2E99-688A-0FB72B226A7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C65D1428-587D-2F79-F4A8-CD6E8DB91AC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537AFEF-97AF-CD77-2415-813F5F7A969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0105583-DB64-D020-879A-C26E2D139636}"/>
              </a:ext>
            </a:extLst>
          </p:cNvPr>
          <p:cNvSpPr txBox="1"/>
          <p:nvPr/>
        </p:nvSpPr>
        <p:spPr>
          <a:xfrm>
            <a:off x="756447" y="2644758"/>
            <a:ext cx="16775106" cy="589821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400" dirty="0"/>
              <a:t>Communication innovation is driven by the variety of digital platforms in social media, mobile communication, and online shopping that have penetrated much of consumers’ everyday lives, thus increasing their digital footprint and the available data. Platforms like Amazon, Facebook or Alibaba incorporate more and more financial services into their ecosystems, enabling the rise of new specialized providers that compete with banks in payments, asset management, and financial information provision. </a:t>
            </a:r>
          </a:p>
          <a:p>
            <a:pPr marL="514350" indent="-514350" algn="just">
              <a:lnSpc>
                <a:spcPct val="200000"/>
              </a:lnSpc>
              <a:buFont typeface="Wingdings" panose="05000000000000000000" pitchFamily="2" charset="2"/>
              <a:buChar char="§"/>
            </a:pPr>
            <a:endParaRPr lang="en-US" sz="2400" dirty="0"/>
          </a:p>
          <a:p>
            <a:pPr marL="514350" indent="-514350" algn="just">
              <a:lnSpc>
                <a:spcPct val="200000"/>
              </a:lnSpc>
              <a:buFont typeface="Wingdings" panose="05000000000000000000" pitchFamily="2" charset="2"/>
              <a:buChar char="§"/>
            </a:pPr>
            <a:r>
              <a:rPr lang="en-US" sz="2400" dirty="0"/>
              <a:t>Credit scoring Technology again boosts an existing trend. The shift from in-person bank branch visits to remote, online communication generally improves customer convenience and makes financial intermediation more cost-efficient. It also boosts geographic competition among banks, which can now service more distant customers</a:t>
            </a:r>
          </a:p>
        </p:txBody>
      </p:sp>
      <p:sp>
        <p:nvSpPr>
          <p:cNvPr id="4" name="TextBox 6">
            <a:extLst>
              <a:ext uri="{FF2B5EF4-FFF2-40B4-BE49-F238E27FC236}">
                <a16:creationId xmlns:a16="http://schemas.microsoft.com/office/drawing/2014/main" id="{3C78FC24-BF60-9AD5-6679-E2A5CFB2CD05}"/>
              </a:ext>
            </a:extLst>
          </p:cNvPr>
          <p:cNvSpPr txBox="1"/>
          <p:nvPr/>
        </p:nvSpPr>
        <p:spPr>
          <a:xfrm>
            <a:off x="756447" y="1805216"/>
            <a:ext cx="9356377" cy="634020"/>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New Communication Channels</a:t>
            </a:r>
          </a:p>
        </p:txBody>
      </p:sp>
    </p:spTree>
    <p:extLst>
      <p:ext uri="{BB962C8B-B14F-4D97-AF65-F5344CB8AC3E}">
        <p14:creationId xmlns:p14="http://schemas.microsoft.com/office/powerpoint/2010/main" val="2878648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EA13A-4443-F038-6ECD-1D00E23E3C9A}"/>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E48996E4-AA77-7791-70DE-CA457E9CB450}"/>
              </a:ext>
            </a:extLst>
          </p:cNvPr>
          <p:cNvSpPr txBox="1"/>
          <p:nvPr/>
        </p:nvSpPr>
        <p:spPr>
          <a:xfrm>
            <a:off x="902113" y="0"/>
            <a:ext cx="6256973" cy="1638077"/>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FINANCIAL</a:t>
            </a:r>
          </a:p>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INCLUSION</a:t>
            </a:r>
          </a:p>
        </p:txBody>
      </p:sp>
      <p:pic>
        <p:nvPicPr>
          <p:cNvPr id="14" name="Picture 13">
            <a:extLst>
              <a:ext uri="{FF2B5EF4-FFF2-40B4-BE49-F238E27FC236}">
                <a16:creationId xmlns:a16="http://schemas.microsoft.com/office/drawing/2014/main" id="{5351928E-18B2-0DA2-4354-97C88C43AD86}"/>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7F7E7428-FF08-0656-A8ED-713794154E62}"/>
              </a:ext>
            </a:extLst>
          </p:cNvPr>
          <p:cNvSpPr txBox="1"/>
          <p:nvPr/>
        </p:nvSpPr>
        <p:spPr>
          <a:xfrm>
            <a:off x="316056" y="4076531"/>
            <a:ext cx="7098887" cy="2597955"/>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en-US" sz="6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Constraints to</a:t>
            </a: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0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Financial Inclusion</a:t>
            </a:r>
          </a:p>
        </p:txBody>
      </p:sp>
    </p:spTree>
    <p:extLst>
      <p:ext uri="{BB962C8B-B14F-4D97-AF65-F5344CB8AC3E}">
        <p14:creationId xmlns:p14="http://schemas.microsoft.com/office/powerpoint/2010/main" val="3820980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B53D-7956-98CE-BE39-902F40ECB43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A0FF0FF-5D26-304E-ECEE-97A0401576A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F3AAC78-4A72-7ADC-8A0E-07C74758D98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255129B-6584-8372-B49E-EF8B1B1148EE}"/>
              </a:ext>
            </a:extLst>
          </p:cNvPr>
          <p:cNvSpPr txBox="1"/>
          <p:nvPr/>
        </p:nvSpPr>
        <p:spPr>
          <a:xfrm>
            <a:off x="990600" y="300719"/>
            <a:ext cx="16120542" cy="610295"/>
          </a:xfrm>
          <a:prstGeom prst="rect">
            <a:avLst/>
          </a:prstGeom>
        </p:spPr>
        <p:txBody>
          <a:bodyPr wrap="square" lIns="0" tIns="0" rIns="0" bIns="0" rtlCol="0" anchor="t">
            <a:spAutoFit/>
          </a:bodyPr>
          <a:lstStyle/>
          <a:p>
            <a:pPr>
              <a:lnSpc>
                <a:spcPts val="5472"/>
              </a:lnSpc>
              <a:defRPr/>
            </a:pPr>
            <a:r>
              <a:rPr lang="en-US" sz="28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Constraints to Financial Inclusion and the Development of Digital Financial Service</a:t>
            </a:r>
            <a:r>
              <a:rPr lang="en-GB" sz="28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a:t>
            </a:r>
          </a:p>
        </p:txBody>
      </p:sp>
      <p:sp>
        <p:nvSpPr>
          <p:cNvPr id="9" name="Date Placeholder 8">
            <a:extLst>
              <a:ext uri="{FF2B5EF4-FFF2-40B4-BE49-F238E27FC236}">
                <a16:creationId xmlns:a16="http://schemas.microsoft.com/office/drawing/2014/main" id="{2C520B7D-5302-E46C-01C1-DCD38146FF5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AF33D6F9-E843-3042-F662-8E21F900E8A5}"/>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9EF821D4-2360-8386-DBE8-4A90DF5325A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29</a:t>
            </a:fld>
            <a:endParaRPr lang="en-US">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8849055F-86B9-6D54-8C8F-9774E001CD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47" y="1600201"/>
            <a:ext cx="16775106" cy="7674344"/>
          </a:xfrm>
          <a:prstGeom prst="rect">
            <a:avLst/>
          </a:prstGeom>
        </p:spPr>
      </p:pic>
    </p:spTree>
    <p:extLst>
      <p:ext uri="{BB962C8B-B14F-4D97-AF65-F5344CB8AC3E}">
        <p14:creationId xmlns:p14="http://schemas.microsoft.com/office/powerpoint/2010/main" val="14308414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94CB0-F7A0-2DFE-313D-70403151722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FAC8A8B-9246-E63B-3169-68F83E5993A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0D346CD-1FB0-53AA-08B8-FD46A6E407E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8E1352D7-D304-57F0-9EDE-14A1CA890A1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740611B5-23CC-F446-370E-A9E0CE12504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37CA01F-127D-CAD9-1183-72F2CCD8076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30</a:t>
            </a:fld>
            <a:endParaRPr lang="en-US">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C3724C4C-D2A8-6871-BB8D-4BE8023E330B}"/>
              </a:ext>
            </a:extLst>
          </p:cNvPr>
          <p:cNvPicPr>
            <a:picLocks noChangeAspect="1"/>
          </p:cNvPicPr>
          <p:nvPr/>
        </p:nvPicPr>
        <p:blipFill>
          <a:blip r:embed="rId3">
            <a:extLst>
              <a:ext uri="{28A0092B-C50C-407E-A947-70E740481C1C}">
                <a14:useLocalDpi xmlns:a14="http://schemas.microsoft.com/office/drawing/2010/main" val="0"/>
              </a:ext>
            </a:extLst>
          </a:blip>
          <a:srcRect t="1602" r="37224" b="54114"/>
          <a:stretch>
            <a:fillRect/>
          </a:stretch>
        </p:blipFill>
        <p:spPr>
          <a:xfrm>
            <a:off x="756447" y="2601266"/>
            <a:ext cx="16775106" cy="5084468"/>
          </a:xfrm>
          <a:prstGeom prst="rect">
            <a:avLst/>
          </a:prstGeom>
        </p:spPr>
      </p:pic>
      <p:sp>
        <p:nvSpPr>
          <p:cNvPr id="4" name="TextBox 6">
            <a:extLst>
              <a:ext uri="{FF2B5EF4-FFF2-40B4-BE49-F238E27FC236}">
                <a16:creationId xmlns:a16="http://schemas.microsoft.com/office/drawing/2014/main" id="{997A72FC-8130-1533-494F-33B54E9DC9E4}"/>
              </a:ext>
            </a:extLst>
          </p:cNvPr>
          <p:cNvSpPr txBox="1"/>
          <p:nvPr/>
        </p:nvSpPr>
        <p:spPr>
          <a:xfrm>
            <a:off x="990600" y="300719"/>
            <a:ext cx="9356377" cy="621902"/>
          </a:xfrm>
          <a:prstGeom prst="rect">
            <a:avLst/>
          </a:prstGeom>
        </p:spPr>
        <p:txBody>
          <a:bodyPr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US" dirty="0"/>
              <a:t>Constraints to Financial Inclusion </a:t>
            </a:r>
            <a:endParaRPr lang="en-US" dirty="0">
              <a:sym typeface="Droid Serif Bold"/>
            </a:endParaRPr>
          </a:p>
        </p:txBody>
      </p:sp>
    </p:spTree>
    <p:extLst>
      <p:ext uri="{BB962C8B-B14F-4D97-AF65-F5344CB8AC3E}">
        <p14:creationId xmlns:p14="http://schemas.microsoft.com/office/powerpoint/2010/main" val="1663511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C8265-9F3D-5DD5-68BC-4554005E7F4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ED6F365-91E4-8165-CA07-A48934CF401F}"/>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312A527-270F-E712-9D07-481E80DE4F1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C6AB701B-431D-C41D-632B-011A8E96DAE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2F97D953-FED1-0E5D-B887-45E44E995A0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2EFCEFDC-E845-CD8F-CECC-190C25C9790E}"/>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31</a:t>
            </a:fld>
            <a:endParaRPr lang="en-US">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114D3EA4-26E6-4AF0-7951-FC391F139784}"/>
              </a:ext>
            </a:extLst>
          </p:cNvPr>
          <p:cNvSpPr txBox="1"/>
          <p:nvPr/>
        </p:nvSpPr>
        <p:spPr>
          <a:xfrm>
            <a:off x="756447" y="1795676"/>
            <a:ext cx="16775106" cy="662566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400" dirty="0">
                <a:latin typeface="Arial"/>
                <a:cs typeface="Arial"/>
              </a:rPr>
              <a:t>Volatile and small incomes. The poor require affordable, low-value financial services that allow them to deal with small, unpredictable, incomes earned in the informal and agricultural sectors.</a:t>
            </a:r>
            <a:endParaRPr lang="en-GB" sz="2400" dirty="0">
              <a:latin typeface="Arial"/>
              <a:cs typeface="Arial"/>
            </a:endParaRPr>
          </a:p>
          <a:p>
            <a:pPr marL="514350" indent="-514350" algn="just">
              <a:lnSpc>
                <a:spcPct val="200000"/>
              </a:lnSpc>
              <a:buFont typeface="Wingdings" panose="05000000000000000000" pitchFamily="2" charset="2"/>
              <a:buChar char="§"/>
            </a:pPr>
            <a:r>
              <a:rPr lang="en-US" sz="2400" dirty="0">
                <a:latin typeface="Arial"/>
                <a:cs typeface="Arial"/>
              </a:rPr>
              <a:t>Geographical barriers. In developing economies, roughly one-fifth of adults without financial services cite distance to financial institutions as a barrier to account ownership.</a:t>
            </a:r>
          </a:p>
          <a:p>
            <a:pPr marL="514350" indent="-514350" algn="just">
              <a:lnSpc>
                <a:spcPct val="200000"/>
              </a:lnSpc>
              <a:buFont typeface="Wingdings" panose="05000000000000000000" pitchFamily="2" charset="2"/>
              <a:buChar char="§"/>
            </a:pPr>
            <a:r>
              <a:rPr lang="en-US" sz="2400" dirty="0">
                <a:latin typeface="Arial"/>
                <a:cs typeface="Arial"/>
              </a:rPr>
              <a:t>Informality and lack of documentation. The poor often operate in the informal sector where they lack proper identity verification and leave little trace of their economic activity and assets</a:t>
            </a:r>
          </a:p>
          <a:p>
            <a:pPr marL="514350" indent="-514350" algn="just">
              <a:lnSpc>
                <a:spcPct val="200000"/>
              </a:lnSpc>
              <a:buFont typeface="Wingdings" panose="05000000000000000000" pitchFamily="2" charset="2"/>
              <a:buChar char="§"/>
            </a:pPr>
            <a:r>
              <a:rPr lang="en-US" sz="2400" dirty="0">
                <a:latin typeface="Arial"/>
                <a:cs typeface="Arial"/>
              </a:rPr>
              <a:t>Literacy and trust. Poor, potential first-time users of formal financial services often lack awareness of financial services, as well as the skills to understand and responsibly use them. Indeed, those without financial services are more likely to be less educated, and almost a fifth cite distrust as a reason to refrain from using financial services</a:t>
            </a:r>
            <a:endParaRPr lang="en-GB" sz="2400" dirty="0">
              <a:latin typeface="Arial"/>
              <a:cs typeface="Arial"/>
            </a:endParaRPr>
          </a:p>
        </p:txBody>
      </p:sp>
      <p:sp>
        <p:nvSpPr>
          <p:cNvPr id="4" name="TextBox 6">
            <a:extLst>
              <a:ext uri="{FF2B5EF4-FFF2-40B4-BE49-F238E27FC236}">
                <a16:creationId xmlns:a16="http://schemas.microsoft.com/office/drawing/2014/main" id="{1A276335-FB44-F093-2F0D-854BBF28EB5A}"/>
              </a:ext>
            </a:extLst>
          </p:cNvPr>
          <p:cNvSpPr txBox="1"/>
          <p:nvPr/>
        </p:nvSpPr>
        <p:spPr>
          <a:xfrm>
            <a:off x="990600" y="300719"/>
            <a:ext cx="14668500" cy="621902"/>
          </a:xfrm>
          <a:prstGeom prst="rect">
            <a:avLst/>
          </a:prstGeom>
        </p:spPr>
        <p:txBody>
          <a:bodyPr wrap="square"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US" dirty="0"/>
              <a:t>Constraints to Financial Inclusion (Demand Side) </a:t>
            </a:r>
            <a:endParaRPr lang="en-US" dirty="0">
              <a:sym typeface="Droid Serif Bold"/>
            </a:endParaRPr>
          </a:p>
        </p:txBody>
      </p:sp>
    </p:spTree>
    <p:extLst>
      <p:ext uri="{BB962C8B-B14F-4D97-AF65-F5344CB8AC3E}">
        <p14:creationId xmlns:p14="http://schemas.microsoft.com/office/powerpoint/2010/main" val="1607054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fade">
                                      <p:cBhvr>
                                        <p:cTn id="22"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5B9AA-1C3A-75F7-F6A2-314607ECDCA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9B20C6C-6691-F0F8-2B93-E79E64F9FCF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0898796-FD8C-6015-8DB6-17F8DB91467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C92EF4FD-101B-AC7F-F934-E372B8CBB0E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73D9503D-0B73-F7E3-AD9D-5008CC90C325}"/>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F331F2C-58C5-842C-2B46-56EFB27D5C7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32</a:t>
            </a:fld>
            <a:endParaRPr lang="en-US">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B4035848-6A2D-FEC3-144E-B596E5F60557}"/>
              </a:ext>
            </a:extLst>
          </p:cNvPr>
          <p:cNvPicPr>
            <a:picLocks noChangeAspect="1"/>
          </p:cNvPicPr>
          <p:nvPr/>
        </p:nvPicPr>
        <p:blipFill>
          <a:blip r:embed="rId3">
            <a:extLst>
              <a:ext uri="{28A0092B-C50C-407E-A947-70E740481C1C}">
                <a14:useLocalDpi xmlns:a14="http://schemas.microsoft.com/office/drawing/2010/main" val="0"/>
              </a:ext>
            </a:extLst>
          </a:blip>
          <a:srcRect l="62690" t="-480" r="96" b="56346"/>
          <a:stretch>
            <a:fillRect/>
          </a:stretch>
        </p:blipFill>
        <p:spPr>
          <a:xfrm>
            <a:off x="2377525" y="1695450"/>
            <a:ext cx="13532949" cy="6896099"/>
          </a:xfrm>
          <a:prstGeom prst="rect">
            <a:avLst/>
          </a:prstGeom>
        </p:spPr>
      </p:pic>
      <p:sp>
        <p:nvSpPr>
          <p:cNvPr id="4" name="TextBox 6">
            <a:extLst>
              <a:ext uri="{FF2B5EF4-FFF2-40B4-BE49-F238E27FC236}">
                <a16:creationId xmlns:a16="http://schemas.microsoft.com/office/drawing/2014/main" id="{726B4ED2-198C-CC9A-6ED8-EF8E2CE8686D}"/>
              </a:ext>
            </a:extLst>
          </p:cNvPr>
          <p:cNvSpPr txBox="1"/>
          <p:nvPr/>
        </p:nvSpPr>
        <p:spPr>
          <a:xfrm>
            <a:off x="990600" y="300719"/>
            <a:ext cx="9356377" cy="621902"/>
          </a:xfrm>
          <a:prstGeom prst="rect">
            <a:avLst/>
          </a:prstGeom>
        </p:spPr>
        <p:txBody>
          <a:bodyPr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US" dirty="0"/>
              <a:t>Constraints to Financial Inclusion </a:t>
            </a:r>
            <a:endParaRPr lang="en-US" dirty="0">
              <a:sym typeface="Droid Serif Bold"/>
            </a:endParaRPr>
          </a:p>
        </p:txBody>
      </p:sp>
    </p:spTree>
    <p:extLst>
      <p:ext uri="{BB962C8B-B14F-4D97-AF65-F5344CB8AC3E}">
        <p14:creationId xmlns:p14="http://schemas.microsoft.com/office/powerpoint/2010/main" val="35062963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2E609-6AEC-7F91-B396-8D346ABF958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CE22562-5863-4E90-0A78-F58DE0CF800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5696C12-7D96-DC6A-7E1B-63FF921B475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FF9DB779-CDAC-EC36-1B58-F557E67D301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2705B483-E5C6-13BD-78D2-2F53DCC1610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CF86B1F-2EE5-8DCD-9546-3E95736666C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33</a:t>
            </a:fld>
            <a:endParaRPr lang="en-US">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BB10983A-C5D3-F3E1-218C-A35D3B2967CF}"/>
              </a:ext>
            </a:extLst>
          </p:cNvPr>
          <p:cNvSpPr txBox="1"/>
          <p:nvPr/>
        </p:nvSpPr>
        <p:spPr>
          <a:xfrm>
            <a:off x="756447" y="1385880"/>
            <a:ext cx="16775106" cy="8102987"/>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400" dirty="0">
                <a:latin typeface="Arial"/>
                <a:cs typeface="Arial"/>
              </a:rPr>
              <a:t>High operating costs. Historically, many incumbents have operated expensive brick-and-mortar networks, maintained outdated core technologies, and relied on costly and time-consuming human and paper processes. These infrastructure and processing costs make small transactions and maintaining low-balance accounts unprofitable.</a:t>
            </a:r>
          </a:p>
          <a:p>
            <a:pPr marL="514350" indent="-514350" algn="just">
              <a:lnSpc>
                <a:spcPct val="200000"/>
              </a:lnSpc>
              <a:buFont typeface="Wingdings" panose="05000000000000000000" pitchFamily="2" charset="2"/>
              <a:buChar char="§"/>
            </a:pPr>
            <a:r>
              <a:rPr lang="en-US" sz="2400" dirty="0">
                <a:latin typeface="Arial"/>
                <a:cs typeface="Arial"/>
              </a:rPr>
              <a:t>Legacy business models. Historically, many incumbents offered standardized financial services, which are more appropriate to serve more affluent individuals and larger companies. However, the poor who have volatile incomes may need more flexibility to extend payments, or to repay when cash is on hand, which may be the same day the loan was taken.</a:t>
            </a:r>
          </a:p>
          <a:p>
            <a:pPr marL="514350" indent="-514350" algn="just">
              <a:lnSpc>
                <a:spcPct val="200000"/>
              </a:lnSpc>
              <a:buFont typeface="Wingdings" panose="05000000000000000000" pitchFamily="2" charset="2"/>
              <a:buChar char="§"/>
            </a:pPr>
            <a:r>
              <a:rPr lang="en-US" sz="2400" dirty="0">
                <a:latin typeface="Arial"/>
                <a:cs typeface="Arial"/>
              </a:rPr>
              <a:t>Limited competition and innovation. Historically, in many developing economies, incumbents have enjoyed considerable market power, protected by barriers to entry through restrictive regulations and a weak startup eco-system. As a result, these financial institutions were free to charge high fees and margins and felt less pressure to invest and innovate to tap into new and under-served market segments.</a:t>
            </a:r>
            <a:endParaRPr lang="en-GB" sz="2400" dirty="0">
              <a:latin typeface="Arial"/>
              <a:cs typeface="Arial"/>
            </a:endParaRPr>
          </a:p>
        </p:txBody>
      </p:sp>
      <p:sp>
        <p:nvSpPr>
          <p:cNvPr id="4" name="TextBox 6">
            <a:extLst>
              <a:ext uri="{FF2B5EF4-FFF2-40B4-BE49-F238E27FC236}">
                <a16:creationId xmlns:a16="http://schemas.microsoft.com/office/drawing/2014/main" id="{8E6CBDD2-1EB9-329A-B9F6-3CCFA0FCB338}"/>
              </a:ext>
            </a:extLst>
          </p:cNvPr>
          <p:cNvSpPr txBox="1"/>
          <p:nvPr/>
        </p:nvSpPr>
        <p:spPr>
          <a:xfrm>
            <a:off x="990600" y="300719"/>
            <a:ext cx="14668500" cy="621902"/>
          </a:xfrm>
          <a:prstGeom prst="rect">
            <a:avLst/>
          </a:prstGeom>
        </p:spPr>
        <p:txBody>
          <a:bodyPr wrap="square"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US" dirty="0"/>
              <a:t>Constraints to Financial Inclusion (Supply Side) </a:t>
            </a:r>
            <a:endParaRPr lang="en-US" dirty="0">
              <a:sym typeface="Droid Serif Bold"/>
            </a:endParaRPr>
          </a:p>
        </p:txBody>
      </p:sp>
    </p:spTree>
    <p:extLst>
      <p:ext uri="{BB962C8B-B14F-4D97-AF65-F5344CB8AC3E}">
        <p14:creationId xmlns:p14="http://schemas.microsoft.com/office/powerpoint/2010/main" val="3770181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7DDF7-AFF1-3035-E582-42F32D3A02F9}"/>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D31E5B01-3496-3510-BD61-4EACE804360A}"/>
              </a:ext>
            </a:extLst>
          </p:cNvPr>
          <p:cNvSpPr txBox="1"/>
          <p:nvPr/>
        </p:nvSpPr>
        <p:spPr>
          <a:xfrm>
            <a:off x="902113" y="0"/>
            <a:ext cx="6256973" cy="1638077"/>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FINANCIAL</a:t>
            </a:r>
          </a:p>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INCLUSION</a:t>
            </a:r>
          </a:p>
        </p:txBody>
      </p:sp>
      <p:pic>
        <p:nvPicPr>
          <p:cNvPr id="14" name="Picture 13">
            <a:extLst>
              <a:ext uri="{FF2B5EF4-FFF2-40B4-BE49-F238E27FC236}">
                <a16:creationId xmlns:a16="http://schemas.microsoft.com/office/drawing/2014/main" id="{EEBA6FCA-ACCA-6FD8-536D-4BE5F52BFAFA}"/>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631C0720-9E86-5398-C00B-A5CA0B7212C4}"/>
              </a:ext>
            </a:extLst>
          </p:cNvPr>
          <p:cNvSpPr txBox="1"/>
          <p:nvPr/>
        </p:nvSpPr>
        <p:spPr>
          <a:xfrm>
            <a:off x="316056" y="3152025"/>
            <a:ext cx="7098887" cy="3982950"/>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en-US" sz="6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China, FinTech</a:t>
            </a: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0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&amp; </a:t>
            </a:r>
          </a:p>
          <a:p>
            <a:pPr marL="0" marR="0" lvl="0" indent="0" algn="ctr" defTabSz="457200" rtl="0" eaLnBrk="1" fontAlgn="auto" latinLnBrk="0" hangingPunct="1">
              <a:lnSpc>
                <a:spcPct val="150000"/>
              </a:lnSpc>
              <a:spcBef>
                <a:spcPts val="0"/>
              </a:spcBef>
              <a:spcAft>
                <a:spcPts val="0"/>
              </a:spcAft>
              <a:buClrTx/>
              <a:buSzTx/>
              <a:buFontTx/>
              <a:buNone/>
              <a:tabLst/>
              <a:defRPr/>
            </a:pPr>
            <a:r>
              <a:rPr lang="en-US" sz="6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Inclusion</a:t>
            </a:r>
            <a:endParaRPr kumimoji="0" lang="en-US" sz="60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extLst>
      <p:ext uri="{BB962C8B-B14F-4D97-AF65-F5344CB8AC3E}">
        <p14:creationId xmlns:p14="http://schemas.microsoft.com/office/powerpoint/2010/main" val="28112292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47F3A-3B09-9029-D97B-A09522A2BFC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EC5B5B6-5FA6-6816-AF78-7AF79D353A3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1C24041-6273-1D66-7899-0308311F1C2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8CC101C-895F-345F-B7A5-CC46C483139D}"/>
              </a:ext>
            </a:extLst>
          </p:cNvPr>
          <p:cNvSpPr txBox="1"/>
          <p:nvPr/>
        </p:nvSpPr>
        <p:spPr>
          <a:xfrm>
            <a:off x="990600" y="300719"/>
            <a:ext cx="9356377" cy="621902"/>
          </a:xfrm>
          <a:prstGeom prst="rect">
            <a:avLst/>
          </a:prstGeom>
        </p:spPr>
        <p:txBody>
          <a:bodyPr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US" dirty="0"/>
              <a:t>China, Fintech and Financial Inclusion</a:t>
            </a:r>
            <a:endParaRPr lang="en-US" dirty="0">
              <a:sym typeface="Droid Serif Bold"/>
            </a:endParaRPr>
          </a:p>
        </p:txBody>
      </p:sp>
      <p:sp>
        <p:nvSpPr>
          <p:cNvPr id="9" name="Date Placeholder 8">
            <a:extLst>
              <a:ext uri="{FF2B5EF4-FFF2-40B4-BE49-F238E27FC236}">
                <a16:creationId xmlns:a16="http://schemas.microsoft.com/office/drawing/2014/main" id="{EE4E939A-C7ED-DB5F-E1E4-4BD20D91275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618652BE-23AD-B086-6B98-9BF2AD25F7C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17E71A6-1A64-9B77-68F5-D403E8CE719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944D986-7E32-24AB-803D-2055CE3FCEAE}"/>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latin typeface="Arial"/>
                <a:cs typeface="Arial"/>
              </a:rPr>
              <a:t>Ant Financial announced it was launching its own consumer credit scoring model: Sesame Credit, designed to leverage big data and customer behavior analytics to help make credit more available to millions. Sesame Credit is focused on those who may have little credit history.</a:t>
            </a:r>
          </a:p>
          <a:p>
            <a:pPr marL="514350" indent="-514350" algn="just">
              <a:lnSpc>
                <a:spcPct val="200000"/>
              </a:lnSpc>
              <a:buFont typeface="Wingdings" panose="05000000000000000000" pitchFamily="2" charset="2"/>
              <a:buChar char="§"/>
            </a:pPr>
            <a:r>
              <a:rPr lang="en-US" sz="2800" dirty="0">
                <a:latin typeface="Arial"/>
                <a:cs typeface="Arial"/>
              </a:rPr>
              <a:t>Some people may have never obtained bank loans or applied for credit cards. However, it uses data from Alibaba's purchases, on time payment of their utility bills, stable residential status and mobile phone number history to compile it’s score. This could prove to be useful in countries where large segments of the population do not have bank accounts but do use other services.</a:t>
            </a:r>
          </a:p>
        </p:txBody>
      </p:sp>
      <p:sp>
        <p:nvSpPr>
          <p:cNvPr id="4" name="TextBox 6">
            <a:extLst>
              <a:ext uri="{FF2B5EF4-FFF2-40B4-BE49-F238E27FC236}">
                <a16:creationId xmlns:a16="http://schemas.microsoft.com/office/drawing/2014/main" id="{470658DE-BE1D-E351-A024-FDBCE981D1B8}"/>
              </a:ext>
            </a:extLst>
          </p:cNvPr>
          <p:cNvSpPr txBox="1"/>
          <p:nvPr/>
        </p:nvSpPr>
        <p:spPr>
          <a:xfrm>
            <a:off x="756447" y="1805216"/>
            <a:ext cx="9356377" cy="634020"/>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Ant Financial (China)</a:t>
            </a:r>
          </a:p>
        </p:txBody>
      </p:sp>
    </p:spTree>
    <p:extLst>
      <p:ext uri="{BB962C8B-B14F-4D97-AF65-F5344CB8AC3E}">
        <p14:creationId xmlns:p14="http://schemas.microsoft.com/office/powerpoint/2010/main" val="2977162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344E7-CFA1-39BD-B88B-29DE20C8ED8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A1232E7-084F-BDD6-E224-BF077B7927EF}"/>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4222198-88B3-F8B5-F18B-9A352DDF1C0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F7B92462-EB67-8A72-131C-71DA84745D2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CE84FCD0-A6CE-AB47-7F0B-51C70D1A58B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2DFD9421-32C2-0BF5-67B4-01EC6A2EFF4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9FC6466-40AE-6D40-075D-2A0089626A43}"/>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latin typeface="Arial"/>
                <a:cs typeface="Arial"/>
              </a:rPr>
              <a:t>Ant Financial announced it was launching its own consumer credit scoring model: Sesame Credit, designed to leverage big data and customer behavior analytics to help make credit more available to millions. Sesame Credit is focused on those who may have little credit history.</a:t>
            </a:r>
          </a:p>
          <a:p>
            <a:pPr marL="514350" indent="-514350" algn="just">
              <a:lnSpc>
                <a:spcPct val="200000"/>
              </a:lnSpc>
              <a:buFont typeface="Wingdings" panose="05000000000000000000" pitchFamily="2" charset="2"/>
              <a:buChar char="§"/>
            </a:pPr>
            <a:r>
              <a:rPr lang="en-US" sz="2800" dirty="0">
                <a:latin typeface="Arial"/>
                <a:cs typeface="Arial"/>
              </a:rPr>
              <a:t>Some people may have never obtained bank loans or applied for credit cards. However, it uses data from Alibaba's purchases, on time payment of their utility bills, stable residential status and mobile phone number history to compile it’s score. This could prove to be useful in countries where large segments of the population do not have bank accounts but do use other services.</a:t>
            </a:r>
          </a:p>
        </p:txBody>
      </p:sp>
      <p:sp>
        <p:nvSpPr>
          <p:cNvPr id="4" name="TextBox 6">
            <a:extLst>
              <a:ext uri="{FF2B5EF4-FFF2-40B4-BE49-F238E27FC236}">
                <a16:creationId xmlns:a16="http://schemas.microsoft.com/office/drawing/2014/main" id="{43182B8F-80C5-EC46-0AF7-417FAEDD0C3F}"/>
              </a:ext>
            </a:extLst>
          </p:cNvPr>
          <p:cNvSpPr txBox="1"/>
          <p:nvPr/>
        </p:nvSpPr>
        <p:spPr>
          <a:xfrm>
            <a:off x="756447" y="1805216"/>
            <a:ext cx="9356377" cy="634020"/>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Ant Financial (China)</a:t>
            </a:r>
          </a:p>
        </p:txBody>
      </p:sp>
      <p:sp>
        <p:nvSpPr>
          <p:cNvPr id="7" name="TextBox 6">
            <a:extLst>
              <a:ext uri="{FF2B5EF4-FFF2-40B4-BE49-F238E27FC236}">
                <a16:creationId xmlns:a16="http://schemas.microsoft.com/office/drawing/2014/main" id="{34E66677-ADD0-ABD9-456B-652B1962E547}"/>
              </a:ext>
            </a:extLst>
          </p:cNvPr>
          <p:cNvSpPr txBox="1"/>
          <p:nvPr/>
        </p:nvSpPr>
        <p:spPr>
          <a:xfrm>
            <a:off x="990600" y="300719"/>
            <a:ext cx="9356377" cy="621902"/>
          </a:xfrm>
          <a:prstGeom prst="rect">
            <a:avLst/>
          </a:prstGeom>
        </p:spPr>
        <p:txBody>
          <a:bodyPr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US" dirty="0"/>
              <a:t>China, Fintech and Financial Inclusion</a:t>
            </a:r>
            <a:endParaRPr lang="en-US" dirty="0">
              <a:sym typeface="Droid Serif Bold"/>
            </a:endParaRPr>
          </a:p>
        </p:txBody>
      </p:sp>
    </p:spTree>
    <p:extLst>
      <p:ext uri="{BB962C8B-B14F-4D97-AF65-F5344CB8AC3E}">
        <p14:creationId xmlns:p14="http://schemas.microsoft.com/office/powerpoint/2010/main" val="3403703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83ED3-3EF2-530C-333C-BA4BFBF30D9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6ADD6F6-0329-8FAE-6D45-A066EA4B1E9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38A1DC36-BC24-CE9A-A312-A28A1BE2C57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F5160AFE-6C18-C779-D725-AD1F343BDE5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D4120AFA-E016-F35A-2C5D-FF4492A03622}"/>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FD31A22-F2DE-B3F7-5415-650A783E0E4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F247EF4-3B53-9491-C9E6-C7BDD608D95C}"/>
              </a:ext>
            </a:extLst>
          </p:cNvPr>
          <p:cNvSpPr txBox="1"/>
          <p:nvPr/>
        </p:nvSpPr>
        <p:spPr>
          <a:xfrm>
            <a:off x="756447" y="2644758"/>
            <a:ext cx="16775106" cy="685283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latin typeface="Arial"/>
                <a:cs typeface="Arial"/>
              </a:rPr>
              <a:t>There has been a significant push for fintech in China in the past ten years, with apps such as WeChat by Tencent and </a:t>
            </a:r>
            <a:r>
              <a:rPr lang="en-US" sz="2800" dirty="0" err="1">
                <a:latin typeface="Arial"/>
                <a:cs typeface="Arial"/>
              </a:rPr>
              <a:t>AliPay</a:t>
            </a:r>
            <a:r>
              <a:rPr lang="en-US" sz="2800" dirty="0">
                <a:latin typeface="Arial"/>
                <a:cs typeface="Arial"/>
              </a:rPr>
              <a:t> by Ant Financial leading the charge.</a:t>
            </a:r>
          </a:p>
          <a:p>
            <a:pPr marL="514350" indent="-514350" algn="just">
              <a:lnSpc>
                <a:spcPct val="200000"/>
              </a:lnSpc>
              <a:buFont typeface="Wingdings" panose="05000000000000000000" pitchFamily="2" charset="2"/>
              <a:buChar char="§"/>
            </a:pPr>
            <a:r>
              <a:rPr lang="en-US" sz="2800" dirty="0">
                <a:latin typeface="Arial"/>
                <a:cs typeface="Arial"/>
              </a:rPr>
              <a:t>These changes have had significant effects on China’s population; most notably, they've created a new middle class with disposable income. The use of technology has helped millions of people from low-income families into the middle class.</a:t>
            </a:r>
          </a:p>
          <a:p>
            <a:pPr marL="514350" indent="-514350" algn="just">
              <a:lnSpc>
                <a:spcPct val="200000"/>
              </a:lnSpc>
              <a:buFont typeface="Wingdings" panose="05000000000000000000" pitchFamily="2" charset="2"/>
              <a:buChar char="§"/>
            </a:pPr>
            <a:r>
              <a:rPr lang="en-US" sz="2800" dirty="0">
                <a:latin typeface="Arial"/>
                <a:cs typeface="Arial"/>
              </a:rPr>
              <a:t>Through the use of fintech in rural areas, it is also helping to </a:t>
            </a:r>
            <a:r>
              <a:rPr lang="en-US" sz="2800" dirty="0" err="1">
                <a:latin typeface="Arial"/>
                <a:cs typeface="Arial"/>
              </a:rPr>
              <a:t>modernise</a:t>
            </a:r>
            <a:r>
              <a:rPr lang="en-US" sz="2800" dirty="0">
                <a:latin typeface="Arial"/>
                <a:cs typeface="Arial"/>
              </a:rPr>
              <a:t> agriculture and rural communities. Due to the progress of smartphone-based internet and fintech, limitations on time and distance have been significantly reduced.</a:t>
            </a:r>
          </a:p>
        </p:txBody>
      </p:sp>
      <p:sp>
        <p:nvSpPr>
          <p:cNvPr id="4" name="TextBox 6">
            <a:extLst>
              <a:ext uri="{FF2B5EF4-FFF2-40B4-BE49-F238E27FC236}">
                <a16:creationId xmlns:a16="http://schemas.microsoft.com/office/drawing/2014/main" id="{E03AD7E3-A694-436D-FCB1-AECF121CD77B}"/>
              </a:ext>
            </a:extLst>
          </p:cNvPr>
          <p:cNvSpPr txBox="1"/>
          <p:nvPr/>
        </p:nvSpPr>
        <p:spPr>
          <a:xfrm>
            <a:off x="756447" y="1805216"/>
            <a:ext cx="9356377" cy="634020"/>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Impacts of FinTech in China</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772E05CB-46FE-AA6D-DE7B-6320A6F35941}"/>
              </a:ext>
            </a:extLst>
          </p:cNvPr>
          <p:cNvSpPr txBox="1"/>
          <p:nvPr/>
        </p:nvSpPr>
        <p:spPr>
          <a:xfrm>
            <a:off x="990600" y="300719"/>
            <a:ext cx="9356377" cy="621902"/>
          </a:xfrm>
          <a:prstGeom prst="rect">
            <a:avLst/>
          </a:prstGeom>
        </p:spPr>
        <p:txBody>
          <a:bodyPr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US" dirty="0"/>
              <a:t>China, Fintech and Financial Inclusion</a:t>
            </a:r>
            <a:endParaRPr lang="en-US" dirty="0">
              <a:sym typeface="Droid Serif Bold"/>
            </a:endParaRPr>
          </a:p>
        </p:txBody>
      </p:sp>
    </p:spTree>
    <p:extLst>
      <p:ext uri="{BB962C8B-B14F-4D97-AF65-F5344CB8AC3E}">
        <p14:creationId xmlns:p14="http://schemas.microsoft.com/office/powerpoint/2010/main" val="760810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67CA0-2CAF-3FA5-8E11-8D073490167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D188641-FDD6-98B6-8744-778C96085B5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86CBB94-B76C-8770-60D4-31FCDCF9F6E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F886F47E-2E58-E866-1E4A-1BD1D3B1034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49952F78-71DD-D4A0-2DDD-01D2EC70E5B2}"/>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7EF0E03-CCFC-41D7-FA60-011CD0A98E8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E541C7A-A509-8119-18D8-5EE600A44643}"/>
              </a:ext>
            </a:extLst>
          </p:cNvPr>
          <p:cNvSpPr txBox="1"/>
          <p:nvPr/>
        </p:nvSpPr>
        <p:spPr>
          <a:xfrm>
            <a:off x="756447" y="2644758"/>
            <a:ext cx="16775106" cy="685283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latin typeface="Arial"/>
                <a:cs typeface="Arial"/>
              </a:rPr>
              <a:t>There has been a significant push for fintech in China in the past ten years, with apps such as WeChat by Tencent and </a:t>
            </a:r>
            <a:r>
              <a:rPr lang="en-US" sz="2800" dirty="0" err="1">
                <a:latin typeface="Arial"/>
                <a:cs typeface="Arial"/>
              </a:rPr>
              <a:t>AliPay</a:t>
            </a:r>
            <a:r>
              <a:rPr lang="en-US" sz="2800" dirty="0">
                <a:latin typeface="Arial"/>
                <a:cs typeface="Arial"/>
              </a:rPr>
              <a:t> by Ant Financial leading the charge.</a:t>
            </a:r>
          </a:p>
          <a:p>
            <a:pPr marL="514350" indent="-514350" algn="just">
              <a:lnSpc>
                <a:spcPct val="200000"/>
              </a:lnSpc>
              <a:buFont typeface="Wingdings" panose="05000000000000000000" pitchFamily="2" charset="2"/>
              <a:buChar char="§"/>
            </a:pPr>
            <a:r>
              <a:rPr lang="en-US" sz="2800" dirty="0">
                <a:latin typeface="Arial"/>
                <a:cs typeface="Arial"/>
              </a:rPr>
              <a:t>These changes have had significant effects on China’s population; most notably, they've created a new middle class with disposable income. The use of technology has helped millions of people from low-income families into the middle class.</a:t>
            </a:r>
          </a:p>
          <a:p>
            <a:pPr marL="514350" indent="-514350" algn="just">
              <a:lnSpc>
                <a:spcPct val="200000"/>
              </a:lnSpc>
              <a:buFont typeface="Wingdings" panose="05000000000000000000" pitchFamily="2" charset="2"/>
              <a:buChar char="§"/>
            </a:pPr>
            <a:r>
              <a:rPr lang="en-US" sz="2800" dirty="0">
                <a:latin typeface="Arial"/>
                <a:cs typeface="Arial"/>
              </a:rPr>
              <a:t>Through the use of fintech in rural areas, it is also helping to </a:t>
            </a:r>
            <a:r>
              <a:rPr lang="en-US" sz="2800" dirty="0" err="1">
                <a:latin typeface="Arial"/>
                <a:cs typeface="Arial"/>
              </a:rPr>
              <a:t>modernise</a:t>
            </a:r>
            <a:r>
              <a:rPr lang="en-US" sz="2800" dirty="0">
                <a:latin typeface="Arial"/>
                <a:cs typeface="Arial"/>
              </a:rPr>
              <a:t> agriculture and rural communities. Due to the progress of smartphone-based internet and fintech, limitations on time and distance have been significantly reduced.</a:t>
            </a:r>
          </a:p>
        </p:txBody>
      </p:sp>
      <p:sp>
        <p:nvSpPr>
          <p:cNvPr id="4" name="TextBox 6">
            <a:extLst>
              <a:ext uri="{FF2B5EF4-FFF2-40B4-BE49-F238E27FC236}">
                <a16:creationId xmlns:a16="http://schemas.microsoft.com/office/drawing/2014/main" id="{CACD6AB7-A453-9C99-A28E-496FB73C0C06}"/>
              </a:ext>
            </a:extLst>
          </p:cNvPr>
          <p:cNvSpPr txBox="1"/>
          <p:nvPr/>
        </p:nvSpPr>
        <p:spPr>
          <a:xfrm>
            <a:off x="756447" y="1805216"/>
            <a:ext cx="9356377" cy="634020"/>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Impacts of FinTech in China</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69C0EFB3-9D88-252C-A060-4352B429DF8A}"/>
              </a:ext>
            </a:extLst>
          </p:cNvPr>
          <p:cNvSpPr txBox="1"/>
          <p:nvPr/>
        </p:nvSpPr>
        <p:spPr>
          <a:xfrm>
            <a:off x="990600" y="300719"/>
            <a:ext cx="9356377" cy="621902"/>
          </a:xfrm>
          <a:prstGeom prst="rect">
            <a:avLst/>
          </a:prstGeom>
        </p:spPr>
        <p:txBody>
          <a:bodyPr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US" dirty="0"/>
              <a:t>China, Fintech and Financial Inclusion</a:t>
            </a:r>
            <a:endParaRPr lang="en-US" dirty="0">
              <a:sym typeface="Droid Serif Bold"/>
            </a:endParaRPr>
          </a:p>
        </p:txBody>
      </p:sp>
    </p:spTree>
    <p:extLst>
      <p:ext uri="{BB962C8B-B14F-4D97-AF65-F5344CB8AC3E}">
        <p14:creationId xmlns:p14="http://schemas.microsoft.com/office/powerpoint/2010/main" val="2832498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1E3B1-1BA8-56F1-5D91-4E8CE8B2FBE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EFDBD48-4C66-5F0F-0B87-9B37846129B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F3BEB248-C53C-D61A-F738-96AF2A1E935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92EEC835-4709-A80D-1534-5050C84496E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D1EE4CD6-447D-5922-A40E-0A03DA013AC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3962E81-1F59-EE8D-A5FD-0D6BC1519879}"/>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39</a:t>
            </a:fld>
            <a:endParaRPr lang="en-US">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B58865DD-AF4C-F50E-00DC-9EE9B01B3C88}"/>
              </a:ext>
            </a:extLst>
          </p:cNvPr>
          <p:cNvSpPr txBox="1"/>
          <p:nvPr/>
        </p:nvSpPr>
        <p:spPr>
          <a:xfrm>
            <a:off x="756447" y="1257300"/>
            <a:ext cx="16775106" cy="736432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400" dirty="0">
                <a:latin typeface="Arial"/>
                <a:cs typeface="Arial"/>
              </a:rPr>
              <a:t>When compared to traditional finance, fintech has evolved considerably in terms of information processing, risk assessment, lending, supply and demand, products or services, operating expenses, capital supply and demand, and payments.</a:t>
            </a:r>
          </a:p>
          <a:p>
            <a:pPr marL="514350" indent="-514350" algn="just">
              <a:lnSpc>
                <a:spcPct val="200000"/>
              </a:lnSpc>
              <a:buFont typeface="Wingdings" panose="05000000000000000000" pitchFamily="2" charset="2"/>
              <a:buChar char="§"/>
            </a:pPr>
            <a:r>
              <a:rPr lang="en-US" sz="2400" dirty="0">
                <a:latin typeface="Arial"/>
                <a:cs typeface="Arial"/>
              </a:rPr>
              <a:t>The country that once invented paper money during the Song Dynasty between 960-1279 has proved that fintech is the way forward. According to history, financial innovation is not a new concept in China, but the modern form of it has definitely </a:t>
            </a:r>
            <a:r>
              <a:rPr lang="en-US" sz="2400" dirty="0" err="1">
                <a:latin typeface="Arial"/>
                <a:cs typeface="Arial"/>
              </a:rPr>
              <a:t>revolutionised</a:t>
            </a:r>
            <a:r>
              <a:rPr lang="en-US" sz="2400" dirty="0">
                <a:latin typeface="Arial"/>
                <a:cs typeface="Arial"/>
              </a:rPr>
              <a:t> the country.</a:t>
            </a:r>
          </a:p>
          <a:p>
            <a:pPr marL="514350" indent="-514350" algn="just">
              <a:lnSpc>
                <a:spcPct val="200000"/>
              </a:lnSpc>
              <a:buFont typeface="Wingdings" panose="05000000000000000000" pitchFamily="2" charset="2"/>
              <a:buChar char="§"/>
            </a:pPr>
            <a:r>
              <a:rPr lang="en-US" sz="2400" dirty="0">
                <a:latin typeface="Arial"/>
                <a:cs typeface="Arial"/>
              </a:rPr>
              <a:t>Fintech has helped improve China's financial system and reduce poverty in the country. As more people in China become wealthier, they are able to invest their money and take advantage of financial products such as pensions and insurance, which have been improved due to technology. This improvement has led to a dramatic increase in wealth management for Chinese citizens, creating new opportunities for investors across all social classes.</a:t>
            </a:r>
            <a:endParaRPr lang="en-GB" sz="2400" dirty="0">
              <a:latin typeface="Arial"/>
              <a:cs typeface="Arial"/>
            </a:endParaRPr>
          </a:p>
        </p:txBody>
      </p:sp>
      <p:sp>
        <p:nvSpPr>
          <p:cNvPr id="4" name="TextBox 6">
            <a:extLst>
              <a:ext uri="{FF2B5EF4-FFF2-40B4-BE49-F238E27FC236}">
                <a16:creationId xmlns:a16="http://schemas.microsoft.com/office/drawing/2014/main" id="{B62A86AB-E90E-E48E-9B03-7D0C6E293115}"/>
              </a:ext>
            </a:extLst>
          </p:cNvPr>
          <p:cNvSpPr txBox="1"/>
          <p:nvPr/>
        </p:nvSpPr>
        <p:spPr>
          <a:xfrm>
            <a:off x="990600" y="300719"/>
            <a:ext cx="14668500" cy="621902"/>
          </a:xfrm>
          <a:prstGeom prst="rect">
            <a:avLst/>
          </a:prstGeom>
        </p:spPr>
        <p:txBody>
          <a:bodyPr wrap="square"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US" dirty="0"/>
              <a:t>Constraints to Financial Inclusion (Demand Side) </a:t>
            </a:r>
            <a:endParaRPr lang="en-US" dirty="0">
              <a:sym typeface="Droid Serif Bold"/>
            </a:endParaRPr>
          </a:p>
        </p:txBody>
      </p:sp>
    </p:spTree>
    <p:extLst>
      <p:ext uri="{BB962C8B-B14F-4D97-AF65-F5344CB8AC3E}">
        <p14:creationId xmlns:p14="http://schemas.microsoft.com/office/powerpoint/2010/main" val="1698045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F2CDE-8132-9E17-8046-D3496471ABE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C25C90F-C265-4D57-660B-8B64C8A9C49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85F8922-17E3-6D27-3EDD-8AADDF80912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2616DB5C-5588-79C9-259F-1A4AD79402A0}"/>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84BCF8B3-4B87-E042-334D-8B8390CAA28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9294237-6EF3-B019-D984-8926716C4AA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40</a:t>
            </a:fld>
            <a:endParaRPr lang="en-US">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2B871C20-0F3F-5AAB-AC31-12F02EAAD880}"/>
              </a:ext>
            </a:extLst>
          </p:cNvPr>
          <p:cNvSpPr txBox="1"/>
          <p:nvPr/>
        </p:nvSpPr>
        <p:spPr>
          <a:xfrm>
            <a:off x="756447" y="1789863"/>
            <a:ext cx="16775106" cy="662566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400" dirty="0">
                <a:latin typeface="Arial"/>
                <a:cs typeface="Arial"/>
              </a:rPr>
              <a:t>In the past, banks have been reluctant to lend money to rural areas because they are considered high-risk areas with low-profit margins and small loans. However, fintech has helped by using data analysis techniques to better access and cultivate these communities.</a:t>
            </a:r>
          </a:p>
          <a:p>
            <a:pPr marL="514350" indent="-514350" algn="just">
              <a:lnSpc>
                <a:spcPct val="200000"/>
              </a:lnSpc>
              <a:buFont typeface="Wingdings" panose="05000000000000000000" pitchFamily="2" charset="2"/>
              <a:buChar char="§"/>
            </a:pPr>
            <a:r>
              <a:rPr lang="en-US" sz="2400" dirty="0">
                <a:latin typeface="Arial"/>
                <a:cs typeface="Arial"/>
              </a:rPr>
              <a:t>For example, Ant Financial uses big data analytics technology to assess credit risk and to provide more accurate services. By taking advantage of mobile internet technology, many companies in China have also been able to access a new market and improve the quality of life for local people.</a:t>
            </a:r>
          </a:p>
          <a:p>
            <a:pPr marL="514350" indent="-514350" algn="just">
              <a:lnSpc>
                <a:spcPct val="200000"/>
              </a:lnSpc>
              <a:buFont typeface="Wingdings" panose="05000000000000000000" pitchFamily="2" charset="2"/>
              <a:buChar char="§"/>
            </a:pPr>
            <a:r>
              <a:rPr lang="en-US" sz="2400" dirty="0">
                <a:latin typeface="Arial"/>
                <a:cs typeface="Arial"/>
              </a:rPr>
              <a:t>Big data has helped fintech companies to solve issues such as the lack of financial resources, information asymmetry and poor infrastructure in rural areas. Not only that, but it allows them to collect a large number of customers from different regions with internet access through digital  marketing channels or online sales</a:t>
            </a:r>
            <a:endParaRPr lang="en-GB" sz="2400" dirty="0">
              <a:latin typeface="Arial"/>
              <a:cs typeface="Arial"/>
            </a:endParaRPr>
          </a:p>
        </p:txBody>
      </p:sp>
      <p:sp>
        <p:nvSpPr>
          <p:cNvPr id="4" name="TextBox 6">
            <a:extLst>
              <a:ext uri="{FF2B5EF4-FFF2-40B4-BE49-F238E27FC236}">
                <a16:creationId xmlns:a16="http://schemas.microsoft.com/office/drawing/2014/main" id="{86D8703D-CD8D-D3AD-07EC-5F21BBE49534}"/>
              </a:ext>
            </a:extLst>
          </p:cNvPr>
          <p:cNvSpPr txBox="1"/>
          <p:nvPr/>
        </p:nvSpPr>
        <p:spPr>
          <a:xfrm>
            <a:off x="990600" y="300719"/>
            <a:ext cx="14668500" cy="621902"/>
          </a:xfrm>
          <a:prstGeom prst="rect">
            <a:avLst/>
          </a:prstGeom>
        </p:spPr>
        <p:txBody>
          <a:bodyPr wrap="square"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US" dirty="0"/>
              <a:t>Constraints to Financial Inclusion (Demand Side) </a:t>
            </a:r>
            <a:endParaRPr lang="en-US" dirty="0">
              <a:sym typeface="Droid Serif Bold"/>
            </a:endParaRPr>
          </a:p>
        </p:txBody>
      </p:sp>
    </p:spTree>
    <p:extLst>
      <p:ext uri="{BB962C8B-B14F-4D97-AF65-F5344CB8AC3E}">
        <p14:creationId xmlns:p14="http://schemas.microsoft.com/office/powerpoint/2010/main" val="776991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0EA8B-9C62-3901-8A11-BA69061FAEA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80FB7CA-57B6-943A-33E1-EF613700E4B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DA85228-E589-39CF-6ABC-B6BF38AE72C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0910AA3E-9124-3A8A-D50D-8F2CB0D712B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77E0530B-6DCD-7406-0719-BB4AFD04A8C9}"/>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854A1E9-B0B7-562A-D9E2-3D85CFEF0A6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41</a:t>
            </a:fld>
            <a:endParaRPr lang="en-US">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5457576C-7C1F-A547-D102-05AD1DA085AB}"/>
              </a:ext>
            </a:extLst>
          </p:cNvPr>
          <p:cNvSpPr txBox="1"/>
          <p:nvPr/>
        </p:nvSpPr>
        <p:spPr>
          <a:xfrm>
            <a:off x="756447" y="1795676"/>
            <a:ext cx="16775106" cy="736432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400" b="1" dirty="0">
                <a:latin typeface="Arial"/>
                <a:cs typeface="Arial"/>
              </a:rPr>
              <a:t>The pros and cons of using fintech for financial supervision</a:t>
            </a:r>
          </a:p>
          <a:p>
            <a:pPr marL="514350" indent="-514350" algn="just">
              <a:lnSpc>
                <a:spcPct val="200000"/>
              </a:lnSpc>
              <a:buFont typeface="Wingdings" panose="05000000000000000000" pitchFamily="2" charset="2"/>
              <a:buChar char="§"/>
            </a:pPr>
            <a:r>
              <a:rPr lang="en-US" sz="2400" dirty="0">
                <a:latin typeface="Arial"/>
                <a:cs typeface="Arial"/>
              </a:rPr>
              <a:t>The rapid development of fintech plays an increasing role in financial oversight, which is like a double-edged sword. On the negative side, it increases surveillance, further transforming the nation into a Big Brother society. And on the positive side, it effectively prevents new financial risks by handling economic development more effectively.</a:t>
            </a:r>
          </a:p>
          <a:p>
            <a:pPr marL="514350" indent="-514350" algn="just">
              <a:lnSpc>
                <a:spcPct val="200000"/>
              </a:lnSpc>
              <a:buFont typeface="Wingdings" panose="05000000000000000000" pitchFamily="2" charset="2"/>
              <a:buChar char="§"/>
            </a:pPr>
            <a:r>
              <a:rPr lang="en-US" sz="2400" dirty="0">
                <a:latin typeface="Arial"/>
                <a:cs typeface="Arial"/>
              </a:rPr>
              <a:t>For example, the widespread use of facial recognition has raised a lot of concerns among privacy advocates. They worry that the government could use it to control and monitor people. At the same time, it enables consumers to pay for goods and services with their phones quickly.</a:t>
            </a:r>
          </a:p>
          <a:p>
            <a:pPr marL="514350" indent="-514350" algn="just">
              <a:lnSpc>
                <a:spcPct val="200000"/>
              </a:lnSpc>
              <a:buFont typeface="Wingdings" panose="05000000000000000000" pitchFamily="2" charset="2"/>
              <a:buChar char="§"/>
            </a:pPr>
            <a:r>
              <a:rPr lang="en-US" sz="2400" dirty="0">
                <a:latin typeface="Arial"/>
                <a:cs typeface="Arial"/>
              </a:rPr>
              <a:t>Facial recognition also allows companies to identify and track people, so it's no surprise that its use is becoming more common across the world. Retailers are using the technology to prevent theft, and governments are using it for surveillance purposes.</a:t>
            </a:r>
            <a:endParaRPr lang="en-GB" sz="2400" dirty="0">
              <a:latin typeface="Arial"/>
              <a:cs typeface="Arial"/>
            </a:endParaRPr>
          </a:p>
        </p:txBody>
      </p:sp>
      <p:sp>
        <p:nvSpPr>
          <p:cNvPr id="4" name="TextBox 6">
            <a:extLst>
              <a:ext uri="{FF2B5EF4-FFF2-40B4-BE49-F238E27FC236}">
                <a16:creationId xmlns:a16="http://schemas.microsoft.com/office/drawing/2014/main" id="{7D8DBE60-BA1E-038F-CFF9-AB3A87BB2788}"/>
              </a:ext>
            </a:extLst>
          </p:cNvPr>
          <p:cNvSpPr txBox="1"/>
          <p:nvPr/>
        </p:nvSpPr>
        <p:spPr>
          <a:xfrm>
            <a:off x="990600" y="300719"/>
            <a:ext cx="14668500" cy="621902"/>
          </a:xfrm>
          <a:prstGeom prst="rect">
            <a:avLst/>
          </a:prstGeom>
        </p:spPr>
        <p:txBody>
          <a:bodyPr wrap="square"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US" dirty="0"/>
              <a:t>Constraints to Financial Inclusion (Demand Side) </a:t>
            </a:r>
            <a:endParaRPr lang="en-US" dirty="0">
              <a:sym typeface="Droid Serif Bold"/>
            </a:endParaRPr>
          </a:p>
        </p:txBody>
      </p:sp>
    </p:spTree>
    <p:extLst>
      <p:ext uri="{BB962C8B-B14F-4D97-AF65-F5344CB8AC3E}">
        <p14:creationId xmlns:p14="http://schemas.microsoft.com/office/powerpoint/2010/main" val="1601788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fade">
                                      <p:cBhvr>
                                        <p:cTn id="22"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49226-E17F-B364-E70D-9D9569E757E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2C026BF-7475-D61D-FB3D-57EBD7E7587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7F7B9CC-A928-C930-2E3B-F3782FC6010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E497DB31-A1C1-F1E0-B52A-62A192092AA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4B117A74-DF0D-094A-689F-5D5BB23348E5}"/>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0AC1051-F94B-1BBD-D38B-9FB25E246CD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EA748C6-A6FD-7EC2-B2D1-32F63EFE393E}"/>
              </a:ext>
            </a:extLst>
          </p:cNvPr>
          <p:cNvSpPr txBox="1"/>
          <p:nvPr/>
        </p:nvSpPr>
        <p:spPr>
          <a:xfrm>
            <a:off x="756447" y="2644758"/>
            <a:ext cx="16775106" cy="685283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latin typeface="Arial"/>
                <a:cs typeface="Arial"/>
              </a:rPr>
              <a:t>These new players from China, from the large tech players to the emerging FinTechs, have been successful for a number of reasons</a:t>
            </a:r>
          </a:p>
          <a:p>
            <a:pPr marL="514350" indent="-514350" algn="just">
              <a:lnSpc>
                <a:spcPct val="200000"/>
              </a:lnSpc>
              <a:buFont typeface="Wingdings" panose="05000000000000000000" pitchFamily="2" charset="2"/>
              <a:buChar char="§"/>
            </a:pPr>
            <a:r>
              <a:rPr lang="en-US" sz="2800" dirty="0">
                <a:latin typeface="Arial"/>
                <a:cs typeface="Arial"/>
              </a:rPr>
              <a:t>They focus on unmet needs</a:t>
            </a:r>
          </a:p>
          <a:p>
            <a:pPr marL="514350" indent="-514350" algn="just">
              <a:lnSpc>
                <a:spcPct val="200000"/>
              </a:lnSpc>
              <a:buFont typeface="Wingdings" panose="05000000000000000000" pitchFamily="2" charset="2"/>
              <a:buChar char="§"/>
            </a:pPr>
            <a:r>
              <a:rPr lang="en-US" sz="2800" dirty="0">
                <a:latin typeface="Arial"/>
                <a:cs typeface="Arial"/>
              </a:rPr>
              <a:t>These tech firms have focused on areas where there was a gap in the market. For example, alternative lending offerings originally took off in China as a source of capital for start-ups and small businesses. The traditional state-owned banks preferred to lend to large, state-owned enterprises, neglecting smaller players and leaving a void that FinTech players stepped in to fill. The same is now</a:t>
            </a:r>
          </a:p>
          <a:p>
            <a:pPr marL="514350" indent="-514350" algn="just">
              <a:lnSpc>
                <a:spcPct val="200000"/>
              </a:lnSpc>
              <a:buFont typeface="Wingdings" panose="05000000000000000000" pitchFamily="2" charset="2"/>
              <a:buChar char="§"/>
            </a:pPr>
            <a:r>
              <a:rPr lang="en-US" sz="2800" dirty="0">
                <a:latin typeface="Arial"/>
                <a:cs typeface="Arial"/>
              </a:rPr>
              <a:t>arguably happening with the mass affluent segment.</a:t>
            </a:r>
          </a:p>
        </p:txBody>
      </p:sp>
      <p:sp>
        <p:nvSpPr>
          <p:cNvPr id="4" name="TextBox 6">
            <a:extLst>
              <a:ext uri="{FF2B5EF4-FFF2-40B4-BE49-F238E27FC236}">
                <a16:creationId xmlns:a16="http://schemas.microsoft.com/office/drawing/2014/main" id="{A947DD7A-EA43-937C-5D1E-47778A6F3FBD}"/>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Why China FinTech is so Successful</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4CD42AE3-C522-3D87-6C8D-288F9F604E5C}"/>
              </a:ext>
            </a:extLst>
          </p:cNvPr>
          <p:cNvSpPr txBox="1"/>
          <p:nvPr/>
        </p:nvSpPr>
        <p:spPr>
          <a:xfrm>
            <a:off x="990600" y="300719"/>
            <a:ext cx="9356377" cy="621902"/>
          </a:xfrm>
          <a:prstGeom prst="rect">
            <a:avLst/>
          </a:prstGeom>
        </p:spPr>
        <p:txBody>
          <a:bodyPr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US" dirty="0"/>
              <a:t>China, Fintech and Financial Inclusion</a:t>
            </a:r>
            <a:endParaRPr lang="en-US" dirty="0">
              <a:sym typeface="Droid Serif Bold"/>
            </a:endParaRPr>
          </a:p>
        </p:txBody>
      </p:sp>
    </p:spTree>
    <p:extLst>
      <p:ext uri="{BB962C8B-B14F-4D97-AF65-F5344CB8AC3E}">
        <p14:creationId xmlns:p14="http://schemas.microsoft.com/office/powerpoint/2010/main" val="2038733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DC9DE-8DE7-9DFD-906C-41FCB5C4D4F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13D1F08-A9DC-F044-A2E2-B37278FECF8F}"/>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D8BCC40-3FA3-2E5D-3E4C-F0E6A5C3BD2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D56CA91C-179F-C009-2D19-A4EEDA0365D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FBF1E7A5-1F52-BD8F-A0C3-854F4BDF657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D61376E-9C71-486B-ACBF-7824047ED11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43</a:t>
            </a:fld>
            <a:endParaRPr lang="en-US">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60901E4B-D5F1-7571-3360-564727D9F826}"/>
              </a:ext>
            </a:extLst>
          </p:cNvPr>
          <p:cNvSpPr txBox="1"/>
          <p:nvPr/>
        </p:nvSpPr>
        <p:spPr>
          <a:xfrm>
            <a:off x="756447" y="1795676"/>
            <a:ext cx="16775106" cy="599106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b="1" dirty="0">
                <a:latin typeface="Arial"/>
                <a:cs typeface="Arial"/>
              </a:rPr>
              <a:t>They are data-driven and can innovate fast</a:t>
            </a:r>
          </a:p>
          <a:p>
            <a:pPr marL="514350" indent="-514350" algn="just">
              <a:lnSpc>
                <a:spcPct val="200000"/>
              </a:lnSpc>
              <a:buFont typeface="Wingdings" panose="05000000000000000000" pitchFamily="2" charset="2"/>
              <a:buChar char="§"/>
            </a:pPr>
            <a:r>
              <a:rPr lang="en-US" sz="2800" dirty="0">
                <a:latin typeface="Arial"/>
                <a:cs typeface="Arial"/>
              </a:rPr>
              <a:t>These tech players are not financial services incumbents who just happen to have a good digital channel. They are firms that are data-driven, digital native and mobile first, applying those advantages to the delivery of financial services. This allows them to fully leverage the data they have towards better pricing of risk, evaluation of creditworthiness and product development. It also confers an advantage in user experience design, with delivery mechanisms that provide products in convenient and easy ways.</a:t>
            </a:r>
            <a:endParaRPr lang="en-GB" sz="2800" dirty="0">
              <a:latin typeface="Arial"/>
              <a:cs typeface="Arial"/>
            </a:endParaRPr>
          </a:p>
        </p:txBody>
      </p:sp>
      <p:sp>
        <p:nvSpPr>
          <p:cNvPr id="4" name="TextBox 6">
            <a:extLst>
              <a:ext uri="{FF2B5EF4-FFF2-40B4-BE49-F238E27FC236}">
                <a16:creationId xmlns:a16="http://schemas.microsoft.com/office/drawing/2014/main" id="{72C6F408-B917-B0F0-5405-9AA0EC9F3E20}"/>
              </a:ext>
            </a:extLst>
          </p:cNvPr>
          <p:cNvSpPr txBox="1"/>
          <p:nvPr/>
        </p:nvSpPr>
        <p:spPr>
          <a:xfrm>
            <a:off x="990600" y="300719"/>
            <a:ext cx="14668500" cy="621902"/>
          </a:xfrm>
          <a:prstGeom prst="rect">
            <a:avLst/>
          </a:prstGeom>
        </p:spPr>
        <p:txBody>
          <a:bodyPr wrap="square"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US" dirty="0"/>
              <a:t>Constraints to Financial Inclusion (Demand Side) </a:t>
            </a:r>
            <a:endParaRPr lang="en-US" dirty="0">
              <a:sym typeface="Droid Serif Bold"/>
            </a:endParaRPr>
          </a:p>
        </p:txBody>
      </p:sp>
    </p:spTree>
    <p:extLst>
      <p:ext uri="{BB962C8B-B14F-4D97-AF65-F5344CB8AC3E}">
        <p14:creationId xmlns:p14="http://schemas.microsoft.com/office/powerpoint/2010/main" val="4068935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52065-CC78-B4AF-2D0E-88390AB2FD1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2FDF7FD-90CB-77B4-EB2D-15B6C072AB3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98FE2B67-ADCC-C483-D67B-51F0F8BBD07B}"/>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28F80865-6520-D2A3-F5C1-257C86B3E54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29652BF8-CDC1-1DC3-0EAF-5A9A7AF3C8C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76E7E27D-AD63-193D-97C1-4F59FC583BD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44</a:t>
            </a:fld>
            <a:endParaRPr lang="en-US">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0BD256BC-BB72-2E35-B64B-D6BA7D821394}"/>
              </a:ext>
            </a:extLst>
          </p:cNvPr>
          <p:cNvSpPr txBox="1"/>
          <p:nvPr/>
        </p:nvSpPr>
        <p:spPr>
          <a:xfrm>
            <a:off x="756447" y="1795676"/>
            <a:ext cx="16775106" cy="5129289"/>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b="1" dirty="0">
                <a:latin typeface="Arial"/>
                <a:cs typeface="Arial"/>
              </a:rPr>
              <a:t>They have mastered partnerships and platform models</a:t>
            </a:r>
          </a:p>
          <a:p>
            <a:pPr marL="514350" indent="-514350" algn="just">
              <a:lnSpc>
                <a:spcPct val="200000"/>
              </a:lnSpc>
              <a:buFont typeface="Wingdings" panose="05000000000000000000" pitchFamily="2" charset="2"/>
              <a:buChar char="§"/>
            </a:pPr>
            <a:r>
              <a:rPr lang="en-US" sz="2800" dirty="0">
                <a:latin typeface="Arial"/>
                <a:cs typeface="Arial"/>
              </a:rPr>
              <a:t>Instead of themselves becoming financial institutions, these tech firms have often opted for an open ecosystem approach whereby they work with various financial institutions to offer a range of products, providing choice and transparency to their customers. For example, Ant Financial does not see itself as a bank but rather as a financial services provider, a platform that can offer hundreds of different funds for its clients to choose from, as investment opportunities.</a:t>
            </a:r>
            <a:endParaRPr lang="en-GB" sz="2800" dirty="0">
              <a:latin typeface="Arial"/>
              <a:cs typeface="Arial"/>
            </a:endParaRPr>
          </a:p>
        </p:txBody>
      </p:sp>
      <p:sp>
        <p:nvSpPr>
          <p:cNvPr id="4" name="TextBox 6">
            <a:extLst>
              <a:ext uri="{FF2B5EF4-FFF2-40B4-BE49-F238E27FC236}">
                <a16:creationId xmlns:a16="http://schemas.microsoft.com/office/drawing/2014/main" id="{FD09969A-7385-7E59-5A19-993E2D243119}"/>
              </a:ext>
            </a:extLst>
          </p:cNvPr>
          <p:cNvSpPr txBox="1"/>
          <p:nvPr/>
        </p:nvSpPr>
        <p:spPr>
          <a:xfrm>
            <a:off x="990600" y="300719"/>
            <a:ext cx="14668500" cy="621902"/>
          </a:xfrm>
          <a:prstGeom prst="rect">
            <a:avLst/>
          </a:prstGeom>
        </p:spPr>
        <p:txBody>
          <a:bodyPr wrap="square"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US" dirty="0"/>
              <a:t>Constraints to Financial Inclusion (Demand Side) </a:t>
            </a:r>
            <a:endParaRPr lang="en-US" dirty="0">
              <a:sym typeface="Droid Serif Bold"/>
            </a:endParaRPr>
          </a:p>
        </p:txBody>
      </p:sp>
    </p:spTree>
    <p:extLst>
      <p:ext uri="{BB962C8B-B14F-4D97-AF65-F5344CB8AC3E}">
        <p14:creationId xmlns:p14="http://schemas.microsoft.com/office/powerpoint/2010/main" val="1590110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9E3AC-1103-EF99-0308-395B1493CF6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D19872E-C9AE-3CFD-4916-5EC287BFD14F}"/>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734F8BE-6CD2-84FE-92EE-B4FB638E13D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1AF8ACD7-BA7F-4184-C2CD-0C811D4947F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147F60A6-202E-1333-DAB2-D12B8E9EFC9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9809E18-427F-A35A-679F-2E803CCFF68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45</a:t>
            </a:fld>
            <a:endParaRPr lang="en-US">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A8113134-C393-409A-DF50-CE3DFB41C257}"/>
              </a:ext>
            </a:extLst>
          </p:cNvPr>
          <p:cNvSpPr txBox="1"/>
          <p:nvPr/>
        </p:nvSpPr>
        <p:spPr>
          <a:xfrm>
            <a:off x="756447" y="1795676"/>
            <a:ext cx="16775106" cy="5886996"/>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400" b="1" dirty="0">
                <a:latin typeface="Arial"/>
                <a:cs typeface="Arial"/>
              </a:rPr>
              <a:t>They understand and master market adoption habits</a:t>
            </a:r>
          </a:p>
          <a:p>
            <a:pPr marL="514350" indent="-514350" algn="just">
              <a:lnSpc>
                <a:spcPct val="200000"/>
              </a:lnSpc>
              <a:buFont typeface="Wingdings" panose="05000000000000000000" pitchFamily="2" charset="2"/>
              <a:buChar char="§"/>
            </a:pPr>
            <a:r>
              <a:rPr lang="en-US" sz="2400" dirty="0">
                <a:latin typeface="Arial"/>
                <a:cs typeface="Arial"/>
              </a:rPr>
              <a:t>These tech firms have leveraged the digital savviness of Chinese consumers. China leapt into mobile products and services, and its consumers have consistently been seen as being ahead of other countries in the use of new technology. For example, China is estimated to have over 730 million internet users, with 95% of them accessing services through their phones. This has allowed these tech firms to quickly deploy new solutions.</a:t>
            </a:r>
          </a:p>
          <a:p>
            <a:pPr marL="514350" indent="-514350" algn="just">
              <a:lnSpc>
                <a:spcPct val="200000"/>
              </a:lnSpc>
              <a:buFont typeface="Wingdings" panose="05000000000000000000" pitchFamily="2" charset="2"/>
              <a:buChar char="§"/>
            </a:pPr>
            <a:r>
              <a:rPr lang="en-US" sz="2400" b="1" dirty="0">
                <a:latin typeface="Arial"/>
                <a:cs typeface="Arial"/>
              </a:rPr>
              <a:t>They have a </a:t>
            </a:r>
            <a:r>
              <a:rPr lang="en-US" sz="2400" b="1" dirty="0" err="1">
                <a:latin typeface="Arial"/>
                <a:cs typeface="Arial"/>
              </a:rPr>
              <a:t>favourable</a:t>
            </a:r>
            <a:r>
              <a:rPr lang="en-US" sz="2400" b="1" dirty="0">
                <a:latin typeface="Arial"/>
                <a:cs typeface="Arial"/>
              </a:rPr>
              <a:t> regulatory framework</a:t>
            </a:r>
          </a:p>
          <a:p>
            <a:pPr marL="514350" indent="-514350" algn="just">
              <a:lnSpc>
                <a:spcPct val="200000"/>
              </a:lnSpc>
              <a:buFont typeface="Wingdings" panose="05000000000000000000" pitchFamily="2" charset="2"/>
              <a:buChar char="§"/>
            </a:pPr>
            <a:r>
              <a:rPr lang="en-US" sz="2400" dirty="0">
                <a:latin typeface="Arial"/>
                <a:cs typeface="Arial"/>
              </a:rPr>
              <a:t>In order for innovation to flourish, regulations must not be excessive and regulators may have to be pragmatic and practical. China is often described as a big sandbox, with regulators allowing new technologies to emerge, carefully.</a:t>
            </a:r>
            <a:endParaRPr lang="en-GB" sz="2400" dirty="0">
              <a:latin typeface="Arial"/>
              <a:cs typeface="Arial"/>
            </a:endParaRPr>
          </a:p>
        </p:txBody>
      </p:sp>
      <p:sp>
        <p:nvSpPr>
          <p:cNvPr id="4" name="TextBox 6">
            <a:extLst>
              <a:ext uri="{FF2B5EF4-FFF2-40B4-BE49-F238E27FC236}">
                <a16:creationId xmlns:a16="http://schemas.microsoft.com/office/drawing/2014/main" id="{47C676CF-AF09-C0C1-AA79-7BE84B4F2FEF}"/>
              </a:ext>
            </a:extLst>
          </p:cNvPr>
          <p:cNvSpPr txBox="1"/>
          <p:nvPr/>
        </p:nvSpPr>
        <p:spPr>
          <a:xfrm>
            <a:off x="990600" y="300719"/>
            <a:ext cx="14668500" cy="621902"/>
          </a:xfrm>
          <a:prstGeom prst="rect">
            <a:avLst/>
          </a:prstGeom>
        </p:spPr>
        <p:txBody>
          <a:bodyPr wrap="square"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US" dirty="0"/>
              <a:t>Constraints to Financial Inclusion (Demand Side) </a:t>
            </a:r>
            <a:endParaRPr lang="en-US" dirty="0">
              <a:sym typeface="Droid Serif Bold"/>
            </a:endParaRPr>
          </a:p>
        </p:txBody>
      </p:sp>
    </p:spTree>
    <p:extLst>
      <p:ext uri="{BB962C8B-B14F-4D97-AF65-F5344CB8AC3E}">
        <p14:creationId xmlns:p14="http://schemas.microsoft.com/office/powerpoint/2010/main" val="2801214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3" end="3"/>
                                            </p:txEl>
                                          </p:spTgt>
                                        </p:tgtEl>
                                        <p:attrNameLst>
                                          <p:attrName>style.visibility</p:attrName>
                                        </p:attrNameLst>
                                      </p:cBhvr>
                                      <p:to>
                                        <p:strVal val="visible"/>
                                      </p:to>
                                    </p:set>
                                    <p:animEffect transition="in" filter="fade">
                                      <p:cBhvr>
                                        <p:cTn id="17" dur="500"/>
                                        <p:tgtEl>
                                          <p:spTgt spid="1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xEl>
                                              <p:pRg st="2" end="2"/>
                                            </p:txEl>
                                          </p:spTgt>
                                        </p:tgtEl>
                                        <p:attrNameLst>
                                          <p:attrName>style.visibility</p:attrName>
                                        </p:attrNameLst>
                                      </p:cBhvr>
                                      <p:to>
                                        <p:strVal val="visible"/>
                                      </p:to>
                                    </p:set>
                                    <p:animEffect transition="in" filter="fade">
                                      <p:cBhvr>
                                        <p:cTn id="22"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5A4FB-4FF0-0719-768F-9D1A2992FAC4}"/>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F8303215-3DDF-B37F-CA95-5179AB541494}"/>
              </a:ext>
            </a:extLst>
          </p:cNvPr>
          <p:cNvSpPr txBox="1"/>
          <p:nvPr/>
        </p:nvSpPr>
        <p:spPr>
          <a:xfrm>
            <a:off x="902113" y="0"/>
            <a:ext cx="6256973" cy="1638077"/>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FINANCIAL</a:t>
            </a:r>
          </a:p>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INCLUSION</a:t>
            </a:r>
          </a:p>
        </p:txBody>
      </p:sp>
      <p:pic>
        <p:nvPicPr>
          <p:cNvPr id="14" name="Picture 13">
            <a:extLst>
              <a:ext uri="{FF2B5EF4-FFF2-40B4-BE49-F238E27FC236}">
                <a16:creationId xmlns:a16="http://schemas.microsoft.com/office/drawing/2014/main" id="{37D84B4B-4651-9BE2-E008-8E4CD9078FB3}"/>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C3061918-B73C-CA24-715D-8E9E4967CA8C}"/>
              </a:ext>
            </a:extLst>
          </p:cNvPr>
          <p:cNvSpPr txBox="1"/>
          <p:nvPr/>
        </p:nvSpPr>
        <p:spPr>
          <a:xfrm>
            <a:off x="316056" y="4076531"/>
            <a:ext cx="7098887" cy="1212961"/>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en-US" sz="6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Conclusion</a:t>
            </a:r>
            <a:endParaRPr kumimoji="0" lang="en-US" sz="60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extLst>
      <p:ext uri="{BB962C8B-B14F-4D97-AF65-F5344CB8AC3E}">
        <p14:creationId xmlns:p14="http://schemas.microsoft.com/office/powerpoint/2010/main" val="22620771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53811-01DF-A990-ABC5-96351202E78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63F8330-44D0-58C4-0F85-DBE6D13B50E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CDD5355-52E1-5239-AD6E-381B3CC8866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A5BA69FD-B9D1-9470-CB81-0399C405DC1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63BE3CE6-E767-9823-DE3A-396B8827A28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C867690-237A-CDEC-DEF8-496CE1675F3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D0DD383-0822-1103-C9C5-2544BB33305F}"/>
              </a:ext>
            </a:extLst>
          </p:cNvPr>
          <p:cNvSpPr txBox="1"/>
          <p:nvPr/>
        </p:nvSpPr>
        <p:spPr>
          <a:xfrm>
            <a:off x="756447" y="2644758"/>
            <a:ext cx="16775106" cy="685283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latin typeface="Arial"/>
                <a:cs typeface="Arial"/>
              </a:rPr>
              <a:t>FinTech is not just about technology – though technology is very important in all that we do and will help to solve many real problems.</a:t>
            </a:r>
          </a:p>
          <a:p>
            <a:pPr marL="514350" indent="-514350" algn="just">
              <a:lnSpc>
                <a:spcPct val="200000"/>
              </a:lnSpc>
              <a:buFont typeface="Wingdings" panose="05000000000000000000" pitchFamily="2" charset="2"/>
              <a:buChar char="§"/>
            </a:pPr>
            <a:r>
              <a:rPr lang="en-US" sz="2800" dirty="0">
                <a:latin typeface="Arial"/>
                <a:cs typeface="Arial"/>
              </a:rPr>
              <a:t>FinTech is not just about finance – though we want to create a world where financial services are built around us, and we want empower hundreds of millions of people to participate in the modern economy.</a:t>
            </a:r>
          </a:p>
          <a:p>
            <a:pPr marL="514350" indent="-514350" algn="just">
              <a:lnSpc>
                <a:spcPct val="200000"/>
              </a:lnSpc>
              <a:buFont typeface="Wingdings" panose="05000000000000000000" pitchFamily="2" charset="2"/>
              <a:buChar char="§"/>
            </a:pPr>
            <a:r>
              <a:rPr lang="en-US" sz="2800" dirty="0">
                <a:latin typeface="Arial"/>
                <a:cs typeface="Arial"/>
              </a:rPr>
              <a:t>Financial inclusion refers to providing greater access to financial services for poor and low-income individuals, as well as businesses with limited resources.</a:t>
            </a:r>
          </a:p>
          <a:p>
            <a:pPr marL="514350" indent="-514350" algn="just">
              <a:lnSpc>
                <a:spcPct val="200000"/>
              </a:lnSpc>
              <a:buFont typeface="Wingdings" panose="05000000000000000000" pitchFamily="2" charset="2"/>
              <a:buChar char="§"/>
            </a:pPr>
            <a:r>
              <a:rPr lang="en-US" sz="2800" dirty="0">
                <a:latin typeface="Arial"/>
                <a:cs typeface="Arial"/>
              </a:rPr>
              <a:t>Financial inclusion initiatives help boost the economy of poorer regions and countries.</a:t>
            </a:r>
          </a:p>
        </p:txBody>
      </p:sp>
      <p:sp>
        <p:nvSpPr>
          <p:cNvPr id="4" name="TextBox 6">
            <a:extLst>
              <a:ext uri="{FF2B5EF4-FFF2-40B4-BE49-F238E27FC236}">
                <a16:creationId xmlns:a16="http://schemas.microsoft.com/office/drawing/2014/main" id="{50589419-7B97-155B-2C35-4D17CCC9400F}"/>
              </a:ext>
            </a:extLst>
          </p:cNvPr>
          <p:cNvSpPr txBox="1"/>
          <p:nvPr/>
        </p:nvSpPr>
        <p:spPr>
          <a:xfrm>
            <a:off x="756447" y="1805216"/>
            <a:ext cx="9356377" cy="634020"/>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Conclusion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ED8D7A4D-D227-03FC-4434-C3EF4B1583B8}"/>
              </a:ext>
            </a:extLst>
          </p:cNvPr>
          <p:cNvSpPr txBox="1"/>
          <p:nvPr/>
        </p:nvSpPr>
        <p:spPr>
          <a:xfrm>
            <a:off x="990600" y="300719"/>
            <a:ext cx="9356377" cy="621902"/>
          </a:xfrm>
          <a:prstGeom prst="rect">
            <a:avLst/>
          </a:prstGeom>
        </p:spPr>
        <p:txBody>
          <a:bodyPr lIns="0" tIns="0" rIns="0" bIns="0" rtlCol="0" anchor="t">
            <a:spAutoFit/>
          </a:bodyPr>
          <a:lstStyle>
            <a:defPPr>
              <a:defRPr lang="en-US"/>
            </a:defPPr>
            <a:lvl1pPr lvl="0">
              <a:lnSpc>
                <a:spcPts val="5472"/>
              </a:lnSpc>
              <a:defRPr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defRPr>
            </a:lvl1pPr>
          </a:lstStyle>
          <a:p>
            <a:r>
              <a:rPr lang="en-US" dirty="0"/>
              <a:t>Digital Identity</a:t>
            </a:r>
            <a:endParaRPr lang="en-US" dirty="0">
              <a:sym typeface="Droid Serif Bold"/>
            </a:endParaRPr>
          </a:p>
        </p:txBody>
      </p:sp>
    </p:spTree>
    <p:extLst>
      <p:ext uri="{BB962C8B-B14F-4D97-AF65-F5344CB8AC3E}">
        <p14:creationId xmlns:p14="http://schemas.microsoft.com/office/powerpoint/2010/main" val="2924171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847C1-A82D-3BF2-849A-62786207DF3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B47C636-4E8C-0B81-2E26-A91E85654DD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1DDD596-6E0A-933B-4F0F-F07E3527B0D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BDBE504-A8C7-CAD7-2103-33BA7980051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SUMMARY</a:t>
            </a:r>
          </a:p>
        </p:txBody>
      </p:sp>
      <p:sp>
        <p:nvSpPr>
          <p:cNvPr id="9" name="Date Placeholder 8">
            <a:extLst>
              <a:ext uri="{FF2B5EF4-FFF2-40B4-BE49-F238E27FC236}">
                <a16:creationId xmlns:a16="http://schemas.microsoft.com/office/drawing/2014/main" id="{7AB8D550-A45B-54FB-0A9F-5586FE979E6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C2942FF9-ECD9-C5A7-ADA8-A9F890C1E70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0AED30A-DCA5-9E5C-CF53-D041C3DB13C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48</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063BE8D3-B9A3-C4AD-7329-13F8891899B2}"/>
              </a:ext>
            </a:extLst>
          </p:cNvPr>
          <p:cNvSpPr txBox="1"/>
          <p:nvPr/>
        </p:nvSpPr>
        <p:spPr>
          <a:xfrm>
            <a:off x="757618" y="1790700"/>
            <a:ext cx="16773935" cy="5011500"/>
          </a:xfrm>
          <a:prstGeom prst="rect">
            <a:avLst/>
          </a:prstGeom>
          <a:noFill/>
        </p:spPr>
        <p:txBody>
          <a:bodyPr wrap="square" rtlCol="0">
            <a:spAutoFit/>
          </a:bodyPr>
          <a:lstStyle/>
          <a:p>
            <a:r>
              <a:rPr lang="en-US" sz="2800" dirty="0"/>
              <a:t>By the end of this session, students will be able to:</a:t>
            </a:r>
            <a:endParaRPr lang="en-MY" sz="2600" dirty="0"/>
          </a:p>
          <a:p>
            <a:pPr marL="514350" indent="-514350">
              <a:buFont typeface="+mj-lt"/>
              <a:buAutoNum type="arabicPeriod"/>
            </a:pPr>
            <a:endParaRPr lang="en-MY" sz="2600" dirty="0"/>
          </a:p>
          <a:p>
            <a:pPr marL="514350" indent="-514350">
              <a:lnSpc>
                <a:spcPct val="150000"/>
              </a:lnSpc>
              <a:buFont typeface="+mj-lt"/>
              <a:buAutoNum type="arabicPeriod"/>
            </a:pPr>
            <a:r>
              <a:rPr lang="en-US" sz="2800" b="1" dirty="0"/>
              <a:t>The Ecosystem:</a:t>
            </a:r>
            <a:r>
              <a:rPr lang="en-US" sz="2800" dirty="0"/>
              <a:t> Collaboration between tech, finance, and regulators. </a:t>
            </a:r>
          </a:p>
          <a:p>
            <a:pPr marL="514350" indent="-514350">
              <a:lnSpc>
                <a:spcPct val="150000"/>
              </a:lnSpc>
              <a:buFont typeface="+mj-lt"/>
              <a:buAutoNum type="arabicPeriod"/>
            </a:pPr>
            <a:endParaRPr lang="en-US" sz="1000" b="1" dirty="0"/>
          </a:p>
          <a:p>
            <a:pPr marL="514350" indent="-514350">
              <a:lnSpc>
                <a:spcPct val="150000"/>
              </a:lnSpc>
              <a:buFont typeface="+mj-lt"/>
              <a:buAutoNum type="arabicPeriod"/>
            </a:pPr>
            <a:r>
              <a:rPr lang="en-US" sz="2800" b="1" dirty="0"/>
              <a:t>The Target:</a:t>
            </a:r>
            <a:r>
              <a:rPr lang="en-US" sz="2800" dirty="0"/>
              <a:t> Serving the 2.5 billion unbanked/underbanked globally. </a:t>
            </a:r>
          </a:p>
          <a:p>
            <a:pPr marL="514350" indent="-514350">
              <a:lnSpc>
                <a:spcPct val="150000"/>
              </a:lnSpc>
              <a:buFont typeface="+mj-lt"/>
              <a:buAutoNum type="arabicPeriod"/>
            </a:pPr>
            <a:endParaRPr lang="en-US" sz="1000" dirty="0"/>
          </a:p>
          <a:p>
            <a:pPr marL="514350" indent="-514350">
              <a:lnSpc>
                <a:spcPct val="150000"/>
              </a:lnSpc>
              <a:buFont typeface="+mj-lt"/>
              <a:buAutoNum type="arabicPeriod"/>
            </a:pPr>
            <a:r>
              <a:rPr lang="en-US" sz="2800" b="1" dirty="0"/>
              <a:t>The Solution: </a:t>
            </a:r>
            <a:r>
              <a:rPr lang="en-US" sz="2800" dirty="0"/>
              <a:t>Digital services lower costs and improve access. </a:t>
            </a:r>
          </a:p>
          <a:p>
            <a:pPr marL="514350" indent="-514350">
              <a:lnSpc>
                <a:spcPct val="150000"/>
              </a:lnSpc>
              <a:buFont typeface="+mj-lt"/>
              <a:buAutoNum type="arabicPeriod"/>
            </a:pPr>
            <a:endParaRPr lang="en-US" sz="1000" dirty="0"/>
          </a:p>
          <a:p>
            <a:pPr marL="514350" indent="-514350">
              <a:lnSpc>
                <a:spcPct val="150000"/>
              </a:lnSpc>
              <a:buFont typeface="+mj-lt"/>
              <a:buAutoNum type="arabicPeriod"/>
            </a:pPr>
            <a:r>
              <a:rPr lang="en-US" sz="2800" b="1" dirty="0"/>
              <a:t>The Barriers: </a:t>
            </a:r>
            <a:r>
              <a:rPr lang="en-US" sz="2800" dirty="0"/>
              <a:t>Limited income, lack of trust, and outdated bank tech.</a:t>
            </a:r>
          </a:p>
          <a:p>
            <a:pPr marL="514350" indent="-514350">
              <a:lnSpc>
                <a:spcPct val="150000"/>
              </a:lnSpc>
              <a:buFont typeface="+mj-lt"/>
              <a:buAutoNum type="arabicPeriod"/>
            </a:pPr>
            <a:endParaRPr lang="en-US" sz="1000" dirty="0"/>
          </a:p>
          <a:p>
            <a:pPr marL="514350" indent="-514350">
              <a:lnSpc>
                <a:spcPct val="150000"/>
              </a:lnSpc>
              <a:buFont typeface="+mj-lt"/>
              <a:buAutoNum type="arabicPeriod"/>
            </a:pPr>
            <a:r>
              <a:rPr lang="en-US" sz="2800" b="1" dirty="0"/>
              <a:t>Real-World Success: </a:t>
            </a:r>
            <a:r>
              <a:rPr lang="en-US" sz="2800" dirty="0"/>
              <a:t>China reduced poverty using big data for credit scoring.  </a:t>
            </a:r>
          </a:p>
        </p:txBody>
      </p:sp>
    </p:spTree>
    <p:extLst>
      <p:ext uri="{BB962C8B-B14F-4D97-AF65-F5344CB8AC3E}">
        <p14:creationId xmlns:p14="http://schemas.microsoft.com/office/powerpoint/2010/main" val="11632995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56447" y="1563443"/>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flipV="1">
            <a:off x="1028700" y="9534526"/>
            <a:ext cx="16502853"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4648200" y="4777861"/>
            <a:ext cx="8037635" cy="3503005"/>
            <a:chOff x="0" y="0"/>
            <a:chExt cx="2337006" cy="1018527"/>
          </a:xfrm>
          <a:noFill/>
        </p:grpSpPr>
        <p:sp>
          <p:nvSpPr>
            <p:cNvPr id="5" name="Freeform 5"/>
            <p:cNvSpPr/>
            <p:nvPr/>
          </p:nvSpPr>
          <p:spPr>
            <a:xfrm>
              <a:off x="0" y="0"/>
              <a:ext cx="2337006" cy="1018527"/>
            </a:xfrm>
            <a:custGeom>
              <a:avLst/>
              <a:gdLst/>
              <a:ahLst/>
              <a:cxnLst/>
              <a:rect l="l" t="t" r="r" b="b"/>
              <a:pathLst>
                <a:path w="2337006" h="1018527">
                  <a:moveTo>
                    <a:pt x="0" y="0"/>
                  </a:moveTo>
                  <a:lnTo>
                    <a:pt x="2337006" y="0"/>
                  </a:lnTo>
                  <a:lnTo>
                    <a:pt x="2337006" y="1018527"/>
                  </a:lnTo>
                  <a:lnTo>
                    <a:pt x="0" y="1018527"/>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1056627"/>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 name="TextBox 8"/>
          <p:cNvSpPr txBox="1"/>
          <p:nvPr/>
        </p:nvSpPr>
        <p:spPr>
          <a:xfrm>
            <a:off x="3042298" y="3005254"/>
            <a:ext cx="10822028" cy="1371979"/>
          </a:xfrm>
          <a:prstGeom prst="rect">
            <a:avLst/>
          </a:prstGeom>
          <a:noFill/>
        </p:spPr>
        <p:txBody>
          <a:bodyPr lIns="0" tIns="0" rIns="0" bIns="0" rtlCol="0" anchor="t">
            <a:spAutoFit/>
          </a:bodyPr>
          <a:lstStyle/>
          <a:p>
            <a:pPr marL="0" marR="0" lvl="0" indent="0" algn="ctr" defTabSz="457200" rtl="0" eaLnBrk="1" fontAlgn="auto" latinLnBrk="0" hangingPunct="1">
              <a:lnSpc>
                <a:spcPts val="11855"/>
              </a:lnSpc>
              <a:spcBef>
                <a:spcPct val="0"/>
              </a:spcBef>
              <a:spcAft>
                <a:spcPts val="0"/>
              </a:spcAft>
              <a:buClrTx/>
              <a:buSzTx/>
              <a:buFontTx/>
              <a:buNone/>
              <a:tabLst/>
              <a:defRPr/>
            </a:pPr>
            <a:r>
              <a:rPr kumimoji="0" lang="en-US" sz="7799" b="1" i="0" u="none" strike="noStrike" kern="1200" cap="none" spc="0" normalizeH="0" baseline="0" noProof="0">
                <a:ln>
                  <a:noFill/>
                </a:ln>
                <a:gradFill>
                  <a:gsLst>
                    <a:gs pos="0">
                      <a:schemeClr val="accent5">
                        <a:lumMod val="75000"/>
                      </a:scheme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THANK YOU</a:t>
            </a:r>
          </a:p>
        </p:txBody>
      </p:sp>
      <p:sp>
        <p:nvSpPr>
          <p:cNvPr id="10" name="TextBox 10"/>
          <p:cNvSpPr txBox="1"/>
          <p:nvPr/>
        </p:nvSpPr>
        <p:spPr>
          <a:xfrm>
            <a:off x="5614211" y="5660960"/>
            <a:ext cx="5678202" cy="396367"/>
          </a:xfrm>
          <a:prstGeom prst="rect">
            <a:avLst/>
          </a:prstGeom>
        </p:spPr>
        <p:txBody>
          <a:bodyPr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199"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rPr>
              <a:t>DEPARTMENT OF COMPUTING</a:t>
            </a:r>
          </a:p>
        </p:txBody>
      </p:sp>
      <p:sp>
        <p:nvSpPr>
          <p:cNvPr id="11" name="TextBox 11"/>
          <p:cNvSpPr txBox="1"/>
          <p:nvPr/>
        </p:nvSpPr>
        <p:spPr>
          <a:xfrm>
            <a:off x="5074241" y="5186980"/>
            <a:ext cx="6758143" cy="893130"/>
          </a:xfrm>
          <a:prstGeom prst="rect">
            <a:avLst/>
          </a:prstGeom>
        </p:spPr>
        <p:txBody>
          <a:bodyPr lIns="0" tIns="0" rIns="0" bIns="0" rtlCol="0" anchor="t">
            <a:spAutoFit/>
          </a:bodyPr>
          <a:lstStyle/>
          <a:p>
            <a:pPr algn="ctr">
              <a:lnSpc>
                <a:spcPts val="3647"/>
              </a:lnSpc>
              <a:defRPr/>
            </a:pPr>
            <a:r>
              <a:rPr lang="en-MY" sz="2399" spc="98" dirty="0">
                <a:gradFill>
                  <a:gsLst>
                    <a:gs pos="0">
                      <a:srgbClr val="000000">
                        <a:alpha val="100000"/>
                      </a:srgbClr>
                    </a:gs>
                    <a:gs pos="50000">
                      <a:srgbClr val="002F31">
                        <a:alpha val="100000"/>
                      </a:srgbClr>
                    </a:gs>
                    <a:gs pos="100000">
                      <a:srgbClr val="00959A">
                        <a:alpha val="100000"/>
                      </a:srgbClr>
                    </a:gs>
                  </a:gsLst>
                  <a:lin ang="2700000"/>
                </a:gradFill>
                <a:latin typeface="Aptos"/>
              </a:rPr>
              <a:t>Shuhaida Bt M Shuhidan</a:t>
            </a:r>
          </a:p>
          <a:p>
            <a:pPr marL="0" marR="0" lvl="0" indent="0" algn="ctr" defTabSz="457200" rtl="0" eaLnBrk="1" fontAlgn="auto" latinLnBrk="0" hangingPunct="1">
              <a:lnSpc>
                <a:spcPts val="3647"/>
              </a:lnSpc>
              <a:spcBef>
                <a:spcPts val="0"/>
              </a:spcBef>
              <a:spcAft>
                <a:spcPts val="0"/>
              </a:spcAft>
              <a:buClrTx/>
              <a:buSzTx/>
              <a:buFontTx/>
              <a:buNone/>
              <a:tabLst/>
              <a:defRPr/>
            </a:pPr>
            <a:endParaRPr kumimoji="0" lang="en-US" sz="2399" b="0" i="0" u="none" strike="noStrike" kern="1200" cap="none" spc="98"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endParaRPr>
          </a:p>
        </p:txBody>
      </p:sp>
      <p:grpSp>
        <p:nvGrpSpPr>
          <p:cNvPr id="12" name="Group 12"/>
          <p:cNvGrpSpPr/>
          <p:nvPr/>
        </p:nvGrpSpPr>
        <p:grpSpPr>
          <a:xfrm>
            <a:off x="5509434" y="6611027"/>
            <a:ext cx="5101859" cy="425112"/>
            <a:chOff x="0" y="0"/>
            <a:chExt cx="6802476" cy="566816"/>
          </a:xfrm>
        </p:grpSpPr>
        <p:sp>
          <p:nvSpPr>
            <p:cNvPr id="13" name="Freeform 13"/>
            <p:cNvSpPr/>
            <p:nvPr/>
          </p:nvSpPr>
          <p:spPr>
            <a:xfrm>
              <a:off x="0" y="0"/>
              <a:ext cx="577647" cy="566816"/>
            </a:xfrm>
            <a:custGeom>
              <a:avLst/>
              <a:gdLst/>
              <a:ahLst/>
              <a:cxnLst/>
              <a:rect l="l" t="t" r="r" b="b"/>
              <a:pathLst>
                <a:path w="577647" h="566816">
                  <a:moveTo>
                    <a:pt x="0" y="0"/>
                  </a:moveTo>
                  <a:lnTo>
                    <a:pt x="577647" y="0"/>
                  </a:lnTo>
                  <a:lnTo>
                    <a:pt x="577647" y="566816"/>
                  </a:lnTo>
                  <a:lnTo>
                    <a:pt x="0" y="56681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Box 14"/>
            <p:cNvSpPr txBox="1"/>
            <p:nvPr/>
          </p:nvSpPr>
          <p:spPr>
            <a:xfrm>
              <a:off x="1009574" y="58111"/>
              <a:ext cx="5792902" cy="479448"/>
            </a:xfrm>
            <a:prstGeom prst="rect">
              <a:avLst/>
            </a:prstGeom>
          </p:spPr>
          <p:txBody>
            <a:bodyPr wrap="square" lIns="0" tIns="0" rIns="0" bIns="0" rtlCol="0" anchor="t">
              <a:spAutoFit/>
            </a:bodyPr>
            <a:lstStyle/>
            <a:p>
              <a:pPr lvl="0">
                <a:lnSpc>
                  <a:spcPts val="3040"/>
                </a:lnSpc>
                <a:defRPr/>
              </a:pPr>
              <a:r>
                <a:rPr lang="en-US" sz="2000" spc="82" dirty="0">
                  <a:gradFill>
                    <a:gsLst>
                      <a:gs pos="0">
                        <a:srgbClr val="000000">
                          <a:alpha val="100000"/>
                        </a:srgbClr>
                      </a:gs>
                      <a:gs pos="50000">
                        <a:srgbClr val="002F31">
                          <a:alpha val="100000"/>
                        </a:srgbClr>
                      </a:gs>
                      <a:gs pos="100000">
                        <a:srgbClr val="00959A">
                          <a:alpha val="100000"/>
                        </a:srgbClr>
                      </a:gs>
                    </a:gsLst>
                    <a:lin ang="2700000"/>
                  </a:gradFill>
                  <a:latin typeface="Aptos"/>
                  <a:sym typeface="Aptos"/>
                  <a:hlinkClick r:id="rId4"/>
                </a:rPr>
                <a:t>shuhaida.shuhidan@utp.edu.my</a:t>
              </a:r>
              <a:r>
                <a:rPr lang="en-US" sz="2000" spc="82" dirty="0">
                  <a:gradFill>
                    <a:gsLst>
                      <a:gs pos="0">
                        <a:srgbClr val="000000">
                          <a:alpha val="100000"/>
                        </a:srgbClr>
                      </a:gs>
                      <a:gs pos="50000">
                        <a:srgbClr val="002F31">
                          <a:alpha val="100000"/>
                        </a:srgbClr>
                      </a:gs>
                      <a:gs pos="100000">
                        <a:srgbClr val="00959A">
                          <a:alpha val="100000"/>
                        </a:srgbClr>
                      </a:gs>
                    </a:gsLst>
                    <a:lin ang="2700000"/>
                  </a:gradFill>
                  <a:latin typeface="Aptos"/>
                  <a:sym typeface="Aptos"/>
                </a:rPr>
                <a:t> </a:t>
              </a:r>
            </a:p>
          </p:txBody>
        </p:sp>
      </p:grpSp>
      <p:grpSp>
        <p:nvGrpSpPr>
          <p:cNvPr id="15" name="Group 15"/>
          <p:cNvGrpSpPr/>
          <p:nvPr/>
        </p:nvGrpSpPr>
        <p:grpSpPr>
          <a:xfrm>
            <a:off x="5509434" y="7391229"/>
            <a:ext cx="3326815" cy="512496"/>
            <a:chOff x="0" y="0"/>
            <a:chExt cx="4435752" cy="683328"/>
          </a:xfrm>
        </p:grpSpPr>
        <p:sp>
          <p:nvSpPr>
            <p:cNvPr id="16" name="Freeform 16"/>
            <p:cNvSpPr/>
            <p:nvPr/>
          </p:nvSpPr>
          <p:spPr>
            <a:xfrm>
              <a:off x="0" y="0"/>
              <a:ext cx="550390" cy="683328"/>
            </a:xfrm>
            <a:custGeom>
              <a:avLst/>
              <a:gdLst/>
              <a:ahLst/>
              <a:cxnLst/>
              <a:rect l="l" t="t" r="r" b="b"/>
              <a:pathLst>
                <a:path w="550390" h="683328">
                  <a:moveTo>
                    <a:pt x="0" y="0"/>
                  </a:moveTo>
                  <a:lnTo>
                    <a:pt x="550390" y="0"/>
                  </a:lnTo>
                  <a:lnTo>
                    <a:pt x="550390" y="683328"/>
                  </a:lnTo>
                  <a:lnTo>
                    <a:pt x="0" y="6833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Box 17"/>
            <p:cNvSpPr txBox="1"/>
            <p:nvPr/>
          </p:nvSpPr>
          <p:spPr>
            <a:xfrm>
              <a:off x="1009575" y="75176"/>
              <a:ext cx="3426177" cy="479448"/>
            </a:xfrm>
            <a:prstGeom prst="rect">
              <a:avLst/>
            </a:prstGeom>
          </p:spPr>
          <p:txBody>
            <a:bodyPr lIns="0" tIns="0" rIns="0" bIns="0" rtlCol="0" anchor="t">
              <a:spAutoFit/>
            </a:bodyPr>
            <a:lstStyle/>
            <a:p>
              <a:pPr marL="0" marR="0" lvl="0" indent="0" algn="l" defTabSz="457200" rtl="0" eaLnBrk="1" fontAlgn="auto" latinLnBrk="0" hangingPunct="1">
                <a:lnSpc>
                  <a:spcPts val="3040"/>
                </a:lnSpc>
                <a:spcBef>
                  <a:spcPts val="0"/>
                </a:spcBef>
                <a:spcAft>
                  <a:spcPts val="0"/>
                </a:spcAft>
                <a:buClrTx/>
                <a:buSzTx/>
                <a:buFontTx/>
                <a:buNone/>
                <a:tabLst/>
                <a:defRPr/>
              </a:pPr>
              <a:r>
                <a:rPr kumimoji="0" lang="en-US" sz="2000" b="0" i="0" u="none" strike="noStrike" kern="1200" cap="none" spc="82"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rPr>
                <a:t>01-03-31</a:t>
              </a:r>
            </a:p>
          </p:txBody>
        </p:sp>
      </p:grpSp>
      <p:sp>
        <p:nvSpPr>
          <p:cNvPr id="18" name="Freeform 18"/>
          <p:cNvSpPr/>
          <p:nvPr/>
        </p:nvSpPr>
        <p:spPr>
          <a:xfrm>
            <a:off x="13452568" y="161232"/>
            <a:ext cx="3806732" cy="1350171"/>
          </a:xfrm>
          <a:custGeom>
            <a:avLst/>
            <a:gdLst/>
            <a:ahLst/>
            <a:cxnLst/>
            <a:rect l="l" t="t" r="r" b="b"/>
            <a:pathLst>
              <a:path w="3806732" h="1350171">
                <a:moveTo>
                  <a:pt x="0" y="0"/>
                </a:moveTo>
                <a:lnTo>
                  <a:pt x="3806732" y="0"/>
                </a:lnTo>
                <a:lnTo>
                  <a:pt x="3806732" y="1350171"/>
                </a:lnTo>
                <a:lnTo>
                  <a:pt x="0" y="1350171"/>
                </a:lnTo>
                <a:lnTo>
                  <a:pt x="0" y="0"/>
                </a:lnTo>
                <a:close/>
              </a:path>
            </a:pathLst>
          </a:custGeom>
          <a:blipFill>
            <a:blip r:embed="rId6"/>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969CC0C1-CEE6-7AFD-F08C-9037DCAEDE15}"/>
              </a:ext>
            </a:extLst>
          </p:cNvPr>
          <p:cNvSpPr>
            <a:spLocks noGrp="1"/>
          </p:cNvSpPr>
          <p:nvPr>
            <p:ph type="dt" sz="half" idx="10"/>
          </p:nvPr>
        </p:nvSpPr>
        <p:spPr/>
        <p:txBody>
          <a:bodyPr/>
          <a:lstStyle/>
          <a:p>
            <a:r>
              <a:rPr lang="en-US" dirty="0">
                <a:latin typeface="Segoe UI" panose="020B0502040204020203" pitchFamily="34" charset="0"/>
                <a:cs typeface="Segoe UI" panose="020B0502040204020203" pitchFamily="34" charset="0"/>
              </a:rPr>
              <a:t>Week II</a:t>
            </a:r>
          </a:p>
        </p:txBody>
      </p:sp>
      <p:sp>
        <p:nvSpPr>
          <p:cNvPr id="19" name="Footer Placeholder 18">
            <a:extLst>
              <a:ext uri="{FF2B5EF4-FFF2-40B4-BE49-F238E27FC236}">
                <a16:creationId xmlns:a16="http://schemas.microsoft.com/office/drawing/2014/main" id="{559E3EB5-D08C-1B33-945D-C91DA725F3E7}"/>
              </a:ext>
            </a:extLst>
          </p:cNvPr>
          <p:cNvSpPr>
            <a:spLocks noGrp="1"/>
          </p:cNvSpPr>
          <p:nvPr>
            <p:ph type="ftr" sz="quarter" idx="11"/>
          </p:nvPr>
        </p:nvSpPr>
        <p:spPr>
          <a:xfrm>
            <a:off x="6057900" y="9534526"/>
            <a:ext cx="7658100" cy="547688"/>
          </a:xfrm>
        </p:spPr>
        <p:txBody>
          <a:bodyPr/>
          <a:lstStyle/>
          <a:p>
            <a:r>
              <a:rPr lang="en-US"/>
              <a:t>For educational use only. Not to be distributed or shared without permission.</a:t>
            </a:r>
          </a:p>
        </p:txBody>
      </p:sp>
      <p:sp>
        <p:nvSpPr>
          <p:cNvPr id="20" name="Slide Number Placeholder 19">
            <a:extLst>
              <a:ext uri="{FF2B5EF4-FFF2-40B4-BE49-F238E27FC236}">
                <a16:creationId xmlns:a16="http://schemas.microsoft.com/office/drawing/2014/main" id="{1A546E35-A579-1253-4F8D-BE6DFA9A4D02}"/>
              </a:ext>
            </a:extLst>
          </p:cNvPr>
          <p:cNvSpPr>
            <a:spLocks noGrp="1"/>
          </p:cNvSpPr>
          <p:nvPr>
            <p:ph type="sldNum" sz="quarter" idx="12"/>
          </p:nvPr>
        </p:nvSpPr>
        <p:spPr/>
        <p:txBody>
          <a:bodyPr/>
          <a:lstStyle/>
          <a:p>
            <a:fld id="{B6F15528-21DE-4FAA-801E-634DDDAF4B2B}" type="slidenum">
              <a:rPr lang="en-US" smtClean="0"/>
              <a:pPr/>
              <a:t>49</a:t>
            </a:fld>
            <a:endParaRPr lang="en-US"/>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f604542f-3f98-4180-a530-dccd8eb9645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DC87EB35ACF9448AB6AF0166C74B31C" ma:contentTypeVersion="20" ma:contentTypeDescription="Create a new document." ma:contentTypeScope="" ma:versionID="afd188c47451dba45a86e012c1481767">
  <xsd:schema xmlns:xsd="http://www.w3.org/2001/XMLSchema" xmlns:xs="http://www.w3.org/2001/XMLSchema" xmlns:p="http://schemas.microsoft.com/office/2006/metadata/properties" xmlns:ns1="http://schemas.microsoft.com/sharepoint/v3" xmlns:ns3="f604542f-3f98-4180-a530-dccd8eb96459" xmlns:ns4="161b1d0b-c5d9-4346-b7aa-7c23791df872" targetNamespace="http://schemas.microsoft.com/office/2006/metadata/properties" ma:root="true" ma:fieldsID="f8830e1d0cf709f132b06e9cca8a370a" ns1:_="" ns3:_="" ns4:_="">
    <xsd:import namespace="http://schemas.microsoft.com/sharepoint/v3"/>
    <xsd:import namespace="f604542f-3f98-4180-a530-dccd8eb96459"/>
    <xsd:import namespace="161b1d0b-c5d9-4346-b7aa-7c23791df87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1:_ip_UnifiedCompliancePolicyProperties" minOccurs="0"/>
                <xsd:element ref="ns1:_ip_UnifiedCompliancePolicyUIAction"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04542f-3f98-4180-a530-dccd8eb964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description="" ma:hidden="true" ma:indexed="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_activity" ma:index="23" nillable="true" ma:displayName="_activity" ma:hidden="true" ma:internalName="_activity">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Location" ma:index="27"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1b1d0b-c5d9-4346-b7aa-7c23791df87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9B6550-91B7-456B-A940-ECDA25AB84F3}">
  <ds:schemaRefs>
    <ds:schemaRef ds:uri="http://schemas.microsoft.com/sharepoint/v3/contenttype/forms"/>
  </ds:schemaRefs>
</ds:datastoreItem>
</file>

<file path=customXml/itemProps2.xml><?xml version="1.0" encoding="utf-8"?>
<ds:datastoreItem xmlns:ds="http://schemas.openxmlformats.org/officeDocument/2006/customXml" ds:itemID="{BF8EABEC-D4DA-4635-9F5B-DEE1FFF379A2}">
  <ds:schemaRefs>
    <ds:schemaRef ds:uri="http://purl.org/dc/dcmitype/"/>
    <ds:schemaRef ds:uri="http://www.w3.org/XML/1998/namespace"/>
    <ds:schemaRef ds:uri="http://schemas.microsoft.com/office/infopath/2007/PartnerControls"/>
    <ds:schemaRef ds:uri="http://schemas.openxmlformats.org/package/2006/metadata/core-properties"/>
    <ds:schemaRef ds:uri="161b1d0b-c5d9-4346-b7aa-7c23791df872"/>
    <ds:schemaRef ds:uri="http://schemas.microsoft.com/office/2006/documentManagement/types"/>
    <ds:schemaRef ds:uri="http://purl.org/dc/elements/1.1/"/>
    <ds:schemaRef ds:uri="f604542f-3f98-4180-a530-dccd8eb96459"/>
    <ds:schemaRef ds:uri="http://schemas.microsoft.com/sharepoint/v3"/>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07F07991-DBC0-402D-BD53-7E5C26CAE5A5}">
  <ds:schemaRefs>
    <ds:schemaRef ds:uri="161b1d0b-c5d9-4346-b7aa-7c23791df872"/>
    <ds:schemaRef ds:uri="f604542f-3f98-4180-a530-dccd8eb9645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912</TotalTime>
  <Words>6501</Words>
  <Application>Microsoft Office PowerPoint</Application>
  <PresentationFormat>Custom</PresentationFormat>
  <Paragraphs>774</Paragraphs>
  <Slides>49</Slides>
  <Notes>49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49</vt:i4>
      </vt:variant>
    </vt:vector>
  </HeadingPairs>
  <TitlesOfParts>
    <vt:vector size="59" baseType="lpstr">
      <vt:lpstr>Droid Serif Bold</vt:lpstr>
      <vt:lpstr>Calibri</vt:lpstr>
      <vt:lpstr>Aptos</vt:lpstr>
      <vt:lpstr>Museo Sans 300</vt:lpstr>
      <vt:lpstr>Segoe UI</vt:lpstr>
      <vt:lpstr>Arial MT</vt:lpstr>
      <vt:lpstr>Arial</vt:lpstr>
      <vt:lpstr>Calibri Light</vt:lpstr>
      <vt:lpstr>Wingdings</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DG Slide Ver02</dc:title>
  <dc:creator>Nurul Fazilah Bt Esa (FSMC/UTP)</dc:creator>
  <cp:lastModifiedBy>Khan Reeyan Afzal</cp:lastModifiedBy>
  <cp:revision>372</cp:revision>
  <dcterms:created xsi:type="dcterms:W3CDTF">2006-08-16T00:00:00Z</dcterms:created>
  <dcterms:modified xsi:type="dcterms:W3CDTF">2026-05-18T08:21:28Z</dcterms:modified>
  <dc:identifier>DAG_MRG_x0E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0x0101000DC87EB35ACF9448AB6AF0166C74B31C</vt:lpwstr>
  </property>
</Properties>
</file>