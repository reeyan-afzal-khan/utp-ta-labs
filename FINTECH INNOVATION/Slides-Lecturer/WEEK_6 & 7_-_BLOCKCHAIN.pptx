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57"/>
  </p:notesMasterIdLst>
  <p:handoutMasterIdLst>
    <p:handoutMasterId r:id="rId58"/>
  </p:handoutMasterIdLst>
  <p:sldIdLst>
    <p:sldId id="268" r:id="rId5"/>
    <p:sldId id="277" r:id="rId6"/>
    <p:sldId id="422" r:id="rId7"/>
    <p:sldId id="374" r:id="rId8"/>
    <p:sldId id="375" r:id="rId9"/>
    <p:sldId id="257" r:id="rId10"/>
    <p:sldId id="365" r:id="rId11"/>
    <p:sldId id="376" r:id="rId12"/>
    <p:sldId id="377" r:id="rId13"/>
    <p:sldId id="378" r:id="rId14"/>
    <p:sldId id="282" r:id="rId15"/>
    <p:sldId id="379" r:id="rId16"/>
    <p:sldId id="380" r:id="rId17"/>
    <p:sldId id="381" r:id="rId18"/>
    <p:sldId id="382" r:id="rId19"/>
    <p:sldId id="383" r:id="rId20"/>
    <p:sldId id="385" r:id="rId21"/>
    <p:sldId id="386" r:id="rId22"/>
    <p:sldId id="387" r:id="rId23"/>
    <p:sldId id="388" r:id="rId24"/>
    <p:sldId id="389" r:id="rId25"/>
    <p:sldId id="390" r:id="rId26"/>
    <p:sldId id="403" r:id="rId27"/>
    <p:sldId id="404" r:id="rId28"/>
    <p:sldId id="393" r:id="rId29"/>
    <p:sldId id="394" r:id="rId30"/>
    <p:sldId id="395" r:id="rId31"/>
    <p:sldId id="396" r:id="rId32"/>
    <p:sldId id="397" r:id="rId33"/>
    <p:sldId id="398" r:id="rId34"/>
    <p:sldId id="405" r:id="rId35"/>
    <p:sldId id="400" r:id="rId36"/>
    <p:sldId id="401" r:id="rId37"/>
    <p:sldId id="402" r:id="rId38"/>
    <p:sldId id="406" r:id="rId39"/>
    <p:sldId id="407" r:id="rId40"/>
    <p:sldId id="408" r:id="rId41"/>
    <p:sldId id="409"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320" r:id="rId55"/>
    <p:sldId id="270" r:id="rId56"/>
  </p:sldIdLst>
  <p:sldSz cx="18288000" cy="10287000"/>
  <p:notesSz cx="6858000" cy="9144000"/>
  <p:embeddedFontLst>
    <p:embeddedFont>
      <p:font typeface="Museo Sans 300" panose="02000000000000000000" charset="0"/>
      <p:regular r:id="rId59"/>
      <p:bold r:id="rId60"/>
      <p:italic r:id="rId61"/>
    </p:embeddedFont>
    <p:embeddedFont>
      <p:font typeface="Segoe UI" panose="020B0502040204020203" pitchFamily="34" charset="0"/>
      <p:regular r:id="rId62"/>
      <p:bold r:id="rId63"/>
      <p:italic r:id="rId64"/>
      <p:boldItalic r:id="rId6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01" autoAdjust="0"/>
    <p:restoredTop sz="73957" autoAdjust="0"/>
  </p:normalViewPr>
  <p:slideViewPr>
    <p:cSldViewPr snapToGrid="0">
      <p:cViewPr varScale="1">
        <p:scale>
          <a:sx n="36" d="100"/>
          <a:sy n="36" d="100"/>
        </p:scale>
        <p:origin x="72" y="6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5.fntdata"/><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font" Target="fonts/font3.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6.fntdata"/><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fntdata"/><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DB02-CD4F-7824-AF8B-60D1BFA71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58E74-D209-6322-A8D8-9B26DD6998B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D90864B-FB7A-ADA0-47F4-9EAD76CA24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175CBC8D-7431-6546-E898-64F26DAB44D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79A0691-45FF-7CF2-562E-088EFF5DB340}"/>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3572672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8C69-CB5D-69B3-25A1-427E9E7B1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3C942-105C-31D7-DBD4-3F4B9196873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50B3F07-EB25-4908-8D40-F37E90CE24D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494A203-BDB5-CE9F-48BA-80328C214BF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4083102-64E6-A629-3394-9A86755FBA84}"/>
              </a:ext>
            </a:extLst>
          </p:cNvPr>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360044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C735C-F96D-1587-B5C3-4B6193E20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0AE32-6E95-D128-F2C6-019CD41A87C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7715566-610A-D521-3D85-C7DAB04C7C7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4D96B85-A856-04C5-BFF8-8C04FCC012A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66BE15E-F787-BA8E-16A0-6E7D84F08F20}"/>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3424075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4FD4-EA8B-95DA-22FE-7A3223558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FA68A-4ACD-336D-D563-A32C8006A82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AE8999C-56A9-0CED-58DA-BCB10239C41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9356DEE-C2BC-B69B-F035-ECFF0257729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10F19F5-4B46-AC55-7E7A-2397C1B1BF17}"/>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675641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ABF5-F4EE-B6EF-2B96-A86FD67CB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FB2E5-B47C-9B4F-2071-9787B1109D7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06A0930-E5C4-549E-C15D-342DB68BA43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8D5E9C3-7312-514E-159C-57FBA29234A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EA73827-4482-9B0E-77FF-0ACA733FF2F6}"/>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3349299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9BBF-CE9B-43C7-6E81-0871B5B44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1D94E-3D0D-0EEC-3A36-FCC341E2BC2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41D09B-EDCA-CF3F-EB90-8AC6D261FCD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F401368-EA85-EFC2-579B-432E122266E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1B176FD-EB5A-F5B9-1AC8-21525159AB12}"/>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3206193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B6039-DF88-FCCC-97AF-9D61B4706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F82ED-0174-B3E5-35A9-34AC37AD316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230D0C0-5C6C-6DD6-E42D-4CFD086B2EE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B7AA6AD-C728-B13E-F105-B99F77F6BA2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6BD7182-FD74-A76D-5548-CFFC2EA379BE}"/>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2433788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A5113-1F5C-B2BB-CCB6-88BA1EDD2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CE1CA-5B00-4298-3861-6121E2AC4B1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46010CB-EFB6-C9D3-28B4-9DEC5B69C0B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7C977B5-36BD-C443-3F51-026E141DA96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03B542F-461B-0199-D695-E10450C42F07}"/>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1361289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32352-4162-4BA4-F636-0D9DB3724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5D971-4FE2-659B-D5C3-A345E6D16A1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0EC4E48-459A-2263-BB04-1CD5947F29A1}"/>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8D62750-77C7-5DF9-379C-76A59E1455B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36BD2A7-CA8B-D35B-53A1-889133C2A577}"/>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3921045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6B4F5-3B7A-B5C1-FB11-80EFDF158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FC2ED-9CAB-F291-250F-742CA995B47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F22ACBD-00D6-3370-F3AA-3C5C559937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44BA52A-A6D5-5B05-FFC4-D9E4A7F065E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0386B1D-BCAF-8880-387A-49BCB0B1C2DC}"/>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3363861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D51D-4501-A3F3-14F2-619790A63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A8601-EA00-EE65-56BB-679BF2CB36B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93370E4-D809-29E0-9319-C1FCEB1523A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54EF724-CB2D-E043-98FE-2BD35376FC5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5B9CB0B-8548-4FD1-6E8A-D838BE603BAC}"/>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3689835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FC7D-7AD1-F58A-604E-C9BFA395E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B754F-6FF2-622B-A951-89693B8D09A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3E2BC5E-1769-3569-D38A-37645EAE1A3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5FFC62F-436B-0277-76E3-6915EAD6B63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20F9B9F-4A57-9EB6-5CCA-39C0B91900D8}"/>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458553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2E7D-B30D-0563-E07A-2BDE665D5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7135B-F7FE-1F46-F684-237105FFAA3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085137E-4011-B48A-D1DA-2608A0FDD59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6238003-91CA-A831-25EA-A342B2C3E95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381DACE-EE20-991C-AE5F-8B5A7395E856}"/>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2028299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1B08A-2D1B-1DF1-5AA2-7A8643498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9E073-3FF0-4F72-4E3F-308A6634529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748A07F-B662-B95B-91CA-2BB3FA2B0CF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DDC1FBF-933A-4A5E-BC36-4F48F516801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0BD470A-AEB2-4815-6FB0-D6E0D107F9AB}"/>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636387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1A93-6F3A-A2CC-D5A6-61086D6FC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5A3F0-58CC-EB44-2042-4A9E0C2692C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E6EF9AF-96C9-E7BB-42F7-B36F9E652062}"/>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50121111-5592-1F59-FED3-712895D1520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6D1801D-3178-CF76-2F44-29CDC3EC7915}"/>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60189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3D72-271C-2AF2-BD42-46C1C3889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E043D-C3B3-A581-04BB-EC96ACE7A03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606267C-3E6D-71F0-DC22-035821EFE57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71C7C25-EF44-2CF4-F9C0-D9427E9A18F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15FF928-BC1F-1DEE-1CC8-9D7371A6905E}"/>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3692869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CDCB-5245-8B57-88F6-33B23DEE7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63CA1-B242-5413-731B-CC0E5A1D025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835F73F-A9B3-51F0-242D-F0B8DD2FB76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7050077-B97C-E3F2-EFCD-AB4D982AC57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C37F48F-D7D0-ECF2-7C8B-E1CE94861727}"/>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3263749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36D2F-2DA2-6237-FE6C-97FBCE194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4BEE7-D9CD-5A04-B26E-56398D676BA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E9E5E3E-C820-AF30-6BC5-7D9CE1B43E0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9E3E621-8DEC-159D-08CD-9AE556365E9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258D9E2-0855-5A3D-FC20-961E0EA1E77E}"/>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3005386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5344-2D1A-54E4-A48B-7E41C567B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3F7AC-1C52-133F-CECC-8077AD75EF7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6FD0942-7F9B-3E9E-BA79-2215ABEB35F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A53F995-94CF-EEDC-B66F-9022C8ECF7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7973510-B77C-79B3-9805-32827A366236}"/>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1580641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C085A-A53C-21FC-FF55-586D2AA08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A5395-9FD9-2B23-9B23-83A4226981E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D92C77B-2BED-5A3D-9B04-39913DF8F86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1927EFF8-2FE5-F5F7-9275-FA4B803BBD5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AB57D88-9861-B957-3CED-191848736F63}"/>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1458186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FF8B-8983-F021-08DA-6A6E34146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320B7-2F59-E46D-FB73-7014D91E752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08C042A-EF6A-17CB-50F4-72BF248643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B545E4E-8050-9B64-D4A1-6029CB0DAC5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D03F6DB-CDAE-F809-4B02-35FC173CEAE0}"/>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2140547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590D2-D067-3DBE-82BE-D8FC7BDA8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41CDD-A413-5C95-8C03-F4E8E3FA8CE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F1D1199-B05B-B032-433A-D2E97E7B535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7B049FB-8FD4-B994-93D3-4260BF8499C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8C742AD-D4E8-48D6-41FA-533AF4C3035D}"/>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122609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68DD-16D9-B71D-1749-3A9A31946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628F5-3A56-BA0C-734C-22C7BB09881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E98E5E9-9A6C-3E86-11CC-C9CC9460B73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5AAE605-7317-ED9B-D37D-CFD8BA77AE3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AF83AC2-023D-8FE8-79F4-EBAB68D856C6}"/>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3117754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03A5-ED88-4198-65FA-477E048C5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24F96-348C-E66D-F4C7-73B4B8DE55A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F1A24EC-C852-204C-8A0A-051C85F578A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C239041-7613-610C-4B80-D8E6EB22D34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61F44F-B157-98F3-E124-E725B459D955}"/>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36488927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3E5A9-112B-3257-D289-58C6E1054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81257-DACD-53A8-3785-B94F23CCC5C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135BCC5-1352-0E07-8E10-C76E5298A5D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6960B9C-6F10-D4C9-FAF4-685B33F8F1D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776B410-7249-90CB-8BBF-08AC67A5A632}"/>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22102640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00B93-2E34-4DBF-99C6-F7FD832D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6BDCC-FA52-1090-5A35-8A1FC9DE558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D1E3723-AABD-4D34-AA31-6175D531080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265FF7D-7CFE-CD7B-2716-991480065C3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A7EA487-A547-5B12-FAC2-5395DDFA099E}"/>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1306414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83AB-5AD6-A264-722B-743357169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27AD3-22F2-3D3E-95DB-EC1143D4784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1F7AAB5-68A9-AEDE-3224-9D77A200948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BB57EDF-090B-7734-296C-5F33DF5CF82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4D9D16-478F-07C7-5527-E5ED7754ECAB}"/>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14405439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7B10-1146-E63C-11AA-219F801AF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0A778-2BBC-ACCC-A8C0-208FD55EB6D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1EA9B66-4A74-171F-6AFC-AF5995DFE412}"/>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8BE6007-6F0B-561B-A6AC-0FA10495C84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BB392AB-D5D6-2EDE-8C11-8B9799A0E709}"/>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7297903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89F7-B270-B707-8F98-AC54725F9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8639A-6AB2-7AD2-EA8A-9D507200B7F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60D39C1-05DF-D61C-7832-C8F9ADB03F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A9BDF5B-7743-F821-D721-25F55483FA9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85B3AE8-32D8-ABB8-1F57-E34A4A934FFD}"/>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9004265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FC141-58D9-5EE1-1649-5171624DC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0C97D-3430-9C30-F25B-E8C9660CD82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99CBFAD-CB8F-8781-3936-526892941DF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F143CDE-0EF6-8671-D377-12AB5B6CC5D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2CA1EE9-1F42-7595-F53D-CD6022985BFC}"/>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10926001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41DB-D729-0EAB-10CA-D94D6AE6B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0660C-91D8-476C-EE83-E78C1090373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6D3C28A-2211-5B6A-41F4-96774FCDB3E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0BC8F32-BA24-7EFC-CE32-73520CC4A76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CDD65B9-B4F6-2D30-CCAF-398CFB52AB3D}"/>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15217464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51CC-C3D3-0A82-0FBB-558889583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AE218-492B-DC83-1F8A-E4125FF733B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CEE0E59-8ED2-AF1F-7C80-7EC900D64F4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59A393D-8AD1-0B77-2865-453DEB9F01B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8982B07-3946-1B5E-5B51-E2BB82E35A24}"/>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30871088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BB97-DCB7-0A0D-A24D-49054D5E2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C4FE-E229-7B72-1413-DBE7B02F8D6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86C9C5B-C420-6B84-9C56-EF00A506824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C9FE168-FA34-9BD8-978F-0B231234B26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47367F5-E335-6316-22EF-32B8A1CA06C0}"/>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27940885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5C41E-06FC-B774-4DE1-AD68404FF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0872E-7AAE-A680-B259-595D6CAB449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8BCEE00-9B85-5C34-D726-0C0E336CA79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49A136A-5E69-790D-57DD-6A06D4102F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8023607-C7FC-27DC-6DDA-522ABE4095C8}"/>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7876225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91FA2-1C77-38CA-9ACF-FA3529F32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147CD-371C-2CE9-8DE3-FF2AEFD9309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32ECF54-9E43-2589-A985-D4C516467B5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EC81AF8-C728-004A-4429-2DAE0AE45E8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B780581-366C-717C-29ED-864A4EDB0ACD}"/>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5706408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13D7E-1AA6-1467-19E6-2F3D4F9F2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93107-44E5-9D3D-B476-2BD54237886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1F026D9-2034-CDF7-32B9-BB57D6E83CE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87EE27E-B9BF-CE1C-8E79-28FA828D5BE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BB8E562-9BAD-14C2-7E58-F1990F82F314}"/>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454756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A095-E421-08BC-7693-D884F9FEB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4053D-3526-6B67-4D56-6D9D1F48FFA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66E3B71-5317-7D47-ED16-1CFBFC6F52C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ADDF459-BFE7-B63D-D26A-0C405F81369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9087171-6537-BED5-8C9A-D968D0057CE6}"/>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23816339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5C2D1-3B7C-AF46-EB56-AF08AD2C8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3B8B6-8010-407A-25D7-EF3E33AD043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2C3BF5B-BF95-092C-A59B-192AEA643F19}"/>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6FBBB83-80B1-F3BE-44A9-C0B59DDFB8F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3747D1B-2F91-C847-3918-AC5DD40412C7}"/>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31968268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993E-8E6F-B735-832F-3AE54DBAB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98A6E-D042-CD6E-C3DE-97AFD64D2BB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2715F1F-6283-DFD7-DA61-E6DE26D333C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D406CF-3DEA-B6DF-4A42-F6944830599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B5CAD8D-DB83-F166-A7AC-5AC7E4D47AC9}"/>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1998975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3388-B764-DB16-F321-0B1B53BA7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4455C-DE86-C714-98BC-5270E13D470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A834A66-D947-52DE-0A06-872CEADED5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DD57721-EA12-3CE2-5712-CF141B52E29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9E7A406-D007-B9A3-F1BF-1E044EB7B03F}"/>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10439969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472E-6394-F4F7-40CB-4ECF42ABA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045F-8DAC-329C-AA30-0278292D70B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6D5761D-114C-327F-2C04-AEDD801748D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2397508-32A8-7784-B722-E76F72D9A87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5F427CF-96A7-5B36-E8FE-9E7CA9FAD3B4}"/>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21229262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9B2B3-9155-B6AF-C447-BCC815993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97A3B-71A8-E9B1-5C71-617D7643946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A199A2F-2C46-BE4C-2743-3277853D87F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103E70F-E75E-6780-C477-95A4F249503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6360C3E-F488-5D85-AEF5-B55C2DB801B6}"/>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12955433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CAB00-E8EC-A7D5-3A90-CDF01373B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A6073-5EAE-11CE-12D7-289FE06896E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4E3B708-8689-ED06-0DC3-F9EFF9FCB35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CC3EC75-8C6A-4174-F5E6-796E48E7265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D510785-081B-0CFE-80FA-1F5374DA120F}"/>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223158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C408B-C952-E209-3A18-CAB8CFDB8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B1587-3FDA-3064-37B2-3AAB2670508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9388382-53DD-DA50-1762-8759178789D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0E3EA31-02FB-458D-5344-783FC8378B6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56E4D30-8AEF-8182-45AB-CC4F82C4D4EC}"/>
              </a:ext>
            </a:extLst>
          </p:cNvPr>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2470702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48E4-922A-E67B-6F14-6AFE402B9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9CB39-087B-C408-96EE-989714B4A7C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6259928-753F-C1C2-766A-5B6BDD5CD0F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FE1E279-B82E-46B5-6DF9-86B50D4B9B1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5A355EB-0019-174B-A9F9-00B529EB3991}"/>
              </a:ext>
            </a:extLst>
          </p:cNvPr>
          <p:cNvSpPr>
            <a:spLocks noGrp="1"/>
          </p:cNvSpPr>
          <p:nvPr>
            <p:ph type="sldNum" sz="quarter" idx="5"/>
          </p:nvPr>
        </p:nvSpPr>
        <p:spPr/>
        <p:txBody>
          <a:bodyPr/>
          <a:lstStyle/>
          <a:p>
            <a:fld id="{D2061F1A-E494-4223-A600-C9DDF71EE410}" type="slidenum">
              <a:rPr lang="en-MY" smtClean="0"/>
              <a:t>50</a:t>
            </a:fld>
            <a:endParaRPr lang="en-MY"/>
          </a:p>
        </p:txBody>
      </p:sp>
    </p:spTree>
    <p:extLst>
      <p:ext uri="{BB962C8B-B14F-4D97-AF65-F5344CB8AC3E}">
        <p14:creationId xmlns:p14="http://schemas.microsoft.com/office/powerpoint/2010/main" val="15816388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51</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52</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www.youtube.com/watch?v=qOVAbKKSH10"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hyperlink" Target="https://www.youtube.com/watch?v=2iF73cybTBs" TargetMode="External"/><Relationship Id="rId4" Type="http://schemas.openxmlformats.org/officeDocument/2006/relationships/hyperlink" Target="https://www.youtube.com/watch?v=I6fadL-0VRw"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a:t>
            </a:r>
            <a:r>
              <a:rPr lang="en-US" sz="4400" b="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VI &amp; VII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DIGITAL-ONLY BANKS</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529876"/>
            <a:ext cx="16773935" cy="7412157"/>
          </a:xfrm>
          <a:prstGeom prst="rect">
            <a:avLst/>
          </a:prstGeom>
          <a:noFill/>
        </p:spPr>
        <p:txBody>
          <a:bodyPr wrap="square" rtlCol="0">
            <a:spAutoFit/>
          </a:bodyPr>
          <a:lstStyle/>
          <a:p>
            <a:pPr marL="514350" indent="-514350" algn="just">
              <a:lnSpc>
                <a:spcPct val="150000"/>
              </a:lnSpc>
              <a:buFont typeface="+mj-lt"/>
              <a:buAutoNum type="arabicPeriod"/>
            </a:pPr>
            <a:r>
              <a:rPr lang="en-US" sz="2800" b="1" dirty="0"/>
              <a:t>The Core Concept:</a:t>
            </a:r>
            <a:r>
              <a:rPr lang="en-US" sz="2800" dirty="0"/>
              <a:t> Digital-only banks (like Neobanks and Challenger Banks) operate entirely online without physical branches, focusing on a simple, mobile-first experience. </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800" b="1" dirty="0"/>
              <a:t>Why Customers Switch:</a:t>
            </a:r>
            <a:r>
              <a:rPr lang="en-US" sz="2800" dirty="0"/>
              <a:t> They win users over by offering lower fees, lightning-fast account setups, and highly personalized apps.</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800" b="1" dirty="0"/>
              <a:t>The Profit Hurdle:</a:t>
            </a:r>
            <a:r>
              <a:rPr lang="en-US" sz="2800" dirty="0"/>
              <a:t> While these startups are great at getting new users, most struggle to actually make money and are now being pressured to reach profitability.</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800" b="1" dirty="0"/>
              <a:t>How Old Banks React:</a:t>
            </a:r>
            <a:r>
              <a:rPr lang="en-US" sz="2800" dirty="0"/>
              <a:t> Traditional banks are fighting back by building their own digital-only brands, buying out startups, or partnering with tech companies. </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800" b="1" dirty="0"/>
              <a:t>Key Risks:</a:t>
            </a:r>
            <a:r>
              <a:rPr lang="en-US" sz="2800" dirty="0"/>
              <a:t> Despite their cool tech, they still face major challenges with cyber attacks, data privacy, and navigating strict banking rules. </a:t>
            </a:r>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C4187-5D5D-8B73-B317-DC903DC59FB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708AE6-9F06-10C7-F0CC-520E9DA2AB8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6BB9505-E4DA-117B-A70F-153C67AD9A0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F5B6344-DE02-88FF-8C40-6510A042D2D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A6E44B84-ABDF-5ADB-6B60-25A427835AF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77EEDA1-37A6-7CA9-8702-5DD9BA2B742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C26592B-9B2F-6ACD-38A4-6D87D7AC11B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BA7B2E-38FD-5A70-317B-8F9F635E797C}"/>
              </a:ext>
            </a:extLst>
          </p:cNvPr>
          <p:cNvSpPr txBox="1"/>
          <p:nvPr/>
        </p:nvSpPr>
        <p:spPr>
          <a:xfrm>
            <a:off x="757618" y="1790700"/>
            <a:ext cx="16773935" cy="6488828"/>
          </a:xfrm>
          <a:prstGeom prst="rect">
            <a:avLst/>
          </a:prstGeom>
          <a:noFill/>
        </p:spPr>
        <p:txBody>
          <a:bodyPr wrap="square" rtlCol="0">
            <a:spAutoFit/>
          </a:bodyPr>
          <a:lstStyle/>
          <a:p>
            <a:pPr algn="just"/>
            <a:r>
              <a:rPr lang="en-US" sz="2800" dirty="0"/>
              <a:t>By the end of this session, students will be able to:</a:t>
            </a:r>
            <a:endParaRPr lang="en-MY" sz="2400" dirty="0"/>
          </a:p>
          <a:p>
            <a:pPr marL="514350" indent="-514350" algn="just">
              <a:lnSpc>
                <a:spcPct val="200000"/>
              </a:lnSpc>
              <a:buFont typeface="+mj-lt"/>
              <a:buAutoNum type="arabicPeriod"/>
            </a:pPr>
            <a:r>
              <a:rPr lang="en-US" sz="2800" dirty="0"/>
              <a:t>Understand the fundamental concepts of blockchain, including peer-to-peer systems and distributed ledgers.</a:t>
            </a:r>
            <a:endParaRPr lang="en-US" sz="1000" b="1" dirty="0"/>
          </a:p>
          <a:p>
            <a:pPr marL="514350" indent="-514350" algn="just">
              <a:lnSpc>
                <a:spcPct val="150000"/>
              </a:lnSpc>
              <a:buFont typeface="+mj-lt"/>
              <a:buAutoNum type="arabicPeriod"/>
            </a:pPr>
            <a:r>
              <a:rPr lang="en-US" sz="2800" dirty="0"/>
              <a:t>Identify the five main benefits of blockchain: enhanced security, greater transparency, instant traceability, increased efficiency, and automation.</a:t>
            </a:r>
            <a:endParaRPr lang="en-US" sz="1000" dirty="0"/>
          </a:p>
          <a:p>
            <a:pPr marL="514350" indent="-514350" algn="just">
              <a:lnSpc>
                <a:spcPct val="150000"/>
              </a:lnSpc>
              <a:buFont typeface="+mj-lt"/>
              <a:buAutoNum type="arabicPeriod"/>
            </a:pPr>
            <a:r>
              <a:rPr lang="en-US" sz="2800" dirty="0"/>
              <a:t>Explain the role of asymmetric cryptography and digital signatures in identifying accounts and authorizing transactions.</a:t>
            </a:r>
            <a:endParaRPr lang="en-US" sz="1000" dirty="0"/>
          </a:p>
          <a:p>
            <a:pPr marL="514350" indent="-514350" algn="just">
              <a:lnSpc>
                <a:spcPct val="150000"/>
              </a:lnSpc>
              <a:buFont typeface="+mj-lt"/>
              <a:buAutoNum type="arabicPeriod"/>
            </a:pPr>
            <a:r>
              <a:rPr lang="en-US" sz="2800" dirty="0"/>
              <a:t>Describe the blockchain data structure, including block headers, Merkle trees, and how new transaction blocks are chained together. </a:t>
            </a:r>
            <a:endParaRPr lang="en-US" sz="1000" dirty="0"/>
          </a:p>
          <a:p>
            <a:pPr marL="514350" indent="-514350" algn="just">
              <a:lnSpc>
                <a:spcPct val="150000"/>
              </a:lnSpc>
              <a:buFont typeface="+mj-lt"/>
              <a:buAutoNum type="arabicPeriod"/>
            </a:pPr>
            <a:r>
              <a:rPr lang="en-US" sz="2800" dirty="0"/>
              <a:t>Compare blockchain to traditional centralized databases and recognize its practical applications across various industries like healthcare, banking, and supply chain.</a:t>
            </a:r>
          </a:p>
        </p:txBody>
      </p:sp>
    </p:spTree>
    <p:extLst>
      <p:ext uri="{BB962C8B-B14F-4D97-AF65-F5344CB8AC3E}">
        <p14:creationId xmlns:p14="http://schemas.microsoft.com/office/powerpoint/2010/main" val="3439954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3DAC6-646D-B335-F2CD-5C12274CF50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F088CB-2F42-35D2-464B-33052CE6301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213C53E-006B-DCF8-9E0D-82A406E46D4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3F4B00B-59A2-6961-8AAB-32BC651FF9B4}"/>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A1A75B7-6318-733A-25C7-5E812CEF3F6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815D539B-1058-3013-10D1-B372948CC07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CFBF484-EDB4-B22D-858A-473D13C70D8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25564E92-79A7-4F8C-8090-298369F7AC68}"/>
              </a:ext>
            </a:extLst>
          </p:cNvPr>
          <p:cNvSpPr txBox="1"/>
          <p:nvPr/>
        </p:nvSpPr>
        <p:spPr>
          <a:xfrm>
            <a:off x="633495" y="1843088"/>
            <a:ext cx="12853905" cy="7540526"/>
          </a:xfrm>
          <a:prstGeom prst="rect">
            <a:avLst/>
          </a:prstGeom>
          <a:noFill/>
        </p:spPr>
        <p:txBody>
          <a:bodyPr wrap="square" rtlCol="0">
            <a:spAutoFit/>
          </a:bodyPr>
          <a:lstStyle/>
          <a:p>
            <a:pPr marL="514350" indent="-514350">
              <a:buFont typeface="+mj-lt"/>
              <a:buAutoNum type="arabicPeriod"/>
            </a:pPr>
            <a:r>
              <a:rPr lang="en-MY" sz="2400" b="1" dirty="0"/>
              <a:t>Introduction to Blockchain?</a:t>
            </a:r>
          </a:p>
          <a:p>
            <a:pPr lvl="1"/>
            <a:r>
              <a:rPr lang="en-MY" sz="2000" dirty="0"/>
              <a:t>	1.1. </a:t>
            </a:r>
            <a:r>
              <a:rPr lang="en-US" sz="2000" dirty="0"/>
              <a:t>Peer-to-peer Systems and Distributed Ledgers</a:t>
            </a:r>
          </a:p>
          <a:p>
            <a:pPr lvl="1"/>
            <a:r>
              <a:rPr lang="en-MY" sz="2000" dirty="0"/>
              <a:t>	1.2. </a:t>
            </a:r>
            <a:r>
              <a:rPr lang="en-US" sz="2000" dirty="0"/>
              <a:t>Functional Perspective: Peer-to-Peer vs. Centralized Transactions</a:t>
            </a:r>
          </a:p>
          <a:p>
            <a:pPr lvl="1"/>
            <a:r>
              <a:rPr lang="en-US" sz="2000" dirty="0"/>
              <a:t>	1.3. Types of Systems: Centralized, Decentralized, and Distributed</a:t>
            </a:r>
          </a:p>
          <a:p>
            <a:pPr lvl="1"/>
            <a:r>
              <a:rPr lang="en-US" sz="2000" dirty="0"/>
              <a:t>	1.4. </a:t>
            </a:r>
            <a:r>
              <a:rPr lang="en-MY" sz="2000" dirty="0"/>
              <a:t>Advantages of Distributed Systems</a:t>
            </a:r>
          </a:p>
          <a:p>
            <a:pPr lvl="1"/>
            <a:endParaRPr lang="en-MY" sz="2000" dirty="0"/>
          </a:p>
          <a:p>
            <a:pPr marL="514350" indent="-514350">
              <a:buAutoNum type="arabicPeriod" startAt="2"/>
            </a:pPr>
            <a:r>
              <a:rPr lang="en-MY" sz="2400" b="1" dirty="0"/>
              <a:t>Five Important Blockchain Benefits</a:t>
            </a:r>
          </a:p>
          <a:p>
            <a:r>
              <a:rPr lang="en-MY" sz="2400" dirty="0"/>
              <a:t>		</a:t>
            </a:r>
            <a:r>
              <a:rPr lang="en-MY" sz="2000" dirty="0"/>
              <a:t>2.1. Enhanced Security</a:t>
            </a:r>
          </a:p>
          <a:p>
            <a:r>
              <a:rPr lang="en-MY" sz="2000" dirty="0"/>
              <a:t>		2.2.</a:t>
            </a:r>
            <a:r>
              <a:rPr lang="en-US" sz="2000" dirty="0"/>
              <a:t> </a:t>
            </a:r>
            <a:r>
              <a:rPr lang="en-MY" sz="2000" dirty="0"/>
              <a:t>Greater Transparency</a:t>
            </a:r>
          </a:p>
          <a:p>
            <a:r>
              <a:rPr lang="en-MY" sz="2000" dirty="0"/>
              <a:t>		2.3. Instant Traceability</a:t>
            </a:r>
          </a:p>
          <a:p>
            <a:r>
              <a:rPr lang="en-MY" sz="2000" dirty="0"/>
              <a:t>		2.4. Increased Efficiency and Speed</a:t>
            </a:r>
          </a:p>
          <a:p>
            <a:r>
              <a:rPr lang="en-MY" sz="2000" dirty="0"/>
              <a:t>		2.5. Automation (Smart Contracts)</a:t>
            </a:r>
          </a:p>
          <a:p>
            <a:endParaRPr lang="en-MY" sz="2000" dirty="0"/>
          </a:p>
          <a:p>
            <a:pPr marL="514350" indent="-514350">
              <a:buAutoNum type="arabicPeriod" startAt="3"/>
            </a:pPr>
            <a:r>
              <a:rPr lang="en-US" sz="2400" b="1" dirty="0"/>
              <a:t>Blockchain Basics: Transactions and Blocks</a:t>
            </a:r>
          </a:p>
          <a:p>
            <a:r>
              <a:rPr lang="en-MY" sz="2400" dirty="0"/>
              <a:t>		</a:t>
            </a:r>
            <a:r>
              <a:rPr lang="en-MY" sz="2000" dirty="0"/>
              <a:t>3.1.</a:t>
            </a:r>
            <a:r>
              <a:rPr lang="en-US" sz="2000" dirty="0"/>
              <a:t> Distributed Ledger Technology (DLT) Concepts</a:t>
            </a:r>
          </a:p>
          <a:p>
            <a:r>
              <a:rPr lang="en-MY" sz="2000" dirty="0"/>
              <a:t>		3.2. The Genesis Block</a:t>
            </a:r>
          </a:p>
          <a:p>
            <a:r>
              <a:rPr lang="en-MY" sz="2000" dirty="0"/>
              <a:t>		3.3. Transaction Flow and Immutability</a:t>
            </a:r>
          </a:p>
          <a:p>
            <a:endParaRPr lang="en-MY" sz="2000" dirty="0"/>
          </a:p>
          <a:p>
            <a:pPr marL="514350" indent="-514350">
              <a:buFont typeface="+mj-lt"/>
              <a:buAutoNum type="arabicPeriod" startAt="4"/>
            </a:pPr>
            <a:r>
              <a:rPr lang="en-MY" sz="2400" b="1" dirty="0"/>
              <a:t>Cryptography in Blockchain</a:t>
            </a:r>
          </a:p>
          <a:p>
            <a:r>
              <a:rPr lang="en-MY" sz="2400" dirty="0"/>
              <a:t>		</a:t>
            </a:r>
            <a:r>
              <a:rPr lang="en-MY" sz="2000" dirty="0"/>
              <a:t>4.1. </a:t>
            </a:r>
            <a:r>
              <a:rPr lang="en-US" sz="2000" dirty="0"/>
              <a:t>Identifying and Protecting User Accounts (Asymmetric Cryptography)</a:t>
            </a:r>
            <a:r>
              <a:rPr lang="en-MY" sz="2000" dirty="0"/>
              <a:t>		</a:t>
            </a:r>
          </a:p>
          <a:p>
            <a:r>
              <a:rPr lang="en-MY" sz="2000" dirty="0"/>
              <a:t>		4.2. </a:t>
            </a:r>
            <a:r>
              <a:rPr lang="en-US" sz="2000" dirty="0"/>
              <a:t>Authorizing Transactions (Digital Signatures Requirements and Use Cases)</a:t>
            </a:r>
          </a:p>
          <a:p>
            <a:r>
              <a:rPr lang="en-MY" sz="2000" dirty="0"/>
              <a:t>		4.3. </a:t>
            </a:r>
            <a:r>
              <a:rPr lang="en-US" sz="2000" dirty="0"/>
              <a:t>Signing and Verifying a Transaction</a:t>
            </a:r>
            <a:endParaRPr lang="en-MY" sz="2000" dirty="0"/>
          </a:p>
        </p:txBody>
      </p:sp>
    </p:spTree>
    <p:extLst>
      <p:ext uri="{BB962C8B-B14F-4D97-AF65-F5344CB8AC3E}">
        <p14:creationId xmlns:p14="http://schemas.microsoft.com/office/powerpoint/2010/main" val="64706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500"/>
                                        <p:tgtEl>
                                          <p:spTgt spid="4">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fade">
                                      <p:cBhvr>
                                        <p:cTn id="12" dur="500"/>
                                        <p:tgtEl>
                                          <p:spTgt spid="4">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500"/>
                                        <p:tgtEl>
                                          <p:spTgt spid="4">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Effect transition="in" filter="fade">
                                      <p:cBhvr>
                                        <p:cTn id="22" dur="500"/>
                                        <p:tgtEl>
                                          <p:spTgt spid="4">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animEffect transition="in" filter="fade">
                                      <p:cBhvr>
                                        <p:cTn id="27" dur="500"/>
                                        <p:tgtEl>
                                          <p:spTgt spid="4">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1" end="11"/>
                                            </p:txEl>
                                          </p:spTgt>
                                        </p:tgtEl>
                                        <p:attrNameLst>
                                          <p:attrName>style.visibility</p:attrName>
                                        </p:attrNameLst>
                                      </p:cBhvr>
                                      <p:to>
                                        <p:strVal val="visible"/>
                                      </p:to>
                                    </p:set>
                                    <p:animEffect transition="in" filter="fade">
                                      <p:cBhvr>
                                        <p:cTn id="32" dur="500"/>
                                        <p:tgtEl>
                                          <p:spTgt spid="4">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animEffect transition="in" filter="fade">
                                      <p:cBhvr>
                                        <p:cTn id="35" dur="500"/>
                                        <p:tgtEl>
                                          <p:spTgt spid="4">
                                            <p:txEl>
                                              <p:pRg st="13" end="13"/>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4" end="14"/>
                                            </p:txEl>
                                          </p:spTgt>
                                        </p:tgtEl>
                                        <p:attrNameLst>
                                          <p:attrName>style.visibility</p:attrName>
                                        </p:attrNameLst>
                                      </p:cBhvr>
                                      <p:to>
                                        <p:strVal val="visible"/>
                                      </p:to>
                                    </p:set>
                                    <p:animEffect transition="in" filter="fade">
                                      <p:cBhvr>
                                        <p:cTn id="38" dur="500"/>
                                        <p:tgtEl>
                                          <p:spTgt spid="4">
                                            <p:txEl>
                                              <p:pRg st="14" end="14"/>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5" end="15"/>
                                            </p:txEl>
                                          </p:spTgt>
                                        </p:tgtEl>
                                        <p:attrNameLst>
                                          <p:attrName>style.visibility</p:attrName>
                                        </p:attrNameLst>
                                      </p:cBhvr>
                                      <p:to>
                                        <p:strVal val="visible"/>
                                      </p:to>
                                    </p:set>
                                    <p:animEffect transition="in" filter="fade">
                                      <p:cBhvr>
                                        <p:cTn id="41" dur="500"/>
                                        <p:tgtEl>
                                          <p:spTgt spid="4">
                                            <p:txEl>
                                              <p:pRg st="15" end="1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
                                            <p:txEl>
                                              <p:pRg st="16" end="16"/>
                                            </p:txEl>
                                          </p:spTgt>
                                        </p:tgtEl>
                                        <p:attrNameLst>
                                          <p:attrName>style.visibility</p:attrName>
                                        </p:attrNameLst>
                                      </p:cBhvr>
                                      <p:to>
                                        <p:strVal val="visible"/>
                                      </p:to>
                                    </p:set>
                                    <p:animEffect transition="in" filter="fade">
                                      <p:cBhvr>
                                        <p:cTn id="44" dur="500"/>
                                        <p:tgtEl>
                                          <p:spTgt spid="4">
                                            <p:txEl>
                                              <p:pRg st="16" end="16"/>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8" end="18"/>
                                            </p:txEl>
                                          </p:spTgt>
                                        </p:tgtEl>
                                        <p:attrNameLst>
                                          <p:attrName>style.visibility</p:attrName>
                                        </p:attrNameLst>
                                      </p:cBhvr>
                                      <p:to>
                                        <p:strVal val="visible"/>
                                      </p:to>
                                    </p:set>
                                    <p:animEffect transition="in" filter="fade">
                                      <p:cBhvr>
                                        <p:cTn id="47" dur="500"/>
                                        <p:tgtEl>
                                          <p:spTgt spid="4">
                                            <p:txEl>
                                              <p:pRg st="18" end="18"/>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4">
                                            <p:txEl>
                                              <p:pRg st="19" end="19"/>
                                            </p:txEl>
                                          </p:spTgt>
                                        </p:tgtEl>
                                        <p:attrNameLst>
                                          <p:attrName>style.visibility</p:attrName>
                                        </p:attrNameLst>
                                      </p:cBhvr>
                                      <p:to>
                                        <p:strVal val="visible"/>
                                      </p:to>
                                    </p:set>
                                    <p:animEffect transition="in" filter="fade">
                                      <p:cBhvr>
                                        <p:cTn id="50" dur="500"/>
                                        <p:tgtEl>
                                          <p:spTgt spid="4">
                                            <p:txEl>
                                              <p:pRg st="19" end="19"/>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4">
                                            <p:txEl>
                                              <p:pRg st="20" end="20"/>
                                            </p:txEl>
                                          </p:spTgt>
                                        </p:tgtEl>
                                        <p:attrNameLst>
                                          <p:attrName>style.visibility</p:attrName>
                                        </p:attrNameLst>
                                      </p:cBhvr>
                                      <p:to>
                                        <p:strVal val="visible"/>
                                      </p:to>
                                    </p:set>
                                    <p:animEffect transition="in" filter="fade">
                                      <p:cBhvr>
                                        <p:cTn id="53" dur="500"/>
                                        <p:tgtEl>
                                          <p:spTgt spid="4">
                                            <p:txEl>
                                              <p:pRg st="20" end="2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4">
                                            <p:txEl>
                                              <p:pRg st="21" end="21"/>
                                            </p:txEl>
                                          </p:spTgt>
                                        </p:tgtEl>
                                        <p:attrNameLst>
                                          <p:attrName>style.visibility</p:attrName>
                                        </p:attrNameLst>
                                      </p:cBhvr>
                                      <p:to>
                                        <p:strVal val="visible"/>
                                      </p:to>
                                    </p:set>
                                    <p:animEffect transition="in" filter="fade">
                                      <p:cBhvr>
                                        <p:cTn id="56" dur="500"/>
                                        <p:tgtEl>
                                          <p:spTgt spid="4">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0ED63-D648-11B0-9CB1-438ADE2FC02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57655C6-7812-D76E-0217-9A08E8A8126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B8B55E2-02CE-F50C-9F92-1B8C1C09033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70EAC8D-585E-710A-975C-821933370051}"/>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6DFEEFD-D15E-8862-6002-7E82256D0CF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BC60465B-165B-BB21-0F7C-F08323787A7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FDFA0E3-583D-2248-E47C-7758FF29A4D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0D500A9-D2C0-ED29-1E69-D3894444BC76}"/>
              </a:ext>
            </a:extLst>
          </p:cNvPr>
          <p:cNvSpPr txBox="1"/>
          <p:nvPr/>
        </p:nvSpPr>
        <p:spPr>
          <a:xfrm>
            <a:off x="633495" y="1843088"/>
            <a:ext cx="12853905" cy="5078313"/>
          </a:xfrm>
          <a:prstGeom prst="rect">
            <a:avLst/>
          </a:prstGeom>
          <a:noFill/>
        </p:spPr>
        <p:txBody>
          <a:bodyPr wrap="square" rtlCol="0">
            <a:spAutoFit/>
          </a:bodyPr>
          <a:lstStyle/>
          <a:p>
            <a:pPr marL="514350" indent="-514350">
              <a:buFont typeface="+mj-lt"/>
              <a:buAutoNum type="arabicPeriod" startAt="5"/>
            </a:pPr>
            <a:r>
              <a:rPr lang="en-MY" sz="2400" b="1" dirty="0"/>
              <a:t>Data Storage and Structure</a:t>
            </a:r>
          </a:p>
          <a:p>
            <a:r>
              <a:rPr lang="en-MY" sz="2400" dirty="0"/>
              <a:t>	</a:t>
            </a:r>
            <a:r>
              <a:rPr lang="en-MY" sz="2000" dirty="0"/>
              <a:t>	5.1. </a:t>
            </a:r>
            <a:r>
              <a:rPr lang="en-US" sz="2000" dirty="0"/>
              <a:t>Blockchain Data Structure and Merkle Trees</a:t>
            </a:r>
          </a:p>
          <a:p>
            <a:pPr lvl="1"/>
            <a:r>
              <a:rPr lang="en-MY" sz="2000" dirty="0"/>
              <a:t>	5.2. </a:t>
            </a:r>
            <a:r>
              <a:rPr lang="en-US" sz="2000" dirty="0"/>
              <a:t>Block Header Components (Version, Timestamp, Nonce, Difficulty Target, Previous Hash, Merkle Root)</a:t>
            </a:r>
          </a:p>
          <a:p>
            <a:pPr lvl="1"/>
            <a:r>
              <a:rPr lang="en-US" sz="2000" dirty="0"/>
              <a:t>	5.3. Process of Adding New Transactions (Chaining Blocks)</a:t>
            </a:r>
          </a:p>
          <a:p>
            <a:pPr lvl="1"/>
            <a:r>
              <a:rPr lang="en-US" sz="2000" dirty="0"/>
              <a:t>	</a:t>
            </a:r>
            <a:endParaRPr lang="en-MY" sz="2000" dirty="0"/>
          </a:p>
          <a:p>
            <a:pPr marL="514350" indent="-514350">
              <a:buFont typeface="+mj-lt"/>
              <a:buAutoNum type="arabicPeriod" startAt="6"/>
            </a:pPr>
            <a:r>
              <a:rPr lang="en-US" sz="2400" b="1" dirty="0"/>
              <a:t>Network Operation and Data Integrity</a:t>
            </a:r>
          </a:p>
          <a:p>
            <a:r>
              <a:rPr lang="en-MY" sz="2400" dirty="0"/>
              <a:t>		</a:t>
            </a:r>
            <a:r>
              <a:rPr lang="en-MY" sz="2000" dirty="0"/>
              <a:t>6.1. </a:t>
            </a:r>
            <a:r>
              <a:rPr lang="en-US" sz="2000" dirty="0"/>
              <a:t>Roles of Nodes and Miners</a:t>
            </a:r>
          </a:p>
          <a:p>
            <a:r>
              <a:rPr lang="en-MY" sz="2000" dirty="0"/>
              <a:t>		6.2.</a:t>
            </a:r>
            <a:r>
              <a:rPr lang="en-US" sz="2000" dirty="0"/>
              <a:t> </a:t>
            </a:r>
            <a:r>
              <a:rPr lang="en-MY" sz="2000" dirty="0"/>
              <a:t>Changing Data in Blockchain</a:t>
            </a:r>
          </a:p>
          <a:p>
            <a:r>
              <a:rPr lang="en-MY" sz="2000" dirty="0"/>
              <a:t>		6.3. </a:t>
            </a:r>
            <a:r>
              <a:rPr lang="en-US" sz="2000" dirty="0"/>
              <a:t>Blockchain vs. Existing Centralized Databases</a:t>
            </a:r>
          </a:p>
          <a:p>
            <a:endParaRPr lang="en-MY" sz="2000" b="1" dirty="0"/>
          </a:p>
          <a:p>
            <a:pPr marL="514350" indent="-514350">
              <a:buFont typeface="+mj-lt"/>
              <a:buAutoNum type="arabicPeriod" startAt="7"/>
            </a:pPr>
            <a:r>
              <a:rPr lang="en-US" sz="2400" b="1" dirty="0"/>
              <a:t>How Industries Benefit From Blockchain</a:t>
            </a:r>
          </a:p>
          <a:p>
            <a:r>
              <a:rPr lang="en-MY" sz="2400" dirty="0"/>
              <a:t>		</a:t>
            </a:r>
            <a:r>
              <a:rPr lang="en-MY" sz="2000" dirty="0"/>
              <a:t>7.1.</a:t>
            </a:r>
            <a:r>
              <a:rPr lang="en-US" sz="2000" dirty="0"/>
              <a:t> Supply Chains and Food Chain</a:t>
            </a:r>
          </a:p>
          <a:p>
            <a:r>
              <a:rPr lang="en-MY" sz="2000" dirty="0"/>
              <a:t>		7.2. Banking and Financial Industry</a:t>
            </a:r>
          </a:p>
          <a:p>
            <a:r>
              <a:rPr lang="en-MY" sz="2000" dirty="0"/>
              <a:t>		7.3. Healthcare and Pharmaceuticals</a:t>
            </a:r>
          </a:p>
          <a:p>
            <a:r>
              <a:rPr lang="en-MY" sz="2000" dirty="0"/>
              <a:t>		7.4. Government and Insurance</a:t>
            </a:r>
          </a:p>
        </p:txBody>
      </p:sp>
    </p:spTree>
    <p:extLst>
      <p:ext uri="{BB962C8B-B14F-4D97-AF65-F5344CB8AC3E}">
        <p14:creationId xmlns:p14="http://schemas.microsoft.com/office/powerpoint/2010/main" val="126424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Effect transition="in" filter="fade">
                                      <p:cBhvr>
                                        <p:cTn id="25" dur="500"/>
                                        <p:tgtEl>
                                          <p:spTgt spid="4">
                                            <p:txEl>
                                              <p:pRg st="10" end="1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1" end="11"/>
                                            </p:txEl>
                                          </p:spTgt>
                                        </p:tgtEl>
                                        <p:attrNameLst>
                                          <p:attrName>style.visibility</p:attrName>
                                        </p:attrNameLst>
                                      </p:cBhvr>
                                      <p:to>
                                        <p:strVal val="visible"/>
                                      </p:to>
                                    </p:set>
                                    <p:animEffect transition="in" filter="fade">
                                      <p:cBhvr>
                                        <p:cTn id="28" dur="500"/>
                                        <p:tgtEl>
                                          <p:spTgt spid="4">
                                            <p:txEl>
                                              <p:pRg st="11" end="1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animEffect transition="in" filter="fade">
                                      <p:cBhvr>
                                        <p:cTn id="31" dur="500"/>
                                        <p:tgtEl>
                                          <p:spTgt spid="4">
                                            <p:txEl>
                                              <p:pRg st="12" end="1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3" end="13"/>
                                            </p:txEl>
                                          </p:spTgt>
                                        </p:tgtEl>
                                        <p:attrNameLst>
                                          <p:attrName>style.visibility</p:attrName>
                                        </p:attrNameLst>
                                      </p:cBhvr>
                                      <p:to>
                                        <p:strVal val="visible"/>
                                      </p:to>
                                    </p:set>
                                    <p:animEffect transition="in" filter="fade">
                                      <p:cBhvr>
                                        <p:cTn id="34" dur="500"/>
                                        <p:tgtEl>
                                          <p:spTgt spid="4">
                                            <p:txEl>
                                              <p:pRg st="13" end="1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animEffect transition="in" filter="fade">
                                      <p:cBhvr>
                                        <p:cTn id="37"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427730" y="4073710"/>
            <a:ext cx="7098887" cy="1334276"/>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Introduction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Blockchain is a peer-to-peer system of transacting values with no trusted third parties in between.</a:t>
            </a:r>
          </a:p>
          <a:p>
            <a:pPr marL="514350" indent="-514350" algn="just">
              <a:lnSpc>
                <a:spcPct val="200000"/>
              </a:lnSpc>
              <a:buFont typeface="Wingdings" panose="05000000000000000000" pitchFamily="2" charset="2"/>
              <a:buChar char="§"/>
            </a:pPr>
            <a:r>
              <a:rPr lang="en-US" sz="2800" dirty="0"/>
              <a:t>It is a shared, decentralized, and open ledger of transactions. This ledger database is replicated across a large number of nodes.</a:t>
            </a:r>
          </a:p>
          <a:p>
            <a:pPr marL="514350" indent="-514350" algn="just">
              <a:lnSpc>
                <a:spcPct val="200000"/>
              </a:lnSpc>
              <a:buFont typeface="Wingdings" panose="05000000000000000000" pitchFamily="2" charset="2"/>
              <a:buChar char="§"/>
            </a:pPr>
            <a:r>
              <a:rPr lang="en-US" sz="2800" dirty="0"/>
              <a:t>This ledger database is an append-only database and cannot be changed or altered. It means that every entry is a permanent entry. Any new entry on it gets reflected on all copies of the databases hosted on different nodes.</a:t>
            </a:r>
          </a:p>
          <a:p>
            <a:pPr marL="514350" indent="-514350" algn="just">
              <a:lnSpc>
                <a:spcPct val="200000"/>
              </a:lnSpc>
              <a:buFont typeface="Wingdings" panose="05000000000000000000" pitchFamily="2" charset="2"/>
              <a:buChar char="§"/>
            </a:pPr>
            <a:r>
              <a:rPr lang="en-US" sz="2800" dirty="0"/>
              <a:t>There is no need for trusted third parties to serve as intermediaries to verify, secure, and settle the transactions.</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8906-1BD6-74AC-4CB2-18977B4DE37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639026B-1104-FD6E-AE96-310586B52C3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E7F8A3D-C7EE-005B-BFDA-7DAEB72BD50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42E741C-B3EF-4D16-690A-063A4CFFFA01}"/>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4396128-3BE8-E16A-687D-6D55D482DA7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5F99C22F-72AB-720D-08AD-4D11F09AB15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23C9FED-74FA-007A-CDF1-AD2E4E1EBFC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462DC875-E3F1-82CB-57E3-79BA02A1ED1F}"/>
              </a:ext>
            </a:extLst>
          </p:cNvPr>
          <p:cNvSpPr txBox="1"/>
          <p:nvPr/>
        </p:nvSpPr>
        <p:spPr>
          <a:xfrm>
            <a:off x="756447" y="1557711"/>
            <a:ext cx="12426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Functional Perspective - Peer-to-peer Transaction</a:t>
            </a:r>
          </a:p>
        </p:txBody>
      </p:sp>
      <p:pic>
        <p:nvPicPr>
          <p:cNvPr id="8" name="Picture 7">
            <a:extLst>
              <a:ext uri="{FF2B5EF4-FFF2-40B4-BE49-F238E27FC236}">
                <a16:creationId xmlns:a16="http://schemas.microsoft.com/office/drawing/2014/main" id="{96760057-7A5F-BF83-622D-310C4FC80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036" y="2372068"/>
            <a:ext cx="12477927" cy="6916212"/>
          </a:xfrm>
          <a:prstGeom prst="rect">
            <a:avLst/>
          </a:prstGeom>
        </p:spPr>
      </p:pic>
    </p:spTree>
    <p:extLst>
      <p:ext uri="{BB962C8B-B14F-4D97-AF65-F5344CB8AC3E}">
        <p14:creationId xmlns:p14="http://schemas.microsoft.com/office/powerpoint/2010/main" val="2249166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7FEF-B0F9-2176-9908-00A5B80D749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C890AEC-15B2-92CC-7BF6-98F7CA26D14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5D5870C-AF49-1C9B-B3E0-DB2405EBCB8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48295C3-DCE6-7DC3-4F2C-9D8A6F7ED15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705F24F-868F-05E7-FC5C-FE5E7A2C3BF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9574D522-0382-1E10-F5EE-C88BE2F4F97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3A973D2-E6F3-D290-DDE1-A65E350B732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CE0800F8-0549-855E-06D3-E4A9D3FE17D3}"/>
              </a:ext>
            </a:extLst>
          </p:cNvPr>
          <p:cNvSpPr txBox="1"/>
          <p:nvPr/>
        </p:nvSpPr>
        <p:spPr>
          <a:xfrm>
            <a:off x="756447" y="1557711"/>
            <a:ext cx="12426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Functional Perspective - Peer-to-peer Transaction</a:t>
            </a:r>
          </a:p>
        </p:txBody>
      </p:sp>
      <p:pic>
        <p:nvPicPr>
          <p:cNvPr id="8" name="Picture 7">
            <a:extLst>
              <a:ext uri="{FF2B5EF4-FFF2-40B4-BE49-F238E27FC236}">
                <a16:creationId xmlns:a16="http://schemas.microsoft.com/office/drawing/2014/main" id="{07022981-91E7-B6FA-BB02-AC9DC4B2677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17380" y="2372068"/>
            <a:ext cx="11053240" cy="6916212"/>
          </a:xfrm>
          <a:prstGeom prst="rect">
            <a:avLst/>
          </a:prstGeom>
        </p:spPr>
      </p:pic>
    </p:spTree>
    <p:extLst>
      <p:ext uri="{BB962C8B-B14F-4D97-AF65-F5344CB8AC3E}">
        <p14:creationId xmlns:p14="http://schemas.microsoft.com/office/powerpoint/2010/main" val="27052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FCFF6-F060-DB0B-5D07-048B7BE517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933FED8-76F3-D2AB-23DD-4AE414EC791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E53A253-619B-4D73-A397-B7E82B41ECA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036473D-C512-F1DA-C9DD-C46C941595C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46695F0-951A-4CB7-E5F2-8545CBF0E4A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921904BA-9A44-682C-8508-EBEAD4B0B6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EEC6D96-3C6D-C919-8905-61273B0D872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AD6569F-7D43-D7D2-2613-7BB3604EDCD4}"/>
              </a:ext>
            </a:extLst>
          </p:cNvPr>
          <p:cNvSpPr txBox="1"/>
          <p:nvPr/>
        </p:nvSpPr>
        <p:spPr>
          <a:xfrm>
            <a:off x="756447" y="2644758"/>
            <a:ext cx="16775106" cy="6004080"/>
          </a:xfrm>
          <a:prstGeom prst="rect">
            <a:avLst/>
          </a:prstGeom>
          <a:noFill/>
        </p:spPr>
        <p:txBody>
          <a:bodyPr wrap="square" rtlCol="0">
            <a:spAutoFit/>
          </a:bodyPr>
          <a:lstStyle/>
          <a:p>
            <a:pPr algn="just">
              <a:lnSpc>
                <a:spcPct val="200000"/>
              </a:lnSpc>
            </a:pPr>
            <a:endParaRPr lang="en-US" sz="2800" dirty="0"/>
          </a:p>
          <a:p>
            <a:pPr marL="514350" indent="-514350" algn="just">
              <a:lnSpc>
                <a:spcPct val="200000"/>
              </a:lnSpc>
              <a:buFont typeface="Wingdings" panose="05000000000000000000" pitchFamily="2" charset="2"/>
              <a:buChar char="§"/>
            </a:pPr>
            <a:r>
              <a:rPr lang="en-US" sz="2800" dirty="0"/>
              <a:t>Responsibility for maintaining the ledger shared by a group of peers. The current state of the ledger is represented by the peer’s consensus on what records the ledger contains.</a:t>
            </a:r>
          </a:p>
          <a:p>
            <a:pPr marL="514350" indent="-514350" algn="just">
              <a:lnSpc>
                <a:spcPct val="200000"/>
              </a:lnSpc>
              <a:buFont typeface="Wingdings" panose="05000000000000000000" pitchFamily="2" charset="2"/>
              <a:buChar char="§"/>
            </a:pPr>
            <a:r>
              <a:rPr lang="en-US" sz="2800" dirty="0"/>
              <a:t>Other actors can obtain a copy of the ledger from any of the peers, as there is no single authoritative copy. Other actors can submit new records to any or all of the peers.</a:t>
            </a:r>
          </a:p>
          <a:p>
            <a:pPr marL="514350" indent="-514350" algn="just">
              <a:lnSpc>
                <a:spcPct val="200000"/>
              </a:lnSpc>
              <a:buFont typeface="Wingdings" panose="05000000000000000000" pitchFamily="2" charset="2"/>
              <a:buChar char="§"/>
            </a:pPr>
            <a:r>
              <a:rPr lang="en-US" sz="2800" dirty="0"/>
              <a:t>Ledger identity and integrity ensured via the consensus process, that specifies how peers reach consensus.</a:t>
            </a:r>
          </a:p>
          <a:p>
            <a:pPr marL="514350" indent="-514350" algn="just">
              <a:lnSpc>
                <a:spcPct val="200000"/>
              </a:lnSpc>
              <a:buFont typeface="Wingdings" panose="05000000000000000000" pitchFamily="2" charset="2"/>
              <a:buChar char="§"/>
            </a:pPr>
            <a:endParaRPr lang="en-US" sz="2800" dirty="0"/>
          </a:p>
        </p:txBody>
      </p:sp>
      <p:sp>
        <p:nvSpPr>
          <p:cNvPr id="4" name="TextBox 6">
            <a:extLst>
              <a:ext uri="{FF2B5EF4-FFF2-40B4-BE49-F238E27FC236}">
                <a16:creationId xmlns:a16="http://schemas.microsoft.com/office/drawing/2014/main" id="{18238E8E-6651-4284-5D78-EB30809B6B25}"/>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Open-Source Distributed Ledgers</a:t>
            </a:r>
          </a:p>
        </p:txBody>
      </p:sp>
      <p:pic>
        <p:nvPicPr>
          <p:cNvPr id="8" name="Picture 7">
            <a:extLst>
              <a:ext uri="{FF2B5EF4-FFF2-40B4-BE49-F238E27FC236}">
                <a16:creationId xmlns:a16="http://schemas.microsoft.com/office/drawing/2014/main" id="{758BDD45-448F-B15D-F185-A06C9332DA17}"/>
              </a:ext>
            </a:extLst>
          </p:cNvPr>
          <p:cNvPicPr>
            <a:picLocks noChangeAspect="1"/>
          </p:cNvPicPr>
          <p:nvPr/>
        </p:nvPicPr>
        <p:blipFill>
          <a:blip r:embed="rId3"/>
          <a:stretch>
            <a:fillRect/>
          </a:stretch>
        </p:blipFill>
        <p:spPr>
          <a:xfrm>
            <a:off x="14625400" y="1474941"/>
            <a:ext cx="2906154" cy="2360457"/>
          </a:xfrm>
          <a:prstGeom prst="rect">
            <a:avLst/>
          </a:prstGeom>
        </p:spPr>
      </p:pic>
    </p:spTree>
    <p:extLst>
      <p:ext uri="{BB962C8B-B14F-4D97-AF65-F5344CB8AC3E}">
        <p14:creationId xmlns:p14="http://schemas.microsoft.com/office/powerpoint/2010/main" val="186367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Open Source Distributed Ledgers</a:t>
            </a: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Distributed ledgers on the other hand, do not rely on an authoritative copy. Indeed, one advantage of distributed ledgers is that anyone who wants to review the ledger can easily obtain a copy, as all copies are equal.</a:t>
            </a:r>
          </a:p>
          <a:p>
            <a:pPr marL="514350" indent="-514350" algn="just">
              <a:lnSpc>
                <a:spcPct val="200000"/>
              </a:lnSpc>
              <a:buFont typeface="Wingdings" panose="05000000000000000000" pitchFamily="2" charset="2"/>
              <a:buChar char="§"/>
            </a:pPr>
            <a:r>
              <a:rPr lang="en-US" sz="2800" dirty="0"/>
              <a:t>The disadvantage is that ensuring the integrity of the ledger is more complicated as we can no longer rely on controlling access to an authoritative, central ledger.</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A6DBC-7E9C-4C26-424C-D3784B1FC51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4D98525-58A2-1535-DC2F-34C92D13A74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9DE2823-FC46-01AC-B8B0-7F137E1758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BC2B497-7B37-F7AB-43F5-1B01DBE6B1A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Steps 1 &amp; 2 - Basics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28A2745-7C66-2980-EA95-D990F557607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4744B4AD-45D3-8840-C426-E1A70911106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4E9BF2-E278-CD4F-C492-427860F2934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361306D5-5A74-9B46-5703-453E5DC4ADEC}"/>
              </a:ext>
            </a:extLst>
          </p:cNvPr>
          <p:cNvSpPr txBox="1"/>
          <p:nvPr/>
        </p:nvSpPr>
        <p:spPr>
          <a:xfrm>
            <a:off x="756447" y="1557711"/>
            <a:ext cx="12426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Types of System</a:t>
            </a:r>
          </a:p>
        </p:txBody>
      </p:sp>
      <p:pic>
        <p:nvPicPr>
          <p:cNvPr id="8" name="Picture 7">
            <a:extLst>
              <a:ext uri="{FF2B5EF4-FFF2-40B4-BE49-F238E27FC236}">
                <a16:creationId xmlns:a16="http://schemas.microsoft.com/office/drawing/2014/main" id="{364B52F3-0E48-119F-7A17-7C55FD03551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29624" y="2324354"/>
            <a:ext cx="14228752" cy="7148350"/>
          </a:xfrm>
          <a:prstGeom prst="rect">
            <a:avLst/>
          </a:prstGeom>
        </p:spPr>
      </p:pic>
    </p:spTree>
    <p:extLst>
      <p:ext uri="{BB962C8B-B14F-4D97-AF65-F5344CB8AC3E}">
        <p14:creationId xmlns:p14="http://schemas.microsoft.com/office/powerpoint/2010/main" val="383179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3A22D-7117-1EF2-2CFB-0C2C89DD1F2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1113A89-42A4-AA2D-6712-507150F78F4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1C19A46-7205-0E1E-3675-924B78DA2D6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401BDED-9B3E-3DC5-657A-B302480D93B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Steps 1 &amp; 2 - Basics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612B883-B1CF-D228-D5BA-24339EAA580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9FDA7547-A918-5B37-336B-82B02F5D81D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2837D04-5F00-D600-CFA1-F33EA8F8929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0E0C308-F8D7-F37F-3917-DF80041BD959}"/>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distributed system consists of a number of independent computers that cooperate with one another by using a communication medium in order to achieve a specific objective without having any centralized element of control or coordination.</a:t>
            </a:r>
          </a:p>
          <a:p>
            <a:pPr marL="514350" indent="-514350" algn="just">
              <a:lnSpc>
                <a:spcPct val="200000"/>
              </a:lnSpc>
              <a:buFont typeface="Wingdings" panose="05000000000000000000" pitchFamily="2" charset="2"/>
              <a:buChar char="§"/>
            </a:pPr>
            <a:r>
              <a:rPr lang="en-US" sz="2800" dirty="0"/>
              <a:t>The major advantages of a distributed system over single computers are:</a:t>
            </a:r>
          </a:p>
          <a:p>
            <a:pPr marL="971550" lvl="1" indent="-514350" algn="just">
              <a:lnSpc>
                <a:spcPct val="200000"/>
              </a:lnSpc>
              <a:buFont typeface="Wingdings" panose="05000000000000000000" pitchFamily="2" charset="2"/>
              <a:buChar char="§"/>
            </a:pPr>
            <a:r>
              <a:rPr lang="en-US" sz="2800" dirty="0"/>
              <a:t>Higher computing power</a:t>
            </a:r>
          </a:p>
          <a:p>
            <a:pPr marL="971550" lvl="1" indent="-514350" algn="just">
              <a:lnSpc>
                <a:spcPct val="200000"/>
              </a:lnSpc>
              <a:buFont typeface="Wingdings" panose="05000000000000000000" pitchFamily="2" charset="2"/>
              <a:buChar char="§"/>
            </a:pPr>
            <a:r>
              <a:rPr lang="en-US" sz="2800" dirty="0"/>
              <a:t>Cost reduction</a:t>
            </a:r>
          </a:p>
          <a:p>
            <a:pPr marL="971550" lvl="1" indent="-514350" algn="just">
              <a:lnSpc>
                <a:spcPct val="200000"/>
              </a:lnSpc>
              <a:buFont typeface="Wingdings" panose="05000000000000000000" pitchFamily="2" charset="2"/>
              <a:buChar char="§"/>
            </a:pPr>
            <a:r>
              <a:rPr lang="en-US" sz="2800" dirty="0"/>
              <a:t>Higher reliability</a:t>
            </a:r>
          </a:p>
          <a:p>
            <a:pPr marL="971550" lvl="1" indent="-514350" algn="just">
              <a:lnSpc>
                <a:spcPct val="200000"/>
              </a:lnSpc>
              <a:buFont typeface="Wingdings" panose="05000000000000000000" pitchFamily="2" charset="2"/>
              <a:buChar char="§"/>
            </a:pPr>
            <a:r>
              <a:rPr lang="en-US" sz="2800" dirty="0"/>
              <a:t>Ability to grow naturally</a:t>
            </a:r>
          </a:p>
        </p:txBody>
      </p:sp>
      <p:sp>
        <p:nvSpPr>
          <p:cNvPr id="4" name="TextBox 6">
            <a:extLst>
              <a:ext uri="{FF2B5EF4-FFF2-40B4-BE49-F238E27FC236}">
                <a16:creationId xmlns:a16="http://schemas.microsoft.com/office/drawing/2014/main" id="{96AD6933-D9AE-E885-D1A2-CE529D53143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Advantages of Distributed Systems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0348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694A-6370-8BD8-FE47-A96918FF877D}"/>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39DC51C-0EED-3552-CE2B-93732E16479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406C6139-309D-59BC-F298-0C882D7C3697}"/>
              </a:ext>
            </a:extLst>
          </p:cNvPr>
          <p:cNvSpPr txBox="1"/>
          <p:nvPr/>
        </p:nvSpPr>
        <p:spPr>
          <a:xfrm>
            <a:off x="481155" y="3714615"/>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Blockchain</a:t>
            </a:r>
          </a:p>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Benefits</a:t>
            </a:r>
          </a:p>
        </p:txBody>
      </p:sp>
      <p:sp>
        <p:nvSpPr>
          <p:cNvPr id="2" name="object 9">
            <a:extLst>
              <a:ext uri="{FF2B5EF4-FFF2-40B4-BE49-F238E27FC236}">
                <a16:creationId xmlns:a16="http://schemas.microsoft.com/office/drawing/2014/main" id="{CAE1A9D8-CC59-2508-70C9-0BE5E3FF1E09}"/>
              </a:ext>
            </a:extLst>
          </p:cNvPr>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spTree>
    <p:extLst>
      <p:ext uri="{BB962C8B-B14F-4D97-AF65-F5344CB8AC3E}">
        <p14:creationId xmlns:p14="http://schemas.microsoft.com/office/powerpoint/2010/main" val="1093721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81511-258A-0E6E-B70C-D14204FC76C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C99FED1-3087-1A87-4099-9E4ADB9C6E5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8CB4912-1837-3FF4-D576-B4F60CD8E82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E51CAA3-514D-2943-A6C5-4B44F2C0D442}"/>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5F28180-0F89-1C8D-4D02-313B4467145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610309AF-CC2B-0568-25F0-601C7092C13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668CBD8-D9FA-53C2-AAE7-D2430956FDA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FC82743-D448-BF1D-33DF-C70CD54136A7}"/>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Enhanced security</a:t>
            </a:r>
          </a:p>
          <a:p>
            <a:pPr marL="514350" indent="-514350" algn="just">
              <a:lnSpc>
                <a:spcPct val="200000"/>
              </a:lnSpc>
              <a:buFont typeface="Wingdings" panose="05000000000000000000" pitchFamily="2" charset="2"/>
              <a:buChar char="§"/>
            </a:pPr>
            <a:r>
              <a:rPr lang="en-US" sz="2800" dirty="0"/>
              <a:t>Your data is sensitive and crucial, and blockchain can significantly change how your critical information is viewed. By creating a record that can’t be altered and is encrypted end-to-end, blockchain helps prevent fraud and unauthorized activity.</a:t>
            </a:r>
          </a:p>
          <a:p>
            <a:pPr marL="514350" indent="-514350" algn="just">
              <a:lnSpc>
                <a:spcPct val="200000"/>
              </a:lnSpc>
              <a:buFont typeface="Wingdings" panose="05000000000000000000" pitchFamily="2" charset="2"/>
              <a:buChar char="§"/>
            </a:pPr>
            <a:r>
              <a:rPr lang="en-US" sz="2800" dirty="0"/>
              <a:t>Privacy issues can also be addressed on blockchain by anonymizing personal data and using permissions to prevent access.</a:t>
            </a:r>
          </a:p>
          <a:p>
            <a:pPr marL="514350" indent="-514350" algn="just">
              <a:lnSpc>
                <a:spcPct val="200000"/>
              </a:lnSpc>
              <a:buFont typeface="Wingdings" panose="05000000000000000000" pitchFamily="2" charset="2"/>
              <a:buChar char="§"/>
            </a:pPr>
            <a:r>
              <a:rPr lang="en-US" sz="2800" dirty="0"/>
              <a:t>Information is stored across a network of computers rather than a single server, making it difficult for hackers to view data.</a:t>
            </a:r>
          </a:p>
        </p:txBody>
      </p:sp>
      <p:sp>
        <p:nvSpPr>
          <p:cNvPr id="4" name="TextBox 6">
            <a:extLst>
              <a:ext uri="{FF2B5EF4-FFF2-40B4-BE49-F238E27FC236}">
                <a16:creationId xmlns:a16="http://schemas.microsoft.com/office/drawing/2014/main" id="{6191D6B2-0EE7-8FA5-DBFE-9ECD45D2277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Five Important Blockchain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99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4D2B4-2218-2C23-E847-CA2A91C6D6E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546B0D2-984E-92AA-A7A7-F98978DC5D9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6F30144-F5F0-901D-C8A5-5E001896299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1C855E-14A8-50F1-6A32-F2F29258D07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6F26569-FF18-2E2F-44D3-5B001F7A483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1075A691-61B7-CCAA-1162-7854B3D40BB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A5938D1-DA76-2D31-9912-D65BFC9942B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9499CA9-471A-4856-961E-BB62D570D023}"/>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Greater transparency</a:t>
            </a:r>
          </a:p>
          <a:p>
            <a:pPr marL="514350" indent="-514350" algn="just">
              <a:lnSpc>
                <a:spcPct val="200000"/>
              </a:lnSpc>
              <a:buFont typeface="Wingdings" panose="05000000000000000000" pitchFamily="2" charset="2"/>
              <a:buChar char="§"/>
            </a:pPr>
            <a:r>
              <a:rPr lang="en-US" sz="2800" dirty="0"/>
              <a:t>Without blockchain, each organization has to keep a separate database. Because blockchain uses a distributed ledger, transactions and data are recorded identically in multiple locations.</a:t>
            </a:r>
          </a:p>
          <a:p>
            <a:pPr marL="514350" indent="-514350" algn="just">
              <a:lnSpc>
                <a:spcPct val="200000"/>
              </a:lnSpc>
              <a:buFont typeface="Wingdings" panose="05000000000000000000" pitchFamily="2" charset="2"/>
              <a:buChar char="§"/>
            </a:pPr>
            <a:r>
              <a:rPr lang="en-US" sz="2800" dirty="0"/>
              <a:t>All network participants with permissioned access see the same information at the same time, providing full transparency.</a:t>
            </a:r>
          </a:p>
          <a:p>
            <a:pPr marL="514350" indent="-514350" algn="just">
              <a:lnSpc>
                <a:spcPct val="200000"/>
              </a:lnSpc>
              <a:buFont typeface="Wingdings" panose="05000000000000000000" pitchFamily="2" charset="2"/>
              <a:buChar char="§"/>
            </a:pPr>
            <a:r>
              <a:rPr lang="en-US" sz="2800" dirty="0"/>
              <a:t>All transactions are immutability recorded, and are time-and date-stamped. This enables members to view the entire history of a transaction and virtually eliminates any opportunity for fraud.</a:t>
            </a:r>
          </a:p>
          <a:p>
            <a:pPr marL="514350" indent="-514350" algn="just">
              <a:lnSpc>
                <a:spcPct val="200000"/>
              </a:lnSpc>
              <a:buFont typeface="Wingdings" panose="05000000000000000000" pitchFamily="2" charset="2"/>
              <a:buChar char="§"/>
            </a:pPr>
            <a:endParaRPr lang="en-US" sz="2800" dirty="0"/>
          </a:p>
        </p:txBody>
      </p:sp>
      <p:sp>
        <p:nvSpPr>
          <p:cNvPr id="4" name="TextBox 6">
            <a:extLst>
              <a:ext uri="{FF2B5EF4-FFF2-40B4-BE49-F238E27FC236}">
                <a16:creationId xmlns:a16="http://schemas.microsoft.com/office/drawing/2014/main" id="{922A78CC-88B0-1556-91DB-055C2361A679}"/>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Five Important Blockchain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2619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AFAA-7A2B-92A4-8368-C04B8A67EC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EE667F8-6CA7-B692-2308-846E126A892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29F7426-DF3B-9A9E-BC49-AF17B780C69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7BEBB2C-08D1-FF74-9304-55EC1308E5A7}"/>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Five Important Blockchain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E4C75FD0-B897-30C8-67CA-3CB6F1AAA08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DE510229-2031-41C0-C633-7AEDE886378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590D4C7-7BEC-1A06-531E-A8C2C21AF8D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2420190-0E8E-6B0D-7954-C43D1FABA56E}"/>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Instant traceability</a:t>
            </a:r>
            <a:endParaRPr lang="en-US" sz="2800" b="1" dirty="0"/>
          </a:p>
          <a:p>
            <a:pPr marL="514350" indent="-514350" algn="just">
              <a:lnSpc>
                <a:spcPct val="200000"/>
              </a:lnSpc>
              <a:buFont typeface="Wingdings" panose="05000000000000000000" pitchFamily="2" charset="2"/>
              <a:buChar char="§"/>
            </a:pPr>
            <a:r>
              <a:rPr lang="en-GB" sz="2800" dirty="0"/>
              <a:t>Blockchain creates an audit trail that documents the provenance of an asset at every step on its journey.</a:t>
            </a:r>
          </a:p>
          <a:p>
            <a:pPr marL="514350" indent="-514350" algn="just">
              <a:lnSpc>
                <a:spcPct val="200000"/>
              </a:lnSpc>
              <a:buFont typeface="Wingdings" panose="05000000000000000000" pitchFamily="2" charset="2"/>
              <a:buChar char="§"/>
            </a:pPr>
            <a:r>
              <a:rPr lang="en-GB" sz="2800" dirty="0"/>
              <a:t>In industries where consumers are concerned about environmental or human rights issues surrounding a product — or an industry troubled by counterfeiting and fraud — this helps provide the proof.</a:t>
            </a:r>
          </a:p>
          <a:p>
            <a:pPr marL="514350" indent="-514350" algn="just">
              <a:lnSpc>
                <a:spcPct val="200000"/>
              </a:lnSpc>
              <a:buFont typeface="Wingdings" panose="05000000000000000000" pitchFamily="2" charset="2"/>
              <a:buChar char="§"/>
            </a:pPr>
            <a:r>
              <a:rPr lang="en-GB" sz="2800" dirty="0"/>
              <a:t>With blockchain, it is possible to share data about provenance directly with customers.</a:t>
            </a:r>
          </a:p>
          <a:p>
            <a:pPr marL="514350" indent="-514350" algn="just">
              <a:lnSpc>
                <a:spcPct val="200000"/>
              </a:lnSpc>
              <a:buFont typeface="Wingdings" panose="05000000000000000000" pitchFamily="2" charset="2"/>
              <a:buChar char="§"/>
            </a:pPr>
            <a:r>
              <a:rPr lang="en-GB" sz="2800" dirty="0"/>
              <a:t>Traceability data can also expose weaknesses in any supply chain — where goods might sit on a loading dock awaiting transit.</a:t>
            </a:r>
          </a:p>
          <a:p>
            <a:pPr algn="just">
              <a:lnSpc>
                <a:spcPct val="200000"/>
              </a:lnSpc>
            </a:pPr>
            <a:endParaRPr lang="en-US" sz="2800" dirty="0"/>
          </a:p>
        </p:txBody>
      </p:sp>
    </p:spTree>
    <p:extLst>
      <p:ext uri="{BB962C8B-B14F-4D97-AF65-F5344CB8AC3E}">
        <p14:creationId xmlns:p14="http://schemas.microsoft.com/office/powerpoint/2010/main" val="361819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B181B-3D19-E72E-7F10-FC488073B04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297484-54A7-2F7B-A2F6-406164FD97B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144DF71-AE6B-754D-8D7E-58EF7B0ACD6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8E4A5EA-7561-1895-4622-AE81807FAEC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Five Important Blockchain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C6446966-4430-E898-E2D9-9B68C60AB46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A5518748-E974-F6CB-E577-525254D4A4D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A2BA1C3-1BBF-2484-6265-4169ECC95CB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F245469-609A-57A9-48D6-3EABABB4C259}"/>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Increased efficiency and speed</a:t>
            </a:r>
            <a:endParaRPr lang="en-US" sz="2800" b="1" dirty="0"/>
          </a:p>
          <a:p>
            <a:pPr marL="514350" indent="-514350" algn="just">
              <a:lnSpc>
                <a:spcPct val="200000"/>
              </a:lnSpc>
              <a:buFont typeface="Wingdings" panose="05000000000000000000" pitchFamily="2" charset="2"/>
              <a:buChar char="§"/>
            </a:pPr>
            <a:r>
              <a:rPr lang="en-GB" sz="2800" dirty="0"/>
              <a:t>Traditional paper-heavy processes are time-consuming, prone to human error, and often requires third-party mediation.</a:t>
            </a:r>
          </a:p>
          <a:p>
            <a:pPr marL="514350" indent="-514350" algn="just">
              <a:lnSpc>
                <a:spcPct val="200000"/>
              </a:lnSpc>
              <a:buFont typeface="Wingdings" panose="05000000000000000000" pitchFamily="2" charset="2"/>
              <a:buChar char="§"/>
            </a:pPr>
            <a:r>
              <a:rPr lang="en-GB" sz="2800" dirty="0"/>
              <a:t>By streamlining these processes with blockchain, transactions can be completed faster and more efficiently.</a:t>
            </a:r>
          </a:p>
          <a:p>
            <a:pPr marL="514350" indent="-514350" algn="just">
              <a:lnSpc>
                <a:spcPct val="200000"/>
              </a:lnSpc>
              <a:buFont typeface="Wingdings" panose="05000000000000000000" pitchFamily="2" charset="2"/>
              <a:buChar char="§"/>
            </a:pPr>
            <a:r>
              <a:rPr lang="en-GB" sz="2800" dirty="0"/>
              <a:t>Documentation can be stored on the blockchain along with transaction details, eliminating the need to exchange paper. There’s no need to reconcile multiple ledgers, so clearing and settlement can be much faster.</a:t>
            </a:r>
            <a:endParaRPr lang="en-US" sz="2800" dirty="0"/>
          </a:p>
        </p:txBody>
      </p:sp>
    </p:spTree>
    <p:extLst>
      <p:ext uri="{BB962C8B-B14F-4D97-AF65-F5344CB8AC3E}">
        <p14:creationId xmlns:p14="http://schemas.microsoft.com/office/powerpoint/2010/main" val="309576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6955-E3DB-A180-F286-A58431D930D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A882E25-23EF-ACEF-8EC4-248A182602F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6EA9115-4015-C296-4A6A-9D9604BFFA7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517FAF6-F74E-152F-4D95-E490D1EAC6F5}"/>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Five Important Blockchain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8FCE245C-C8BA-61D3-A1FF-30B9C482F6F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EC1B3ECF-CD44-C1E2-8332-5D231BD7C0E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DD045BA-F05B-36AE-F734-4536F8C73FB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0C754EC-810D-8ABB-6478-B3611D05D196}"/>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Automation</a:t>
            </a:r>
            <a:endParaRPr lang="en-US" sz="2800" b="1" dirty="0"/>
          </a:p>
          <a:p>
            <a:pPr marL="514350" indent="-514350" algn="just">
              <a:lnSpc>
                <a:spcPct val="200000"/>
              </a:lnSpc>
              <a:buFont typeface="Wingdings" panose="05000000000000000000" pitchFamily="2" charset="2"/>
              <a:buChar char="§"/>
            </a:pPr>
            <a:r>
              <a:rPr lang="en-GB" sz="2800" dirty="0"/>
              <a:t>Transactions can even be automated with “smart contracts,” which increase your efficiency and speed the process even further. </a:t>
            </a:r>
          </a:p>
          <a:p>
            <a:pPr marL="514350" indent="-514350" algn="just">
              <a:lnSpc>
                <a:spcPct val="200000"/>
              </a:lnSpc>
              <a:buFont typeface="Wingdings" panose="05000000000000000000" pitchFamily="2" charset="2"/>
              <a:buChar char="§"/>
            </a:pPr>
            <a:r>
              <a:rPr lang="en-GB" sz="2800" dirty="0"/>
              <a:t>Once pre-specified conditions are met, the next step in transaction or process is automatically triggered.</a:t>
            </a:r>
          </a:p>
          <a:p>
            <a:pPr marL="514350" indent="-514350" algn="just">
              <a:lnSpc>
                <a:spcPct val="200000"/>
              </a:lnSpc>
              <a:buFont typeface="Wingdings" panose="05000000000000000000" pitchFamily="2" charset="2"/>
              <a:buChar char="§"/>
            </a:pPr>
            <a:r>
              <a:rPr lang="en-GB" sz="2800" dirty="0"/>
              <a:t>Smart contracts reduce human intervention as well as reliance on third parties to verify that terms of a contract have been met.</a:t>
            </a:r>
          </a:p>
          <a:p>
            <a:pPr marL="514350" indent="-514350" algn="just">
              <a:lnSpc>
                <a:spcPct val="200000"/>
              </a:lnSpc>
              <a:buFont typeface="Wingdings" panose="05000000000000000000" pitchFamily="2" charset="2"/>
              <a:buChar char="§"/>
            </a:pPr>
            <a:r>
              <a:rPr lang="en-GB" sz="2800" dirty="0"/>
              <a:t>In insurance, for example, once a customer has provided all necessary documentation to file a claim, the claim can automatically be settled and paid.</a:t>
            </a:r>
          </a:p>
        </p:txBody>
      </p:sp>
    </p:spTree>
    <p:extLst>
      <p:ext uri="{BB962C8B-B14F-4D97-AF65-F5344CB8AC3E}">
        <p14:creationId xmlns:p14="http://schemas.microsoft.com/office/powerpoint/2010/main" val="39414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2CBB5-2E34-4222-7F2B-A0C8BB07430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9411EF7B-4D81-4373-BA5B-9C4B282B225B}"/>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FF725BB2-5BF3-2604-72C0-5B2433FE5FF5}"/>
              </a:ext>
            </a:extLst>
          </p:cNvPr>
          <p:cNvSpPr txBox="1"/>
          <p:nvPr/>
        </p:nvSpPr>
        <p:spPr>
          <a:xfrm>
            <a:off x="481155" y="3714615"/>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Blockchain</a:t>
            </a:r>
          </a:p>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Basics</a:t>
            </a:r>
          </a:p>
        </p:txBody>
      </p:sp>
      <p:sp>
        <p:nvSpPr>
          <p:cNvPr id="2" name="object 9">
            <a:extLst>
              <a:ext uri="{FF2B5EF4-FFF2-40B4-BE49-F238E27FC236}">
                <a16:creationId xmlns:a16="http://schemas.microsoft.com/office/drawing/2014/main" id="{7A0CB7C7-DBE6-7397-663F-CA6A35A3E8A4}"/>
              </a:ext>
            </a:extLst>
          </p:cNvPr>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spTree>
    <p:extLst>
      <p:ext uri="{BB962C8B-B14F-4D97-AF65-F5344CB8AC3E}">
        <p14:creationId xmlns:p14="http://schemas.microsoft.com/office/powerpoint/2010/main" val="613661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12DF5-DD1C-22AF-7080-DA2357DA9DE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667212-1B98-0DF5-6213-5BAA6267C2F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DC36DFA-5BC0-83BE-BA26-AD9A41E45CC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6FBAC4B-7DF5-A486-F5DB-B9C831AF4037}"/>
              </a:ext>
            </a:extLst>
          </p:cNvPr>
          <p:cNvSpPr txBox="1"/>
          <p:nvPr/>
        </p:nvSpPr>
        <p:spPr>
          <a:xfrm>
            <a:off x="990600" y="300719"/>
            <a:ext cx="13999029"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Benefits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Blockchain &amp; Crypto-Currencies </a:t>
            </a:r>
          </a:p>
          <a:p>
            <a:pPr>
              <a:lnSpc>
                <a:spcPts val="5472"/>
              </a:lnSpc>
              <a:defRPr/>
            </a:pP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924BE79-04E2-D345-0588-2DDD4DC3CF3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945CD2FC-9CE5-03C7-D8FF-02F6595669F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A89423D-9480-5238-2E48-E87ABED9EF7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BB68B562-B2E9-C988-4BD8-C0CC197D4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438838"/>
            <a:ext cx="16775105" cy="7997070"/>
          </a:xfrm>
          <a:prstGeom prst="rect">
            <a:avLst/>
          </a:prstGeom>
        </p:spPr>
      </p:pic>
    </p:spTree>
    <p:extLst>
      <p:ext uri="{BB962C8B-B14F-4D97-AF65-F5344CB8AC3E}">
        <p14:creationId xmlns:p14="http://schemas.microsoft.com/office/powerpoint/2010/main" val="3057266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FBB4-AD95-ED9B-EE1E-45FD64A33A4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7119689-A11E-8894-E548-C8BABFED7C8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04CA485-355A-5EF9-E8B5-17E3DDD1D2D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483DA2A-C3BE-FF8E-4ED9-FBC0DB3E9941}"/>
              </a:ext>
            </a:extLst>
          </p:cNvPr>
          <p:cNvSpPr txBox="1"/>
          <p:nvPr/>
        </p:nvSpPr>
        <p:spPr>
          <a:xfrm>
            <a:off x="990600" y="300719"/>
            <a:ext cx="13999029" cy="621902"/>
          </a:xfrm>
          <a:prstGeom prst="rect">
            <a:avLst/>
          </a:prstGeom>
        </p:spPr>
        <p:txBody>
          <a:bodyPr wrap="square" lIns="0" tIns="0" rIns="0" bIns="0" rtlCol="0" anchor="t">
            <a:spAutoFit/>
          </a:bodyPr>
          <a:lstStyle>
            <a:defPPr>
              <a:defRPr lang="en-US"/>
            </a:defPPr>
            <a:lvl1pPr>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Financial Technology – Blockchain</a:t>
            </a:r>
          </a:p>
        </p:txBody>
      </p:sp>
      <p:sp>
        <p:nvSpPr>
          <p:cNvPr id="9" name="Date Placeholder 8">
            <a:extLst>
              <a:ext uri="{FF2B5EF4-FFF2-40B4-BE49-F238E27FC236}">
                <a16:creationId xmlns:a16="http://schemas.microsoft.com/office/drawing/2014/main" id="{E12C7A85-0794-37FA-0184-E5A1664A628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28DCBFC-117D-B6C7-2C67-150C0915D0D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285BD7D-613B-87D2-1932-BA987277250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579D417-F63D-79C5-4EF3-834A5147A9E9}"/>
              </a:ext>
            </a:extLst>
          </p:cNvPr>
          <p:cNvSpPr txBox="1"/>
          <p:nvPr/>
        </p:nvSpPr>
        <p:spPr>
          <a:xfrm>
            <a:off x="756446" y="1349133"/>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The Genesis Block</a:t>
            </a:r>
            <a:endParaRPr lang="en-US" sz="2800" b="1" dirty="0"/>
          </a:p>
        </p:txBody>
      </p:sp>
      <p:pic>
        <p:nvPicPr>
          <p:cNvPr id="4" name="Picture 3">
            <a:extLst>
              <a:ext uri="{FF2B5EF4-FFF2-40B4-BE49-F238E27FC236}">
                <a16:creationId xmlns:a16="http://schemas.microsoft.com/office/drawing/2014/main" id="{D138CE56-44D4-808A-A492-E10BA9154F8D}"/>
              </a:ext>
            </a:extLst>
          </p:cNvPr>
          <p:cNvPicPr>
            <a:picLocks noChangeAspect="1"/>
          </p:cNvPicPr>
          <p:nvPr/>
        </p:nvPicPr>
        <p:blipFill>
          <a:blip r:embed="rId3">
            <a:extLst>
              <a:ext uri="{28A0092B-C50C-407E-A947-70E740481C1C}">
                <a14:useLocalDpi xmlns:a14="http://schemas.microsoft.com/office/drawing/2010/main" val="0"/>
              </a:ext>
            </a:extLst>
          </a:blip>
          <a:srcRect t="1553"/>
          <a:stretch>
            <a:fillRect/>
          </a:stretch>
        </p:blipFill>
        <p:spPr>
          <a:xfrm>
            <a:off x="1107481" y="2274398"/>
            <a:ext cx="16073036" cy="5823245"/>
          </a:xfrm>
          <a:prstGeom prst="rect">
            <a:avLst/>
          </a:prstGeom>
          <a:ln w="3175">
            <a:solidFill>
              <a:schemeClr val="tx1"/>
            </a:solidFill>
          </a:ln>
        </p:spPr>
      </p:pic>
      <p:sp>
        <p:nvSpPr>
          <p:cNvPr id="7" name="TextBox 6">
            <a:extLst>
              <a:ext uri="{FF2B5EF4-FFF2-40B4-BE49-F238E27FC236}">
                <a16:creationId xmlns:a16="http://schemas.microsoft.com/office/drawing/2014/main" id="{7B64636A-6B6A-170B-A615-1FF7DBA15552}"/>
              </a:ext>
            </a:extLst>
          </p:cNvPr>
          <p:cNvSpPr txBox="1"/>
          <p:nvPr/>
        </p:nvSpPr>
        <p:spPr>
          <a:xfrm>
            <a:off x="756446" y="7830406"/>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Step-1:</a:t>
            </a:r>
          </a:p>
          <a:p>
            <a:pPr marL="514350" indent="-514350" algn="just">
              <a:lnSpc>
                <a:spcPct val="200000"/>
              </a:lnSpc>
              <a:buFont typeface="Wingdings" panose="05000000000000000000" pitchFamily="2" charset="2"/>
              <a:buChar char="§"/>
            </a:pPr>
            <a:r>
              <a:rPr lang="en-US" sz="2800" dirty="0"/>
              <a:t>Let us assume that Alice had $50 with her, which is the genesis of all transactions and every node is aware of it,</a:t>
            </a:r>
            <a:endParaRPr lang="en-GB" sz="2800" dirty="0"/>
          </a:p>
        </p:txBody>
      </p:sp>
    </p:spTree>
    <p:extLst>
      <p:ext uri="{BB962C8B-B14F-4D97-AF65-F5344CB8AC3E}">
        <p14:creationId xmlns:p14="http://schemas.microsoft.com/office/powerpoint/2010/main" val="6699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4D52-2877-918D-A412-1FD27658F1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36C329-ABFB-5F17-E8BB-C3242661B8E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FCD0DF9-8508-F4B4-C633-CD8F0C50D4C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2087BDE-370C-13DE-5E69-634324FCE65E}"/>
              </a:ext>
            </a:extLst>
          </p:cNvPr>
          <p:cNvSpPr txBox="1"/>
          <p:nvPr/>
        </p:nvSpPr>
        <p:spPr>
          <a:xfrm>
            <a:off x="990600" y="300719"/>
            <a:ext cx="13999029" cy="621902"/>
          </a:xfrm>
          <a:prstGeom prst="rect">
            <a:avLst/>
          </a:prstGeom>
        </p:spPr>
        <p:txBody>
          <a:bodyPr wrap="square" lIns="0" tIns="0" rIns="0" bIns="0" rtlCol="0" anchor="t">
            <a:spAutoFit/>
          </a:bodyPr>
          <a:lstStyle>
            <a:defPPr>
              <a:defRPr lang="en-US"/>
            </a:defPPr>
            <a:lvl1pPr>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Financial Technology – Blockchain</a:t>
            </a:r>
          </a:p>
        </p:txBody>
      </p:sp>
      <p:sp>
        <p:nvSpPr>
          <p:cNvPr id="9" name="Date Placeholder 8">
            <a:extLst>
              <a:ext uri="{FF2B5EF4-FFF2-40B4-BE49-F238E27FC236}">
                <a16:creationId xmlns:a16="http://schemas.microsoft.com/office/drawing/2014/main" id="{C20551C5-A04D-7A15-5A62-2B3AAAD98D1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AF0DA122-8BD9-1A44-45E5-1AE648CD4AB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01980CF-CEB2-636D-9826-13F2B5CEA14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6CDD451-BE57-86AD-1D28-364FCE8F3073}"/>
              </a:ext>
            </a:extLst>
          </p:cNvPr>
          <p:cNvSpPr txBox="1"/>
          <p:nvPr/>
        </p:nvSpPr>
        <p:spPr>
          <a:xfrm>
            <a:off x="756446" y="1349133"/>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The First Transaction</a:t>
            </a:r>
            <a:endParaRPr lang="en-US" sz="2800" b="1" dirty="0"/>
          </a:p>
        </p:txBody>
      </p:sp>
      <p:sp>
        <p:nvSpPr>
          <p:cNvPr id="7" name="TextBox 6">
            <a:extLst>
              <a:ext uri="{FF2B5EF4-FFF2-40B4-BE49-F238E27FC236}">
                <a16:creationId xmlns:a16="http://schemas.microsoft.com/office/drawing/2014/main" id="{2F850A6E-3281-CFC7-1F33-16F772F4F5CA}"/>
              </a:ext>
            </a:extLst>
          </p:cNvPr>
          <p:cNvSpPr txBox="1"/>
          <p:nvPr/>
        </p:nvSpPr>
        <p:spPr>
          <a:xfrm>
            <a:off x="756446" y="7830406"/>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Step-2:</a:t>
            </a:r>
          </a:p>
          <a:p>
            <a:pPr marL="514350" indent="-514350" algn="just">
              <a:lnSpc>
                <a:spcPct val="200000"/>
              </a:lnSpc>
              <a:buFont typeface="Wingdings" panose="05000000000000000000" pitchFamily="2" charset="2"/>
              <a:buChar char="§"/>
            </a:pPr>
            <a:r>
              <a:rPr lang="en-US" sz="2800" dirty="0"/>
              <a:t>Alice makes a transaction by paying $20 to Bob. Observe how the blockchain gets updated at each node</a:t>
            </a:r>
            <a:endParaRPr lang="en-GB" sz="2800" dirty="0"/>
          </a:p>
        </p:txBody>
      </p:sp>
      <p:pic>
        <p:nvPicPr>
          <p:cNvPr id="13" name="Picture 12">
            <a:extLst>
              <a:ext uri="{FF2B5EF4-FFF2-40B4-BE49-F238E27FC236}">
                <a16:creationId xmlns:a16="http://schemas.microsoft.com/office/drawing/2014/main" id="{ABCE1A3F-3D35-F20C-9FA4-19CE33122E89}"/>
              </a:ext>
            </a:extLst>
          </p:cNvPr>
          <p:cNvPicPr>
            <a:picLocks noChangeAspect="1"/>
          </p:cNvPicPr>
          <p:nvPr/>
        </p:nvPicPr>
        <p:blipFill>
          <a:blip r:embed="rId3"/>
          <a:stretch>
            <a:fillRect/>
          </a:stretch>
        </p:blipFill>
        <p:spPr>
          <a:xfrm>
            <a:off x="1107480" y="2255963"/>
            <a:ext cx="16073035" cy="5849285"/>
          </a:xfrm>
          <a:prstGeom prst="rect">
            <a:avLst/>
          </a:prstGeom>
          <a:ln>
            <a:solidFill>
              <a:schemeClr val="tx1"/>
            </a:solidFill>
          </a:ln>
        </p:spPr>
      </p:pic>
    </p:spTree>
    <p:extLst>
      <p:ext uri="{BB962C8B-B14F-4D97-AF65-F5344CB8AC3E}">
        <p14:creationId xmlns:p14="http://schemas.microsoft.com/office/powerpoint/2010/main" val="327189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BDE6-35FF-64E5-0E67-487485E51A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78F10D5-C3B3-F93F-2CB8-1342EF742C3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2C642D1-A5D4-95C7-7306-D45041D9A72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1FBD9D9-87F9-7FDA-3781-B209A9CDD442}"/>
              </a:ext>
            </a:extLst>
          </p:cNvPr>
          <p:cNvSpPr txBox="1"/>
          <p:nvPr/>
        </p:nvSpPr>
        <p:spPr>
          <a:xfrm>
            <a:off x="990600" y="300719"/>
            <a:ext cx="13999029" cy="621902"/>
          </a:xfrm>
          <a:prstGeom prst="rect">
            <a:avLst/>
          </a:prstGeom>
        </p:spPr>
        <p:txBody>
          <a:bodyPr wrap="square" lIns="0" tIns="0" rIns="0" bIns="0" rtlCol="0" anchor="t">
            <a:spAutoFit/>
          </a:bodyPr>
          <a:lstStyle>
            <a:defPPr>
              <a:defRPr lang="en-US"/>
            </a:defPPr>
            <a:lvl1pPr>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Financial Technology – Blockchain</a:t>
            </a:r>
          </a:p>
        </p:txBody>
      </p:sp>
      <p:sp>
        <p:nvSpPr>
          <p:cNvPr id="9" name="Date Placeholder 8">
            <a:extLst>
              <a:ext uri="{FF2B5EF4-FFF2-40B4-BE49-F238E27FC236}">
                <a16:creationId xmlns:a16="http://schemas.microsoft.com/office/drawing/2014/main" id="{A7104DA8-749F-9FFD-7B7A-8DEB004B3C1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5F60807-E1CF-7255-2EC8-224955FEEF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9F41E2D-D1F6-08A2-D241-5B3A1A8C123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A0855D6-E744-1286-935E-1F222DF38DFE}"/>
              </a:ext>
            </a:extLst>
          </p:cNvPr>
          <p:cNvSpPr txBox="1"/>
          <p:nvPr/>
        </p:nvSpPr>
        <p:spPr>
          <a:xfrm>
            <a:off x="756446" y="1349133"/>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The Second Transaction</a:t>
            </a:r>
            <a:endParaRPr lang="en-US" sz="2800" b="1" dirty="0"/>
          </a:p>
        </p:txBody>
      </p:sp>
      <p:sp>
        <p:nvSpPr>
          <p:cNvPr id="7" name="TextBox 6">
            <a:extLst>
              <a:ext uri="{FF2B5EF4-FFF2-40B4-BE49-F238E27FC236}">
                <a16:creationId xmlns:a16="http://schemas.microsoft.com/office/drawing/2014/main" id="{5636FD09-C8DC-F75E-E875-597E3B66F277}"/>
              </a:ext>
            </a:extLst>
          </p:cNvPr>
          <p:cNvSpPr txBox="1"/>
          <p:nvPr/>
        </p:nvSpPr>
        <p:spPr>
          <a:xfrm>
            <a:off x="756446" y="7533587"/>
            <a:ext cx="16775106" cy="1964512"/>
          </a:xfrm>
          <a:prstGeom prst="rect">
            <a:avLst/>
          </a:prstGeom>
          <a:noFill/>
        </p:spPr>
        <p:txBody>
          <a:bodyPr wrap="square" rtlCol="0">
            <a:spAutoFit/>
          </a:bodyPr>
          <a:lstStyle/>
          <a:p>
            <a:pPr marL="514350" indent="-514350" algn="just">
              <a:lnSpc>
                <a:spcPct val="150000"/>
              </a:lnSpc>
              <a:buFont typeface="Wingdings" panose="05000000000000000000" pitchFamily="2" charset="2"/>
              <a:buChar char="§"/>
            </a:pPr>
            <a:r>
              <a:rPr lang="en-US" sz="2800" dirty="0"/>
              <a:t>Bob makes another transaction by paying $10 to Charlie and the blockchain gets updated. The transaction data in the blocks is immutable. All transactions are fully irreversible. Any change would result in a new transaction, which would get validated by all contributing nodes. Every node has its own copy of blockchain.</a:t>
            </a:r>
            <a:endParaRPr lang="en-GB" sz="2800" dirty="0"/>
          </a:p>
        </p:txBody>
      </p:sp>
      <p:pic>
        <p:nvPicPr>
          <p:cNvPr id="12" name="Picture 11">
            <a:extLst>
              <a:ext uri="{FF2B5EF4-FFF2-40B4-BE49-F238E27FC236}">
                <a16:creationId xmlns:a16="http://schemas.microsoft.com/office/drawing/2014/main" id="{ADEB0D24-13C4-FE73-CEA8-6CB16CA7B838}"/>
              </a:ext>
            </a:extLst>
          </p:cNvPr>
          <p:cNvPicPr>
            <a:picLocks noChangeAspect="1"/>
          </p:cNvPicPr>
          <p:nvPr/>
        </p:nvPicPr>
        <p:blipFill>
          <a:blip r:embed="rId3"/>
          <a:stretch>
            <a:fillRect/>
          </a:stretch>
        </p:blipFill>
        <p:spPr>
          <a:xfrm>
            <a:off x="1107480" y="2182566"/>
            <a:ext cx="16003662" cy="5382623"/>
          </a:xfrm>
          <a:prstGeom prst="rect">
            <a:avLst/>
          </a:prstGeom>
          <a:ln>
            <a:solidFill>
              <a:schemeClr val="tx1"/>
            </a:solidFill>
          </a:ln>
        </p:spPr>
      </p:pic>
    </p:spTree>
    <p:extLst>
      <p:ext uri="{BB962C8B-B14F-4D97-AF65-F5344CB8AC3E}">
        <p14:creationId xmlns:p14="http://schemas.microsoft.com/office/powerpoint/2010/main" val="180270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40C30-1F3E-FB47-7232-77331502CBC8}"/>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DD990285-2662-86FB-43A2-14111190D2F5}"/>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7BA26ACD-17D7-3C8C-DAFA-912C91412106}"/>
              </a:ext>
            </a:extLst>
          </p:cNvPr>
          <p:cNvSpPr txBox="1"/>
          <p:nvPr/>
        </p:nvSpPr>
        <p:spPr>
          <a:xfrm>
            <a:off x="481155" y="3714615"/>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Cryptography in</a:t>
            </a:r>
          </a:p>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Blockchain</a:t>
            </a:r>
          </a:p>
        </p:txBody>
      </p:sp>
      <p:sp>
        <p:nvSpPr>
          <p:cNvPr id="2" name="object 9">
            <a:extLst>
              <a:ext uri="{FF2B5EF4-FFF2-40B4-BE49-F238E27FC236}">
                <a16:creationId xmlns:a16="http://schemas.microsoft.com/office/drawing/2014/main" id="{965D8A3E-D688-621E-46E9-D171281EC89A}"/>
              </a:ext>
            </a:extLst>
          </p:cNvPr>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spTree>
    <p:extLst>
      <p:ext uri="{BB962C8B-B14F-4D97-AF65-F5344CB8AC3E}">
        <p14:creationId xmlns:p14="http://schemas.microsoft.com/office/powerpoint/2010/main" val="2115638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2D4F7-BF79-320A-1FEF-DB2570F4891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4B0970C-E9C9-628A-FBFE-705BE303726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E90A491-4357-E206-9715-D0E1DAA3204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FE7BFB4-179B-F06D-30CC-57B2288D6752}"/>
              </a:ext>
            </a:extLst>
          </p:cNvPr>
          <p:cNvSpPr txBox="1"/>
          <p:nvPr/>
        </p:nvSpPr>
        <p:spPr>
          <a:xfrm>
            <a:off x="990600" y="300719"/>
            <a:ext cx="113864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12 - Identifying and Protecting User Accounts</a:t>
            </a:r>
          </a:p>
        </p:txBody>
      </p:sp>
      <p:sp>
        <p:nvSpPr>
          <p:cNvPr id="9" name="Date Placeholder 8">
            <a:extLst>
              <a:ext uri="{FF2B5EF4-FFF2-40B4-BE49-F238E27FC236}">
                <a16:creationId xmlns:a16="http://schemas.microsoft.com/office/drawing/2014/main" id="{BB579E1C-7734-AAA7-E16C-66F28CCD2E2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0474B433-E964-9483-0891-94A11A54B9E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45B0708-A57C-414F-1CA0-1FE146382D4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01BA8C7-72C4-E1CA-0C4D-855132B98D01}"/>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blockchain uses asymmetric cryptography in order to achieve two goals:</a:t>
            </a:r>
          </a:p>
          <a:p>
            <a:pPr marL="971550" lvl="1" indent="-514350" algn="just">
              <a:lnSpc>
                <a:spcPct val="200000"/>
              </a:lnSpc>
              <a:buFont typeface="Wingdings" panose="05000000000000000000" pitchFamily="2" charset="2"/>
              <a:buChar char="§"/>
            </a:pPr>
            <a:r>
              <a:rPr lang="en-GB" sz="2800" dirty="0"/>
              <a:t> Identifying accounts (public to private)</a:t>
            </a:r>
          </a:p>
          <a:p>
            <a:pPr marL="971550" lvl="1" indent="-514350" algn="just">
              <a:lnSpc>
                <a:spcPct val="200000"/>
              </a:lnSpc>
              <a:buFont typeface="Wingdings" panose="05000000000000000000" pitchFamily="2" charset="2"/>
              <a:buChar char="§"/>
            </a:pPr>
            <a:r>
              <a:rPr lang="en-GB" sz="2800" dirty="0"/>
              <a:t> Authorizing transactions (private to public)</a:t>
            </a:r>
          </a:p>
          <a:p>
            <a:pPr marL="514350" indent="-514350" algn="just">
              <a:lnSpc>
                <a:spcPct val="200000"/>
              </a:lnSpc>
              <a:buFont typeface="Wingdings" panose="05000000000000000000" pitchFamily="2" charset="2"/>
              <a:buChar char="§"/>
            </a:pPr>
            <a:r>
              <a:rPr lang="en-GB" sz="2800" dirty="0"/>
              <a:t>The owner of the account who hands off ownership creates a piece of cypher text with the corresponding private key. This piece of cypher text can be verified by using the corresponding public key, which happens to be the number of the account that hands off ownership. </a:t>
            </a:r>
          </a:p>
        </p:txBody>
      </p:sp>
      <p:sp>
        <p:nvSpPr>
          <p:cNvPr id="4" name="TextBox 6">
            <a:extLst>
              <a:ext uri="{FF2B5EF4-FFF2-40B4-BE49-F238E27FC236}">
                <a16:creationId xmlns:a16="http://schemas.microsoft.com/office/drawing/2014/main" id="{5E25DEE9-5581-E358-46F1-AA00539D4A9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Asymmetric Cryptography</a:t>
            </a:r>
          </a:p>
        </p:txBody>
      </p:sp>
    </p:spTree>
    <p:extLst>
      <p:ext uri="{BB962C8B-B14F-4D97-AF65-F5344CB8AC3E}">
        <p14:creationId xmlns:p14="http://schemas.microsoft.com/office/powerpoint/2010/main" val="141435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79454-6F10-C724-C0D6-0EC3C243BDA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2085BD3-7217-7A6B-A5E9-54F9195A37E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E2DC806-F731-3378-A388-687407F15AC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D873D5A-7635-C559-848F-9E675AA6128A}"/>
              </a:ext>
            </a:extLst>
          </p:cNvPr>
          <p:cNvSpPr txBox="1"/>
          <p:nvPr/>
        </p:nvSpPr>
        <p:spPr>
          <a:xfrm>
            <a:off x="990600" y="300719"/>
            <a:ext cx="113864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13 - Authorizing Transactions (digital signatures) </a:t>
            </a:r>
          </a:p>
        </p:txBody>
      </p:sp>
      <p:sp>
        <p:nvSpPr>
          <p:cNvPr id="9" name="Date Placeholder 8">
            <a:extLst>
              <a:ext uri="{FF2B5EF4-FFF2-40B4-BE49-F238E27FC236}">
                <a16:creationId xmlns:a16="http://schemas.microsoft.com/office/drawing/2014/main" id="{F1983B40-460C-7AC5-B609-9BF05C161A9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D0B227DB-F1FB-2C4F-57A7-C461B60BA13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76CFEB8-8D10-DAF6-0DF4-71CD02969A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067A582-56C9-CF45-A761-C6F264C96CE1}"/>
              </a:ext>
            </a:extLst>
          </p:cNvPr>
          <p:cNvSpPr txBox="1"/>
          <p:nvPr/>
        </p:nvSpPr>
        <p:spPr>
          <a:xfrm>
            <a:off x="756447" y="2644758"/>
            <a:ext cx="16775106" cy="715516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Digital signatures in the blockchain </a:t>
            </a:r>
            <a:r>
              <a:rPr lang="en-GB" sz="2800" dirty="0" err="1"/>
              <a:t>fulfill</a:t>
            </a:r>
            <a:r>
              <a:rPr lang="en-GB" sz="2800" dirty="0"/>
              <a:t> the following requirements:</a:t>
            </a:r>
          </a:p>
          <a:p>
            <a:pPr marL="971550" lvl="1" indent="-514350" algn="just">
              <a:lnSpc>
                <a:spcPct val="200000"/>
              </a:lnSpc>
              <a:buFont typeface="Wingdings" panose="05000000000000000000" pitchFamily="2" charset="2"/>
              <a:buChar char="§"/>
            </a:pPr>
            <a:r>
              <a:rPr lang="en-GB" sz="2800" dirty="0"/>
              <a:t>They state agreement of the owner of the account who hands off ownership with specific transaction data.</a:t>
            </a:r>
          </a:p>
          <a:p>
            <a:pPr marL="971550" lvl="1" indent="-514350" algn="just">
              <a:lnSpc>
                <a:spcPct val="200000"/>
              </a:lnSpc>
              <a:buFont typeface="Wingdings" panose="05000000000000000000" pitchFamily="2" charset="2"/>
              <a:buChar char="§"/>
            </a:pPr>
            <a:r>
              <a:rPr lang="en-GB" sz="2800" dirty="0"/>
              <a:t> They are unique for the whole content of transaction data in order to prevent it from being used to authorize other transactions without the agreement of its author.</a:t>
            </a:r>
          </a:p>
          <a:p>
            <a:pPr marL="971550" lvl="1" indent="-514350" algn="just">
              <a:lnSpc>
                <a:spcPct val="200000"/>
              </a:lnSpc>
              <a:buFont typeface="Wingdings" panose="05000000000000000000" pitchFamily="2" charset="2"/>
              <a:buChar char="§"/>
            </a:pPr>
            <a:r>
              <a:rPr lang="en-GB" sz="2800" dirty="0"/>
              <a:t>Only the owner of the account who hands off ownership can create such a signature.</a:t>
            </a:r>
          </a:p>
          <a:p>
            <a:pPr marL="971550" lvl="1" indent="-514350" algn="just">
              <a:lnSpc>
                <a:spcPct val="200000"/>
              </a:lnSpc>
              <a:buFont typeface="Wingdings" panose="05000000000000000000" pitchFamily="2" charset="2"/>
              <a:buChar char="§"/>
            </a:pPr>
            <a:r>
              <a:rPr lang="en-GB" sz="2800" dirty="0"/>
              <a:t>They are easy to verify by everyone.</a:t>
            </a:r>
          </a:p>
          <a:p>
            <a:pPr marL="514350" indent="-514350" algn="just">
              <a:lnSpc>
                <a:spcPct val="200000"/>
              </a:lnSpc>
              <a:buFont typeface="Wingdings" panose="05000000000000000000" pitchFamily="2" charset="2"/>
              <a:buChar char="§"/>
            </a:pPr>
            <a:r>
              <a:rPr lang="en-GB" sz="2800" dirty="0"/>
              <a:t>There are two use cases of digital signatures in the blockchain:</a:t>
            </a:r>
          </a:p>
          <a:p>
            <a:pPr marL="971550" lvl="1" indent="-514350" algn="just">
              <a:lnSpc>
                <a:spcPct val="200000"/>
              </a:lnSpc>
              <a:buFont typeface="Wingdings" panose="05000000000000000000" pitchFamily="2" charset="2"/>
              <a:buChar char="§"/>
            </a:pPr>
            <a:r>
              <a:rPr lang="en-GB" dirty="0"/>
              <a:t>Signing a transaction</a:t>
            </a:r>
            <a:endParaRPr lang="en-GB" sz="2800" dirty="0"/>
          </a:p>
          <a:p>
            <a:pPr marL="971550" lvl="1" indent="-514350" algn="just">
              <a:lnSpc>
                <a:spcPct val="200000"/>
              </a:lnSpc>
              <a:buFont typeface="Wingdings" panose="05000000000000000000" pitchFamily="2" charset="2"/>
              <a:buChar char="§"/>
            </a:pPr>
            <a:r>
              <a:rPr lang="en-GB" dirty="0"/>
              <a:t>Verifying a transactions</a:t>
            </a:r>
          </a:p>
        </p:txBody>
      </p:sp>
      <p:sp>
        <p:nvSpPr>
          <p:cNvPr id="4" name="TextBox 6">
            <a:extLst>
              <a:ext uri="{FF2B5EF4-FFF2-40B4-BE49-F238E27FC236}">
                <a16:creationId xmlns:a16="http://schemas.microsoft.com/office/drawing/2014/main" id="{F0731DFF-0B7E-7411-A0B2-B9DCE2CEE656}"/>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Digital Signatures in Blockchain</a:t>
            </a:r>
          </a:p>
        </p:txBody>
      </p:sp>
    </p:spTree>
    <p:extLst>
      <p:ext uri="{BB962C8B-B14F-4D97-AF65-F5344CB8AC3E}">
        <p14:creationId xmlns:p14="http://schemas.microsoft.com/office/powerpoint/2010/main" val="134780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F4F87-999C-0696-1CC7-EA755589C0E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CD795A-79D0-7A0F-96B5-3789141062D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E1F7B42-620F-E3DC-3E6C-620E3365E90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4F85CEE-356D-800A-E248-EB620E0F44A3}"/>
              </a:ext>
            </a:extLst>
          </p:cNvPr>
          <p:cNvSpPr txBox="1"/>
          <p:nvPr/>
        </p:nvSpPr>
        <p:spPr>
          <a:xfrm>
            <a:off x="990600" y="300719"/>
            <a:ext cx="113864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13 - Authorizing Transactions (digital signatures) </a:t>
            </a:r>
          </a:p>
        </p:txBody>
      </p:sp>
      <p:sp>
        <p:nvSpPr>
          <p:cNvPr id="9" name="Date Placeholder 8">
            <a:extLst>
              <a:ext uri="{FF2B5EF4-FFF2-40B4-BE49-F238E27FC236}">
                <a16:creationId xmlns:a16="http://schemas.microsoft.com/office/drawing/2014/main" id="{2538319C-B57B-057D-8BB3-9DF3CB7C98B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DD19E1DD-497D-0E2A-8181-E27D7800728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E483968-D884-3C37-3B22-810AB6D1C55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9BBD1C0-9002-E88E-8699-B006139E4AE3}"/>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order to create a digital signature for a transaction, the owner of the account who hands off ownership performs the following steps:</a:t>
            </a:r>
          </a:p>
          <a:p>
            <a:pPr marL="971550" lvl="1" indent="-514350" algn="just">
              <a:lnSpc>
                <a:spcPct val="200000"/>
              </a:lnSpc>
              <a:buFont typeface="+mj-lt"/>
              <a:buAutoNum type="arabicPeriod"/>
            </a:pPr>
            <a:r>
              <a:rPr lang="en-GB" sz="2800" dirty="0"/>
              <a:t>Describes the transaction with all necessary information such as the involved account numbers, amount being transferred, and so on (except the signature itself as it is not yet available).</a:t>
            </a:r>
          </a:p>
          <a:p>
            <a:pPr marL="971550" lvl="1" indent="-514350" algn="just">
              <a:lnSpc>
                <a:spcPct val="200000"/>
              </a:lnSpc>
              <a:buFont typeface="+mj-lt"/>
              <a:buAutoNum type="arabicPeriod"/>
            </a:pPr>
            <a:r>
              <a:rPr lang="en-GB" sz="2800" dirty="0"/>
              <a:t>Create the cryptographic hash value of the transaction data.</a:t>
            </a:r>
          </a:p>
          <a:p>
            <a:pPr marL="971550" lvl="1" indent="-514350" algn="just">
              <a:lnSpc>
                <a:spcPct val="200000"/>
              </a:lnSpc>
              <a:buFont typeface="+mj-lt"/>
              <a:buAutoNum type="arabicPeriod"/>
            </a:pPr>
            <a:r>
              <a:rPr lang="en-GB" sz="2800" dirty="0"/>
              <a:t>Encrypt the hash value of the transaction with the private key of the account that hands off ownership</a:t>
            </a:r>
          </a:p>
          <a:p>
            <a:pPr marL="971550" lvl="1" indent="-514350" algn="just">
              <a:lnSpc>
                <a:spcPct val="200000"/>
              </a:lnSpc>
              <a:buFont typeface="+mj-lt"/>
              <a:buAutoNum type="arabicPeriod"/>
            </a:pPr>
            <a:r>
              <a:rPr lang="en-GB" sz="2800" dirty="0"/>
              <a:t>Add the cypher text created in point 3 to the transaction as its digital signature</a:t>
            </a:r>
            <a:endParaRPr lang="en-GB" dirty="0"/>
          </a:p>
        </p:txBody>
      </p:sp>
      <p:sp>
        <p:nvSpPr>
          <p:cNvPr id="4" name="TextBox 6">
            <a:extLst>
              <a:ext uri="{FF2B5EF4-FFF2-40B4-BE49-F238E27FC236}">
                <a16:creationId xmlns:a16="http://schemas.microsoft.com/office/drawing/2014/main" id="{60246BDF-AAD1-DDF0-FC9D-C2AA350B3B4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Signing a Transaction</a:t>
            </a:r>
          </a:p>
        </p:txBody>
      </p:sp>
    </p:spTree>
    <p:extLst>
      <p:ext uri="{BB962C8B-B14F-4D97-AF65-F5344CB8AC3E}">
        <p14:creationId xmlns:p14="http://schemas.microsoft.com/office/powerpoint/2010/main" val="421415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9A59A-140B-3227-25CC-35CAFA42D07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5533A4-104F-48FA-8C22-FBC112DDC67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D6FF2FE-288B-C69B-48FD-7D1760DFA13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9A8B6A1-14D1-5126-3687-41E40C9A1E59}"/>
              </a:ext>
            </a:extLst>
          </p:cNvPr>
          <p:cNvSpPr txBox="1"/>
          <p:nvPr/>
        </p:nvSpPr>
        <p:spPr>
          <a:xfrm>
            <a:off x="990600" y="300719"/>
            <a:ext cx="113864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13 - Authorizing Transactions (digital signatures) </a:t>
            </a:r>
          </a:p>
        </p:txBody>
      </p:sp>
      <p:sp>
        <p:nvSpPr>
          <p:cNvPr id="9" name="Date Placeholder 8">
            <a:extLst>
              <a:ext uri="{FF2B5EF4-FFF2-40B4-BE49-F238E27FC236}">
                <a16:creationId xmlns:a16="http://schemas.microsoft.com/office/drawing/2014/main" id="{70C21FC9-DCD6-EC32-575E-9DD6AC0A01E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9CAEC6DC-E180-F162-4AE4-CC710319E4B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54D26DD-5F59-0F66-16A9-B87686940E0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79E71C0-8B76-37E8-7D15-D2FE8D88F923}"/>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order to verify a transaction, the following steps must be performed:</a:t>
            </a:r>
          </a:p>
          <a:p>
            <a:pPr marL="971550" lvl="1" indent="-514350" algn="just">
              <a:lnSpc>
                <a:spcPct val="200000"/>
              </a:lnSpc>
              <a:buFont typeface="+mj-lt"/>
              <a:buAutoNum type="arabicPeriod"/>
            </a:pPr>
            <a:r>
              <a:rPr lang="en-GB" sz="2800" dirty="0"/>
              <a:t>Create the hash value of the transaction data to be verified except the signature itself.</a:t>
            </a:r>
          </a:p>
          <a:p>
            <a:pPr marL="971550" lvl="1" indent="-514350" algn="just">
              <a:lnSpc>
                <a:spcPct val="200000"/>
              </a:lnSpc>
              <a:buFont typeface="+mj-lt"/>
              <a:buAutoNum type="arabicPeriod"/>
            </a:pPr>
            <a:r>
              <a:rPr lang="en-GB" sz="2800" dirty="0"/>
              <a:t>Decrypt the digital signature of the transaction under consideration with the account number that hands off ownership</a:t>
            </a:r>
          </a:p>
          <a:p>
            <a:pPr marL="971550" lvl="1" indent="-514350" algn="just">
              <a:lnSpc>
                <a:spcPct val="200000"/>
              </a:lnSpc>
              <a:buFont typeface="+mj-lt"/>
              <a:buAutoNum type="arabicPeriod"/>
            </a:pPr>
            <a:r>
              <a:rPr lang="en-GB" sz="2800" dirty="0"/>
              <a:t>Compare the hash value of step 1 with the value gained in step 2. If both are identical, the transaction is authorized by the owner of the private key that corresponds to the account that hands off ownership, otherwise it is not.</a:t>
            </a:r>
          </a:p>
        </p:txBody>
      </p:sp>
      <p:sp>
        <p:nvSpPr>
          <p:cNvPr id="4" name="TextBox 6">
            <a:extLst>
              <a:ext uri="{FF2B5EF4-FFF2-40B4-BE49-F238E27FC236}">
                <a16:creationId xmlns:a16="http://schemas.microsoft.com/office/drawing/2014/main" id="{39BC4B9E-8323-19D6-A2F0-5451082E7085}"/>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Verifying a Transaction</a:t>
            </a:r>
          </a:p>
        </p:txBody>
      </p:sp>
    </p:spTree>
    <p:extLst>
      <p:ext uri="{BB962C8B-B14F-4D97-AF65-F5344CB8AC3E}">
        <p14:creationId xmlns:p14="http://schemas.microsoft.com/office/powerpoint/2010/main" val="173236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04E6D-B797-FC5D-42AE-61223226031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3D1BA44-5444-72FF-4E87-4D7EC5CE160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E9FFA49-7287-3446-3F55-0986843D2B2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A40CB89-CBDF-A65E-FD58-4049C9CFD7B1}"/>
              </a:ext>
            </a:extLst>
          </p:cNvPr>
          <p:cNvSpPr txBox="1"/>
          <p:nvPr/>
        </p:nvSpPr>
        <p:spPr>
          <a:xfrm>
            <a:off x="990600" y="300719"/>
            <a:ext cx="13803086"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14 - Storing Transaction Data (a history of transaction data)</a:t>
            </a:r>
          </a:p>
        </p:txBody>
      </p:sp>
      <p:sp>
        <p:nvSpPr>
          <p:cNvPr id="9" name="Date Placeholder 8">
            <a:extLst>
              <a:ext uri="{FF2B5EF4-FFF2-40B4-BE49-F238E27FC236}">
                <a16:creationId xmlns:a16="http://schemas.microsoft.com/office/drawing/2014/main" id="{EBD39BFD-EF6F-871D-3012-CCFE6452EA6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B45AC409-9F69-CA60-333A-31432901083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11DDC8D-41D8-1ED8-32D8-D0327F9C364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E14F44FA-C6AB-EA85-7DC3-CF0C28AB65D5}"/>
              </a:ext>
            </a:extLst>
          </p:cNvPr>
          <p:cNvSpPr txBox="1"/>
          <p:nvPr/>
        </p:nvSpPr>
        <p:spPr>
          <a:xfrm>
            <a:off x="756447" y="1531258"/>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Blockchain-data-structure</a:t>
            </a:r>
          </a:p>
        </p:txBody>
      </p:sp>
      <p:sp>
        <p:nvSpPr>
          <p:cNvPr id="5" name="TextBox 4">
            <a:extLst>
              <a:ext uri="{FF2B5EF4-FFF2-40B4-BE49-F238E27FC236}">
                <a16:creationId xmlns:a16="http://schemas.microsoft.com/office/drawing/2014/main" id="{4DFEEF62-D846-FC20-CF9F-8EA78E735150}"/>
              </a:ext>
            </a:extLst>
          </p:cNvPr>
          <p:cNvSpPr txBox="1"/>
          <p:nvPr/>
        </p:nvSpPr>
        <p:spPr>
          <a:xfrm>
            <a:off x="756447" y="8612983"/>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blockchain-data-structure is a specific kind of data structure that is made up of ordered units called blocks</a:t>
            </a:r>
            <a:endParaRPr lang="en-GB" sz="2800" dirty="0"/>
          </a:p>
        </p:txBody>
      </p:sp>
      <p:pic>
        <p:nvPicPr>
          <p:cNvPr id="8" name="Picture 7">
            <a:extLst>
              <a:ext uri="{FF2B5EF4-FFF2-40B4-BE49-F238E27FC236}">
                <a16:creationId xmlns:a16="http://schemas.microsoft.com/office/drawing/2014/main" id="{DCC8A004-28CD-1E75-8477-FB72E4EEF7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2324190"/>
            <a:ext cx="16775106" cy="6591258"/>
          </a:xfrm>
          <a:prstGeom prst="rect">
            <a:avLst/>
          </a:prstGeom>
        </p:spPr>
      </p:pic>
    </p:spTree>
    <p:extLst>
      <p:ext uri="{BB962C8B-B14F-4D97-AF65-F5344CB8AC3E}">
        <p14:creationId xmlns:p14="http://schemas.microsoft.com/office/powerpoint/2010/main" val="184704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DF4E0-C0DA-69EC-2895-333FF44E5C7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01B76F0-B63E-ED86-4A44-1B9E88285DB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9F39D8-A173-5036-3003-83F390375F2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D58FC1F-B4E9-A20D-169A-4F7DF322A350}"/>
              </a:ext>
            </a:extLst>
          </p:cNvPr>
          <p:cNvSpPr txBox="1"/>
          <p:nvPr/>
        </p:nvSpPr>
        <p:spPr>
          <a:xfrm>
            <a:off x="990600" y="300719"/>
            <a:ext cx="13803086"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14 - Storing Transaction Data (a history of transaction data)</a:t>
            </a:r>
          </a:p>
        </p:txBody>
      </p:sp>
      <p:sp>
        <p:nvSpPr>
          <p:cNvPr id="9" name="Date Placeholder 8">
            <a:extLst>
              <a:ext uri="{FF2B5EF4-FFF2-40B4-BE49-F238E27FC236}">
                <a16:creationId xmlns:a16="http://schemas.microsoft.com/office/drawing/2014/main" id="{1A0AE050-8A9B-73F5-DDB8-49FC3F8C55F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60983AFF-F3B3-28DE-B61C-8DD9B1F8DB4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98171A7-B0E6-F7CF-B7A5-BC42B19DD6D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B9FF74D7-1559-873B-C9FE-A4CDC1F8D2F5}"/>
              </a:ext>
            </a:extLst>
          </p:cNvPr>
          <p:cNvSpPr txBox="1"/>
          <p:nvPr/>
        </p:nvSpPr>
        <p:spPr>
          <a:xfrm>
            <a:off x="756447" y="1531258"/>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Blockchain-data-structure</a:t>
            </a:r>
          </a:p>
        </p:txBody>
      </p:sp>
      <p:sp>
        <p:nvSpPr>
          <p:cNvPr id="5" name="TextBox 4">
            <a:extLst>
              <a:ext uri="{FF2B5EF4-FFF2-40B4-BE49-F238E27FC236}">
                <a16:creationId xmlns:a16="http://schemas.microsoft.com/office/drawing/2014/main" id="{645F46BC-A930-F995-9F29-6982B07C5F95}"/>
              </a:ext>
            </a:extLst>
          </p:cNvPr>
          <p:cNvSpPr txBox="1"/>
          <p:nvPr/>
        </p:nvSpPr>
        <p:spPr>
          <a:xfrm>
            <a:off x="756447" y="2153160"/>
            <a:ext cx="11632198"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Each block of the blockchain-data-structure consists of an ordered chain of block header and a Merkle tree that contains transaction data</a:t>
            </a:r>
          </a:p>
          <a:p>
            <a:pPr marL="514350" indent="-514350" algn="just">
              <a:lnSpc>
                <a:spcPct val="200000"/>
              </a:lnSpc>
              <a:buFont typeface="Wingdings" panose="05000000000000000000" pitchFamily="2" charset="2"/>
              <a:buChar char="§"/>
            </a:pPr>
            <a:r>
              <a:rPr lang="en-US" sz="2800" dirty="0"/>
              <a:t>Each block header in the blockchain-data-structure is identified by its cryptographic hash value and contains a hash reference to its preceding block header and a hash reference to the application-specific data whose order it maintains.</a:t>
            </a:r>
          </a:p>
          <a:p>
            <a:pPr marL="514350" indent="-514350" algn="just">
              <a:lnSpc>
                <a:spcPct val="200000"/>
              </a:lnSpc>
              <a:buFont typeface="Wingdings" panose="05000000000000000000" pitchFamily="2" charset="2"/>
              <a:buChar char="§"/>
            </a:pPr>
            <a:r>
              <a:rPr lang="en-US" sz="2800" dirty="0"/>
              <a:t>The hash reference to the application-specific data is typically the root of a Merkle tree that maintains hash references to the application-specific data.</a:t>
            </a:r>
            <a:endParaRPr lang="en-GB" sz="2800" dirty="0"/>
          </a:p>
        </p:txBody>
      </p:sp>
      <p:pic>
        <p:nvPicPr>
          <p:cNvPr id="14" name="Picture 13">
            <a:extLst>
              <a:ext uri="{FF2B5EF4-FFF2-40B4-BE49-F238E27FC236}">
                <a16:creationId xmlns:a16="http://schemas.microsoft.com/office/drawing/2014/main" id="{08396AB5-DD5B-BD2F-B02E-EC69729A6A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39239" y="1591980"/>
            <a:ext cx="4592314" cy="7584847"/>
          </a:xfrm>
          <a:prstGeom prst="rect">
            <a:avLst/>
          </a:prstGeom>
        </p:spPr>
      </p:pic>
    </p:spTree>
    <p:extLst>
      <p:ext uri="{BB962C8B-B14F-4D97-AF65-F5344CB8AC3E}">
        <p14:creationId xmlns:p14="http://schemas.microsoft.com/office/powerpoint/2010/main" val="239255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FB40-F109-59D5-2E41-C93FB845EB7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0E40FFC-32D1-6A91-35E4-E262153BCEA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2A3E109-CDFF-58A5-495F-BAD36B66573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C75C217-5239-4979-7CCA-9BBE0644042E}"/>
              </a:ext>
            </a:extLst>
          </p:cNvPr>
          <p:cNvSpPr txBox="1"/>
          <p:nvPr/>
        </p:nvSpPr>
        <p:spPr>
          <a:xfrm>
            <a:off x="990600" y="300719"/>
            <a:ext cx="113864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13 - Authorizing Transactions (digital signatures) </a:t>
            </a:r>
          </a:p>
        </p:txBody>
      </p:sp>
      <p:sp>
        <p:nvSpPr>
          <p:cNvPr id="9" name="Date Placeholder 8">
            <a:extLst>
              <a:ext uri="{FF2B5EF4-FFF2-40B4-BE49-F238E27FC236}">
                <a16:creationId xmlns:a16="http://schemas.microsoft.com/office/drawing/2014/main" id="{2B913739-C999-2A85-0092-9D33CE920C5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8FD5115-6610-9186-04D7-FBBC7ECFD27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BD01405-01DB-FA77-D9E0-9CF4DBD568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C643C2E-EEBA-3D31-044B-5A17BC3F517E}"/>
              </a:ext>
            </a:extLst>
          </p:cNvPr>
          <p:cNvSpPr txBox="1"/>
          <p:nvPr/>
        </p:nvSpPr>
        <p:spPr>
          <a:xfrm>
            <a:off x="756447" y="2644758"/>
            <a:ext cx="16775106" cy="858940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elements of header are version, timestamp, difficulty target, nonce, previous hash, and Merkle root.</a:t>
            </a:r>
          </a:p>
          <a:p>
            <a:pPr marL="514350" indent="-514350" algn="just">
              <a:lnSpc>
                <a:spcPct val="200000"/>
              </a:lnSpc>
              <a:buFont typeface="Wingdings" panose="05000000000000000000" pitchFamily="2" charset="2"/>
              <a:buChar char="§"/>
            </a:pPr>
            <a:r>
              <a:rPr lang="en-GB" sz="2800" dirty="0"/>
              <a:t>Version is used to read the contents of each block correctly. It helps when updating a block protocol.</a:t>
            </a:r>
          </a:p>
          <a:p>
            <a:pPr marL="514350" indent="-514350" algn="just">
              <a:lnSpc>
                <a:spcPct val="200000"/>
              </a:lnSpc>
              <a:buFont typeface="Wingdings" panose="05000000000000000000" pitchFamily="2" charset="2"/>
              <a:buChar char="§"/>
            </a:pPr>
            <a:r>
              <a:rPr lang="en-GB" sz="2800" dirty="0"/>
              <a:t>Timestamp is the time the block is built. It shows when and what has happened in the block.</a:t>
            </a:r>
          </a:p>
          <a:p>
            <a:pPr marL="514350" indent="-514350" algn="just">
              <a:lnSpc>
                <a:spcPct val="200000"/>
              </a:lnSpc>
              <a:buFont typeface="Wingdings" panose="05000000000000000000" pitchFamily="2" charset="2"/>
              <a:buChar char="§"/>
            </a:pPr>
            <a:r>
              <a:rPr lang="en-GB" sz="2800" dirty="0"/>
              <a:t>Difficulty target is a value set to regulate how quickly a block is solved. For example, the difficulty target is adjusted every 2016 blocks and created an average of 10 minutes between blocks.</a:t>
            </a:r>
          </a:p>
          <a:p>
            <a:pPr marL="514350" indent="-514350" algn="just">
              <a:lnSpc>
                <a:spcPct val="200000"/>
              </a:lnSpc>
              <a:buFont typeface="Wingdings" panose="05000000000000000000" pitchFamily="2" charset="2"/>
              <a:buChar char="§"/>
            </a:pPr>
            <a:r>
              <a:rPr lang="en-GB" sz="2800" dirty="0"/>
              <a:t>Nonce is a dummy number that miners use to get a block hash less than or equal to the target threshold. Once the nonce is discovered, then all transactions in the block are added to the blockchain.</a:t>
            </a:r>
          </a:p>
          <a:p>
            <a:pPr marL="514350" indent="-514350" algn="just">
              <a:lnSpc>
                <a:spcPct val="200000"/>
              </a:lnSpc>
              <a:buFont typeface="Wingdings" panose="05000000000000000000" pitchFamily="2" charset="2"/>
              <a:buChar char="§"/>
            </a:pPr>
            <a:r>
              <a:rPr lang="en-GB" sz="2800" dirty="0"/>
              <a:t>Previous hash is a hash root of the previous block. It is used for connecting with other blocks as a chain.</a:t>
            </a:r>
          </a:p>
          <a:p>
            <a:pPr marL="514350" indent="-514350" algn="just">
              <a:lnSpc>
                <a:spcPct val="200000"/>
              </a:lnSpc>
              <a:buFont typeface="Wingdings" panose="05000000000000000000" pitchFamily="2" charset="2"/>
              <a:buChar char="§"/>
            </a:pPr>
            <a:r>
              <a:rPr lang="en-GB" sz="2800" dirty="0"/>
              <a:t>Merkle root is the hash of all the hashes of all the transactions to form a single line of text. It is used for the chain to next block.</a:t>
            </a:r>
            <a:endParaRPr lang="en-GB" dirty="0"/>
          </a:p>
        </p:txBody>
      </p:sp>
      <p:sp>
        <p:nvSpPr>
          <p:cNvPr id="4" name="TextBox 6">
            <a:extLst>
              <a:ext uri="{FF2B5EF4-FFF2-40B4-BE49-F238E27FC236}">
                <a16:creationId xmlns:a16="http://schemas.microsoft.com/office/drawing/2014/main" id="{148D134E-7DB5-88B7-243B-284E960C0CE5}"/>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 Header</a:t>
            </a:r>
          </a:p>
        </p:txBody>
      </p:sp>
    </p:spTree>
    <p:extLst>
      <p:ext uri="{BB962C8B-B14F-4D97-AF65-F5344CB8AC3E}">
        <p14:creationId xmlns:p14="http://schemas.microsoft.com/office/powerpoint/2010/main" val="289860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A69EF-7579-D4BC-0674-72A68AA80F4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28318E4-C311-5A30-DB19-4A9D57B8717C}"/>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0D1A10F7-8D03-2D83-94C1-3E95AA6E16A3}"/>
              </a:ext>
            </a:extLst>
          </p:cNvPr>
          <p:cNvSpPr txBox="1"/>
          <p:nvPr/>
        </p:nvSpPr>
        <p:spPr>
          <a:xfrm>
            <a:off x="481155" y="2952868"/>
            <a:ext cx="7098887" cy="4381264"/>
          </a:xfrm>
          <a:prstGeom prst="rect">
            <a:avLst/>
          </a:prstGeom>
        </p:spPr>
        <p:txBody>
          <a:bodyPr wrap="square" lIns="0" tIns="0" rIns="0" bIns="0" rtlCol="0" anchor="t">
            <a:spAutoFit/>
          </a:bodyPr>
          <a:lstStyle/>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Adding &amp; Changing Data in Blockchain</a:t>
            </a:r>
          </a:p>
        </p:txBody>
      </p:sp>
      <p:sp>
        <p:nvSpPr>
          <p:cNvPr id="2" name="object 9">
            <a:extLst>
              <a:ext uri="{FF2B5EF4-FFF2-40B4-BE49-F238E27FC236}">
                <a16:creationId xmlns:a16="http://schemas.microsoft.com/office/drawing/2014/main" id="{0DEDDC1D-EFB4-1618-3017-F3CDDB34307D}"/>
              </a:ext>
            </a:extLst>
          </p:cNvPr>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spTree>
    <p:extLst>
      <p:ext uri="{BB962C8B-B14F-4D97-AF65-F5344CB8AC3E}">
        <p14:creationId xmlns:p14="http://schemas.microsoft.com/office/powerpoint/2010/main" val="2855840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912A-5946-52AF-94CD-237876F1EA6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6803A1D-6A96-9CFD-98E9-DA73874F699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0EE4A43-B424-B2E6-D083-2463C22C54D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2F2CDD4-549B-259E-CCA1-CA514A3454A9}"/>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A1A92C39-BD27-DBDE-B7B8-EC411745608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EA1BAD52-B65F-D66B-A7B5-50C9DED2283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383B04B-8D01-CBD9-A23E-38CCF73B1EB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18FBE8F-E561-D59A-4D4F-37349B9C004D}"/>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steps to be performed in order to add new transaction data to the blockchain-data-structure are:</a:t>
            </a:r>
          </a:p>
          <a:p>
            <a:pPr marL="514350" indent="-514350" algn="just">
              <a:lnSpc>
                <a:spcPct val="200000"/>
              </a:lnSpc>
              <a:buFont typeface="Wingdings" panose="05000000000000000000" pitchFamily="2" charset="2"/>
              <a:buChar char="§"/>
            </a:pPr>
            <a:r>
              <a:rPr lang="en-GB" sz="2800" dirty="0"/>
              <a:t>Step 1. Create a new Merkle tree that contains all new transaction data to be added.</a:t>
            </a:r>
          </a:p>
          <a:p>
            <a:pPr marL="514350" indent="-514350" algn="just">
              <a:lnSpc>
                <a:spcPct val="200000"/>
              </a:lnSpc>
              <a:buFont typeface="Wingdings" panose="05000000000000000000" pitchFamily="2" charset="2"/>
              <a:buChar char="§"/>
            </a:pPr>
            <a:r>
              <a:rPr lang="en-GB" sz="2800" dirty="0"/>
              <a:t>Step 2. Create a new block header that contains both a hash reference to its preceding header and the root of the Merkle tree that contains the new transaction data.</a:t>
            </a:r>
          </a:p>
          <a:p>
            <a:pPr marL="514350" indent="-514350" algn="just">
              <a:lnSpc>
                <a:spcPct val="200000"/>
              </a:lnSpc>
              <a:buFont typeface="Wingdings" panose="05000000000000000000" pitchFamily="2" charset="2"/>
              <a:buChar char="§"/>
            </a:pPr>
            <a:r>
              <a:rPr lang="en-GB" sz="2800" dirty="0"/>
              <a:t>Step 3. Create a hash reference to the new block header, which is now the current head of the </a:t>
            </a:r>
            <a:r>
              <a:rPr lang="en-GB" sz="2800" dirty="0" err="1"/>
              <a:t>blockchaindata</a:t>
            </a:r>
            <a:r>
              <a:rPr lang="en-GB" sz="2800" dirty="0"/>
              <a:t>- structure.</a:t>
            </a:r>
          </a:p>
        </p:txBody>
      </p:sp>
      <p:sp>
        <p:nvSpPr>
          <p:cNvPr id="4" name="TextBox 6">
            <a:extLst>
              <a:ext uri="{FF2B5EF4-FFF2-40B4-BE49-F238E27FC236}">
                <a16:creationId xmlns:a16="http://schemas.microsoft.com/office/drawing/2014/main" id="{5A869064-1ECD-A119-3C75-62235698D61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Adding New Transactions in Blockchain</a:t>
            </a:r>
          </a:p>
        </p:txBody>
      </p:sp>
    </p:spTree>
    <p:extLst>
      <p:ext uri="{BB962C8B-B14F-4D97-AF65-F5344CB8AC3E}">
        <p14:creationId xmlns:p14="http://schemas.microsoft.com/office/powerpoint/2010/main" val="33555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E5808-9FFC-8E35-272B-5E7D36F5B09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52128EF-0C96-3EAA-D0DE-493DAB81736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31C778C-0A90-28FC-B2FD-E43EBAF5F87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35ABA8A-0EAA-ECC0-8EB7-B34966A422F3}"/>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4FE8694C-D8E7-5C8E-4974-B4E2083CDDB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AF95D012-46E3-1AF8-9ED0-DF5D9F2B3C8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16AD95F-E4E8-F7C3-8D11-5B1D1CDE2BC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96D6581-CCDE-B925-F3E7-D2ABBB47C258}"/>
              </a:ext>
            </a:extLst>
          </p:cNvPr>
          <p:cNvSpPr txBox="1"/>
          <p:nvPr/>
        </p:nvSpPr>
        <p:spPr>
          <a:xfrm>
            <a:off x="756447" y="7922238"/>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Step 0: </a:t>
            </a:r>
            <a:r>
              <a:rPr lang="en-US" sz="2800" dirty="0"/>
              <a:t>Initial situation: Two new transactions (Transaction 3 and Transaction 4) should be added to the existing blockchain-data-structure.</a:t>
            </a:r>
            <a:endParaRPr lang="en-GB" sz="2800" dirty="0"/>
          </a:p>
        </p:txBody>
      </p:sp>
      <p:sp>
        <p:nvSpPr>
          <p:cNvPr id="4" name="TextBox 6">
            <a:extLst>
              <a:ext uri="{FF2B5EF4-FFF2-40B4-BE49-F238E27FC236}">
                <a16:creationId xmlns:a16="http://schemas.microsoft.com/office/drawing/2014/main" id="{C167C125-3D42-D47C-D295-C42C8E3F90D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Adding New Transactions in Blockchain</a:t>
            </a:r>
          </a:p>
        </p:txBody>
      </p:sp>
      <p:pic>
        <p:nvPicPr>
          <p:cNvPr id="8" name="Picture 7">
            <a:extLst>
              <a:ext uri="{FF2B5EF4-FFF2-40B4-BE49-F238E27FC236}">
                <a16:creationId xmlns:a16="http://schemas.microsoft.com/office/drawing/2014/main" id="{488E5285-43E3-7E18-D3A9-C71536146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6942" y="2832727"/>
            <a:ext cx="12654116" cy="5280222"/>
          </a:xfrm>
          <a:prstGeom prst="rect">
            <a:avLst/>
          </a:prstGeom>
        </p:spPr>
      </p:pic>
    </p:spTree>
    <p:extLst>
      <p:ext uri="{BB962C8B-B14F-4D97-AF65-F5344CB8AC3E}">
        <p14:creationId xmlns:p14="http://schemas.microsoft.com/office/powerpoint/2010/main" val="352821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D8C70-00C2-F489-3421-9CB621AADD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434ABF-E8EC-3715-66A3-A8BA0AEAE07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0190310-E838-DE02-E555-175E408DC0D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5B9496A-4E70-4D95-B312-D63D60C5D953}"/>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15913BC0-3563-4FF7-26FC-ADB8548CBAD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EEFC6516-6042-CA9A-9772-DACD331B261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79F738D-429C-66B6-1ADE-EA1919A2B57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B6A1BA5-91F8-BCA8-7053-4771B5AE0409}"/>
              </a:ext>
            </a:extLst>
          </p:cNvPr>
          <p:cNvSpPr txBox="1"/>
          <p:nvPr/>
        </p:nvSpPr>
        <p:spPr>
          <a:xfrm>
            <a:off x="756447" y="8612983"/>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Step 1: </a:t>
            </a:r>
            <a:r>
              <a:rPr lang="en-US" sz="2800" dirty="0"/>
              <a:t>Creating a new Merkle tree that contains the new transactions.</a:t>
            </a:r>
            <a:endParaRPr lang="en-GB" sz="2800" dirty="0"/>
          </a:p>
        </p:txBody>
      </p:sp>
      <p:sp>
        <p:nvSpPr>
          <p:cNvPr id="4" name="TextBox 6">
            <a:extLst>
              <a:ext uri="{FF2B5EF4-FFF2-40B4-BE49-F238E27FC236}">
                <a16:creationId xmlns:a16="http://schemas.microsoft.com/office/drawing/2014/main" id="{A249A390-DCCB-AA6F-3780-843D989B0A73}"/>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Adding New Transactions in Blockchain</a:t>
            </a:r>
          </a:p>
        </p:txBody>
      </p:sp>
      <p:pic>
        <p:nvPicPr>
          <p:cNvPr id="8" name="Picture 7">
            <a:extLst>
              <a:ext uri="{FF2B5EF4-FFF2-40B4-BE49-F238E27FC236}">
                <a16:creationId xmlns:a16="http://schemas.microsoft.com/office/drawing/2014/main" id="{3382DC7E-BE0C-A667-B131-7B14A6B455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69558" y="2585548"/>
            <a:ext cx="11348884" cy="6027435"/>
          </a:xfrm>
          <a:prstGeom prst="rect">
            <a:avLst/>
          </a:prstGeom>
        </p:spPr>
      </p:pic>
    </p:spTree>
    <p:extLst>
      <p:ext uri="{BB962C8B-B14F-4D97-AF65-F5344CB8AC3E}">
        <p14:creationId xmlns:p14="http://schemas.microsoft.com/office/powerpoint/2010/main" val="154367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4FBDE-A2B3-79A5-C613-1D992EEDA95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5FC8EB-178B-BB4D-D5B8-A3856CF1EF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D9C9129-8D31-9010-DCED-21433002536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B90B081-A6CF-5E59-5C7B-9CF09CA15F77}"/>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C3AE6B9A-40B0-54D8-E7BB-EB73B14DFF5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7F3DF2CA-4850-26C5-8AF1-F68F9E51A3E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709F72D-EB25-7966-2918-88324127B81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7695174-948F-DECA-CCFF-9C4B1594A586}"/>
              </a:ext>
            </a:extLst>
          </p:cNvPr>
          <p:cNvSpPr txBox="1"/>
          <p:nvPr/>
        </p:nvSpPr>
        <p:spPr>
          <a:xfrm>
            <a:off x="756447" y="7922238"/>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Step 2: </a:t>
            </a:r>
            <a:r>
              <a:rPr lang="en-US" sz="2800" dirty="0"/>
              <a:t>Create a new block header that contains both the hash reference to its preceding header and the root of the Merkle tree that contains the new transaction data.</a:t>
            </a:r>
            <a:endParaRPr lang="en-GB" sz="2800" dirty="0"/>
          </a:p>
        </p:txBody>
      </p:sp>
      <p:sp>
        <p:nvSpPr>
          <p:cNvPr id="4" name="TextBox 6">
            <a:extLst>
              <a:ext uri="{FF2B5EF4-FFF2-40B4-BE49-F238E27FC236}">
                <a16:creationId xmlns:a16="http://schemas.microsoft.com/office/drawing/2014/main" id="{3D4D45EC-F84F-8241-521A-7464CD924401}"/>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Adding New Transactions in Blockchain</a:t>
            </a:r>
          </a:p>
        </p:txBody>
      </p:sp>
      <p:pic>
        <p:nvPicPr>
          <p:cNvPr id="8" name="Picture 7">
            <a:extLst>
              <a:ext uri="{FF2B5EF4-FFF2-40B4-BE49-F238E27FC236}">
                <a16:creationId xmlns:a16="http://schemas.microsoft.com/office/drawing/2014/main" id="{E9197563-BBCB-E2CE-D040-C1C02CB7CFB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34929" y="2577030"/>
            <a:ext cx="12418142" cy="5535919"/>
          </a:xfrm>
          <a:prstGeom prst="rect">
            <a:avLst/>
          </a:prstGeom>
        </p:spPr>
      </p:pic>
    </p:spTree>
    <p:extLst>
      <p:ext uri="{BB962C8B-B14F-4D97-AF65-F5344CB8AC3E}">
        <p14:creationId xmlns:p14="http://schemas.microsoft.com/office/powerpoint/2010/main" val="186574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AADF-90B1-A709-A9E1-D2D6E6E08F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64E124B-B6A5-0335-CD72-B371D9B2B48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6066ED8-B413-9F83-8723-9B94FB91E1D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5E8FAC6-ED14-4083-75B5-EB18A25CD545}"/>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C6417037-C717-372A-5631-D012E9EECD5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2F7CB2B9-1FE5-3A55-4744-5800CA89280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F718256-EEF4-3672-E050-409D1BB3AA9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7E6147E-8EA2-CC8F-8EBB-BCA746C1CC2D}"/>
              </a:ext>
            </a:extLst>
          </p:cNvPr>
          <p:cNvSpPr txBox="1"/>
          <p:nvPr/>
        </p:nvSpPr>
        <p:spPr>
          <a:xfrm>
            <a:off x="756447" y="7922238"/>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Step 3 : Create a new hash reference that points to the new block header, which is now the new head of the whole updated blockchain-data-structure.</a:t>
            </a:r>
            <a:endParaRPr lang="en-GB" sz="2800" dirty="0"/>
          </a:p>
        </p:txBody>
      </p:sp>
      <p:sp>
        <p:nvSpPr>
          <p:cNvPr id="4" name="TextBox 6">
            <a:extLst>
              <a:ext uri="{FF2B5EF4-FFF2-40B4-BE49-F238E27FC236}">
                <a16:creationId xmlns:a16="http://schemas.microsoft.com/office/drawing/2014/main" id="{ADB2ED6E-9AE2-C05C-6B0A-F4914BD2BCF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Adding New Transactions in Blockchain</a:t>
            </a:r>
          </a:p>
        </p:txBody>
      </p:sp>
      <p:pic>
        <p:nvPicPr>
          <p:cNvPr id="8" name="Picture 7">
            <a:extLst>
              <a:ext uri="{FF2B5EF4-FFF2-40B4-BE49-F238E27FC236}">
                <a16:creationId xmlns:a16="http://schemas.microsoft.com/office/drawing/2014/main" id="{B0A562CE-52C8-6A0F-FE91-397B037549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60838" y="2669414"/>
            <a:ext cx="10766323" cy="5535919"/>
          </a:xfrm>
          <a:prstGeom prst="rect">
            <a:avLst/>
          </a:prstGeom>
        </p:spPr>
      </p:pic>
    </p:spTree>
    <p:extLst>
      <p:ext uri="{BB962C8B-B14F-4D97-AF65-F5344CB8AC3E}">
        <p14:creationId xmlns:p14="http://schemas.microsoft.com/office/powerpoint/2010/main" val="208463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63CE-49E1-3B5D-6FCB-BA8C8E05537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B097654-D910-EF9A-7B6E-088B533BA83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F2D7988-1EBA-10BA-E7F5-9C90F81F9DB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FF68399-A1D5-C2B1-13B4-39A02ADD01A4}"/>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8E25B7DB-E283-C61A-17D0-DBD695D0380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8FF690FF-F3FF-333C-2548-B54956B757A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7311AB6-EA57-5442-7E39-A26FE9EA6E5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02B7BA6-4197-425E-F345-D5172EF6954F}"/>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node is a communication point in the blockchain network. Any computer or server can be a node.</a:t>
            </a:r>
          </a:p>
          <a:p>
            <a:pPr marL="514350" indent="-514350" algn="just">
              <a:lnSpc>
                <a:spcPct val="200000"/>
              </a:lnSpc>
              <a:buFont typeface="Wingdings" panose="05000000000000000000" pitchFamily="2" charset="2"/>
              <a:buChar char="§"/>
            </a:pPr>
            <a:r>
              <a:rPr lang="en-US" sz="2800" dirty="0"/>
              <a:t>All nodes are connected to each other in a P2P network. A node’s responsibilities are maintaining the ledger, receiving transactions from other nodes, and validating transactions</a:t>
            </a:r>
          </a:p>
          <a:p>
            <a:pPr marL="514350" indent="-514350" algn="just">
              <a:lnSpc>
                <a:spcPct val="200000"/>
              </a:lnSpc>
              <a:buFont typeface="Wingdings" panose="05000000000000000000" pitchFamily="2" charset="2"/>
              <a:buChar char="§"/>
            </a:pPr>
            <a:r>
              <a:rPr lang="en-US" sz="2800" dirty="0"/>
              <a:t>A node can be set to either online or offline. Online nodes are receiving, saving, and broadcasting all the latest blocks of transactions from and to other nodes, while offline nodes do not.</a:t>
            </a:r>
          </a:p>
          <a:p>
            <a:pPr marL="514350" indent="-514350" algn="just">
              <a:lnSpc>
                <a:spcPct val="200000"/>
              </a:lnSpc>
              <a:buFont typeface="Wingdings" panose="05000000000000000000" pitchFamily="2" charset="2"/>
              <a:buChar char="§"/>
            </a:pPr>
            <a:r>
              <a:rPr lang="en-US" sz="2800" dirty="0"/>
              <a:t>A master node requires much more resources, including electricity, storage space, and memory because it is hosting a very large server on the network.</a:t>
            </a:r>
            <a:endParaRPr lang="en-GB" sz="2800" dirty="0"/>
          </a:p>
        </p:txBody>
      </p:sp>
      <p:sp>
        <p:nvSpPr>
          <p:cNvPr id="4" name="TextBox 6">
            <a:extLst>
              <a:ext uri="{FF2B5EF4-FFF2-40B4-BE49-F238E27FC236}">
                <a16:creationId xmlns:a16="http://schemas.microsoft.com/office/drawing/2014/main" id="{F240D957-E6AA-AC4A-C76C-94B3918619D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Node and Miner</a:t>
            </a:r>
          </a:p>
        </p:txBody>
      </p:sp>
    </p:spTree>
    <p:extLst>
      <p:ext uri="{BB962C8B-B14F-4D97-AF65-F5344CB8AC3E}">
        <p14:creationId xmlns:p14="http://schemas.microsoft.com/office/powerpoint/2010/main" val="124817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2D81-38D1-3117-D150-B8A095AF4B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07D365-8AD5-85A6-1056-8CB0FE697D4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3BA1BA4-DCC3-8FAE-B94B-39AF9DED0DE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AC97195-6BC0-42BA-851A-2F24D480DA91}"/>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Node and Miner</a:t>
            </a:r>
          </a:p>
        </p:txBody>
      </p:sp>
      <p:sp>
        <p:nvSpPr>
          <p:cNvPr id="9" name="Date Placeholder 8">
            <a:extLst>
              <a:ext uri="{FF2B5EF4-FFF2-40B4-BE49-F238E27FC236}">
                <a16:creationId xmlns:a16="http://schemas.microsoft.com/office/drawing/2014/main" id="{DE8F2BF4-7C42-4B6F-1AA1-0B841FA9331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E6B4C14D-96B6-5830-E79C-55919E5BEA1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F4716E2-34EF-755B-C2B5-CD3FEAEE6BB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8B98639-E489-F79E-6AEC-5E86175AB25D}"/>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miner is a specific node to participate in performing the block verification process. It determines whether each transaction is legitimate.</a:t>
            </a:r>
          </a:p>
          <a:p>
            <a:pPr marL="514350" indent="-514350" algn="just">
              <a:lnSpc>
                <a:spcPct val="200000"/>
              </a:lnSpc>
              <a:buFont typeface="Wingdings" panose="05000000000000000000" pitchFamily="2" charset="2"/>
              <a:buChar char="§"/>
            </a:pPr>
            <a:r>
              <a:rPr lang="en-US" sz="2800" dirty="0"/>
              <a:t>For example, if the block including the encrypted transaction is broadcasted, miners perform the tasks necessary to confirm and validate the block itself. Once the validation process has been completed, the original miner who performed the initial validation broadcasts this block and associated validation information to the rest of the network.</a:t>
            </a:r>
          </a:p>
          <a:p>
            <a:pPr marL="514350" indent="-514350" algn="just">
              <a:lnSpc>
                <a:spcPct val="200000"/>
              </a:lnSpc>
              <a:buFont typeface="Wingdings" panose="05000000000000000000" pitchFamily="2" charset="2"/>
              <a:buChar char="§"/>
            </a:pPr>
            <a:r>
              <a:rPr lang="en-US" sz="2800" dirty="0"/>
              <a:t>Then, other miners participate in verifying this PoW to establish the legitimacy of the transaction in that particular block.</a:t>
            </a:r>
            <a:endParaRPr lang="en-GB" sz="2800" dirty="0"/>
          </a:p>
          <a:p>
            <a:pPr marL="514350" indent="-514350" algn="just">
              <a:lnSpc>
                <a:spcPct val="20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2474314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59E07-9C87-0D0E-1077-04837E5BABF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2B8B06C-E1FC-B2FF-58F4-A68FEDD8A8A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570C2B-EC08-8ECB-50B1-BF847E2DE6D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E0A9391-B330-8FDF-90A3-C398D735DAF9}"/>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CEBF7B68-C54E-955B-DAD9-9D3D3CD67D3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D7A2E6B1-7E57-C14E-8921-E5A7CE93D24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C3DF84-1083-CD27-1B0A-CFDF058C2E7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A33D835-2F22-D28C-2661-5CC13C038167}"/>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blockchain-data-structure pursues a radical all-or-nothing approach when it comes to changing its data: One either changes the whole data structure completely starting from the point that causes the change until the head of the whole chain or one better leave it unchanged in the first place</a:t>
            </a:r>
          </a:p>
          <a:p>
            <a:pPr marL="514350" indent="-514350" algn="just">
              <a:lnSpc>
                <a:spcPct val="200000"/>
              </a:lnSpc>
              <a:buFont typeface="Wingdings" panose="05000000000000000000" pitchFamily="2" charset="2"/>
              <a:buChar char="§"/>
            </a:pPr>
            <a:r>
              <a:rPr lang="en-US" sz="2800" dirty="0"/>
              <a:t>All half-hearted, halfway through, or partial changes will leave the whole blockchain-data-structure in an inconsistent state, which will be detected easily and quickly.</a:t>
            </a:r>
          </a:p>
          <a:p>
            <a:pPr marL="514350" indent="-514350" algn="just">
              <a:lnSpc>
                <a:spcPct val="200000"/>
              </a:lnSpc>
              <a:buFont typeface="Wingdings" panose="05000000000000000000" pitchFamily="2" charset="2"/>
              <a:buChar char="§"/>
            </a:pPr>
            <a:r>
              <a:rPr lang="en-US" sz="2800" dirty="0"/>
              <a:t>The high sensitivity of the blockchain-data-structure regarding changes is due to the properties of hash references</a:t>
            </a:r>
            <a:endParaRPr lang="en-GB" sz="2800" dirty="0"/>
          </a:p>
        </p:txBody>
      </p:sp>
      <p:sp>
        <p:nvSpPr>
          <p:cNvPr id="4" name="TextBox 6">
            <a:extLst>
              <a:ext uri="{FF2B5EF4-FFF2-40B4-BE49-F238E27FC236}">
                <a16:creationId xmlns:a16="http://schemas.microsoft.com/office/drawing/2014/main" id="{8FF56C1F-E9C5-4DB5-6E1D-E179966CF6CB}"/>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Changing Data in Blockchain</a:t>
            </a:r>
          </a:p>
        </p:txBody>
      </p:sp>
    </p:spTree>
    <p:extLst>
      <p:ext uri="{BB962C8B-B14F-4D97-AF65-F5344CB8AC3E}">
        <p14:creationId xmlns:p14="http://schemas.microsoft.com/office/powerpoint/2010/main" val="2695037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60D2A-8738-1C6E-1748-4005284BB47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B153574-F175-12A1-CB2C-E896EA47D1C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0A36AB0-2BAB-9999-522D-0F25A5ABBDD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4BD6CB3-BAC8-8305-4491-DA07C1F7F928}"/>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Changing Data in Blockchain</a:t>
            </a:r>
          </a:p>
        </p:txBody>
      </p:sp>
      <p:sp>
        <p:nvSpPr>
          <p:cNvPr id="9" name="Date Placeholder 8">
            <a:extLst>
              <a:ext uri="{FF2B5EF4-FFF2-40B4-BE49-F238E27FC236}">
                <a16:creationId xmlns:a16="http://schemas.microsoft.com/office/drawing/2014/main" id="{91AAD078-701D-464B-30B2-3972F42A32C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6FC57C2-FD71-959C-08E9-F4E1795A90F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BA33BFC-BE63-039C-0FF3-8A54033A5F8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5FB8027-9FEF-2A92-9824-03C375D15866}"/>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Conclusion : Any alteration of data stored in the blockchain-data-structure will stand out and require an elaborate process for incorporating it into the existing structure.</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Only 1 megabyte of transaction data can fit into a single bitcoin block. The 1MB limit was set by Satoshi Nakamoto.</a:t>
            </a:r>
          </a:p>
        </p:txBody>
      </p:sp>
    </p:spTree>
    <p:extLst>
      <p:ext uri="{BB962C8B-B14F-4D97-AF65-F5344CB8AC3E}">
        <p14:creationId xmlns:p14="http://schemas.microsoft.com/office/powerpoint/2010/main" val="840918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2E3BA-9017-2504-643E-B42A4717A15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CC520AF-D7CA-7845-7F98-BC33942F644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52F29F43-6998-7670-4641-97B79570FA07}"/>
              </a:ext>
            </a:extLst>
          </p:cNvPr>
          <p:cNvSpPr txBox="1"/>
          <p:nvPr/>
        </p:nvSpPr>
        <p:spPr>
          <a:xfrm>
            <a:off x="481155" y="2952868"/>
            <a:ext cx="7098887" cy="4381264"/>
          </a:xfrm>
          <a:prstGeom prst="rect">
            <a:avLst/>
          </a:prstGeom>
        </p:spPr>
        <p:txBody>
          <a:bodyPr wrap="square" lIns="0" tIns="0" rIns="0" bIns="0" rtlCol="0" anchor="t">
            <a:spAutoFit/>
          </a:bodyPr>
          <a:lstStyle/>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Blockchain vs. Typical</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Database</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2" name="object 9">
            <a:extLst>
              <a:ext uri="{FF2B5EF4-FFF2-40B4-BE49-F238E27FC236}">
                <a16:creationId xmlns:a16="http://schemas.microsoft.com/office/drawing/2014/main" id="{7C426982-1008-9D4E-E8F5-D2A98E7B47A3}"/>
              </a:ext>
            </a:extLst>
          </p:cNvPr>
          <p:cNvSpPr txBox="1"/>
          <p:nvPr/>
        </p:nvSpPr>
        <p:spPr>
          <a:xfrm>
            <a:off x="283548" y="0"/>
            <a:ext cx="7098887"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DISTRIBUTED LEDGER</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TECHNOLOGY (BLOCKCHAIN)</a:t>
            </a:r>
          </a:p>
        </p:txBody>
      </p:sp>
    </p:spTree>
    <p:extLst>
      <p:ext uri="{BB962C8B-B14F-4D97-AF65-F5344CB8AC3E}">
        <p14:creationId xmlns:p14="http://schemas.microsoft.com/office/powerpoint/2010/main" val="2449703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34ED-9410-CEFF-AB90-370D9676DC8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4D5AB8-633C-61C9-9C06-993070022AC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8EE7C9C-2D31-56E9-BE1F-72F996B53C1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4281A36-B967-555D-3DD6-AB86DD279963}"/>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897C445B-6B97-AAB0-D004-AA96D325A2C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76DA940-5E6F-FF46-0788-79F6A23BA66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C6B9735-0896-F13C-BF42-BE934056035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3D3C6B7-2950-A43F-3C7A-4888660B218B}"/>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One key difference between a typical database and a blockchain is how the data is structured. A blockchain collects information together in groups, known as blocks, that hold sets of information.</a:t>
            </a:r>
          </a:p>
          <a:p>
            <a:pPr marL="514350" indent="-514350" algn="just">
              <a:lnSpc>
                <a:spcPct val="200000"/>
              </a:lnSpc>
              <a:buFont typeface="Wingdings" panose="05000000000000000000" pitchFamily="2" charset="2"/>
              <a:buChar char="§"/>
            </a:pPr>
            <a:r>
              <a:rPr lang="en-US" sz="2800" dirty="0"/>
              <a:t>Blocks have certain storage capacities and, when filled, are closed and linked to the previously filled block, forming a chain of data known as the blockchain. All new information that follows that freshly added block is compiled into a newly formed block that will then also be added to the chain once filled.</a:t>
            </a:r>
          </a:p>
          <a:p>
            <a:pPr marL="514350" indent="-514350" algn="just">
              <a:lnSpc>
                <a:spcPct val="200000"/>
              </a:lnSpc>
              <a:buFont typeface="Wingdings" panose="05000000000000000000" pitchFamily="2" charset="2"/>
              <a:buChar char="§"/>
            </a:pPr>
            <a:r>
              <a:rPr lang="en-US" sz="2800" dirty="0"/>
              <a:t>A database usually structures its data into tables, whereas a blockchain structures its data into chunks (blocks) that are strung together. This data structure inherently makes an irreversible timeline of data when implemented in a decentralized nature. When a block is filled, it is set in stone and becomes a part of this timeline. Each block in the chain is given an exact time stamp when it is added to the chain.</a:t>
            </a:r>
            <a:endParaRPr lang="en-GB" sz="2800" dirty="0"/>
          </a:p>
        </p:txBody>
      </p:sp>
      <p:sp>
        <p:nvSpPr>
          <p:cNvPr id="4" name="TextBox 6">
            <a:extLst>
              <a:ext uri="{FF2B5EF4-FFF2-40B4-BE49-F238E27FC236}">
                <a16:creationId xmlns:a16="http://schemas.microsoft.com/office/drawing/2014/main" id="{2BFB0A2F-4F83-BBC1-386F-1D27D05DB642}"/>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 vs Existing Centralized Database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391412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7E3C3-FD68-BDA5-2B2F-EE38661FE0F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33EF557-0BDD-6912-8644-0749D3AF867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95275D3-C926-3636-D96C-BE7CF8B646C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094BC33-09E5-589C-CC2B-01B66885F6C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 vs Existing Centralized Database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9" name="Date Placeholder 8">
            <a:extLst>
              <a:ext uri="{FF2B5EF4-FFF2-40B4-BE49-F238E27FC236}">
                <a16:creationId xmlns:a16="http://schemas.microsoft.com/office/drawing/2014/main" id="{EFF8BC45-5ACB-387D-0DD9-5D2F3623520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F250EFB7-ECAA-461B-14AA-D2AAA27BD22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6D474B6-70F5-61FE-7E95-19FBBEFE00C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CFEC59F-67F9-F54D-CF07-8FBBAF546399}"/>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As new data comes in, it is entered into a fresh block. Once the block is filled with data, it is chained onto the previous block, which makes the data chained together in chronological order.</a:t>
            </a:r>
          </a:p>
          <a:p>
            <a:pPr marL="514350" indent="-514350" algn="just">
              <a:lnSpc>
                <a:spcPct val="200000"/>
              </a:lnSpc>
              <a:buFont typeface="Wingdings" panose="05000000000000000000" pitchFamily="2" charset="2"/>
              <a:buChar char="§"/>
            </a:pPr>
            <a:r>
              <a:rPr lang="en-US" sz="2800" dirty="0"/>
              <a:t>Different types of information can be stored on a blockchain, but the most common use so far has been as a ledger for transactions</a:t>
            </a:r>
          </a:p>
          <a:p>
            <a:pPr marL="514350" indent="-514350" algn="just">
              <a:lnSpc>
                <a:spcPct val="200000"/>
              </a:lnSpc>
              <a:buFont typeface="Wingdings" panose="05000000000000000000" pitchFamily="2" charset="2"/>
              <a:buChar char="§"/>
            </a:pPr>
            <a:r>
              <a:rPr lang="en-US" sz="2800" dirty="0"/>
              <a:t>In Bitcoin’s case, blockchain is used in a decentralized way so that no single person or group has control—rather, all users collectively retain control.</a:t>
            </a:r>
          </a:p>
          <a:p>
            <a:pPr marL="514350" indent="-514350" algn="just">
              <a:lnSpc>
                <a:spcPct val="200000"/>
              </a:lnSpc>
              <a:buFont typeface="Wingdings" panose="05000000000000000000" pitchFamily="2" charset="2"/>
              <a:buChar char="§"/>
            </a:pPr>
            <a:r>
              <a:rPr lang="en-US" sz="2800" dirty="0"/>
              <a:t>Decentralized blockchains are immutable, which means that the data entered is irreversible. For Bitcoin, this means that transactions are permanently recorded and viewable to anyone.</a:t>
            </a:r>
          </a:p>
        </p:txBody>
      </p:sp>
    </p:spTree>
    <p:extLst>
      <p:ext uri="{BB962C8B-B14F-4D97-AF65-F5344CB8AC3E}">
        <p14:creationId xmlns:p14="http://schemas.microsoft.com/office/powerpoint/2010/main" val="13594731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60D39-F538-43CF-940C-51A82DD9A6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0114868-A7A2-0737-DD4C-A320F01810D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7FD505E-90DF-DADC-19A7-8693642EAEA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8A53A34-A3CA-B3F3-1542-BAA7F05C8114}"/>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Step 15 - Using the Data Store (chaining blocks of data)</a:t>
            </a:r>
          </a:p>
        </p:txBody>
      </p:sp>
      <p:sp>
        <p:nvSpPr>
          <p:cNvPr id="9" name="Date Placeholder 8">
            <a:extLst>
              <a:ext uri="{FF2B5EF4-FFF2-40B4-BE49-F238E27FC236}">
                <a16:creationId xmlns:a16="http://schemas.microsoft.com/office/drawing/2014/main" id="{E8A3F04F-C17B-8423-C670-369DE79929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6C888F02-ED6F-A857-B6A4-1EA4E6476D6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2775200-5B5F-F56C-A851-7BF8E5A2FDE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2999D5B-2CE2-0671-052D-76412DC031DD}"/>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Blockchain benefits in supply chains and food chain</a:t>
            </a:r>
          </a:p>
          <a:p>
            <a:pPr marL="514350" indent="-514350" algn="just">
              <a:lnSpc>
                <a:spcPct val="200000"/>
              </a:lnSpc>
              <a:buFont typeface="Wingdings" panose="05000000000000000000" pitchFamily="2" charset="2"/>
              <a:buChar char="§"/>
            </a:pPr>
            <a:r>
              <a:rPr lang="en-US" sz="2800" dirty="0"/>
              <a:t>Building trust between trading partners, providing end-to-end visibility, streamlining processes, and resolving issues faster with blockchain all add up to stronger, more resilient supply chains and better business relationships. Plus, participants can act sooner in the event of disruptions. In the food industry, blockchain can help ensure food safety and freshness, and reduce waste. In the event of contamination, food can be traced back to its source in seconds rather than days.</a:t>
            </a:r>
            <a:endParaRPr lang="en-GB" sz="2800" dirty="0"/>
          </a:p>
        </p:txBody>
      </p:sp>
      <p:sp>
        <p:nvSpPr>
          <p:cNvPr id="4" name="TextBox 6">
            <a:extLst>
              <a:ext uri="{FF2B5EF4-FFF2-40B4-BE49-F238E27FC236}">
                <a16:creationId xmlns:a16="http://schemas.microsoft.com/office/drawing/2014/main" id="{5D2A48B8-43F2-C276-49E6-F359FEED6367}"/>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How Industries Benefit From Blockchain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132681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0F2A1-496F-6384-FDF4-5974E007489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11954F1-458A-E230-DEDA-149C2E78EB5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D71689-0847-5DD9-5154-FA4C8E8E4FA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8A507F4-F442-987E-935A-68D60A768465}"/>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How Industries Benefit From Blockchain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9" name="Date Placeholder 8">
            <a:extLst>
              <a:ext uri="{FF2B5EF4-FFF2-40B4-BE49-F238E27FC236}">
                <a16:creationId xmlns:a16="http://schemas.microsoft.com/office/drawing/2014/main" id="{0A33E702-9F33-C611-79F7-AE1923CFC29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873EFD07-E121-065E-D25F-E6AF99EB578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B7DCDCF-5F9D-EA5D-9467-0F4B679D80D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BA4AF18-C6A8-2CC6-0F91-F6AF5E5FC018}"/>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Banking and financial industry blockchain benefits</a:t>
            </a:r>
          </a:p>
          <a:p>
            <a:pPr marL="514350" indent="-514350" algn="just">
              <a:lnSpc>
                <a:spcPct val="200000"/>
              </a:lnSpc>
              <a:buFont typeface="Wingdings" panose="05000000000000000000" pitchFamily="2" charset="2"/>
              <a:buChar char="§"/>
            </a:pPr>
            <a:r>
              <a:rPr lang="en-US" sz="2800" dirty="0"/>
              <a:t>When financial institutions replace old processes and paperwork with blockchain, the benefits include ...</a:t>
            </a:r>
          </a:p>
          <a:p>
            <a:pPr marL="971550" lvl="1" indent="-514350" algn="just">
              <a:lnSpc>
                <a:spcPct val="200000"/>
              </a:lnSpc>
              <a:buFont typeface="Wingdings" panose="05000000000000000000" pitchFamily="2" charset="2"/>
              <a:buChar char="§"/>
            </a:pPr>
            <a:r>
              <a:rPr lang="en-US" sz="2800" dirty="0"/>
              <a:t>removing friction and delays,</a:t>
            </a:r>
          </a:p>
          <a:p>
            <a:pPr marL="971550" lvl="1" indent="-514350" algn="just">
              <a:lnSpc>
                <a:spcPct val="200000"/>
              </a:lnSpc>
              <a:buFont typeface="Wingdings" panose="05000000000000000000" pitchFamily="2" charset="2"/>
              <a:buChar char="§"/>
            </a:pPr>
            <a:r>
              <a:rPr lang="en-US" sz="2800" dirty="0"/>
              <a:t>increasing operational efficiencies across the industry, including global trade, trade finance, clearing and settlement, consumer banking, lending, and other transactions.</a:t>
            </a:r>
          </a:p>
          <a:p>
            <a:pPr marL="514350" indent="-514350" algn="just">
              <a:lnSpc>
                <a:spcPct val="200000"/>
              </a:lnSpc>
              <a:buFont typeface="Wingdings" panose="05000000000000000000" pitchFamily="2" charset="2"/>
              <a:buChar char="§"/>
            </a:pPr>
            <a:r>
              <a:rPr lang="en-US" sz="2800" b="1" dirty="0"/>
              <a:t>Healthcare blockchain benefits</a:t>
            </a:r>
          </a:p>
          <a:p>
            <a:pPr marL="514350" indent="-514350" algn="just">
              <a:lnSpc>
                <a:spcPct val="200000"/>
              </a:lnSpc>
              <a:buFont typeface="Wingdings" panose="05000000000000000000" pitchFamily="2" charset="2"/>
              <a:buChar char="§"/>
            </a:pPr>
            <a:r>
              <a:rPr lang="en-US" sz="2800" dirty="0"/>
              <a:t>In an industry troubled by data breaches, blockchain can help healthcare improve security for patient data while making it easier to share records across providers, payers and researchers. Control over access remains in the hands of the patient, increasing trust</a:t>
            </a:r>
          </a:p>
        </p:txBody>
      </p:sp>
    </p:spTree>
    <p:extLst>
      <p:ext uri="{BB962C8B-B14F-4D97-AF65-F5344CB8AC3E}">
        <p14:creationId xmlns:p14="http://schemas.microsoft.com/office/powerpoint/2010/main" val="1861548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D8C0-89D0-01B4-43EE-22E9CBDD60D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41EBEA6-8BEC-559A-1E19-DCFA4BF6030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6F7D82-7394-0383-19B3-9BE7D5788F4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A094508-A0DC-C87F-49BB-357F443C5447}"/>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How Industries Benefit From Blockchain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9" name="Date Placeholder 8">
            <a:extLst>
              <a:ext uri="{FF2B5EF4-FFF2-40B4-BE49-F238E27FC236}">
                <a16:creationId xmlns:a16="http://schemas.microsoft.com/office/drawing/2014/main" id="{5A0059E7-9BAA-10A5-E334-0407CEB1893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D94080C7-8C96-A981-17DD-0693E4342EA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7554AE3-0C72-A6FB-74CB-8BD49D13C43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B9F5DEB-A6CE-D7A5-1869-4D5550DBD0C0}"/>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Pharmaceutical blockchain benefits</a:t>
            </a:r>
          </a:p>
          <a:p>
            <a:pPr marL="514350" indent="-514350" algn="just">
              <a:lnSpc>
                <a:spcPct val="200000"/>
              </a:lnSpc>
              <a:buFont typeface="Wingdings" panose="05000000000000000000" pitchFamily="2" charset="2"/>
              <a:buChar char="§"/>
            </a:pPr>
            <a:r>
              <a:rPr lang="en-US" sz="2800" dirty="0"/>
              <a:t>As pharmaceutical products move through the supply chain, every action is recorded. The resulting audit trail means an item can be traced from origin to pharmacy or retailer, helping to prevent counterfeiting and enabling manufacturers to locate a recalled product in seconds.</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b="1" dirty="0"/>
              <a:t>Government blockchain benefits</a:t>
            </a:r>
          </a:p>
          <a:p>
            <a:pPr marL="514350" indent="-514350" algn="just">
              <a:lnSpc>
                <a:spcPct val="200000"/>
              </a:lnSpc>
              <a:buFont typeface="Wingdings" panose="05000000000000000000" pitchFamily="2" charset="2"/>
              <a:buChar char="§"/>
            </a:pPr>
            <a:r>
              <a:rPr lang="en-US" sz="2800" dirty="0"/>
              <a:t>Blockchain can help governments work smarter and innovate faster. Secure sharing of data between citizens and agencies can increase trust while providing an immutable audit trail for regulatory compliance, contract management, identity management, and citizen services.</a:t>
            </a:r>
          </a:p>
        </p:txBody>
      </p:sp>
    </p:spTree>
    <p:extLst>
      <p:ext uri="{BB962C8B-B14F-4D97-AF65-F5344CB8AC3E}">
        <p14:creationId xmlns:p14="http://schemas.microsoft.com/office/powerpoint/2010/main" val="3190006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328A-85D6-D990-CB19-767267C5964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C75C2C2-D674-50FA-102F-CB36058958C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2A2133C-F7D3-D64A-8442-878DE1BABF1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2C50C4A-9668-7FE6-C421-BE2383A75A9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How Industries Benefit From Blockchain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9" name="Date Placeholder 8">
            <a:extLst>
              <a:ext uri="{FF2B5EF4-FFF2-40B4-BE49-F238E27FC236}">
                <a16:creationId xmlns:a16="http://schemas.microsoft.com/office/drawing/2014/main" id="{62CE71A7-382D-C0ED-89E9-44B28534AA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4AE286A-E5D8-B784-1F8D-5DED33F4A00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F27D792-9C11-E539-385C-42FE9B0D54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6FCEA98-DD03-FA1E-379E-76EB3A86F8BD}"/>
              </a:ext>
            </a:extLst>
          </p:cNvPr>
          <p:cNvSpPr txBox="1"/>
          <p:nvPr/>
        </p:nvSpPr>
        <p:spPr>
          <a:xfrm>
            <a:off x="756447" y="1608990"/>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Insurance blockchain benefits</a:t>
            </a:r>
          </a:p>
          <a:p>
            <a:pPr marL="514350" indent="-514350" algn="just">
              <a:lnSpc>
                <a:spcPct val="200000"/>
              </a:lnSpc>
              <a:buFont typeface="Wingdings" panose="05000000000000000000" pitchFamily="2" charset="2"/>
              <a:buChar char="§"/>
            </a:pPr>
            <a:r>
              <a:rPr lang="en-US" sz="2800" dirty="0"/>
              <a:t>Insurance companies are using blockchain and smart contracts to automate manual and paper-intensive processes such as underwriting and claims settlement, increasing speed and efficiency, and reducing costs. Blockchain’s faster, verifiable data exchanges help reduce fraud and abuse.</a:t>
            </a:r>
          </a:p>
        </p:txBody>
      </p:sp>
    </p:spTree>
    <p:extLst>
      <p:ext uri="{BB962C8B-B14F-4D97-AF65-F5344CB8AC3E}">
        <p14:creationId xmlns:p14="http://schemas.microsoft.com/office/powerpoint/2010/main" val="2504749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F77C2-5E5E-89D3-CCE0-7C196D79CB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74787E4-FFDD-5BFE-D73B-8C196F36D40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99A32FC-9986-3156-A20A-2CAED1E51E5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AA00A75-82D0-061B-9BC1-D9AC683783AA}"/>
              </a:ext>
            </a:extLst>
          </p:cNvPr>
          <p:cNvSpPr txBox="1"/>
          <p:nvPr/>
        </p:nvSpPr>
        <p:spPr>
          <a:xfrm>
            <a:off x="990600" y="300719"/>
            <a:ext cx="129540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 – PWC (Oct 2020) Report :</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9" name="Date Placeholder 8">
            <a:extLst>
              <a:ext uri="{FF2B5EF4-FFF2-40B4-BE49-F238E27FC236}">
                <a16:creationId xmlns:a16="http://schemas.microsoft.com/office/drawing/2014/main" id="{0D4DC684-4204-4F9D-0323-726D3DCBBAF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37592858-5D1D-A700-3619-8A5BFEAA834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5BC3688-FEF8-9026-B153-B3AC992D92C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1BD8D08-9D0E-7A09-5AAE-FAE1C00C8575}"/>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Blockchain – Basics</a:t>
            </a:r>
          </a:p>
          <a:p>
            <a:pPr algn="just">
              <a:lnSpc>
                <a:spcPct val="200000"/>
              </a:lnSpc>
            </a:pPr>
            <a:r>
              <a:rPr lang="en-GB" sz="2800" b="1" dirty="0"/>
              <a:t>		</a:t>
            </a:r>
            <a:r>
              <a:rPr lang="en-GB" sz="2800" dirty="0">
                <a:hlinkClick r:id="rId3"/>
              </a:rPr>
              <a:t>https://www.youtube.com/watch?v=qOVAbKKSH10</a:t>
            </a:r>
            <a:endParaRPr lang="en-GB" sz="2800" dirty="0"/>
          </a:p>
          <a:p>
            <a:pPr algn="just">
              <a:lnSpc>
                <a:spcPct val="200000"/>
              </a:lnSpc>
            </a:pPr>
            <a:r>
              <a:rPr lang="en-US" sz="2800" b="1" dirty="0"/>
              <a:t>Blockchain Use Cases – Blockchain City</a:t>
            </a:r>
            <a:endParaRPr lang="en-US" sz="2800" dirty="0"/>
          </a:p>
          <a:p>
            <a:pPr algn="just">
              <a:lnSpc>
                <a:spcPct val="200000"/>
              </a:lnSpc>
            </a:pPr>
            <a:r>
              <a:rPr lang="en-GB" sz="2800" dirty="0"/>
              <a:t>		 </a:t>
            </a:r>
            <a:r>
              <a:rPr lang="en-GB" sz="2800" dirty="0">
                <a:hlinkClick r:id="rId4"/>
              </a:rPr>
              <a:t>https://www.youtube.com/watch?v=I6fadL-0VRw</a:t>
            </a:r>
            <a:endParaRPr lang="en-GB" sz="2800" dirty="0"/>
          </a:p>
          <a:p>
            <a:pPr algn="just">
              <a:lnSpc>
                <a:spcPct val="200000"/>
              </a:lnSpc>
            </a:pPr>
            <a:r>
              <a:rPr lang="en-US" sz="2800" b="1" dirty="0"/>
              <a:t>Blockchain Use Cases – Blockchain and Us</a:t>
            </a:r>
          </a:p>
          <a:p>
            <a:pPr algn="just">
              <a:lnSpc>
                <a:spcPct val="200000"/>
              </a:lnSpc>
            </a:pPr>
            <a:r>
              <a:rPr lang="en-GB" sz="2800" dirty="0"/>
              <a:t>		</a:t>
            </a:r>
            <a:r>
              <a:rPr lang="en-GB" sz="2800" dirty="0">
                <a:hlinkClick r:id="rId5"/>
              </a:rPr>
              <a:t>https://www.youtube.com/watch?v=2iF73cybTBs</a:t>
            </a:r>
            <a:endParaRPr lang="en-GB" sz="2800" dirty="0"/>
          </a:p>
          <a:p>
            <a:pPr algn="just">
              <a:lnSpc>
                <a:spcPct val="200000"/>
              </a:lnSpc>
            </a:pPr>
            <a:endParaRPr lang="en-GB" sz="2800" dirty="0"/>
          </a:p>
        </p:txBody>
      </p:sp>
      <p:sp>
        <p:nvSpPr>
          <p:cNvPr id="4" name="TextBox 6">
            <a:extLst>
              <a:ext uri="{FF2B5EF4-FFF2-40B4-BE49-F238E27FC236}">
                <a16:creationId xmlns:a16="http://schemas.microsoft.com/office/drawing/2014/main" id="{9334E139-27D8-1E34-8324-0C59A67B531B}"/>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Blockchain Good Videos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210849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 &amp; VII</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51</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7843044"/>
          </a:xfrm>
          <a:prstGeom prst="rect">
            <a:avLst/>
          </a:prstGeom>
          <a:noFill/>
        </p:spPr>
        <p:txBody>
          <a:bodyPr wrap="square" rtlCol="0">
            <a:spAutoFit/>
          </a:bodyPr>
          <a:lstStyle/>
          <a:p>
            <a:r>
              <a:rPr lang="en-US" sz="2800" dirty="0"/>
              <a:t>By the end of this session:</a:t>
            </a:r>
            <a:endParaRPr lang="en-MY" sz="2600" dirty="0"/>
          </a:p>
          <a:p>
            <a:pPr marL="514350" indent="-514350">
              <a:lnSpc>
                <a:spcPct val="150000"/>
              </a:lnSpc>
              <a:buFont typeface="+mj-lt"/>
              <a:buAutoNum type="arabicPeriod"/>
            </a:pPr>
            <a:endParaRPr lang="en-US" sz="2800" dirty="0"/>
          </a:p>
          <a:p>
            <a:pPr marL="514350" indent="-514350">
              <a:lnSpc>
                <a:spcPct val="150000"/>
              </a:lnSpc>
              <a:buFont typeface="+mj-lt"/>
              <a:buAutoNum type="arabicPeriod"/>
            </a:pPr>
            <a:r>
              <a:rPr lang="en-US" sz="2800" dirty="0"/>
              <a:t>This document introduces blockchain as a decentralized, peer-to-peer distributed ledger technology that securely records transactions without relying on trusted third-party intermediaries. </a:t>
            </a:r>
          </a:p>
          <a:p>
            <a:pPr marL="514350" indent="-514350">
              <a:lnSpc>
                <a:spcPct val="150000"/>
              </a:lnSpc>
              <a:buFont typeface="+mj-lt"/>
              <a:buAutoNum type="arabicPeriod"/>
            </a:pPr>
            <a:endParaRPr lang="en-US" sz="2000" dirty="0"/>
          </a:p>
          <a:p>
            <a:pPr marL="514350" indent="-514350">
              <a:lnSpc>
                <a:spcPct val="150000"/>
              </a:lnSpc>
              <a:buFont typeface="+mj-lt"/>
              <a:buAutoNum type="arabicPeriod"/>
            </a:pPr>
            <a:r>
              <a:rPr lang="en-US" sz="2800" dirty="0"/>
              <a:t>It details five primary benefits of the technology: enhanced security, greater transparency, instant traceability, increased efficiency, and automation via smart contracts. </a:t>
            </a:r>
          </a:p>
          <a:p>
            <a:pPr marL="514350" indent="-514350">
              <a:lnSpc>
                <a:spcPct val="150000"/>
              </a:lnSpc>
              <a:buFont typeface="+mj-lt"/>
              <a:buAutoNum type="arabicPeriod"/>
            </a:pPr>
            <a:endParaRPr lang="en-US" sz="2000" dirty="0"/>
          </a:p>
          <a:p>
            <a:pPr marL="514350" indent="-514350">
              <a:lnSpc>
                <a:spcPct val="150000"/>
              </a:lnSpc>
              <a:buFont typeface="+mj-lt"/>
              <a:buAutoNum type="arabicPeriod"/>
            </a:pPr>
            <a:r>
              <a:rPr lang="en-US" sz="2800" dirty="0"/>
              <a:t>The text explains the underlying mechanics, noting that blockchain ensures data immutability using asymmetric cryptography, digital signatures, and a data structure of interconnected blocks linked by cryptographic hashes</a:t>
            </a:r>
            <a:r>
              <a:rPr lang="zh-CN" altLang="en-US" sz="2800" dirty="0"/>
              <a:t>。</a:t>
            </a:r>
            <a:endParaRPr lang="en-MY" altLang="zh-CN" sz="2800" dirty="0"/>
          </a:p>
          <a:p>
            <a:pPr marL="514350" indent="-514350">
              <a:lnSpc>
                <a:spcPct val="150000"/>
              </a:lnSpc>
              <a:buFont typeface="+mj-lt"/>
              <a:buAutoNum type="arabicPeriod"/>
            </a:pPr>
            <a:endParaRPr lang="en-MY" sz="2000" dirty="0"/>
          </a:p>
          <a:p>
            <a:pPr marL="514350" indent="-514350">
              <a:lnSpc>
                <a:spcPct val="150000"/>
              </a:lnSpc>
              <a:buFont typeface="+mj-lt"/>
              <a:buAutoNum type="arabicPeriod"/>
            </a:pPr>
            <a:r>
              <a:rPr lang="en-US" sz="2800" dirty="0"/>
              <a:t>Finally, it highlights practical applications, demonstrating how blockchain transforms operations and builds trust across diverse industries like supply chain, banking, healthcare, and government</a:t>
            </a:r>
          </a:p>
        </p:txBody>
      </p:sp>
    </p:spTree>
    <p:extLst>
      <p:ext uri="{BB962C8B-B14F-4D97-AF65-F5344CB8AC3E}">
        <p14:creationId xmlns:p14="http://schemas.microsoft.com/office/powerpoint/2010/main" val="1163299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VI &amp; VII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9B6550-91B7-456B-A940-ECDA25AB8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998</TotalTime>
  <Words>6454</Words>
  <Application>Microsoft Office PowerPoint</Application>
  <PresentationFormat>Custom</PresentationFormat>
  <Paragraphs>873</Paragraphs>
  <Slides>52</Slides>
  <Notes>52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Segoe UI</vt:lpstr>
      <vt:lpstr>Arial</vt:lpstr>
      <vt:lpstr>Calibri Light</vt:lpstr>
      <vt:lpstr>Wingdings</vt:lpstr>
      <vt:lpstr>Museo Sans 300</vt:lpstr>
      <vt:lpstr>Calibri</vt:lpstr>
      <vt:lpstr>Aptos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456</cp:revision>
  <dcterms:created xsi:type="dcterms:W3CDTF">2006-08-16T00:00:00Z</dcterms:created>
  <dcterms:modified xsi:type="dcterms:W3CDTF">2026-05-18T07:32:26Z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