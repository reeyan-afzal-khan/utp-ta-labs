
<file path=[Content_Types].xml><?xml version="1.0" encoding="utf-8"?>
<Types xmlns="http://schemas.openxmlformats.org/package/2006/content-types">
  <Default Extension="fntdata" ContentType="application/x-fontdata"/>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1" r:id="rId4"/>
  </p:sldMasterIdLst>
  <p:notesMasterIdLst>
    <p:notesMasterId r:id="rId82"/>
  </p:notesMasterIdLst>
  <p:handoutMasterIdLst>
    <p:handoutMasterId r:id="rId83"/>
  </p:handoutMasterIdLst>
  <p:sldIdLst>
    <p:sldId id="268" r:id="rId5"/>
    <p:sldId id="277" r:id="rId6"/>
    <p:sldId id="276" r:id="rId7"/>
    <p:sldId id="257" r:id="rId8"/>
    <p:sldId id="365" r:id="rId9"/>
    <p:sldId id="282" r:id="rId10"/>
    <p:sldId id="289" r:id="rId11"/>
    <p:sldId id="293" r:id="rId12"/>
    <p:sldId id="290" r:id="rId13"/>
    <p:sldId id="291" r:id="rId14"/>
    <p:sldId id="286" r:id="rId15"/>
    <p:sldId id="366" r:id="rId16"/>
    <p:sldId id="292" r:id="rId17"/>
    <p:sldId id="294" r:id="rId18"/>
    <p:sldId id="295" r:id="rId19"/>
    <p:sldId id="296" r:id="rId20"/>
    <p:sldId id="367" r:id="rId21"/>
    <p:sldId id="300" r:id="rId22"/>
    <p:sldId id="305" r:id="rId23"/>
    <p:sldId id="302" r:id="rId24"/>
    <p:sldId id="303" r:id="rId25"/>
    <p:sldId id="304" r:id="rId26"/>
    <p:sldId id="306" r:id="rId27"/>
    <p:sldId id="307" r:id="rId28"/>
    <p:sldId id="308" r:id="rId29"/>
    <p:sldId id="309" r:id="rId30"/>
    <p:sldId id="325" r:id="rId31"/>
    <p:sldId id="368" r:id="rId32"/>
    <p:sldId id="364" r:id="rId33"/>
    <p:sldId id="312" r:id="rId34"/>
    <p:sldId id="313" r:id="rId35"/>
    <p:sldId id="314" r:id="rId36"/>
    <p:sldId id="318" r:id="rId37"/>
    <p:sldId id="319" r:id="rId38"/>
    <p:sldId id="369" r:id="rId39"/>
    <p:sldId id="322" r:id="rId40"/>
    <p:sldId id="323" r:id="rId41"/>
    <p:sldId id="324" r:id="rId42"/>
    <p:sldId id="327" r:id="rId43"/>
    <p:sldId id="328" r:id="rId44"/>
    <p:sldId id="329" r:id="rId45"/>
    <p:sldId id="330" r:id="rId46"/>
    <p:sldId id="331" r:id="rId47"/>
    <p:sldId id="332" r:id="rId48"/>
    <p:sldId id="370" r:id="rId49"/>
    <p:sldId id="334" r:id="rId50"/>
    <p:sldId id="335" r:id="rId51"/>
    <p:sldId id="336" r:id="rId52"/>
    <p:sldId id="337" r:id="rId53"/>
    <p:sldId id="338" r:id="rId54"/>
    <p:sldId id="339" r:id="rId55"/>
    <p:sldId id="340" r:id="rId56"/>
    <p:sldId id="341" r:id="rId57"/>
    <p:sldId id="342" r:id="rId58"/>
    <p:sldId id="343" r:id="rId59"/>
    <p:sldId id="344" r:id="rId60"/>
    <p:sldId id="345" r:id="rId61"/>
    <p:sldId id="346" r:id="rId62"/>
    <p:sldId id="371" r:id="rId63"/>
    <p:sldId id="349" r:id="rId64"/>
    <p:sldId id="348" r:id="rId65"/>
    <p:sldId id="350" r:id="rId66"/>
    <p:sldId id="351" r:id="rId67"/>
    <p:sldId id="352" r:id="rId68"/>
    <p:sldId id="353" r:id="rId69"/>
    <p:sldId id="372" r:id="rId70"/>
    <p:sldId id="355" r:id="rId71"/>
    <p:sldId id="356" r:id="rId72"/>
    <p:sldId id="357" r:id="rId73"/>
    <p:sldId id="358" r:id="rId74"/>
    <p:sldId id="359" r:id="rId75"/>
    <p:sldId id="360" r:id="rId76"/>
    <p:sldId id="361" r:id="rId77"/>
    <p:sldId id="362" r:id="rId78"/>
    <p:sldId id="363" r:id="rId79"/>
    <p:sldId id="320" r:id="rId80"/>
    <p:sldId id="270" r:id="rId81"/>
  </p:sldIdLst>
  <p:sldSz cx="18288000" cy="10287000"/>
  <p:notesSz cx="6858000" cy="9144000"/>
  <p:embeddedFontLst>
    <p:embeddedFont>
      <p:font typeface="Arial MT" pitchFamily="50" charset="0"/>
      <p:regular r:id="rId84"/>
      <p:bold r:id="rId85"/>
      <p:italic r:id="rId86"/>
      <p:boldItalic r:id="rId87"/>
    </p:embeddedFont>
    <p:embeddedFont>
      <p:font typeface="Museo Sans 300" panose="02000000000000000000" charset="0"/>
      <p:regular r:id="rId88"/>
      <p:bold r:id="rId89"/>
      <p:italic r:id="rId90"/>
    </p:embeddedFont>
    <p:embeddedFont>
      <p:font typeface="Segoe UI" panose="020B0502040204020203" pitchFamily="34" charset="0"/>
      <p:regular r:id="rId91"/>
      <p:bold r:id="rId92"/>
      <p:italic r:id="rId93"/>
      <p:boldItalic r:id="rId9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00" autoAdjust="0"/>
    <p:restoredTop sz="73957" autoAdjust="0"/>
  </p:normalViewPr>
  <p:slideViewPr>
    <p:cSldViewPr snapToGrid="0">
      <p:cViewPr varScale="1">
        <p:scale>
          <a:sx n="36" d="100"/>
          <a:sy n="36" d="100"/>
        </p:scale>
        <p:origin x="1362"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1.fntdata"/><Relationship Id="rId89" Type="http://schemas.openxmlformats.org/officeDocument/2006/relationships/font" Target="fonts/font6.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font" Target="fonts/font7.fntdata"/><Relationship Id="rId95" Type="http://schemas.openxmlformats.org/officeDocument/2006/relationships/presProps" Target="presProp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font" Target="fonts/font2.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handoutMaster" Target="handoutMasters/handoutMaster1.xml"/><Relationship Id="rId88" Type="http://schemas.openxmlformats.org/officeDocument/2006/relationships/font" Target="fonts/font5.fntdata"/><Relationship Id="rId91" Type="http://schemas.openxmlformats.org/officeDocument/2006/relationships/font" Target="fonts/font8.fntdata"/><Relationship Id="rId9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font" Target="fonts/font3.fntdata"/><Relationship Id="rId94"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9.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4.fntdata"/><Relationship Id="rId61" Type="http://schemas.openxmlformats.org/officeDocument/2006/relationships/slide" Target="slides/slide57.xml"/><Relationship Id="rId82"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0.fntdata"/><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B93D41-E753-CA08-512C-7FD9149E95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a:extLst>
              <a:ext uri="{FF2B5EF4-FFF2-40B4-BE49-F238E27FC236}">
                <a16:creationId xmlns:a16="http://schemas.microsoft.com/office/drawing/2014/main" id="{EB683311-34CD-10A6-71A7-5FEC1EAC08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D391DD-0852-4038-9481-BE0C8E4C0068}" type="datetimeFigureOut">
              <a:rPr lang="en-MY" smtClean="0"/>
              <a:t>13/5/2026</a:t>
            </a:fld>
            <a:endParaRPr lang="en-MY"/>
          </a:p>
        </p:txBody>
      </p:sp>
      <p:sp>
        <p:nvSpPr>
          <p:cNvPr id="4" name="Footer Placeholder 3">
            <a:extLst>
              <a:ext uri="{FF2B5EF4-FFF2-40B4-BE49-F238E27FC236}">
                <a16:creationId xmlns:a16="http://schemas.microsoft.com/office/drawing/2014/main" id="{7B82A957-AB6C-53B4-A4E1-0374492AD1D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5" name="Slide Number Placeholder 4">
            <a:extLst>
              <a:ext uri="{FF2B5EF4-FFF2-40B4-BE49-F238E27FC236}">
                <a16:creationId xmlns:a16="http://schemas.microsoft.com/office/drawing/2014/main" id="{1EA79F2C-EAFF-B3B1-975D-3770C8024B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3BE2F9-A3A4-483F-A619-855FC01C419C}" type="slidenum">
              <a:rPr lang="en-MY" smtClean="0"/>
              <a:t>‹#›</a:t>
            </a:fld>
            <a:endParaRPr lang="en-MY"/>
          </a:p>
        </p:txBody>
      </p:sp>
    </p:spTree>
    <p:extLst>
      <p:ext uri="{BB962C8B-B14F-4D97-AF65-F5344CB8AC3E}">
        <p14:creationId xmlns:p14="http://schemas.microsoft.com/office/powerpoint/2010/main" val="409590229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B1111C-7368-49FD-8B9D-8D05AE4C3340}" type="datetimeFigureOut">
              <a:rPr lang="en-MY" smtClean="0"/>
              <a:t>13/5/2026</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061F1A-E494-4223-A600-C9DDF71EE410}" type="slidenum">
              <a:rPr lang="en-MY" smtClean="0"/>
              <a:t>‹#›</a:t>
            </a:fld>
            <a:endParaRPr lang="en-MY"/>
          </a:p>
        </p:txBody>
      </p:sp>
    </p:spTree>
    <p:extLst>
      <p:ext uri="{BB962C8B-B14F-4D97-AF65-F5344CB8AC3E}">
        <p14:creationId xmlns:p14="http://schemas.microsoft.com/office/powerpoint/2010/main" val="28362439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1</a:t>
            </a:fld>
            <a:endParaRPr lang="en-MY"/>
          </a:p>
        </p:txBody>
      </p:sp>
    </p:spTree>
    <p:extLst>
      <p:ext uri="{BB962C8B-B14F-4D97-AF65-F5344CB8AC3E}">
        <p14:creationId xmlns:p14="http://schemas.microsoft.com/office/powerpoint/2010/main" val="3036044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u="none" strike="noStrike" kern="1200" dirty="0">
                <a:solidFill>
                  <a:schemeClr val="tx1"/>
                </a:solidFill>
                <a:effectLst/>
                <a:latin typeface="+mn-lt"/>
                <a:ea typeface="+mn-ea"/>
                <a:cs typeface="+mn-cs"/>
              </a:rPr>
              <a:t>Learning Outcomes Slide</a:t>
            </a:r>
            <a:endParaRPr lang="en-MY" sz="1200" u="none" strike="noStrike" kern="1200" dirty="0">
              <a:solidFill>
                <a:schemeClr val="tx1"/>
              </a:solidFill>
              <a:effectLst/>
              <a:latin typeface="+mn-lt"/>
              <a:ea typeface="+mn-ea"/>
              <a:cs typeface="+mn-cs"/>
            </a:endParaRPr>
          </a:p>
          <a:p>
            <a:pPr lvl="0"/>
            <a:endParaRPr lang="en-MY" sz="1200" kern="1200" dirty="0">
              <a:solidFill>
                <a:schemeClr val="tx1"/>
              </a:solidFill>
              <a:effectLst/>
              <a:latin typeface="+mn-lt"/>
              <a:ea typeface="+mn-ea"/>
              <a:cs typeface="+mn-cs"/>
            </a:endParaRPr>
          </a:p>
          <a:p>
            <a:pPr lvl="0"/>
            <a:r>
              <a:rPr lang="en-MY" sz="1200" kern="1200" dirty="0">
                <a:solidFill>
                  <a:schemeClr val="tx1"/>
                </a:solidFill>
                <a:effectLst/>
                <a:latin typeface="+mn-lt"/>
                <a:ea typeface="+mn-ea"/>
                <a:cs typeface="+mn-cs"/>
              </a:rPr>
              <a:t>Note: </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Include 2–4 lecture-level learning outcomes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Use measurable action verbs</a:t>
            </a:r>
          </a:p>
          <a:p>
            <a:pPr marL="171450" lvl="0" indent="-171450">
              <a:buFont typeface="Arial" panose="020B0604020202020204" pitchFamily="34" charset="0"/>
              <a:buChar char="•"/>
            </a:pPr>
            <a:r>
              <a:rPr lang="en-MY" sz="1200" kern="1200" dirty="0">
                <a:solidFill>
                  <a:schemeClr val="tx1"/>
                </a:solidFill>
                <a:effectLst/>
                <a:latin typeface="+mn-lt"/>
                <a:ea typeface="+mn-ea"/>
                <a:cs typeface="+mn-cs"/>
              </a:rPr>
              <a:t>Map explicitly to Course Learning Outcomes (CLOs)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2</a:t>
            </a:fld>
            <a:endParaRPr lang="en-MY"/>
          </a:p>
        </p:txBody>
      </p:sp>
    </p:spTree>
    <p:extLst>
      <p:ext uri="{BB962C8B-B14F-4D97-AF65-F5344CB8AC3E}">
        <p14:creationId xmlns:p14="http://schemas.microsoft.com/office/powerpoint/2010/main" val="2622563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3</a:t>
            </a:fld>
            <a:endParaRPr lang="en-MY"/>
          </a:p>
        </p:txBody>
      </p:sp>
    </p:spTree>
    <p:extLst>
      <p:ext uri="{BB962C8B-B14F-4D97-AF65-F5344CB8AC3E}">
        <p14:creationId xmlns:p14="http://schemas.microsoft.com/office/powerpoint/2010/main" val="25864651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4</a:t>
            </a:fld>
            <a:endParaRPr lang="en-MY"/>
          </a:p>
        </p:txBody>
      </p:sp>
    </p:spTree>
    <p:extLst>
      <p:ext uri="{BB962C8B-B14F-4D97-AF65-F5344CB8AC3E}">
        <p14:creationId xmlns:p14="http://schemas.microsoft.com/office/powerpoint/2010/main" val="2992746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03AB5-B534-77D9-F89C-9BF470610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1D4C31-3D26-853B-8D15-2D9A179B86B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5970C61-9D07-9E14-FA19-E8C5DE10060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0E62F17-F868-F82B-0A34-BE664154CB2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BAAFF73-1E8F-06C9-CCE4-D040194BB7ED}"/>
              </a:ext>
            </a:extLst>
          </p:cNvPr>
          <p:cNvSpPr>
            <a:spLocks noGrp="1"/>
          </p:cNvSpPr>
          <p:nvPr>
            <p:ph type="sldNum" sz="quarter" idx="5"/>
          </p:nvPr>
        </p:nvSpPr>
        <p:spPr/>
        <p:txBody>
          <a:bodyPr/>
          <a:lstStyle/>
          <a:p>
            <a:fld id="{D2061F1A-E494-4223-A600-C9DDF71EE410}" type="slidenum">
              <a:rPr lang="en-MY" smtClean="0"/>
              <a:t>5</a:t>
            </a:fld>
            <a:endParaRPr lang="en-MY"/>
          </a:p>
        </p:txBody>
      </p:sp>
    </p:spTree>
    <p:extLst>
      <p:ext uri="{BB962C8B-B14F-4D97-AF65-F5344CB8AC3E}">
        <p14:creationId xmlns:p14="http://schemas.microsoft.com/office/powerpoint/2010/main" val="2652304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DC458-ABD2-6554-4EEC-0D16A32B0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BC865-94A3-188F-B3E6-5A7610E719E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79109B-9008-0773-3AD8-E8915AC0A01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781BED9-7438-FFAF-C137-6ACCDC21506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F82F19-6671-66BA-EB51-B8BCB6771018}"/>
              </a:ext>
            </a:extLst>
          </p:cNvPr>
          <p:cNvSpPr>
            <a:spLocks noGrp="1"/>
          </p:cNvSpPr>
          <p:nvPr>
            <p:ph type="sldNum" sz="quarter" idx="5"/>
          </p:nvPr>
        </p:nvSpPr>
        <p:spPr/>
        <p:txBody>
          <a:bodyPr/>
          <a:lstStyle/>
          <a:p>
            <a:fld id="{D2061F1A-E494-4223-A600-C9DDF71EE410}" type="slidenum">
              <a:rPr lang="en-MY" smtClean="0"/>
              <a:t>6</a:t>
            </a:fld>
            <a:endParaRPr lang="en-MY"/>
          </a:p>
        </p:txBody>
      </p:sp>
    </p:spTree>
    <p:extLst>
      <p:ext uri="{BB962C8B-B14F-4D97-AF65-F5344CB8AC3E}">
        <p14:creationId xmlns:p14="http://schemas.microsoft.com/office/powerpoint/2010/main" val="1735258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42D77-FBF1-1AE6-F717-7DAA09111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E496B-6728-607F-5E2C-EDE735C7CFC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4CC4B6F-51F6-ABE0-F351-D331CDCEBAC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A7E6155-CD52-FE14-7332-283A8E332D0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976309C-A9E5-307C-A0C2-6F9BC9AD7E6D}"/>
              </a:ext>
            </a:extLst>
          </p:cNvPr>
          <p:cNvSpPr>
            <a:spLocks noGrp="1"/>
          </p:cNvSpPr>
          <p:nvPr>
            <p:ph type="sldNum" sz="quarter" idx="5"/>
          </p:nvPr>
        </p:nvSpPr>
        <p:spPr/>
        <p:txBody>
          <a:bodyPr/>
          <a:lstStyle/>
          <a:p>
            <a:fld id="{D2061F1A-E494-4223-A600-C9DDF71EE410}" type="slidenum">
              <a:rPr lang="en-MY" smtClean="0"/>
              <a:t>7</a:t>
            </a:fld>
            <a:endParaRPr lang="en-MY"/>
          </a:p>
        </p:txBody>
      </p:sp>
    </p:spTree>
    <p:extLst>
      <p:ext uri="{BB962C8B-B14F-4D97-AF65-F5344CB8AC3E}">
        <p14:creationId xmlns:p14="http://schemas.microsoft.com/office/powerpoint/2010/main" val="2501397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6A746-5629-FDAE-D124-92FF9BEAF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BF613-46D5-8071-311C-77B97F8AD54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3933F76-014A-F6CD-45E1-2DAD27C9A32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BEB103A-91EF-36AB-E84A-05AE9E7A3C5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66757CB-20AC-4EA9-496F-9CB6FA9562F4}"/>
              </a:ext>
            </a:extLst>
          </p:cNvPr>
          <p:cNvSpPr>
            <a:spLocks noGrp="1"/>
          </p:cNvSpPr>
          <p:nvPr>
            <p:ph type="sldNum" sz="quarter" idx="5"/>
          </p:nvPr>
        </p:nvSpPr>
        <p:spPr/>
        <p:txBody>
          <a:bodyPr/>
          <a:lstStyle/>
          <a:p>
            <a:fld id="{D2061F1A-E494-4223-A600-C9DDF71EE410}" type="slidenum">
              <a:rPr lang="en-MY" smtClean="0"/>
              <a:t>8</a:t>
            </a:fld>
            <a:endParaRPr lang="en-MY"/>
          </a:p>
        </p:txBody>
      </p:sp>
    </p:spTree>
    <p:extLst>
      <p:ext uri="{BB962C8B-B14F-4D97-AF65-F5344CB8AC3E}">
        <p14:creationId xmlns:p14="http://schemas.microsoft.com/office/powerpoint/2010/main" val="499147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34882-A50B-6C75-C20A-A9605E42BA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1BC52-4ACA-D948-F77F-921F194134F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FCFDBCF-E1AD-947B-8C82-10D35BA48BD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0EC149B-0FCB-0128-8132-D025BE2A835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98BF0DD-52B0-573E-4C81-B8A673231E44}"/>
              </a:ext>
            </a:extLst>
          </p:cNvPr>
          <p:cNvSpPr>
            <a:spLocks noGrp="1"/>
          </p:cNvSpPr>
          <p:nvPr>
            <p:ph type="sldNum" sz="quarter" idx="5"/>
          </p:nvPr>
        </p:nvSpPr>
        <p:spPr/>
        <p:txBody>
          <a:bodyPr/>
          <a:lstStyle/>
          <a:p>
            <a:fld id="{D2061F1A-E494-4223-A600-C9DDF71EE410}" type="slidenum">
              <a:rPr lang="en-MY" smtClean="0"/>
              <a:t>9</a:t>
            </a:fld>
            <a:endParaRPr lang="en-MY"/>
          </a:p>
        </p:txBody>
      </p:sp>
    </p:spTree>
    <p:extLst>
      <p:ext uri="{BB962C8B-B14F-4D97-AF65-F5344CB8AC3E}">
        <p14:creationId xmlns:p14="http://schemas.microsoft.com/office/powerpoint/2010/main" val="3545383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522CA-4FE1-23AD-E6DB-885ADBAA3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C26A20-5035-510D-0073-78B460D915A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4052BC3-0C4F-3D57-9DB7-209057B3A09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81B9B50-11C6-AAC0-6562-17277F0CB49E}"/>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5FC23FD-42D9-7751-B06A-532F63A5BD24}"/>
              </a:ext>
            </a:extLst>
          </p:cNvPr>
          <p:cNvSpPr>
            <a:spLocks noGrp="1"/>
          </p:cNvSpPr>
          <p:nvPr>
            <p:ph type="sldNum" sz="quarter" idx="5"/>
          </p:nvPr>
        </p:nvSpPr>
        <p:spPr/>
        <p:txBody>
          <a:bodyPr/>
          <a:lstStyle/>
          <a:p>
            <a:fld id="{D2061F1A-E494-4223-A600-C9DDF71EE410}" type="slidenum">
              <a:rPr lang="en-MY" smtClean="0"/>
              <a:t>10</a:t>
            </a:fld>
            <a:endParaRPr lang="en-MY"/>
          </a:p>
        </p:txBody>
      </p:sp>
    </p:spTree>
    <p:extLst>
      <p:ext uri="{BB962C8B-B14F-4D97-AF65-F5344CB8AC3E}">
        <p14:creationId xmlns:p14="http://schemas.microsoft.com/office/powerpoint/2010/main" val="1541976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A645A-7782-1FF5-632C-DB412CC3C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C37B6-7787-913C-4FDE-7C70C372DC7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A65A392-19A2-75A9-82CF-C48C9038BB8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AB09030-92D8-3488-0709-822784B7799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E005448-20B9-3455-2DCC-76ED66C7F2E6}"/>
              </a:ext>
            </a:extLst>
          </p:cNvPr>
          <p:cNvSpPr>
            <a:spLocks noGrp="1"/>
          </p:cNvSpPr>
          <p:nvPr>
            <p:ph type="sldNum" sz="quarter" idx="5"/>
          </p:nvPr>
        </p:nvSpPr>
        <p:spPr/>
        <p:txBody>
          <a:bodyPr/>
          <a:lstStyle/>
          <a:p>
            <a:fld id="{D2061F1A-E494-4223-A600-C9DDF71EE410}" type="slidenum">
              <a:rPr lang="en-MY" smtClean="0"/>
              <a:t>11</a:t>
            </a:fld>
            <a:endParaRPr lang="en-MY"/>
          </a:p>
        </p:txBody>
      </p:sp>
    </p:spTree>
    <p:extLst>
      <p:ext uri="{BB962C8B-B14F-4D97-AF65-F5344CB8AC3E}">
        <p14:creationId xmlns:p14="http://schemas.microsoft.com/office/powerpoint/2010/main" val="40604547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C4E1C-79CF-E59C-46DA-4F80DE531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06119-89AD-4833-B2E2-4B25D040E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D87606-A05C-E9E5-B4D1-1930EC872072}"/>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AF1232AE-6F6E-0F96-69D0-4734A1816F4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23A9B75-5988-D55A-AEC5-50B57A32D15D}"/>
              </a:ext>
            </a:extLst>
          </p:cNvPr>
          <p:cNvSpPr>
            <a:spLocks noGrp="1"/>
          </p:cNvSpPr>
          <p:nvPr>
            <p:ph type="sldNum" sz="quarter" idx="5"/>
          </p:nvPr>
        </p:nvSpPr>
        <p:spPr/>
        <p:txBody>
          <a:bodyPr/>
          <a:lstStyle/>
          <a:p>
            <a:fld id="{D2061F1A-E494-4223-A600-C9DDF71EE410}" type="slidenum">
              <a:rPr lang="en-MY" smtClean="0"/>
              <a:t>12</a:t>
            </a:fld>
            <a:endParaRPr lang="en-MY"/>
          </a:p>
        </p:txBody>
      </p:sp>
    </p:spTree>
    <p:extLst>
      <p:ext uri="{BB962C8B-B14F-4D97-AF65-F5344CB8AC3E}">
        <p14:creationId xmlns:p14="http://schemas.microsoft.com/office/powerpoint/2010/main" val="1697975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4AF8-124D-F4A0-A2C4-03E8CB7C2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C8008-A7FF-BD3A-EFA8-739AC4CE5FF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CB0C381-2CCD-0596-9384-9AE141B1ABF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D3B09BC-DC39-0EAD-B739-3149BE928DD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DE65CFF-7CA2-B8C8-BF62-D2C191A43873}"/>
              </a:ext>
            </a:extLst>
          </p:cNvPr>
          <p:cNvSpPr>
            <a:spLocks noGrp="1"/>
          </p:cNvSpPr>
          <p:nvPr>
            <p:ph type="sldNum" sz="quarter" idx="5"/>
          </p:nvPr>
        </p:nvSpPr>
        <p:spPr/>
        <p:txBody>
          <a:bodyPr/>
          <a:lstStyle/>
          <a:p>
            <a:fld id="{D2061F1A-E494-4223-A600-C9DDF71EE410}" type="slidenum">
              <a:rPr lang="en-MY" smtClean="0"/>
              <a:t>13</a:t>
            </a:fld>
            <a:endParaRPr lang="en-MY"/>
          </a:p>
        </p:txBody>
      </p:sp>
    </p:spTree>
    <p:extLst>
      <p:ext uri="{BB962C8B-B14F-4D97-AF65-F5344CB8AC3E}">
        <p14:creationId xmlns:p14="http://schemas.microsoft.com/office/powerpoint/2010/main" val="42299957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9DC2B-0E30-72C6-E82D-ECD4FA61A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6493F-F5CF-59A8-2CCB-58D0EDB3FB7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0A7F982-E2F2-0637-A907-7F8991317B4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7074FE3-0472-6BA6-6CEC-681FEB61A5D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B3E84D6-B4F5-F3DB-EA35-86D1157E1B1C}"/>
              </a:ext>
            </a:extLst>
          </p:cNvPr>
          <p:cNvSpPr>
            <a:spLocks noGrp="1"/>
          </p:cNvSpPr>
          <p:nvPr>
            <p:ph type="sldNum" sz="quarter" idx="5"/>
          </p:nvPr>
        </p:nvSpPr>
        <p:spPr/>
        <p:txBody>
          <a:bodyPr/>
          <a:lstStyle/>
          <a:p>
            <a:fld id="{D2061F1A-E494-4223-A600-C9DDF71EE410}" type="slidenum">
              <a:rPr lang="en-MY" smtClean="0"/>
              <a:t>14</a:t>
            </a:fld>
            <a:endParaRPr lang="en-MY"/>
          </a:p>
        </p:txBody>
      </p:sp>
    </p:spTree>
    <p:extLst>
      <p:ext uri="{BB962C8B-B14F-4D97-AF65-F5344CB8AC3E}">
        <p14:creationId xmlns:p14="http://schemas.microsoft.com/office/powerpoint/2010/main" val="2434596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1E365-CFF5-3A53-BF50-4AC6C9D9A4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EAAEAA-78F0-1CDA-ABA1-05546255A6A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F1EAD43-33B8-7313-F0D4-02B8CE9A790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442CE6E-73B5-EE97-A1EE-506F248B0D9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61BA483-A1FC-F356-7767-B9CCE0B82468}"/>
              </a:ext>
            </a:extLst>
          </p:cNvPr>
          <p:cNvSpPr>
            <a:spLocks noGrp="1"/>
          </p:cNvSpPr>
          <p:nvPr>
            <p:ph type="sldNum" sz="quarter" idx="5"/>
          </p:nvPr>
        </p:nvSpPr>
        <p:spPr/>
        <p:txBody>
          <a:bodyPr/>
          <a:lstStyle/>
          <a:p>
            <a:fld id="{D2061F1A-E494-4223-A600-C9DDF71EE410}" type="slidenum">
              <a:rPr lang="en-MY" smtClean="0"/>
              <a:t>15</a:t>
            </a:fld>
            <a:endParaRPr lang="en-MY"/>
          </a:p>
        </p:txBody>
      </p:sp>
    </p:spTree>
    <p:extLst>
      <p:ext uri="{BB962C8B-B14F-4D97-AF65-F5344CB8AC3E}">
        <p14:creationId xmlns:p14="http://schemas.microsoft.com/office/powerpoint/2010/main" val="3455334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404EF-6895-730C-6CA1-BAD470090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EB88E-B525-1232-9CEB-430CB6C674E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26F8FD6-4B86-BCCC-F8AB-44609080B5B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C1BE8A6-D49A-03D1-FCD7-0F92D3B7E75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C28D5CF-BFBA-C4C4-5FC5-72B528C5AA43}"/>
              </a:ext>
            </a:extLst>
          </p:cNvPr>
          <p:cNvSpPr>
            <a:spLocks noGrp="1"/>
          </p:cNvSpPr>
          <p:nvPr>
            <p:ph type="sldNum" sz="quarter" idx="5"/>
          </p:nvPr>
        </p:nvSpPr>
        <p:spPr/>
        <p:txBody>
          <a:bodyPr/>
          <a:lstStyle/>
          <a:p>
            <a:fld id="{D2061F1A-E494-4223-A600-C9DDF71EE410}" type="slidenum">
              <a:rPr lang="en-MY" smtClean="0"/>
              <a:t>16</a:t>
            </a:fld>
            <a:endParaRPr lang="en-MY"/>
          </a:p>
        </p:txBody>
      </p:sp>
    </p:spTree>
    <p:extLst>
      <p:ext uri="{BB962C8B-B14F-4D97-AF65-F5344CB8AC3E}">
        <p14:creationId xmlns:p14="http://schemas.microsoft.com/office/powerpoint/2010/main" val="35936643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86AE4-2B59-F9D4-63A1-287E31AF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52C2D-7EB7-C3DE-C042-A6E9EE7A8C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3ACDF-3B99-931C-F507-474C7E9735D7}"/>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0C5361BE-7BC6-7028-EB4D-3A8EC6CA6B9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9948783-693D-8A16-0273-FA0E10449752}"/>
              </a:ext>
            </a:extLst>
          </p:cNvPr>
          <p:cNvSpPr>
            <a:spLocks noGrp="1"/>
          </p:cNvSpPr>
          <p:nvPr>
            <p:ph type="sldNum" sz="quarter" idx="5"/>
          </p:nvPr>
        </p:nvSpPr>
        <p:spPr/>
        <p:txBody>
          <a:bodyPr/>
          <a:lstStyle/>
          <a:p>
            <a:fld id="{D2061F1A-E494-4223-A600-C9DDF71EE410}" type="slidenum">
              <a:rPr lang="en-MY" smtClean="0"/>
              <a:t>17</a:t>
            </a:fld>
            <a:endParaRPr lang="en-MY"/>
          </a:p>
        </p:txBody>
      </p:sp>
    </p:spTree>
    <p:extLst>
      <p:ext uri="{BB962C8B-B14F-4D97-AF65-F5344CB8AC3E}">
        <p14:creationId xmlns:p14="http://schemas.microsoft.com/office/powerpoint/2010/main" val="29390260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09CAA-3625-B5C7-899B-B19549A21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6D99E9-85A8-5EE0-51DD-123BAC10A8E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BE1D181-8A06-5DB1-5F13-2BDFB74D015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D5E07CC-05C6-C464-F04A-E2A5BA9003B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03A194A-514B-416D-FE21-25DD88739256}"/>
              </a:ext>
            </a:extLst>
          </p:cNvPr>
          <p:cNvSpPr>
            <a:spLocks noGrp="1"/>
          </p:cNvSpPr>
          <p:nvPr>
            <p:ph type="sldNum" sz="quarter" idx="5"/>
          </p:nvPr>
        </p:nvSpPr>
        <p:spPr/>
        <p:txBody>
          <a:bodyPr/>
          <a:lstStyle/>
          <a:p>
            <a:fld id="{D2061F1A-E494-4223-A600-C9DDF71EE410}" type="slidenum">
              <a:rPr lang="en-MY" smtClean="0"/>
              <a:t>18</a:t>
            </a:fld>
            <a:endParaRPr lang="en-MY"/>
          </a:p>
        </p:txBody>
      </p:sp>
    </p:spTree>
    <p:extLst>
      <p:ext uri="{BB962C8B-B14F-4D97-AF65-F5344CB8AC3E}">
        <p14:creationId xmlns:p14="http://schemas.microsoft.com/office/powerpoint/2010/main" val="20245463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D1579-6187-8CD8-4DFF-B755ED817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B6BB82-E13C-89E5-E0FD-5E2A8345FDB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C947C58-2BBC-1BD3-0308-B2854123E0C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42632EFE-DCB0-2B64-1658-774A79DB557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F4D9A34-F445-E79B-029A-FB2BB097F4F1}"/>
              </a:ext>
            </a:extLst>
          </p:cNvPr>
          <p:cNvSpPr>
            <a:spLocks noGrp="1"/>
          </p:cNvSpPr>
          <p:nvPr>
            <p:ph type="sldNum" sz="quarter" idx="5"/>
          </p:nvPr>
        </p:nvSpPr>
        <p:spPr/>
        <p:txBody>
          <a:bodyPr/>
          <a:lstStyle/>
          <a:p>
            <a:fld id="{D2061F1A-E494-4223-A600-C9DDF71EE410}" type="slidenum">
              <a:rPr lang="en-MY" smtClean="0"/>
              <a:t>19</a:t>
            </a:fld>
            <a:endParaRPr lang="en-MY"/>
          </a:p>
        </p:txBody>
      </p:sp>
    </p:spTree>
    <p:extLst>
      <p:ext uri="{BB962C8B-B14F-4D97-AF65-F5344CB8AC3E}">
        <p14:creationId xmlns:p14="http://schemas.microsoft.com/office/powerpoint/2010/main" val="20651500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DA4E6-468C-0F0E-D672-227883440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F7FFA2-5138-6580-3A31-56CD5B42C8F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CFC96FD-E04D-89D4-0914-4FC46997CB7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2A3139C-CC6E-0E95-D8BA-DE7BEC84A28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8C6F998-D3A0-8734-5E61-D945D71B7AE3}"/>
              </a:ext>
            </a:extLst>
          </p:cNvPr>
          <p:cNvSpPr>
            <a:spLocks noGrp="1"/>
          </p:cNvSpPr>
          <p:nvPr>
            <p:ph type="sldNum" sz="quarter" idx="5"/>
          </p:nvPr>
        </p:nvSpPr>
        <p:spPr/>
        <p:txBody>
          <a:bodyPr/>
          <a:lstStyle/>
          <a:p>
            <a:fld id="{D2061F1A-E494-4223-A600-C9DDF71EE410}" type="slidenum">
              <a:rPr lang="en-MY" smtClean="0"/>
              <a:t>20</a:t>
            </a:fld>
            <a:endParaRPr lang="en-MY"/>
          </a:p>
        </p:txBody>
      </p:sp>
    </p:spTree>
    <p:extLst>
      <p:ext uri="{BB962C8B-B14F-4D97-AF65-F5344CB8AC3E}">
        <p14:creationId xmlns:p14="http://schemas.microsoft.com/office/powerpoint/2010/main" val="4269410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1EF4F-5E6F-0404-AFB0-10E55E8D28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3D0F8-C7E4-BE12-8B68-0CA27C1F77A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3798BDC-55AD-FB09-741A-A7758D4A8A0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BA1AA78-28D9-D309-7801-5681D146822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4139B69-3EB8-D673-5FC6-5F3F2E28F32A}"/>
              </a:ext>
            </a:extLst>
          </p:cNvPr>
          <p:cNvSpPr>
            <a:spLocks noGrp="1"/>
          </p:cNvSpPr>
          <p:nvPr>
            <p:ph type="sldNum" sz="quarter" idx="5"/>
          </p:nvPr>
        </p:nvSpPr>
        <p:spPr/>
        <p:txBody>
          <a:bodyPr/>
          <a:lstStyle/>
          <a:p>
            <a:fld id="{D2061F1A-E494-4223-A600-C9DDF71EE410}" type="slidenum">
              <a:rPr lang="en-MY" smtClean="0"/>
              <a:t>21</a:t>
            </a:fld>
            <a:endParaRPr lang="en-MY"/>
          </a:p>
        </p:txBody>
      </p:sp>
    </p:spTree>
    <p:extLst>
      <p:ext uri="{BB962C8B-B14F-4D97-AF65-F5344CB8AC3E}">
        <p14:creationId xmlns:p14="http://schemas.microsoft.com/office/powerpoint/2010/main" val="4070722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9EFEC-DD96-AAA0-5398-F1B53DAD70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61E106-8912-C6BE-8831-FF9922B3E41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C348EB4-4483-42B1-3A41-5D324316DB0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E67F512-4028-3461-B03D-4EF1EBACF41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2B0D04B-7FEC-329D-3DA4-02AB44C6AC44}"/>
              </a:ext>
            </a:extLst>
          </p:cNvPr>
          <p:cNvSpPr>
            <a:spLocks noGrp="1"/>
          </p:cNvSpPr>
          <p:nvPr>
            <p:ph type="sldNum" sz="quarter" idx="5"/>
          </p:nvPr>
        </p:nvSpPr>
        <p:spPr/>
        <p:txBody>
          <a:bodyPr/>
          <a:lstStyle/>
          <a:p>
            <a:fld id="{D2061F1A-E494-4223-A600-C9DDF71EE410}" type="slidenum">
              <a:rPr lang="en-MY" smtClean="0"/>
              <a:t>22</a:t>
            </a:fld>
            <a:endParaRPr lang="en-MY"/>
          </a:p>
        </p:txBody>
      </p:sp>
    </p:spTree>
    <p:extLst>
      <p:ext uri="{BB962C8B-B14F-4D97-AF65-F5344CB8AC3E}">
        <p14:creationId xmlns:p14="http://schemas.microsoft.com/office/powerpoint/2010/main" val="2662970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356B9-C525-C64C-47D9-E39A0C16C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AF4467-0C9B-23EE-6925-55F83B834F1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5A9C2B4-385B-96A4-D0FF-017F8D3F971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70ABA0A-AD07-F178-6CEE-6F73EE484F7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5FF6349-E16F-7E74-DEF5-7DD9F9D783E4}"/>
              </a:ext>
            </a:extLst>
          </p:cNvPr>
          <p:cNvSpPr>
            <a:spLocks noGrp="1"/>
          </p:cNvSpPr>
          <p:nvPr>
            <p:ph type="sldNum" sz="quarter" idx="5"/>
          </p:nvPr>
        </p:nvSpPr>
        <p:spPr/>
        <p:txBody>
          <a:bodyPr/>
          <a:lstStyle/>
          <a:p>
            <a:fld id="{D2061F1A-E494-4223-A600-C9DDF71EE410}" type="slidenum">
              <a:rPr lang="en-MY" smtClean="0"/>
              <a:t>23</a:t>
            </a:fld>
            <a:endParaRPr lang="en-MY"/>
          </a:p>
        </p:txBody>
      </p:sp>
    </p:spTree>
    <p:extLst>
      <p:ext uri="{BB962C8B-B14F-4D97-AF65-F5344CB8AC3E}">
        <p14:creationId xmlns:p14="http://schemas.microsoft.com/office/powerpoint/2010/main" val="6657992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6CF99-C702-6A40-0CD1-EC2AE29947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B62BA-B28C-DA42-975E-2B979137A43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9CF4789-4622-73FE-7768-67FE8E016BC3}"/>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0C6B3399-7A27-563B-3295-A3F35C6D126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9018A7A-1891-AC95-BFD0-8BAFD425F0B2}"/>
              </a:ext>
            </a:extLst>
          </p:cNvPr>
          <p:cNvSpPr>
            <a:spLocks noGrp="1"/>
          </p:cNvSpPr>
          <p:nvPr>
            <p:ph type="sldNum" sz="quarter" idx="5"/>
          </p:nvPr>
        </p:nvSpPr>
        <p:spPr/>
        <p:txBody>
          <a:bodyPr/>
          <a:lstStyle/>
          <a:p>
            <a:fld id="{D2061F1A-E494-4223-A600-C9DDF71EE410}" type="slidenum">
              <a:rPr lang="en-MY" smtClean="0"/>
              <a:t>24</a:t>
            </a:fld>
            <a:endParaRPr lang="en-MY"/>
          </a:p>
        </p:txBody>
      </p:sp>
    </p:spTree>
    <p:extLst>
      <p:ext uri="{BB962C8B-B14F-4D97-AF65-F5344CB8AC3E}">
        <p14:creationId xmlns:p14="http://schemas.microsoft.com/office/powerpoint/2010/main" val="32732341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61497-02D7-F690-7047-826F40ADD6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28CF4-7F88-124C-D25D-F3767B28428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68501AF-59EB-BB78-364F-322979EAF94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28AEFA0-3F7A-BC3E-3A9F-588BBF0D749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CE385A7-C114-20F0-24EC-A9E14F3C12A6}"/>
              </a:ext>
            </a:extLst>
          </p:cNvPr>
          <p:cNvSpPr>
            <a:spLocks noGrp="1"/>
          </p:cNvSpPr>
          <p:nvPr>
            <p:ph type="sldNum" sz="quarter" idx="5"/>
          </p:nvPr>
        </p:nvSpPr>
        <p:spPr/>
        <p:txBody>
          <a:bodyPr/>
          <a:lstStyle/>
          <a:p>
            <a:fld id="{D2061F1A-E494-4223-A600-C9DDF71EE410}" type="slidenum">
              <a:rPr lang="en-MY" smtClean="0"/>
              <a:t>25</a:t>
            </a:fld>
            <a:endParaRPr lang="en-MY"/>
          </a:p>
        </p:txBody>
      </p:sp>
    </p:spTree>
    <p:extLst>
      <p:ext uri="{BB962C8B-B14F-4D97-AF65-F5344CB8AC3E}">
        <p14:creationId xmlns:p14="http://schemas.microsoft.com/office/powerpoint/2010/main" val="30991656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4CF46-8DDD-7864-6638-6F06FE3E4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D279D-0EED-4E74-A7E5-5611988ECA4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19EDB63-34DC-2877-60EF-92FB8993C4CE}"/>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C702B78-492B-1A5B-C688-8FD98358FB9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E268123-22AB-51B4-08EF-BD0FD4E9C457}"/>
              </a:ext>
            </a:extLst>
          </p:cNvPr>
          <p:cNvSpPr>
            <a:spLocks noGrp="1"/>
          </p:cNvSpPr>
          <p:nvPr>
            <p:ph type="sldNum" sz="quarter" idx="5"/>
          </p:nvPr>
        </p:nvSpPr>
        <p:spPr/>
        <p:txBody>
          <a:bodyPr/>
          <a:lstStyle/>
          <a:p>
            <a:fld id="{D2061F1A-E494-4223-A600-C9DDF71EE410}" type="slidenum">
              <a:rPr lang="en-MY" smtClean="0"/>
              <a:t>26</a:t>
            </a:fld>
            <a:endParaRPr lang="en-MY"/>
          </a:p>
        </p:txBody>
      </p:sp>
    </p:spTree>
    <p:extLst>
      <p:ext uri="{BB962C8B-B14F-4D97-AF65-F5344CB8AC3E}">
        <p14:creationId xmlns:p14="http://schemas.microsoft.com/office/powerpoint/2010/main" val="17097014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04F8F-62E5-4406-1700-FF0EEFA6E5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84771-4074-40CC-EB41-B6FD8146B61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2962CB9-EC2A-59FE-BD44-E8016E159C4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5092CF8-A962-2538-EDB0-DC51E4E27AF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E3D1B92-70D9-A49F-C419-CC14B39D2E3C}"/>
              </a:ext>
            </a:extLst>
          </p:cNvPr>
          <p:cNvSpPr>
            <a:spLocks noGrp="1"/>
          </p:cNvSpPr>
          <p:nvPr>
            <p:ph type="sldNum" sz="quarter" idx="5"/>
          </p:nvPr>
        </p:nvSpPr>
        <p:spPr/>
        <p:txBody>
          <a:bodyPr/>
          <a:lstStyle/>
          <a:p>
            <a:fld id="{D2061F1A-E494-4223-A600-C9DDF71EE410}" type="slidenum">
              <a:rPr lang="en-MY" smtClean="0"/>
              <a:t>27</a:t>
            </a:fld>
            <a:endParaRPr lang="en-MY"/>
          </a:p>
        </p:txBody>
      </p:sp>
    </p:spTree>
    <p:extLst>
      <p:ext uri="{BB962C8B-B14F-4D97-AF65-F5344CB8AC3E}">
        <p14:creationId xmlns:p14="http://schemas.microsoft.com/office/powerpoint/2010/main" val="25523750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D1875-9B8C-7F96-4285-45F2FBE1EC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27E03-323A-903D-E848-3A220CFCA7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ED352-7B98-D7E8-8490-3714BB7466F0}"/>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85F7F976-F2DF-F920-4EC3-60BECAA4A69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CE77B2C-D0D4-9BCD-B144-E64D826FBE27}"/>
              </a:ext>
            </a:extLst>
          </p:cNvPr>
          <p:cNvSpPr>
            <a:spLocks noGrp="1"/>
          </p:cNvSpPr>
          <p:nvPr>
            <p:ph type="sldNum" sz="quarter" idx="5"/>
          </p:nvPr>
        </p:nvSpPr>
        <p:spPr/>
        <p:txBody>
          <a:bodyPr/>
          <a:lstStyle/>
          <a:p>
            <a:fld id="{D2061F1A-E494-4223-A600-C9DDF71EE410}" type="slidenum">
              <a:rPr lang="en-MY" smtClean="0"/>
              <a:t>28</a:t>
            </a:fld>
            <a:endParaRPr lang="en-MY"/>
          </a:p>
        </p:txBody>
      </p:sp>
    </p:spTree>
    <p:extLst>
      <p:ext uri="{BB962C8B-B14F-4D97-AF65-F5344CB8AC3E}">
        <p14:creationId xmlns:p14="http://schemas.microsoft.com/office/powerpoint/2010/main" val="34508377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1AB6C-D6E5-010C-8766-12FA97312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7A16B-06D6-E8E3-0411-A89ADD31995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1238E76-5485-8B8A-7FD4-9A19DED1687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6F03461-334B-3E36-AFEF-C4E702CCB76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224D929-C3BE-1B18-6614-85359F4A3C57}"/>
              </a:ext>
            </a:extLst>
          </p:cNvPr>
          <p:cNvSpPr>
            <a:spLocks noGrp="1"/>
          </p:cNvSpPr>
          <p:nvPr>
            <p:ph type="sldNum" sz="quarter" idx="5"/>
          </p:nvPr>
        </p:nvSpPr>
        <p:spPr/>
        <p:txBody>
          <a:bodyPr/>
          <a:lstStyle/>
          <a:p>
            <a:fld id="{D2061F1A-E494-4223-A600-C9DDF71EE410}" type="slidenum">
              <a:rPr lang="en-MY" smtClean="0"/>
              <a:t>29</a:t>
            </a:fld>
            <a:endParaRPr lang="en-MY"/>
          </a:p>
        </p:txBody>
      </p:sp>
    </p:spTree>
    <p:extLst>
      <p:ext uri="{BB962C8B-B14F-4D97-AF65-F5344CB8AC3E}">
        <p14:creationId xmlns:p14="http://schemas.microsoft.com/office/powerpoint/2010/main" val="3649148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ECE6C-462A-3FDE-C959-95776DD5B8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97053-C52F-6834-5945-B41A4F8A913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F78564D-D451-A50F-194B-7717A80562D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7DA84FC-9005-C081-6F49-474FBDC93CF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AEB473B-11C9-1A78-24D8-3E2463DA9000}"/>
              </a:ext>
            </a:extLst>
          </p:cNvPr>
          <p:cNvSpPr>
            <a:spLocks noGrp="1"/>
          </p:cNvSpPr>
          <p:nvPr>
            <p:ph type="sldNum" sz="quarter" idx="5"/>
          </p:nvPr>
        </p:nvSpPr>
        <p:spPr/>
        <p:txBody>
          <a:bodyPr/>
          <a:lstStyle/>
          <a:p>
            <a:fld id="{D2061F1A-E494-4223-A600-C9DDF71EE410}" type="slidenum">
              <a:rPr lang="en-MY" smtClean="0"/>
              <a:t>30</a:t>
            </a:fld>
            <a:endParaRPr lang="en-MY"/>
          </a:p>
        </p:txBody>
      </p:sp>
    </p:spTree>
    <p:extLst>
      <p:ext uri="{BB962C8B-B14F-4D97-AF65-F5344CB8AC3E}">
        <p14:creationId xmlns:p14="http://schemas.microsoft.com/office/powerpoint/2010/main" val="31280018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4377F-F7FA-8558-8560-0A9D91422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1DB6B-3FC1-FFBE-86DB-A739BA28A15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6DF87D5-FDBD-92C2-6710-2019B2F858A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75CDCC0-FD8D-9930-7CCB-CDEF630D2CA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03403A6-1EFE-96B8-9CD1-9E11CFA794E3}"/>
              </a:ext>
            </a:extLst>
          </p:cNvPr>
          <p:cNvSpPr>
            <a:spLocks noGrp="1"/>
          </p:cNvSpPr>
          <p:nvPr>
            <p:ph type="sldNum" sz="quarter" idx="5"/>
          </p:nvPr>
        </p:nvSpPr>
        <p:spPr/>
        <p:txBody>
          <a:bodyPr/>
          <a:lstStyle/>
          <a:p>
            <a:fld id="{D2061F1A-E494-4223-A600-C9DDF71EE410}" type="slidenum">
              <a:rPr lang="en-MY" smtClean="0"/>
              <a:t>31</a:t>
            </a:fld>
            <a:endParaRPr lang="en-MY"/>
          </a:p>
        </p:txBody>
      </p:sp>
    </p:spTree>
    <p:extLst>
      <p:ext uri="{BB962C8B-B14F-4D97-AF65-F5344CB8AC3E}">
        <p14:creationId xmlns:p14="http://schemas.microsoft.com/office/powerpoint/2010/main" val="4756769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D78D6-36E0-5710-DFC6-C71FED8BC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2765C-5F1D-2835-B897-338BF341DED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A441E04-60BA-1D28-F747-563CE5A6F25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82AAB04-147C-45A0-31FD-174B95EEF17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6F6BAE0-403F-F5EC-F6D1-A1E8DA48749F}"/>
              </a:ext>
            </a:extLst>
          </p:cNvPr>
          <p:cNvSpPr>
            <a:spLocks noGrp="1"/>
          </p:cNvSpPr>
          <p:nvPr>
            <p:ph type="sldNum" sz="quarter" idx="5"/>
          </p:nvPr>
        </p:nvSpPr>
        <p:spPr/>
        <p:txBody>
          <a:bodyPr/>
          <a:lstStyle/>
          <a:p>
            <a:fld id="{D2061F1A-E494-4223-A600-C9DDF71EE410}" type="slidenum">
              <a:rPr lang="en-MY" smtClean="0"/>
              <a:t>32</a:t>
            </a:fld>
            <a:endParaRPr lang="en-MY"/>
          </a:p>
        </p:txBody>
      </p:sp>
    </p:spTree>
    <p:extLst>
      <p:ext uri="{BB962C8B-B14F-4D97-AF65-F5344CB8AC3E}">
        <p14:creationId xmlns:p14="http://schemas.microsoft.com/office/powerpoint/2010/main" val="7677872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99CBD-BD09-5305-BF0B-E45F113F9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B4D213-4A90-E06C-21FB-2532E9D408C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9C50F26-8491-32B9-AE0C-4DA58F5C68C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375CDB2-3DC3-00E8-B943-3272B848583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CF202BE-8111-E180-3544-67F72855FAE6}"/>
              </a:ext>
            </a:extLst>
          </p:cNvPr>
          <p:cNvSpPr>
            <a:spLocks noGrp="1"/>
          </p:cNvSpPr>
          <p:nvPr>
            <p:ph type="sldNum" sz="quarter" idx="5"/>
          </p:nvPr>
        </p:nvSpPr>
        <p:spPr/>
        <p:txBody>
          <a:bodyPr/>
          <a:lstStyle/>
          <a:p>
            <a:fld id="{D2061F1A-E494-4223-A600-C9DDF71EE410}" type="slidenum">
              <a:rPr lang="en-MY" smtClean="0"/>
              <a:t>33</a:t>
            </a:fld>
            <a:endParaRPr lang="en-MY"/>
          </a:p>
        </p:txBody>
      </p:sp>
    </p:spTree>
    <p:extLst>
      <p:ext uri="{BB962C8B-B14F-4D97-AF65-F5344CB8AC3E}">
        <p14:creationId xmlns:p14="http://schemas.microsoft.com/office/powerpoint/2010/main" val="15611628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BE2E7-6A29-FD4B-C2CE-BA8816E71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F08A1-B34E-11BB-0009-8B6AE4E047D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54CB88D-AEA3-FCB4-9A6D-E1F0BDC5B5A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4525D5D-1B4F-43F3-B3E8-95C5C346093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49ADC39-121A-C414-0922-027D936855DF}"/>
              </a:ext>
            </a:extLst>
          </p:cNvPr>
          <p:cNvSpPr>
            <a:spLocks noGrp="1"/>
          </p:cNvSpPr>
          <p:nvPr>
            <p:ph type="sldNum" sz="quarter" idx="5"/>
          </p:nvPr>
        </p:nvSpPr>
        <p:spPr/>
        <p:txBody>
          <a:bodyPr/>
          <a:lstStyle/>
          <a:p>
            <a:fld id="{D2061F1A-E494-4223-A600-C9DDF71EE410}" type="slidenum">
              <a:rPr lang="en-MY" smtClean="0"/>
              <a:t>34</a:t>
            </a:fld>
            <a:endParaRPr lang="en-MY"/>
          </a:p>
        </p:txBody>
      </p:sp>
    </p:spTree>
    <p:extLst>
      <p:ext uri="{BB962C8B-B14F-4D97-AF65-F5344CB8AC3E}">
        <p14:creationId xmlns:p14="http://schemas.microsoft.com/office/powerpoint/2010/main" val="172553208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28647-5D23-BE45-E80E-6743E8276B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282E9-CBE4-A0CD-DF08-66B087D28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0D3ED5-BA4B-43A2-5A65-D15D5473D350}"/>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6A812059-F906-C238-6869-11CAE4D0010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9C50C55-65C2-CA45-1907-9F43B895C2F5}"/>
              </a:ext>
            </a:extLst>
          </p:cNvPr>
          <p:cNvSpPr>
            <a:spLocks noGrp="1"/>
          </p:cNvSpPr>
          <p:nvPr>
            <p:ph type="sldNum" sz="quarter" idx="5"/>
          </p:nvPr>
        </p:nvSpPr>
        <p:spPr/>
        <p:txBody>
          <a:bodyPr/>
          <a:lstStyle/>
          <a:p>
            <a:fld id="{D2061F1A-E494-4223-A600-C9DDF71EE410}" type="slidenum">
              <a:rPr lang="en-MY" smtClean="0"/>
              <a:t>35</a:t>
            </a:fld>
            <a:endParaRPr lang="en-MY"/>
          </a:p>
        </p:txBody>
      </p:sp>
    </p:spTree>
    <p:extLst>
      <p:ext uri="{BB962C8B-B14F-4D97-AF65-F5344CB8AC3E}">
        <p14:creationId xmlns:p14="http://schemas.microsoft.com/office/powerpoint/2010/main" val="24648773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E14CA-EEC9-1A89-FFDA-128BF44DD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6D4921-3C46-5BD3-2638-72429922F328}"/>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5770F5B-5A0A-871D-F620-BDCD4A74D7C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5F14155-DB10-22DB-C88C-9A45926C709F}"/>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49226D5-F874-9EFD-14BD-3AB58BE14E79}"/>
              </a:ext>
            </a:extLst>
          </p:cNvPr>
          <p:cNvSpPr>
            <a:spLocks noGrp="1"/>
          </p:cNvSpPr>
          <p:nvPr>
            <p:ph type="sldNum" sz="quarter" idx="5"/>
          </p:nvPr>
        </p:nvSpPr>
        <p:spPr/>
        <p:txBody>
          <a:bodyPr/>
          <a:lstStyle/>
          <a:p>
            <a:fld id="{D2061F1A-E494-4223-A600-C9DDF71EE410}" type="slidenum">
              <a:rPr lang="en-MY" smtClean="0"/>
              <a:t>36</a:t>
            </a:fld>
            <a:endParaRPr lang="en-MY"/>
          </a:p>
        </p:txBody>
      </p:sp>
    </p:spTree>
    <p:extLst>
      <p:ext uri="{BB962C8B-B14F-4D97-AF65-F5344CB8AC3E}">
        <p14:creationId xmlns:p14="http://schemas.microsoft.com/office/powerpoint/2010/main" val="47631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34475-8653-7C1A-D9CE-8EE71E092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8CA32-2B16-2B89-88AB-EA338A76477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32AB4F9-E8B1-86CB-6154-714CAB917B6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D314339-AA08-B11E-D3B5-4149CF96DE2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EFA01B4-5B4F-40E4-2853-DEC738AA52BB}"/>
              </a:ext>
            </a:extLst>
          </p:cNvPr>
          <p:cNvSpPr>
            <a:spLocks noGrp="1"/>
          </p:cNvSpPr>
          <p:nvPr>
            <p:ph type="sldNum" sz="quarter" idx="5"/>
          </p:nvPr>
        </p:nvSpPr>
        <p:spPr/>
        <p:txBody>
          <a:bodyPr/>
          <a:lstStyle/>
          <a:p>
            <a:fld id="{D2061F1A-E494-4223-A600-C9DDF71EE410}" type="slidenum">
              <a:rPr lang="en-MY" smtClean="0"/>
              <a:t>37</a:t>
            </a:fld>
            <a:endParaRPr lang="en-MY"/>
          </a:p>
        </p:txBody>
      </p:sp>
    </p:spTree>
    <p:extLst>
      <p:ext uri="{BB962C8B-B14F-4D97-AF65-F5344CB8AC3E}">
        <p14:creationId xmlns:p14="http://schemas.microsoft.com/office/powerpoint/2010/main" val="8234336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BE3A8-3E71-94C0-F2D0-BDAD02776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FA78F-FD43-1474-9AAF-E52EEBB62F8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FDF90984-513A-05E4-A0EF-BE90AD198B5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DC9F16B-4FF8-AB97-5AAD-ABB51FDF42F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2B3B9AB-CEBE-29F0-9D23-4841E0B72615}"/>
              </a:ext>
            </a:extLst>
          </p:cNvPr>
          <p:cNvSpPr>
            <a:spLocks noGrp="1"/>
          </p:cNvSpPr>
          <p:nvPr>
            <p:ph type="sldNum" sz="quarter" idx="5"/>
          </p:nvPr>
        </p:nvSpPr>
        <p:spPr/>
        <p:txBody>
          <a:bodyPr/>
          <a:lstStyle/>
          <a:p>
            <a:fld id="{D2061F1A-E494-4223-A600-C9DDF71EE410}" type="slidenum">
              <a:rPr lang="en-MY" smtClean="0"/>
              <a:t>38</a:t>
            </a:fld>
            <a:endParaRPr lang="en-MY"/>
          </a:p>
        </p:txBody>
      </p:sp>
    </p:spTree>
    <p:extLst>
      <p:ext uri="{BB962C8B-B14F-4D97-AF65-F5344CB8AC3E}">
        <p14:creationId xmlns:p14="http://schemas.microsoft.com/office/powerpoint/2010/main" val="39147696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7BC03-608A-08C5-8A5F-C3EF9EE157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71B3D-6513-3938-B8C6-DA92AF1F9AC9}"/>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7E14646D-0C16-C9B0-4996-C2822D8004E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371826E-32C4-09C7-15FD-9A2E51ADBC0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AB5F9CB-8DB6-125D-9D51-DF7293D7BEE2}"/>
              </a:ext>
            </a:extLst>
          </p:cNvPr>
          <p:cNvSpPr>
            <a:spLocks noGrp="1"/>
          </p:cNvSpPr>
          <p:nvPr>
            <p:ph type="sldNum" sz="quarter" idx="5"/>
          </p:nvPr>
        </p:nvSpPr>
        <p:spPr/>
        <p:txBody>
          <a:bodyPr/>
          <a:lstStyle/>
          <a:p>
            <a:fld id="{D2061F1A-E494-4223-A600-C9DDF71EE410}" type="slidenum">
              <a:rPr lang="en-MY" smtClean="0"/>
              <a:t>39</a:t>
            </a:fld>
            <a:endParaRPr lang="en-MY"/>
          </a:p>
        </p:txBody>
      </p:sp>
    </p:spTree>
    <p:extLst>
      <p:ext uri="{BB962C8B-B14F-4D97-AF65-F5344CB8AC3E}">
        <p14:creationId xmlns:p14="http://schemas.microsoft.com/office/powerpoint/2010/main" val="25656537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2B1EE-D647-7312-D3CD-179046FF9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B4F5F-08F6-2F79-E13A-DBEFF8DD300A}"/>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2A12272-97CB-77EE-2B1E-84B085A4B50C}"/>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973DA04-D09E-E4B2-F949-91E6D73C826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E316D1D9-6AA7-33DD-6DB1-9FC3E17D4A33}"/>
              </a:ext>
            </a:extLst>
          </p:cNvPr>
          <p:cNvSpPr>
            <a:spLocks noGrp="1"/>
          </p:cNvSpPr>
          <p:nvPr>
            <p:ph type="sldNum" sz="quarter" idx="5"/>
          </p:nvPr>
        </p:nvSpPr>
        <p:spPr/>
        <p:txBody>
          <a:bodyPr/>
          <a:lstStyle/>
          <a:p>
            <a:fld id="{D2061F1A-E494-4223-A600-C9DDF71EE410}" type="slidenum">
              <a:rPr lang="en-MY" smtClean="0"/>
              <a:t>40</a:t>
            </a:fld>
            <a:endParaRPr lang="en-MY"/>
          </a:p>
        </p:txBody>
      </p:sp>
    </p:spTree>
    <p:extLst>
      <p:ext uri="{BB962C8B-B14F-4D97-AF65-F5344CB8AC3E}">
        <p14:creationId xmlns:p14="http://schemas.microsoft.com/office/powerpoint/2010/main" val="325795339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C09DF-118F-2F7C-3C0E-AF2BBC926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A5CD4-4720-F1E9-97F6-8230B32EE3C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DDA487E-9242-1474-6FA6-88B765574A1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3A1450F-A15B-E2BB-CE9E-605403E7CF9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8CA8535-A971-E36B-7AEC-9ABE0B0BF202}"/>
              </a:ext>
            </a:extLst>
          </p:cNvPr>
          <p:cNvSpPr>
            <a:spLocks noGrp="1"/>
          </p:cNvSpPr>
          <p:nvPr>
            <p:ph type="sldNum" sz="quarter" idx="5"/>
          </p:nvPr>
        </p:nvSpPr>
        <p:spPr/>
        <p:txBody>
          <a:bodyPr/>
          <a:lstStyle/>
          <a:p>
            <a:fld id="{D2061F1A-E494-4223-A600-C9DDF71EE410}" type="slidenum">
              <a:rPr lang="en-MY" smtClean="0"/>
              <a:t>41</a:t>
            </a:fld>
            <a:endParaRPr lang="en-MY"/>
          </a:p>
        </p:txBody>
      </p:sp>
    </p:spTree>
    <p:extLst>
      <p:ext uri="{BB962C8B-B14F-4D97-AF65-F5344CB8AC3E}">
        <p14:creationId xmlns:p14="http://schemas.microsoft.com/office/powerpoint/2010/main" val="123105379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FC20A-7708-0B18-E1CB-CC65311096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6A8D39-58E7-A31A-2540-D50F5F79214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EAFEE908-CB7B-A0F9-470A-CF1F16EE0D4D}"/>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321544C-FC5F-96A9-6DBF-9396BDC9678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35AE236-B37E-0CB2-6532-8E88C6E6234D}"/>
              </a:ext>
            </a:extLst>
          </p:cNvPr>
          <p:cNvSpPr>
            <a:spLocks noGrp="1"/>
          </p:cNvSpPr>
          <p:nvPr>
            <p:ph type="sldNum" sz="quarter" idx="5"/>
          </p:nvPr>
        </p:nvSpPr>
        <p:spPr/>
        <p:txBody>
          <a:bodyPr/>
          <a:lstStyle/>
          <a:p>
            <a:fld id="{D2061F1A-E494-4223-A600-C9DDF71EE410}" type="slidenum">
              <a:rPr lang="en-MY" smtClean="0"/>
              <a:t>42</a:t>
            </a:fld>
            <a:endParaRPr lang="en-MY"/>
          </a:p>
        </p:txBody>
      </p:sp>
    </p:spTree>
    <p:extLst>
      <p:ext uri="{BB962C8B-B14F-4D97-AF65-F5344CB8AC3E}">
        <p14:creationId xmlns:p14="http://schemas.microsoft.com/office/powerpoint/2010/main" val="13286425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3FA7-BFD8-4D03-CE3B-1022F0349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274F9-ED33-19C9-E42F-90396C9AB23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12709AE-44A4-4CCB-0C13-74BE59A54A0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9399A43-00BA-3902-0142-93D9255722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9ABFBA17-4C95-C37D-9FD8-0B35EDF16911}"/>
              </a:ext>
            </a:extLst>
          </p:cNvPr>
          <p:cNvSpPr>
            <a:spLocks noGrp="1"/>
          </p:cNvSpPr>
          <p:nvPr>
            <p:ph type="sldNum" sz="quarter" idx="5"/>
          </p:nvPr>
        </p:nvSpPr>
        <p:spPr/>
        <p:txBody>
          <a:bodyPr/>
          <a:lstStyle/>
          <a:p>
            <a:fld id="{D2061F1A-E494-4223-A600-C9DDF71EE410}" type="slidenum">
              <a:rPr lang="en-MY" smtClean="0"/>
              <a:t>43</a:t>
            </a:fld>
            <a:endParaRPr lang="en-MY"/>
          </a:p>
        </p:txBody>
      </p:sp>
    </p:spTree>
    <p:extLst>
      <p:ext uri="{BB962C8B-B14F-4D97-AF65-F5344CB8AC3E}">
        <p14:creationId xmlns:p14="http://schemas.microsoft.com/office/powerpoint/2010/main" val="2380855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E6FC-2A98-4FA0-6470-F250EF3589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D8856-E599-3CAA-7B4D-87A7673C89F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BCB6601-3E85-6662-AA06-85C94E3438C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0C16395-7D3F-A54A-C924-034453BADBB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2A630CB-6B6D-7A6C-C2E6-6464F9B21429}"/>
              </a:ext>
            </a:extLst>
          </p:cNvPr>
          <p:cNvSpPr>
            <a:spLocks noGrp="1"/>
          </p:cNvSpPr>
          <p:nvPr>
            <p:ph type="sldNum" sz="quarter" idx="5"/>
          </p:nvPr>
        </p:nvSpPr>
        <p:spPr/>
        <p:txBody>
          <a:bodyPr/>
          <a:lstStyle/>
          <a:p>
            <a:fld id="{D2061F1A-E494-4223-A600-C9DDF71EE410}" type="slidenum">
              <a:rPr lang="en-MY" smtClean="0"/>
              <a:t>44</a:t>
            </a:fld>
            <a:endParaRPr lang="en-MY"/>
          </a:p>
        </p:txBody>
      </p:sp>
    </p:spTree>
    <p:extLst>
      <p:ext uri="{BB962C8B-B14F-4D97-AF65-F5344CB8AC3E}">
        <p14:creationId xmlns:p14="http://schemas.microsoft.com/office/powerpoint/2010/main" val="31824041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58A06-3C18-4718-01D5-59CBDB74C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66B62-2361-BAE6-1C76-E9B04D8A8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7F833-5243-9508-EE6B-935D2A431782}"/>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E388F775-2680-B033-4540-4A9F27797AA0}"/>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BE06ECC-162E-81A9-7E17-77C9C0E9C73D}"/>
              </a:ext>
            </a:extLst>
          </p:cNvPr>
          <p:cNvSpPr>
            <a:spLocks noGrp="1"/>
          </p:cNvSpPr>
          <p:nvPr>
            <p:ph type="sldNum" sz="quarter" idx="5"/>
          </p:nvPr>
        </p:nvSpPr>
        <p:spPr/>
        <p:txBody>
          <a:bodyPr/>
          <a:lstStyle/>
          <a:p>
            <a:fld id="{D2061F1A-E494-4223-A600-C9DDF71EE410}" type="slidenum">
              <a:rPr lang="en-MY" smtClean="0"/>
              <a:t>45</a:t>
            </a:fld>
            <a:endParaRPr lang="en-MY"/>
          </a:p>
        </p:txBody>
      </p:sp>
    </p:spTree>
    <p:extLst>
      <p:ext uri="{BB962C8B-B14F-4D97-AF65-F5344CB8AC3E}">
        <p14:creationId xmlns:p14="http://schemas.microsoft.com/office/powerpoint/2010/main" val="42716329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537-EC98-9096-7A2A-7E03721E0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028285-A755-0660-0C3B-95C91489DC8F}"/>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5431DFF-684D-6992-43CA-AFD5D716085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4591DC5-D8D4-43A7-02DF-933D2E901DC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49957DF9-D6DC-FDE3-D4B9-22A4CF29D525}"/>
              </a:ext>
            </a:extLst>
          </p:cNvPr>
          <p:cNvSpPr>
            <a:spLocks noGrp="1"/>
          </p:cNvSpPr>
          <p:nvPr>
            <p:ph type="sldNum" sz="quarter" idx="5"/>
          </p:nvPr>
        </p:nvSpPr>
        <p:spPr/>
        <p:txBody>
          <a:bodyPr/>
          <a:lstStyle/>
          <a:p>
            <a:fld id="{D2061F1A-E494-4223-A600-C9DDF71EE410}" type="slidenum">
              <a:rPr lang="en-MY" smtClean="0"/>
              <a:t>46</a:t>
            </a:fld>
            <a:endParaRPr lang="en-MY"/>
          </a:p>
        </p:txBody>
      </p:sp>
    </p:spTree>
    <p:extLst>
      <p:ext uri="{BB962C8B-B14F-4D97-AF65-F5344CB8AC3E}">
        <p14:creationId xmlns:p14="http://schemas.microsoft.com/office/powerpoint/2010/main" val="42197135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1169A-0C6F-0F9C-B49C-BA264BE9D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578CA9-8E6C-6073-466E-0402A950277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490F2CBC-8C08-EF0F-FB7A-641938C4A4B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8054C25-FD35-0549-AD27-44474636C88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D237E43A-C0FC-4070-0F04-C54B67E4E3BE}"/>
              </a:ext>
            </a:extLst>
          </p:cNvPr>
          <p:cNvSpPr>
            <a:spLocks noGrp="1"/>
          </p:cNvSpPr>
          <p:nvPr>
            <p:ph type="sldNum" sz="quarter" idx="5"/>
          </p:nvPr>
        </p:nvSpPr>
        <p:spPr/>
        <p:txBody>
          <a:bodyPr/>
          <a:lstStyle/>
          <a:p>
            <a:fld id="{D2061F1A-E494-4223-A600-C9DDF71EE410}" type="slidenum">
              <a:rPr lang="en-MY" smtClean="0"/>
              <a:t>47</a:t>
            </a:fld>
            <a:endParaRPr lang="en-MY"/>
          </a:p>
        </p:txBody>
      </p:sp>
    </p:spTree>
    <p:extLst>
      <p:ext uri="{BB962C8B-B14F-4D97-AF65-F5344CB8AC3E}">
        <p14:creationId xmlns:p14="http://schemas.microsoft.com/office/powerpoint/2010/main" val="1567441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DA04B-E6FB-3503-F0BE-DAE4E274EB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7D7F10-664D-6A26-0C84-1BEB7D28167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150288B-B813-E093-F5B3-068E793DDC5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35BE6E9-D95B-9950-3736-026A7AA224A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FA50A725-8878-CC8F-9491-B1BB22F7F820}"/>
              </a:ext>
            </a:extLst>
          </p:cNvPr>
          <p:cNvSpPr>
            <a:spLocks noGrp="1"/>
          </p:cNvSpPr>
          <p:nvPr>
            <p:ph type="sldNum" sz="quarter" idx="5"/>
          </p:nvPr>
        </p:nvSpPr>
        <p:spPr/>
        <p:txBody>
          <a:bodyPr/>
          <a:lstStyle/>
          <a:p>
            <a:fld id="{D2061F1A-E494-4223-A600-C9DDF71EE410}" type="slidenum">
              <a:rPr lang="en-MY" smtClean="0"/>
              <a:t>48</a:t>
            </a:fld>
            <a:endParaRPr lang="en-MY"/>
          </a:p>
        </p:txBody>
      </p:sp>
    </p:spTree>
    <p:extLst>
      <p:ext uri="{BB962C8B-B14F-4D97-AF65-F5344CB8AC3E}">
        <p14:creationId xmlns:p14="http://schemas.microsoft.com/office/powerpoint/2010/main" val="20816733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04603-A638-A0C9-79D6-77C2B1DD9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15FCF6-1B79-8A25-D35C-90B2447842E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AAD13F4-C96B-EC2F-31D9-821EF1B0C05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F225E26-B7DF-45A5-CDAF-D215BEED771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E159F35-77C3-40AC-7E79-0B0138FA3074}"/>
              </a:ext>
            </a:extLst>
          </p:cNvPr>
          <p:cNvSpPr>
            <a:spLocks noGrp="1"/>
          </p:cNvSpPr>
          <p:nvPr>
            <p:ph type="sldNum" sz="quarter" idx="5"/>
          </p:nvPr>
        </p:nvSpPr>
        <p:spPr/>
        <p:txBody>
          <a:bodyPr/>
          <a:lstStyle/>
          <a:p>
            <a:fld id="{D2061F1A-E494-4223-A600-C9DDF71EE410}" type="slidenum">
              <a:rPr lang="en-MY" smtClean="0"/>
              <a:t>49</a:t>
            </a:fld>
            <a:endParaRPr lang="en-MY"/>
          </a:p>
        </p:txBody>
      </p:sp>
    </p:spTree>
    <p:extLst>
      <p:ext uri="{BB962C8B-B14F-4D97-AF65-F5344CB8AC3E}">
        <p14:creationId xmlns:p14="http://schemas.microsoft.com/office/powerpoint/2010/main" val="27837219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18B4-65C2-AD71-7ED0-4B11EEB5F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89C4AD-20E1-657F-4BE1-BB142124F80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F28C899-3CCF-86D4-E477-78FFB4032FD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A7FF774-2EA7-4A84-7064-B5499A85F6B6}"/>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A84CE99-B373-E5D6-D7F3-8E189DBA7E5A}"/>
              </a:ext>
            </a:extLst>
          </p:cNvPr>
          <p:cNvSpPr>
            <a:spLocks noGrp="1"/>
          </p:cNvSpPr>
          <p:nvPr>
            <p:ph type="sldNum" sz="quarter" idx="5"/>
          </p:nvPr>
        </p:nvSpPr>
        <p:spPr/>
        <p:txBody>
          <a:bodyPr/>
          <a:lstStyle/>
          <a:p>
            <a:fld id="{D2061F1A-E494-4223-A600-C9DDF71EE410}" type="slidenum">
              <a:rPr lang="en-MY" smtClean="0"/>
              <a:t>50</a:t>
            </a:fld>
            <a:endParaRPr lang="en-MY"/>
          </a:p>
        </p:txBody>
      </p:sp>
    </p:spTree>
    <p:extLst>
      <p:ext uri="{BB962C8B-B14F-4D97-AF65-F5344CB8AC3E}">
        <p14:creationId xmlns:p14="http://schemas.microsoft.com/office/powerpoint/2010/main" val="918629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5EDD7-8D9D-7036-B6DF-CDDAA4E86A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008E1-20B8-3B84-36EA-E1269CC7873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45DBC31-B7BB-659D-1242-4A7B451C4A7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A1BACD5-4602-2D26-1880-C3D9D812AA8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34A25543-56DA-C9A6-A0EB-8B6697970223}"/>
              </a:ext>
            </a:extLst>
          </p:cNvPr>
          <p:cNvSpPr>
            <a:spLocks noGrp="1"/>
          </p:cNvSpPr>
          <p:nvPr>
            <p:ph type="sldNum" sz="quarter" idx="5"/>
          </p:nvPr>
        </p:nvSpPr>
        <p:spPr/>
        <p:txBody>
          <a:bodyPr/>
          <a:lstStyle/>
          <a:p>
            <a:fld id="{D2061F1A-E494-4223-A600-C9DDF71EE410}" type="slidenum">
              <a:rPr lang="en-MY" smtClean="0"/>
              <a:t>51</a:t>
            </a:fld>
            <a:endParaRPr lang="en-MY"/>
          </a:p>
        </p:txBody>
      </p:sp>
    </p:spTree>
    <p:extLst>
      <p:ext uri="{BB962C8B-B14F-4D97-AF65-F5344CB8AC3E}">
        <p14:creationId xmlns:p14="http://schemas.microsoft.com/office/powerpoint/2010/main" val="16554555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922B1-3747-956D-8EEB-8108BB827C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5C80D0-DF2C-5F00-A5CF-8F0C279D584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81695B9E-68A0-7243-5FCC-C6A8B8976F8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351E383-53C5-7463-39E2-815AAB71099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020B983-4684-7A51-636C-378B7CB34D2E}"/>
              </a:ext>
            </a:extLst>
          </p:cNvPr>
          <p:cNvSpPr>
            <a:spLocks noGrp="1"/>
          </p:cNvSpPr>
          <p:nvPr>
            <p:ph type="sldNum" sz="quarter" idx="5"/>
          </p:nvPr>
        </p:nvSpPr>
        <p:spPr/>
        <p:txBody>
          <a:bodyPr/>
          <a:lstStyle/>
          <a:p>
            <a:fld id="{D2061F1A-E494-4223-A600-C9DDF71EE410}" type="slidenum">
              <a:rPr lang="en-MY" smtClean="0"/>
              <a:t>52</a:t>
            </a:fld>
            <a:endParaRPr lang="en-MY"/>
          </a:p>
        </p:txBody>
      </p:sp>
    </p:spTree>
    <p:extLst>
      <p:ext uri="{BB962C8B-B14F-4D97-AF65-F5344CB8AC3E}">
        <p14:creationId xmlns:p14="http://schemas.microsoft.com/office/powerpoint/2010/main" val="10086236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5608F-ADF4-8D73-FAE8-BEEE1BBA4C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3C023-AC2C-500F-DCC8-0140AB275FA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ACCCD8E-5EDE-0BF0-1C94-45332620CB50}"/>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2344FF01-A407-863E-22EB-B4FC8DFA4A2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357C804-2867-5D58-A30D-69C4F3282B8A}"/>
              </a:ext>
            </a:extLst>
          </p:cNvPr>
          <p:cNvSpPr>
            <a:spLocks noGrp="1"/>
          </p:cNvSpPr>
          <p:nvPr>
            <p:ph type="sldNum" sz="quarter" idx="5"/>
          </p:nvPr>
        </p:nvSpPr>
        <p:spPr/>
        <p:txBody>
          <a:bodyPr/>
          <a:lstStyle/>
          <a:p>
            <a:fld id="{D2061F1A-E494-4223-A600-C9DDF71EE410}" type="slidenum">
              <a:rPr lang="en-MY" smtClean="0"/>
              <a:t>53</a:t>
            </a:fld>
            <a:endParaRPr lang="en-MY"/>
          </a:p>
        </p:txBody>
      </p:sp>
    </p:spTree>
    <p:extLst>
      <p:ext uri="{BB962C8B-B14F-4D97-AF65-F5344CB8AC3E}">
        <p14:creationId xmlns:p14="http://schemas.microsoft.com/office/powerpoint/2010/main" val="12169754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3E03C-1CD5-1FE0-E603-EA4B398FC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5BF11-72D4-B90E-28A1-086BA59D934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FBB1102-51E7-D937-323A-C48DD70E2E7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E5C9C8C0-3688-B1B4-96FE-838C2EA147C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2812694-B963-140B-A2A6-DF58E95DF09C}"/>
              </a:ext>
            </a:extLst>
          </p:cNvPr>
          <p:cNvSpPr>
            <a:spLocks noGrp="1"/>
          </p:cNvSpPr>
          <p:nvPr>
            <p:ph type="sldNum" sz="quarter" idx="5"/>
          </p:nvPr>
        </p:nvSpPr>
        <p:spPr/>
        <p:txBody>
          <a:bodyPr/>
          <a:lstStyle/>
          <a:p>
            <a:fld id="{D2061F1A-E494-4223-A600-C9DDF71EE410}" type="slidenum">
              <a:rPr lang="en-MY" smtClean="0"/>
              <a:t>54</a:t>
            </a:fld>
            <a:endParaRPr lang="en-MY"/>
          </a:p>
        </p:txBody>
      </p:sp>
    </p:spTree>
    <p:extLst>
      <p:ext uri="{BB962C8B-B14F-4D97-AF65-F5344CB8AC3E}">
        <p14:creationId xmlns:p14="http://schemas.microsoft.com/office/powerpoint/2010/main" val="7107049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9B008-7A85-2836-3DA2-7C351D590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45462-7265-72A5-DD05-621258DA673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F999414-9B1B-C3D3-E7E0-118FD5AB220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CBC7638-5EC8-C90D-0868-1F1F8D219CC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73F55C0-DB7D-B2B7-5A1C-E38A94520816}"/>
              </a:ext>
            </a:extLst>
          </p:cNvPr>
          <p:cNvSpPr>
            <a:spLocks noGrp="1"/>
          </p:cNvSpPr>
          <p:nvPr>
            <p:ph type="sldNum" sz="quarter" idx="5"/>
          </p:nvPr>
        </p:nvSpPr>
        <p:spPr/>
        <p:txBody>
          <a:bodyPr/>
          <a:lstStyle/>
          <a:p>
            <a:fld id="{D2061F1A-E494-4223-A600-C9DDF71EE410}" type="slidenum">
              <a:rPr lang="en-MY" smtClean="0"/>
              <a:t>55</a:t>
            </a:fld>
            <a:endParaRPr lang="en-MY"/>
          </a:p>
        </p:txBody>
      </p:sp>
    </p:spTree>
    <p:extLst>
      <p:ext uri="{BB962C8B-B14F-4D97-AF65-F5344CB8AC3E}">
        <p14:creationId xmlns:p14="http://schemas.microsoft.com/office/powerpoint/2010/main" val="220132920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9569A-7BCB-79BE-E6C0-3D59860D5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8AB482-7EB9-8B42-0AB6-55BDBACDEB6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A6E6276-5465-E849-3452-4797BB5C934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9A74F20-898B-068F-A97B-0EC77A2E7892}"/>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DBF8D52-E3AA-28D6-1AA5-11118AF77537}"/>
              </a:ext>
            </a:extLst>
          </p:cNvPr>
          <p:cNvSpPr>
            <a:spLocks noGrp="1"/>
          </p:cNvSpPr>
          <p:nvPr>
            <p:ph type="sldNum" sz="quarter" idx="5"/>
          </p:nvPr>
        </p:nvSpPr>
        <p:spPr/>
        <p:txBody>
          <a:bodyPr/>
          <a:lstStyle/>
          <a:p>
            <a:fld id="{D2061F1A-E494-4223-A600-C9DDF71EE410}" type="slidenum">
              <a:rPr lang="en-MY" smtClean="0"/>
              <a:t>56</a:t>
            </a:fld>
            <a:endParaRPr lang="en-MY"/>
          </a:p>
        </p:txBody>
      </p:sp>
    </p:spTree>
    <p:extLst>
      <p:ext uri="{BB962C8B-B14F-4D97-AF65-F5344CB8AC3E}">
        <p14:creationId xmlns:p14="http://schemas.microsoft.com/office/powerpoint/2010/main" val="235488115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C3D2-8330-2612-0F61-1E5A140AC2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FE5D8-C8F2-4B1C-C915-787C7FD0249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D6BF2FB-5C7B-55DC-5BEB-73C4B494E4CF}"/>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CE45F55-6870-4FE3-4C90-DEB048D0654C}"/>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B51E015-2015-1538-029F-B1A1091FA83D}"/>
              </a:ext>
            </a:extLst>
          </p:cNvPr>
          <p:cNvSpPr>
            <a:spLocks noGrp="1"/>
          </p:cNvSpPr>
          <p:nvPr>
            <p:ph type="sldNum" sz="quarter" idx="5"/>
          </p:nvPr>
        </p:nvSpPr>
        <p:spPr/>
        <p:txBody>
          <a:bodyPr/>
          <a:lstStyle/>
          <a:p>
            <a:fld id="{D2061F1A-E494-4223-A600-C9DDF71EE410}" type="slidenum">
              <a:rPr lang="en-MY" smtClean="0"/>
              <a:t>57</a:t>
            </a:fld>
            <a:endParaRPr lang="en-MY"/>
          </a:p>
        </p:txBody>
      </p:sp>
    </p:spTree>
    <p:extLst>
      <p:ext uri="{BB962C8B-B14F-4D97-AF65-F5344CB8AC3E}">
        <p14:creationId xmlns:p14="http://schemas.microsoft.com/office/powerpoint/2010/main" val="26398597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F9E24-9965-7F0D-470A-BFC590D8C1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E42B3-F390-A9D6-F63A-C35BC2DCC7D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9CC45F5-DEDE-2476-238A-7B20B1AE9A39}"/>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182922C-2F02-E368-1BD4-803F260D0A7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8EB56CA-4CA1-3E02-B336-8176F78E6EB9}"/>
              </a:ext>
            </a:extLst>
          </p:cNvPr>
          <p:cNvSpPr>
            <a:spLocks noGrp="1"/>
          </p:cNvSpPr>
          <p:nvPr>
            <p:ph type="sldNum" sz="quarter" idx="5"/>
          </p:nvPr>
        </p:nvSpPr>
        <p:spPr/>
        <p:txBody>
          <a:bodyPr/>
          <a:lstStyle/>
          <a:p>
            <a:fld id="{D2061F1A-E494-4223-A600-C9DDF71EE410}" type="slidenum">
              <a:rPr lang="en-MY" smtClean="0"/>
              <a:t>58</a:t>
            </a:fld>
            <a:endParaRPr lang="en-MY"/>
          </a:p>
        </p:txBody>
      </p:sp>
    </p:spTree>
    <p:extLst>
      <p:ext uri="{BB962C8B-B14F-4D97-AF65-F5344CB8AC3E}">
        <p14:creationId xmlns:p14="http://schemas.microsoft.com/office/powerpoint/2010/main" val="350192019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F847C-9E96-FC17-7E65-D5D9CAFCFD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B4D5D-9BC1-0C3B-EF54-15616A20C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A3058-AA82-AA3D-C700-25F0C47AA62C}"/>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9E0C82AE-3F66-6790-43A7-4B206967E38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0B48752-50BF-7A83-5AF2-6117965C2894}"/>
              </a:ext>
            </a:extLst>
          </p:cNvPr>
          <p:cNvSpPr>
            <a:spLocks noGrp="1"/>
          </p:cNvSpPr>
          <p:nvPr>
            <p:ph type="sldNum" sz="quarter" idx="5"/>
          </p:nvPr>
        </p:nvSpPr>
        <p:spPr/>
        <p:txBody>
          <a:bodyPr/>
          <a:lstStyle/>
          <a:p>
            <a:fld id="{D2061F1A-E494-4223-A600-C9DDF71EE410}" type="slidenum">
              <a:rPr lang="en-MY" smtClean="0"/>
              <a:t>59</a:t>
            </a:fld>
            <a:endParaRPr lang="en-MY"/>
          </a:p>
        </p:txBody>
      </p:sp>
    </p:spTree>
    <p:extLst>
      <p:ext uri="{BB962C8B-B14F-4D97-AF65-F5344CB8AC3E}">
        <p14:creationId xmlns:p14="http://schemas.microsoft.com/office/powerpoint/2010/main" val="42359166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B2AB7-4482-F3FC-55D3-FF3C0D606E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7FEAE9-942C-B11B-FE6C-46EC2B7BB64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B1353B1A-0E96-82E6-7C04-29E98C63FE55}"/>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5C9E339-128C-6A21-BF46-7CFF12397DD7}"/>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09DC09-2097-0AA0-8BD2-4A9083B4D026}"/>
              </a:ext>
            </a:extLst>
          </p:cNvPr>
          <p:cNvSpPr>
            <a:spLocks noGrp="1"/>
          </p:cNvSpPr>
          <p:nvPr>
            <p:ph type="sldNum" sz="quarter" idx="5"/>
          </p:nvPr>
        </p:nvSpPr>
        <p:spPr/>
        <p:txBody>
          <a:bodyPr/>
          <a:lstStyle/>
          <a:p>
            <a:fld id="{D2061F1A-E494-4223-A600-C9DDF71EE410}" type="slidenum">
              <a:rPr lang="en-MY" smtClean="0"/>
              <a:t>60</a:t>
            </a:fld>
            <a:endParaRPr lang="en-MY"/>
          </a:p>
        </p:txBody>
      </p:sp>
    </p:spTree>
    <p:extLst>
      <p:ext uri="{BB962C8B-B14F-4D97-AF65-F5344CB8AC3E}">
        <p14:creationId xmlns:p14="http://schemas.microsoft.com/office/powerpoint/2010/main" val="1415120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F4C77-F2BA-0B31-42DF-875DAEB7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AC40FA-9E6C-4B3A-14EE-546AAA8721A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1D2317AF-EDBE-8E6B-1602-50C42C4C83F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55C0988-BFE9-C26B-A2F4-24BFE1866BD5}"/>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F7D2677-B05B-3D41-4636-65082F9AA524}"/>
              </a:ext>
            </a:extLst>
          </p:cNvPr>
          <p:cNvSpPr>
            <a:spLocks noGrp="1"/>
          </p:cNvSpPr>
          <p:nvPr>
            <p:ph type="sldNum" sz="quarter" idx="5"/>
          </p:nvPr>
        </p:nvSpPr>
        <p:spPr/>
        <p:txBody>
          <a:bodyPr/>
          <a:lstStyle/>
          <a:p>
            <a:fld id="{D2061F1A-E494-4223-A600-C9DDF71EE410}" type="slidenum">
              <a:rPr lang="en-MY" smtClean="0"/>
              <a:t>61</a:t>
            </a:fld>
            <a:endParaRPr lang="en-MY"/>
          </a:p>
        </p:txBody>
      </p:sp>
    </p:spTree>
    <p:extLst>
      <p:ext uri="{BB962C8B-B14F-4D97-AF65-F5344CB8AC3E}">
        <p14:creationId xmlns:p14="http://schemas.microsoft.com/office/powerpoint/2010/main" val="323994553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A8639-69B3-1D22-D4D9-505B229908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0631B-1C00-6F2E-51F6-9965BDBD10A7}"/>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D881B0F-C09A-65BE-A932-AAFBA467B578}"/>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0030100-A4E8-7A66-62AD-C1FA289AC80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25AACB2-090D-77BB-1C76-54B4CB6FF950}"/>
              </a:ext>
            </a:extLst>
          </p:cNvPr>
          <p:cNvSpPr>
            <a:spLocks noGrp="1"/>
          </p:cNvSpPr>
          <p:nvPr>
            <p:ph type="sldNum" sz="quarter" idx="5"/>
          </p:nvPr>
        </p:nvSpPr>
        <p:spPr/>
        <p:txBody>
          <a:bodyPr/>
          <a:lstStyle/>
          <a:p>
            <a:fld id="{D2061F1A-E494-4223-A600-C9DDF71EE410}" type="slidenum">
              <a:rPr lang="en-MY" smtClean="0"/>
              <a:t>62</a:t>
            </a:fld>
            <a:endParaRPr lang="en-MY"/>
          </a:p>
        </p:txBody>
      </p:sp>
    </p:spTree>
    <p:extLst>
      <p:ext uri="{BB962C8B-B14F-4D97-AF65-F5344CB8AC3E}">
        <p14:creationId xmlns:p14="http://schemas.microsoft.com/office/powerpoint/2010/main" val="212200403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99CFD-6FB2-3A29-34F3-EB120B57D8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3200E-23CB-F7D9-ADB2-04EE666ACF5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64CBED6-5D63-5A3D-68D6-3238FE0E24E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3D372E04-1682-F21E-4020-598BC5344EA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CD2B4361-CD27-C755-80DA-E7BE0777EE46}"/>
              </a:ext>
            </a:extLst>
          </p:cNvPr>
          <p:cNvSpPr>
            <a:spLocks noGrp="1"/>
          </p:cNvSpPr>
          <p:nvPr>
            <p:ph type="sldNum" sz="quarter" idx="5"/>
          </p:nvPr>
        </p:nvSpPr>
        <p:spPr/>
        <p:txBody>
          <a:bodyPr/>
          <a:lstStyle/>
          <a:p>
            <a:fld id="{D2061F1A-E494-4223-A600-C9DDF71EE410}" type="slidenum">
              <a:rPr lang="en-MY" smtClean="0"/>
              <a:t>63</a:t>
            </a:fld>
            <a:endParaRPr lang="en-MY"/>
          </a:p>
        </p:txBody>
      </p:sp>
    </p:spTree>
    <p:extLst>
      <p:ext uri="{BB962C8B-B14F-4D97-AF65-F5344CB8AC3E}">
        <p14:creationId xmlns:p14="http://schemas.microsoft.com/office/powerpoint/2010/main" val="426287276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21346-471C-0E26-877C-86CE642CE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760F4-C892-1182-D582-B1DBE8ADBB20}"/>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2AD63E3C-F005-9110-033D-CAA574D81EA1}"/>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1E04A0F0-9934-01C3-1637-B7B0D3CD5D1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159398F-66B9-10F9-4DB7-C06F5D49E3D7}"/>
              </a:ext>
            </a:extLst>
          </p:cNvPr>
          <p:cNvSpPr>
            <a:spLocks noGrp="1"/>
          </p:cNvSpPr>
          <p:nvPr>
            <p:ph type="sldNum" sz="quarter" idx="5"/>
          </p:nvPr>
        </p:nvSpPr>
        <p:spPr/>
        <p:txBody>
          <a:bodyPr/>
          <a:lstStyle/>
          <a:p>
            <a:fld id="{D2061F1A-E494-4223-A600-C9DDF71EE410}" type="slidenum">
              <a:rPr lang="en-MY" smtClean="0"/>
              <a:t>64</a:t>
            </a:fld>
            <a:endParaRPr lang="en-MY"/>
          </a:p>
        </p:txBody>
      </p:sp>
    </p:spTree>
    <p:extLst>
      <p:ext uri="{BB962C8B-B14F-4D97-AF65-F5344CB8AC3E}">
        <p14:creationId xmlns:p14="http://schemas.microsoft.com/office/powerpoint/2010/main" val="314756233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7B955-378B-453E-51B9-24D705DB7F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4020C-5929-9E45-82EB-0C30DDA2C56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351F338-AE98-EFC5-F826-A65138455FA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F3AF32B-FF4C-E964-FE22-E9FBC8523BB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2501D46E-543C-3578-1988-730530C6BAE2}"/>
              </a:ext>
            </a:extLst>
          </p:cNvPr>
          <p:cNvSpPr>
            <a:spLocks noGrp="1"/>
          </p:cNvSpPr>
          <p:nvPr>
            <p:ph type="sldNum" sz="quarter" idx="5"/>
          </p:nvPr>
        </p:nvSpPr>
        <p:spPr/>
        <p:txBody>
          <a:bodyPr/>
          <a:lstStyle/>
          <a:p>
            <a:fld id="{D2061F1A-E494-4223-A600-C9DDF71EE410}" type="slidenum">
              <a:rPr lang="en-MY" smtClean="0"/>
              <a:t>65</a:t>
            </a:fld>
            <a:endParaRPr lang="en-MY"/>
          </a:p>
        </p:txBody>
      </p:sp>
    </p:spTree>
    <p:extLst>
      <p:ext uri="{BB962C8B-B14F-4D97-AF65-F5344CB8AC3E}">
        <p14:creationId xmlns:p14="http://schemas.microsoft.com/office/powerpoint/2010/main" val="382100298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F875C-9851-BC8B-79A2-C7B56E4C5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0D578-35A4-D46C-FE03-E638B3613C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128798-E4D9-0D3E-E4D5-80410BC14248}"/>
              </a:ext>
            </a:extLst>
          </p:cNvPr>
          <p:cNvSpPr>
            <a:spLocks noGrp="1"/>
          </p:cNvSpPr>
          <p:nvPr>
            <p:ph type="body" idx="1"/>
          </p:nvPr>
        </p:nvSpPr>
        <p:spPr/>
        <p:txBody>
          <a:bodyPr/>
          <a:lstStyle/>
          <a:p>
            <a:endParaRPr lang="en-MY" dirty="0"/>
          </a:p>
        </p:txBody>
      </p:sp>
      <p:sp>
        <p:nvSpPr>
          <p:cNvPr id="4" name="Footer Placeholder 3">
            <a:extLst>
              <a:ext uri="{FF2B5EF4-FFF2-40B4-BE49-F238E27FC236}">
                <a16:creationId xmlns:a16="http://schemas.microsoft.com/office/drawing/2014/main" id="{710F0709-4C80-1C57-7293-11B3406B4B2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AD977069-792E-CADF-551E-20980BC30538}"/>
              </a:ext>
            </a:extLst>
          </p:cNvPr>
          <p:cNvSpPr>
            <a:spLocks noGrp="1"/>
          </p:cNvSpPr>
          <p:nvPr>
            <p:ph type="sldNum" sz="quarter" idx="5"/>
          </p:nvPr>
        </p:nvSpPr>
        <p:spPr/>
        <p:txBody>
          <a:bodyPr/>
          <a:lstStyle/>
          <a:p>
            <a:fld id="{D2061F1A-E494-4223-A600-C9DDF71EE410}" type="slidenum">
              <a:rPr lang="en-MY" smtClean="0"/>
              <a:t>66</a:t>
            </a:fld>
            <a:endParaRPr lang="en-MY"/>
          </a:p>
        </p:txBody>
      </p:sp>
    </p:spTree>
    <p:extLst>
      <p:ext uri="{BB962C8B-B14F-4D97-AF65-F5344CB8AC3E}">
        <p14:creationId xmlns:p14="http://schemas.microsoft.com/office/powerpoint/2010/main" val="152474651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C78DD-0D0F-ED7D-0780-ABDF8EAD3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CD62AD-40D3-906A-300B-702EFDBE5EE3}"/>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776B218-CABB-B824-BA2A-C6966F6F674B}"/>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FF690988-A6C8-F9E6-7BCC-83D2742CE513}"/>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790F823-70DE-B6F5-6CC3-6CB0F8C8E246}"/>
              </a:ext>
            </a:extLst>
          </p:cNvPr>
          <p:cNvSpPr>
            <a:spLocks noGrp="1"/>
          </p:cNvSpPr>
          <p:nvPr>
            <p:ph type="sldNum" sz="quarter" idx="5"/>
          </p:nvPr>
        </p:nvSpPr>
        <p:spPr/>
        <p:txBody>
          <a:bodyPr/>
          <a:lstStyle/>
          <a:p>
            <a:fld id="{D2061F1A-E494-4223-A600-C9DDF71EE410}" type="slidenum">
              <a:rPr lang="en-MY" smtClean="0"/>
              <a:t>67</a:t>
            </a:fld>
            <a:endParaRPr lang="en-MY"/>
          </a:p>
        </p:txBody>
      </p:sp>
    </p:spTree>
    <p:extLst>
      <p:ext uri="{BB962C8B-B14F-4D97-AF65-F5344CB8AC3E}">
        <p14:creationId xmlns:p14="http://schemas.microsoft.com/office/powerpoint/2010/main" val="31611012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E71B4-2B10-0129-D54A-2BD981825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50B2BA-B88A-C080-C682-D09A84C5ED51}"/>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DBA0AAF-EAE5-E258-79A5-571A1D16814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D0C8E098-D3BF-1277-7635-ECF15C80C9F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6654F29F-0649-29C5-6C91-A801D6E94F81}"/>
              </a:ext>
            </a:extLst>
          </p:cNvPr>
          <p:cNvSpPr>
            <a:spLocks noGrp="1"/>
          </p:cNvSpPr>
          <p:nvPr>
            <p:ph type="sldNum" sz="quarter" idx="5"/>
          </p:nvPr>
        </p:nvSpPr>
        <p:spPr/>
        <p:txBody>
          <a:bodyPr/>
          <a:lstStyle/>
          <a:p>
            <a:fld id="{D2061F1A-E494-4223-A600-C9DDF71EE410}" type="slidenum">
              <a:rPr lang="en-MY" smtClean="0"/>
              <a:t>68</a:t>
            </a:fld>
            <a:endParaRPr lang="en-MY"/>
          </a:p>
        </p:txBody>
      </p:sp>
    </p:spTree>
    <p:extLst>
      <p:ext uri="{BB962C8B-B14F-4D97-AF65-F5344CB8AC3E}">
        <p14:creationId xmlns:p14="http://schemas.microsoft.com/office/powerpoint/2010/main" val="200605724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CB5CB-A0A3-103C-9D2F-DD5F70069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00D26-7745-9DD5-12BE-EDA83251A70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C1ABDD37-70D1-9DED-0EAA-5139A9317612}"/>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655F50CB-5450-0225-8BB3-A1CE5057CCF1}"/>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CDEA238-387E-C337-35FD-E7FC07A67627}"/>
              </a:ext>
            </a:extLst>
          </p:cNvPr>
          <p:cNvSpPr>
            <a:spLocks noGrp="1"/>
          </p:cNvSpPr>
          <p:nvPr>
            <p:ph type="sldNum" sz="quarter" idx="5"/>
          </p:nvPr>
        </p:nvSpPr>
        <p:spPr/>
        <p:txBody>
          <a:bodyPr/>
          <a:lstStyle/>
          <a:p>
            <a:fld id="{D2061F1A-E494-4223-A600-C9DDF71EE410}" type="slidenum">
              <a:rPr lang="en-MY" smtClean="0"/>
              <a:t>69</a:t>
            </a:fld>
            <a:endParaRPr lang="en-MY"/>
          </a:p>
        </p:txBody>
      </p:sp>
    </p:spTree>
    <p:extLst>
      <p:ext uri="{BB962C8B-B14F-4D97-AF65-F5344CB8AC3E}">
        <p14:creationId xmlns:p14="http://schemas.microsoft.com/office/powerpoint/2010/main" val="41830505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1DD2F-7950-92BA-B40D-654EFA5C1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6A44B-5978-3A87-4932-194F8381817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2740FE5-2391-A26C-5AFB-F903D20CDDF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9F9B759A-CE65-6277-385B-B56F87C13839}"/>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0A7A4A6B-0EDC-50C3-E82B-5465BBC06DAA}"/>
              </a:ext>
            </a:extLst>
          </p:cNvPr>
          <p:cNvSpPr>
            <a:spLocks noGrp="1"/>
          </p:cNvSpPr>
          <p:nvPr>
            <p:ph type="sldNum" sz="quarter" idx="5"/>
          </p:nvPr>
        </p:nvSpPr>
        <p:spPr/>
        <p:txBody>
          <a:bodyPr/>
          <a:lstStyle/>
          <a:p>
            <a:fld id="{D2061F1A-E494-4223-A600-C9DDF71EE410}" type="slidenum">
              <a:rPr lang="en-MY" smtClean="0"/>
              <a:t>70</a:t>
            </a:fld>
            <a:endParaRPr lang="en-MY"/>
          </a:p>
        </p:txBody>
      </p:sp>
    </p:spTree>
    <p:extLst>
      <p:ext uri="{BB962C8B-B14F-4D97-AF65-F5344CB8AC3E}">
        <p14:creationId xmlns:p14="http://schemas.microsoft.com/office/powerpoint/2010/main" val="37327278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E0132-9706-412A-548D-C3E0B05BD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ECAE9-50DB-0025-609E-B9FA9729207E}"/>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CD64B13-589A-B7F4-BB9B-161722EE44A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A0B306AA-6FE5-279D-098F-74A609D2EE5A}"/>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920F022-202B-39A6-90D5-916E3D70CC40}"/>
              </a:ext>
            </a:extLst>
          </p:cNvPr>
          <p:cNvSpPr>
            <a:spLocks noGrp="1"/>
          </p:cNvSpPr>
          <p:nvPr>
            <p:ph type="sldNum" sz="quarter" idx="5"/>
          </p:nvPr>
        </p:nvSpPr>
        <p:spPr/>
        <p:txBody>
          <a:bodyPr/>
          <a:lstStyle/>
          <a:p>
            <a:fld id="{D2061F1A-E494-4223-A600-C9DDF71EE410}" type="slidenum">
              <a:rPr lang="en-MY" smtClean="0"/>
              <a:t>71</a:t>
            </a:fld>
            <a:endParaRPr lang="en-MY"/>
          </a:p>
        </p:txBody>
      </p:sp>
    </p:spTree>
    <p:extLst>
      <p:ext uri="{BB962C8B-B14F-4D97-AF65-F5344CB8AC3E}">
        <p14:creationId xmlns:p14="http://schemas.microsoft.com/office/powerpoint/2010/main" val="12744539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77C19-251D-192D-13BF-C10F20B781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63D7B-905A-72BD-D48D-491ABD3537E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35FE7278-F249-5A78-383E-B6696D95DBD7}"/>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57A0035F-C86E-ED4F-A55E-75DBC14FB67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72842B62-2183-838D-DC26-8793EDF3F47B}"/>
              </a:ext>
            </a:extLst>
          </p:cNvPr>
          <p:cNvSpPr>
            <a:spLocks noGrp="1"/>
          </p:cNvSpPr>
          <p:nvPr>
            <p:ph type="sldNum" sz="quarter" idx="5"/>
          </p:nvPr>
        </p:nvSpPr>
        <p:spPr/>
        <p:txBody>
          <a:bodyPr/>
          <a:lstStyle/>
          <a:p>
            <a:fld id="{D2061F1A-E494-4223-A600-C9DDF71EE410}" type="slidenum">
              <a:rPr lang="en-MY" smtClean="0"/>
              <a:t>72</a:t>
            </a:fld>
            <a:endParaRPr lang="en-MY"/>
          </a:p>
        </p:txBody>
      </p:sp>
    </p:spTree>
    <p:extLst>
      <p:ext uri="{BB962C8B-B14F-4D97-AF65-F5344CB8AC3E}">
        <p14:creationId xmlns:p14="http://schemas.microsoft.com/office/powerpoint/2010/main" val="39613401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1050E-2318-1AF2-F3E7-1DF6D435C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26621-AE5A-BECF-C170-261B3AD7DAA5}"/>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A41C5C6-73BF-7E72-A9A3-FDE35EA60CE4}"/>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CDC8F3C3-030B-0AEC-ABAE-106EE5645524}"/>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13B1BC9A-084D-3A0C-ACA8-C69D068F8E88}"/>
              </a:ext>
            </a:extLst>
          </p:cNvPr>
          <p:cNvSpPr>
            <a:spLocks noGrp="1"/>
          </p:cNvSpPr>
          <p:nvPr>
            <p:ph type="sldNum" sz="quarter" idx="5"/>
          </p:nvPr>
        </p:nvSpPr>
        <p:spPr/>
        <p:txBody>
          <a:bodyPr/>
          <a:lstStyle/>
          <a:p>
            <a:fld id="{D2061F1A-E494-4223-A600-C9DDF71EE410}" type="slidenum">
              <a:rPr lang="en-MY" smtClean="0"/>
              <a:t>73</a:t>
            </a:fld>
            <a:endParaRPr lang="en-MY"/>
          </a:p>
        </p:txBody>
      </p:sp>
    </p:spTree>
    <p:extLst>
      <p:ext uri="{BB962C8B-B14F-4D97-AF65-F5344CB8AC3E}">
        <p14:creationId xmlns:p14="http://schemas.microsoft.com/office/powerpoint/2010/main" val="20323301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EA547-1360-2C06-2F18-4F842DB537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EB58B-64A9-A299-48BD-649FCFEAEB16}"/>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9EFD38DB-E1B0-ACF8-5C38-A5A92C5F7A3A}"/>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8C125B22-540B-5F67-2429-E5D9659ABD9B}"/>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80778F3C-526A-27BF-F270-E1B9A0A1C972}"/>
              </a:ext>
            </a:extLst>
          </p:cNvPr>
          <p:cNvSpPr>
            <a:spLocks noGrp="1"/>
          </p:cNvSpPr>
          <p:nvPr>
            <p:ph type="sldNum" sz="quarter" idx="5"/>
          </p:nvPr>
        </p:nvSpPr>
        <p:spPr/>
        <p:txBody>
          <a:bodyPr/>
          <a:lstStyle/>
          <a:p>
            <a:fld id="{D2061F1A-E494-4223-A600-C9DDF71EE410}" type="slidenum">
              <a:rPr lang="en-MY" smtClean="0"/>
              <a:t>74</a:t>
            </a:fld>
            <a:endParaRPr lang="en-MY"/>
          </a:p>
        </p:txBody>
      </p:sp>
    </p:spTree>
    <p:extLst>
      <p:ext uri="{BB962C8B-B14F-4D97-AF65-F5344CB8AC3E}">
        <p14:creationId xmlns:p14="http://schemas.microsoft.com/office/powerpoint/2010/main" val="54004202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70DDD-7500-AEC7-0ADF-E1B91C3AF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F189B-E746-1BCE-D90C-F9470EA07B7C}"/>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D7AA55B3-EC1F-5F7F-B2B0-1E88C226C126}"/>
              </a:ext>
            </a:extLst>
          </p:cNvPr>
          <p:cNvSpPr>
            <a:spLocks noGrp="1"/>
          </p:cNvSpPr>
          <p:nvPr>
            <p:ph type="body" idx="1"/>
          </p:nvPr>
        </p:nvSpPr>
        <p:spPr/>
        <p:txBody>
          <a:bodyPr/>
          <a:lstStyle/>
          <a:p>
            <a:r>
              <a:rPr lang="en-MY" dirty="0"/>
              <a:t>Engagement and Activity Slides</a:t>
            </a:r>
          </a:p>
          <a:p>
            <a:endParaRPr lang="en-MY" dirty="0"/>
          </a:p>
          <a:p>
            <a:r>
              <a:rPr lang="en-MY" dirty="0"/>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 at least one engagement element where appropriate: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Think–Pair–Share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Mini task</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Poll or reflection question</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Suggested duration: 3–5 minutes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Activities shall align with learning outcomes</a:t>
            </a:r>
          </a:p>
          <a:p>
            <a:endParaRPr lang="en-MY" dirty="0"/>
          </a:p>
        </p:txBody>
      </p:sp>
      <p:sp>
        <p:nvSpPr>
          <p:cNvPr id="4" name="Footer Placeholder 3">
            <a:extLst>
              <a:ext uri="{FF2B5EF4-FFF2-40B4-BE49-F238E27FC236}">
                <a16:creationId xmlns:a16="http://schemas.microsoft.com/office/drawing/2014/main" id="{73544527-E73F-E697-AE1C-5859541C91D8}"/>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59EDA812-3F22-A17C-23F4-06DB635BF093}"/>
              </a:ext>
            </a:extLst>
          </p:cNvPr>
          <p:cNvSpPr>
            <a:spLocks noGrp="1"/>
          </p:cNvSpPr>
          <p:nvPr>
            <p:ph type="sldNum" sz="quarter" idx="5"/>
          </p:nvPr>
        </p:nvSpPr>
        <p:spPr/>
        <p:txBody>
          <a:bodyPr/>
          <a:lstStyle/>
          <a:p>
            <a:fld id="{D2061F1A-E494-4223-A600-C9DDF71EE410}" type="slidenum">
              <a:rPr lang="en-MY" smtClean="0"/>
              <a:t>75</a:t>
            </a:fld>
            <a:endParaRPr lang="en-MY"/>
          </a:p>
        </p:txBody>
      </p:sp>
    </p:spTree>
    <p:extLst>
      <p:ext uri="{BB962C8B-B14F-4D97-AF65-F5344CB8AC3E}">
        <p14:creationId xmlns:p14="http://schemas.microsoft.com/office/powerpoint/2010/main" val="265228392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546BF-A5D3-EB79-8532-8103923B6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DEB233-6E98-A4D7-3CFA-91FC449B0494}"/>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69DEE791-79F6-781C-908F-2C1653054A75}"/>
              </a:ext>
            </a:extLst>
          </p:cNvPr>
          <p:cNvSpPr>
            <a:spLocks noGrp="1"/>
          </p:cNvSpPr>
          <p:nvPr>
            <p:ph type="body" idx="1"/>
          </p:nvPr>
        </p:nvSpPr>
        <p:spPr/>
        <p:txBody>
          <a:bodyPr/>
          <a:lstStyle/>
          <a:p>
            <a:r>
              <a:rPr lang="en-MY" sz="1200" kern="1200" dirty="0">
                <a:solidFill>
                  <a:schemeClr val="tx1"/>
                </a:solidFill>
                <a:effectLst/>
                <a:latin typeface="+mn-lt"/>
                <a:ea typeface="+mn-ea"/>
                <a:cs typeface="+mn-cs"/>
              </a:rPr>
              <a:t>Summary and Closure Slides</a:t>
            </a:r>
          </a:p>
          <a:p>
            <a:endParaRPr lang="en-MY" sz="1200" kern="1200" dirty="0">
              <a:solidFill>
                <a:schemeClr val="tx1"/>
              </a:solidFill>
              <a:effectLst/>
              <a:latin typeface="+mn-lt"/>
              <a:ea typeface="+mn-ea"/>
              <a:cs typeface="+mn-cs"/>
            </a:endParaRPr>
          </a:p>
          <a:p>
            <a:r>
              <a:rPr lang="en-MY" sz="1200" kern="1200" dirty="0">
                <a:solidFill>
                  <a:schemeClr val="tx1"/>
                </a:solidFill>
                <a:effectLst/>
                <a:latin typeface="+mn-lt"/>
                <a:ea typeface="+mn-ea"/>
                <a:cs typeface="+mn-cs"/>
              </a:rPr>
              <a:t>Note: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Summarise 3–5 key takeaways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Reinforce main ideas</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Indicate CLO coverage where appropriate</a:t>
            </a:r>
          </a:p>
          <a:p>
            <a:pPr marL="171450" indent="-171450">
              <a:buFont typeface="Arial" panose="020B0604020202020204" pitchFamily="34" charset="0"/>
              <a:buChar char="•"/>
            </a:pPr>
            <a:r>
              <a:rPr lang="en-MY" sz="1200" kern="1200" dirty="0">
                <a:solidFill>
                  <a:schemeClr val="tx1"/>
                </a:solidFill>
                <a:effectLst/>
                <a:latin typeface="+mn-lt"/>
                <a:ea typeface="+mn-ea"/>
                <a:cs typeface="+mn-cs"/>
              </a:rPr>
              <a:t>Include:</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Upcoming topics</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Required reading</a:t>
            </a:r>
          </a:p>
          <a:p>
            <a:pPr marL="628650" lvl="1" indent="-171450">
              <a:buFont typeface="Wingdings" panose="05000000000000000000" pitchFamily="2" charset="2"/>
              <a:buChar char="ü"/>
            </a:pPr>
            <a:r>
              <a:rPr lang="en-MY" sz="1200" kern="1200" dirty="0">
                <a:solidFill>
                  <a:schemeClr val="tx1"/>
                </a:solidFill>
                <a:effectLst/>
                <a:latin typeface="+mn-lt"/>
                <a:ea typeface="+mn-ea"/>
                <a:cs typeface="+mn-cs"/>
              </a:rPr>
              <a:t>Tutorial / lab / assessment linkage</a:t>
            </a:r>
          </a:p>
          <a:p>
            <a:endParaRPr lang="en-MY" sz="1200" kern="1200" dirty="0">
              <a:solidFill>
                <a:schemeClr val="tx1"/>
              </a:solidFill>
              <a:effectLst/>
              <a:latin typeface="+mn-lt"/>
              <a:ea typeface="+mn-ea"/>
              <a:cs typeface="+mn-cs"/>
            </a:endParaRPr>
          </a:p>
          <a:p>
            <a:endParaRPr lang="en-MY" dirty="0"/>
          </a:p>
        </p:txBody>
      </p:sp>
      <p:sp>
        <p:nvSpPr>
          <p:cNvPr id="4" name="Footer Placeholder 3">
            <a:extLst>
              <a:ext uri="{FF2B5EF4-FFF2-40B4-BE49-F238E27FC236}">
                <a16:creationId xmlns:a16="http://schemas.microsoft.com/office/drawing/2014/main" id="{C9266662-7A37-20FB-7C55-439CE5E4D63D}"/>
              </a:ext>
            </a:extLst>
          </p:cNvPr>
          <p:cNvSpPr>
            <a:spLocks noGrp="1"/>
          </p:cNvSpPr>
          <p:nvPr>
            <p:ph type="ftr" sz="quarter" idx="4"/>
          </p:nvPr>
        </p:nvSpPr>
        <p:spPr/>
        <p:txBody>
          <a:bodyPr/>
          <a:lstStyle/>
          <a:p>
            <a:endParaRPr lang="en-MY"/>
          </a:p>
        </p:txBody>
      </p:sp>
      <p:sp>
        <p:nvSpPr>
          <p:cNvPr id="5" name="Slide Number Placeholder 4">
            <a:extLst>
              <a:ext uri="{FF2B5EF4-FFF2-40B4-BE49-F238E27FC236}">
                <a16:creationId xmlns:a16="http://schemas.microsoft.com/office/drawing/2014/main" id="{B18BAF71-B897-AB83-45DD-3E3C58F8DC85}"/>
              </a:ext>
            </a:extLst>
          </p:cNvPr>
          <p:cNvSpPr>
            <a:spLocks noGrp="1"/>
          </p:cNvSpPr>
          <p:nvPr>
            <p:ph type="sldNum" sz="quarter" idx="5"/>
          </p:nvPr>
        </p:nvSpPr>
        <p:spPr/>
        <p:txBody>
          <a:bodyPr/>
          <a:lstStyle/>
          <a:p>
            <a:fld id="{D2061F1A-E494-4223-A600-C9DDF71EE410}" type="slidenum">
              <a:rPr lang="en-MY" smtClean="0"/>
              <a:t>76</a:t>
            </a:fld>
            <a:endParaRPr lang="en-MY"/>
          </a:p>
        </p:txBody>
      </p:sp>
    </p:spTree>
    <p:extLst>
      <p:ext uri="{BB962C8B-B14F-4D97-AF65-F5344CB8AC3E}">
        <p14:creationId xmlns:p14="http://schemas.microsoft.com/office/powerpoint/2010/main" val="266173263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endParaRPr lang="en-MY" dirty="0"/>
          </a:p>
        </p:txBody>
      </p:sp>
      <p:sp>
        <p:nvSpPr>
          <p:cNvPr id="4" name="Footer Placeholder 3"/>
          <p:cNvSpPr>
            <a:spLocks noGrp="1"/>
          </p:cNvSpPr>
          <p:nvPr>
            <p:ph type="ftr" sz="quarter" idx="4"/>
          </p:nvPr>
        </p:nvSpPr>
        <p:spPr/>
        <p:txBody>
          <a:bodyPr/>
          <a:lstStyle/>
          <a:p>
            <a:endParaRPr lang="en-MY"/>
          </a:p>
        </p:txBody>
      </p:sp>
      <p:sp>
        <p:nvSpPr>
          <p:cNvPr id="5" name="Slide Number Placeholder 4"/>
          <p:cNvSpPr>
            <a:spLocks noGrp="1"/>
          </p:cNvSpPr>
          <p:nvPr>
            <p:ph type="sldNum" sz="quarter" idx="5"/>
          </p:nvPr>
        </p:nvSpPr>
        <p:spPr/>
        <p:txBody>
          <a:bodyPr/>
          <a:lstStyle/>
          <a:p>
            <a:fld id="{D2061F1A-E494-4223-A600-C9DDF71EE410}" type="slidenum">
              <a:rPr lang="en-MY" smtClean="0"/>
              <a:t>77</a:t>
            </a:fld>
            <a:endParaRPr lang="en-MY"/>
          </a:p>
        </p:txBody>
      </p:sp>
    </p:spTree>
    <p:extLst>
      <p:ext uri="{BB962C8B-B14F-4D97-AF65-F5344CB8AC3E}">
        <p14:creationId xmlns:p14="http://schemas.microsoft.com/office/powerpoint/2010/main" val="34547285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015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20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84934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97787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Week XX</a:t>
            </a:r>
          </a:p>
        </p:txBody>
      </p:sp>
      <p:sp>
        <p:nvSpPr>
          <p:cNvPr id="8" name="Footer Placeholder 7"/>
          <p:cNvSpPr>
            <a:spLocks noGrp="1"/>
          </p:cNvSpPr>
          <p:nvPr>
            <p:ph type="ftr" sz="quarter" idx="11"/>
          </p:nvPr>
        </p:nvSpPr>
        <p:spPr/>
        <p:txBody>
          <a:bodyPr/>
          <a:lstStyle/>
          <a:p>
            <a:r>
              <a:rPr lang="en-US"/>
              <a:t>For educational use only. Not to be distributed or shared without permission.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9905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Week XX</a:t>
            </a:r>
          </a:p>
        </p:txBody>
      </p:sp>
      <p:sp>
        <p:nvSpPr>
          <p:cNvPr id="4" name="Footer Placeholder 3"/>
          <p:cNvSpPr>
            <a:spLocks noGrp="1"/>
          </p:cNvSpPr>
          <p:nvPr>
            <p:ph type="ftr" sz="quarter" idx="11"/>
          </p:nvPr>
        </p:nvSpPr>
        <p:spPr/>
        <p:txBody>
          <a:bodyPr/>
          <a:lstStyle/>
          <a:p>
            <a:r>
              <a:rPr lang="en-US"/>
              <a:t>For educational use only. Not to be distributed or shared without permission.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5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Week XX</a:t>
            </a:r>
          </a:p>
        </p:txBody>
      </p:sp>
      <p:sp>
        <p:nvSpPr>
          <p:cNvPr id="3" name="Footer Placeholder 2"/>
          <p:cNvSpPr>
            <a:spLocks noGrp="1"/>
          </p:cNvSpPr>
          <p:nvPr>
            <p:ph type="ftr" sz="quarter" idx="11"/>
          </p:nvPr>
        </p:nvSpPr>
        <p:spPr/>
        <p:txBody>
          <a:bodyPr/>
          <a:lstStyle/>
          <a:p>
            <a:r>
              <a:rPr lang="en-US"/>
              <a:t>For educational use only. Not to be distributed or shared without permission.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60093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36636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Week XX</a:t>
            </a:r>
          </a:p>
        </p:txBody>
      </p:sp>
      <p:sp>
        <p:nvSpPr>
          <p:cNvPr id="6" name="Footer Placeholder 5"/>
          <p:cNvSpPr>
            <a:spLocks noGrp="1"/>
          </p:cNvSpPr>
          <p:nvPr>
            <p:ph type="ftr" sz="quarter" idx="11"/>
          </p:nvPr>
        </p:nvSpPr>
        <p:spPr/>
        <p:txBody>
          <a:bodyPr/>
          <a:lstStyle/>
          <a:p>
            <a:r>
              <a:rPr lang="en-US"/>
              <a:t>For educational use only. Not to be distributed or shared without permission.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593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7984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Week XX</a:t>
            </a:r>
          </a:p>
        </p:txBody>
      </p:sp>
      <p:sp>
        <p:nvSpPr>
          <p:cNvPr id="5" name="Footer Placeholder 4"/>
          <p:cNvSpPr>
            <a:spLocks noGrp="1"/>
          </p:cNvSpPr>
          <p:nvPr>
            <p:ph type="ftr" sz="quarter" idx="11"/>
          </p:nvPr>
        </p:nvSpPr>
        <p:spPr/>
        <p:txBody>
          <a:bodyPr/>
          <a:lstStyle/>
          <a:p>
            <a:r>
              <a:rPr lang="en-US"/>
              <a:t>For educational use only. Not to be distributed or shared without permission.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30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r>
              <a:rPr lang="en-US"/>
              <a:t>Week XX</a:t>
            </a: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r>
              <a:rPr lang="en-US"/>
              <a:t>For educational use only. Not to be distributed or shared without permission.</a:t>
            </a: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307601668"/>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Lst>
  <p:hf hdr="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hyperlink" Target="https://www.sgx.com/research-education/market-updates/20200717-singapores-fast-growing-fintech-sector" TargetMode="External"/><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hyperlink" Target="https://www.humanresourcesonline.net/manpowergroup-survey#%3A~%3Atext%3DTalent%20shortage%26text%3DThis%20year%2C%20about%20six%20in%2CSales%20%26%20marketing" TargetMode="External"/><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fintechnews.sg/45754/virtual-banking/grab-sea-and-ant-among-those-who-secured-singapores-digital-banking-license/" TargetMode="External"/><Relationship Id="rId2" Type="http://schemas.openxmlformats.org/officeDocument/2006/relationships/notesSlide" Target="../notesSlides/notesSlide67.xml"/><Relationship Id="rId1" Type="http://schemas.openxmlformats.org/officeDocument/2006/relationships/slideLayout" Target="../slideLayouts/slideLayout7.xml"/><Relationship Id="rId6" Type="http://schemas.openxmlformats.org/officeDocument/2006/relationships/image" Target="../media/image11.jpg"/><Relationship Id="rId5" Type="http://schemas.openxmlformats.org/officeDocument/2006/relationships/hyperlink" Target="https://asia.nikkei.com/Business/Finance/Singapore-s-Grab-Singtel-take-stakes-in-Indonesia-s-Bank-Fama" TargetMode="External"/><Relationship Id="rId4" Type="http://schemas.openxmlformats.org/officeDocument/2006/relationships/hyperlink" Target="https://fintechnews.my/27954/virtual-banking/grab-confirms-digital-banking-bid-in-malaysia-with-singtel-and-malaysian-investors/"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fintechnews.sg/57741/e-wallets/grab-to-make-nasdaq-debut-following-spac-merger-with-altimeter/" TargetMode="External"/><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hyperlink" Target="https://www.cnbc.com/2021/06/09/goto-how-gojek-and-tokopedia-teamed-up-in-indonesias-biggest-merger.html#%3A~%3Atext%3DThe%20combined%20entity%20counts%20over%2Cmarket%20in%20Indonesia%20and%20beyond" TargetMode="External"/><Relationship Id="rId2" Type="http://schemas.openxmlformats.org/officeDocument/2006/relationships/notesSlide" Target="../notesSlides/notesSlide69.xml"/><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image" Target="../media/image11.jpg"/></Relationships>
</file>

<file path=ppt/slides/_rels/slide70.xml.rels><?xml version="1.0" encoding="UTF-8" standalone="yes"?>
<Relationships xmlns="http://schemas.openxmlformats.org/package/2006/relationships"><Relationship Id="rId3" Type="http://schemas.openxmlformats.org/officeDocument/2006/relationships/hyperlink" Target="https://www.zdnet.com/article/indonesias-goto-makes-stock-market-debut-with-1-1b-ipo/" TargetMode="External"/><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hyperlink" Target="https://www.cnbc.com/2017/10/20/sea-se-ipo-stock-starts-trading-on-nyse.html" TargetMode="External"/><Relationship Id="rId2" Type="http://schemas.openxmlformats.org/officeDocument/2006/relationships/notesSlide" Target="../notesSlides/notesSlide71.xml"/><Relationship Id="rId1" Type="http://schemas.openxmlformats.org/officeDocument/2006/relationships/slideLayout" Target="../slideLayouts/slideLayout7.xml"/><Relationship Id="rId5" Type="http://schemas.openxmlformats.org/officeDocument/2006/relationships/image" Target="../media/image13.jpg"/><Relationship Id="rId4" Type="http://schemas.openxmlformats.org/officeDocument/2006/relationships/hyperlink" Target="https://www.cbinsights.com/research-unicorn-exits" TargetMode="External"/></Relationships>
</file>

<file path=ppt/slides/_rels/slide7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hyperlink" Target="https://boku.mobilewallet.report/" TargetMode="External"/><Relationship Id="rId2" Type="http://schemas.openxmlformats.org/officeDocument/2006/relationships/notesSlide" Target="../notesSlides/notesSlide73.xml"/><Relationship Id="rId1" Type="http://schemas.openxmlformats.org/officeDocument/2006/relationships/slideLayout" Target="../slideLayouts/slideLayout7.xml"/><Relationship Id="rId5" Type="http://schemas.openxmlformats.org/officeDocument/2006/relationships/hyperlink" Target="https://www.bloomberg.com/news/articles/2021-10-04/grab-raises-stake-in-indonesia-s-ovo-to-90-buys-out-tokopedia#%3A~%3Atext%3DOvo%20is%20valued%20at%20about%2Cnamed%20discussing%20a%20private%20deal" TargetMode="External"/><Relationship Id="rId4" Type="http://schemas.openxmlformats.org/officeDocument/2006/relationships/hyperlink" Target="https://asia.nikkei.com/Business/Business-deals/Grab-takes-90-share-in-Indonesian-digital-wallet-OVO" TargetMode="External"/></Relationships>
</file>

<file path=ppt/slides/_rels/slide74.xml.rels><?xml version="1.0" encoding="UTF-8" standalone="yes"?>
<Relationships xmlns="http://schemas.openxmlformats.org/package/2006/relationships"><Relationship Id="rId3" Type="http://schemas.openxmlformats.org/officeDocument/2006/relationships/hyperlink" Target="https://thainews.prd.go.th/en/news/detail/TCATG220308112005444#%3A~%3Atext%3DBitkub%20was%20founded%20in%202018%2C2021%20data%20from%20regulated%20exchanges" TargetMode="External"/><Relationship Id="rId2" Type="http://schemas.openxmlformats.org/officeDocument/2006/relationships/notesSlide" Target="../notesSlides/notesSlide74.xml"/><Relationship Id="rId1" Type="http://schemas.openxmlformats.org/officeDocument/2006/relationships/slideLayout" Target="../slideLayouts/slideLayout7.xml"/><Relationship Id="rId5" Type="http://schemas.openxmlformats.org/officeDocument/2006/relationships/image" Target="../media/image15.jpg"/><Relationship Id="rId4" Type="http://schemas.openxmlformats.org/officeDocument/2006/relationships/hyperlink" Target="https://www.bloomberg.com/news/articles/2021-11-03/crypto-exchange-becomes-newest-thai-unicorn-as-bank-buys-stake"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www.bangkokpost.com/business/2242115/bitkub-eyes-overseas-crypto-expansion-after-stellar-2021" TargetMode="External"/><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77.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hyperlink" Target="mailto:shuhaida.shuhidan@utp.edu.m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106887" y="1511403"/>
            <a:ext cx="11424666" cy="5204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a:off x="6106887" y="9410700"/>
            <a:ext cx="1142466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7426192" y="1942813"/>
            <a:ext cx="9036316" cy="1752887"/>
            <a:chOff x="0" y="0"/>
            <a:chExt cx="2337006" cy="292155"/>
          </a:xfrm>
          <a:noFill/>
        </p:grpSpPr>
        <p:sp>
          <p:nvSpPr>
            <p:cNvPr id="5" name="Freeform 5"/>
            <p:cNvSpPr/>
            <p:nvPr/>
          </p:nvSpPr>
          <p:spPr>
            <a:xfrm>
              <a:off x="0" y="0"/>
              <a:ext cx="2337006" cy="292155"/>
            </a:xfrm>
            <a:custGeom>
              <a:avLst/>
              <a:gdLst/>
              <a:ahLst/>
              <a:cxnLst/>
              <a:rect l="l" t="t" r="r" b="b"/>
              <a:pathLst>
                <a:path w="2337006" h="292155">
                  <a:moveTo>
                    <a:pt x="0" y="0"/>
                  </a:moveTo>
                  <a:lnTo>
                    <a:pt x="2337006" y="0"/>
                  </a:lnTo>
                  <a:lnTo>
                    <a:pt x="2337006" y="292155"/>
                  </a:lnTo>
                  <a:lnTo>
                    <a:pt x="0" y="292155"/>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330255"/>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 name="Group 8"/>
          <p:cNvGrpSpPr/>
          <p:nvPr/>
        </p:nvGrpSpPr>
        <p:grpSpPr>
          <a:xfrm>
            <a:off x="1" y="0"/>
            <a:ext cx="6106886" cy="10286998"/>
            <a:chOff x="-10330" y="-104775"/>
            <a:chExt cx="1377733" cy="2182730"/>
          </a:xfrm>
        </p:grpSpPr>
        <p:sp>
          <p:nvSpPr>
            <p:cNvPr id="9" name="Freeform 9"/>
            <p:cNvSpPr/>
            <p:nvPr/>
          </p:nvSpPr>
          <p:spPr>
            <a:xfrm>
              <a:off x="-10330" y="-104775"/>
              <a:ext cx="1377733" cy="2182730"/>
            </a:xfrm>
            <a:custGeom>
              <a:avLst/>
              <a:gdLst/>
              <a:ahLst/>
              <a:cxnLst/>
              <a:rect l="l" t="t" r="r" b="b"/>
              <a:pathLst>
                <a:path w="1282673" h="2091166">
                  <a:moveTo>
                    <a:pt x="0" y="0"/>
                  </a:moveTo>
                  <a:lnTo>
                    <a:pt x="1282673" y="0"/>
                  </a:lnTo>
                  <a:lnTo>
                    <a:pt x="1282673" y="2091166"/>
                  </a:lnTo>
                  <a:lnTo>
                    <a:pt x="0" y="2091166"/>
                  </a:lnTo>
                  <a:close/>
                </a:path>
              </a:pathLst>
            </a:custGeom>
            <a:solidFill>
              <a:schemeClr val="bg2">
                <a:lumMod val="90000"/>
              </a:schemeClr>
            </a:solid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Box 10"/>
            <p:cNvSpPr txBox="1"/>
            <p:nvPr/>
          </p:nvSpPr>
          <p:spPr>
            <a:xfrm>
              <a:off x="0" y="-104775"/>
              <a:ext cx="1282673" cy="1906122"/>
            </a:xfrm>
            <a:prstGeom prst="rect">
              <a:avLst/>
            </a:prstGeom>
          </p:spPr>
          <p:txBody>
            <a:bodyPr lIns="50800" tIns="50800" rIns="50800" bIns="50800" rtlCol="0" anchor="ctr"/>
            <a:lstStyle/>
            <a:p>
              <a:pPr marL="0" marR="0" lvl="0" indent="0" algn="ctr" defTabSz="457200" rtl="0" eaLnBrk="1" fontAlgn="auto" latinLnBrk="0" hangingPunct="1">
                <a:lnSpc>
                  <a:spcPts val="5015"/>
                </a:lnSpc>
                <a:spcBef>
                  <a:spcPts val="0"/>
                </a:spcBef>
                <a:spcAft>
                  <a:spcPts val="0"/>
                </a:spcAft>
                <a:buClrTx/>
                <a:buSzTx/>
                <a:buFontTx/>
                <a:buNone/>
                <a:tabLst/>
                <a:defRPr/>
              </a:pPr>
              <a:r>
                <a:rPr kumimoji="0" lang="en-US" sz="3299" b="0" i="0" u="none" strike="noStrike" kern="1200" cap="none" spc="135" normalizeH="0" baseline="0" noProof="0">
                  <a:ln>
                    <a:noFill/>
                  </a:ln>
                  <a:solidFill>
                    <a:srgbClr val="000000"/>
                  </a:solidFill>
                  <a:effectLst/>
                  <a:uLnTx/>
                  <a:uFillTx/>
                  <a:latin typeface="Aptos"/>
                  <a:ea typeface="Aptos"/>
                  <a:cs typeface="Aptos"/>
                  <a:sym typeface="Aptos"/>
                </a:rPr>
                <a:t>Insert relevant picture related to the topic</a:t>
              </a:r>
            </a:p>
            <a:p>
              <a:pPr marL="0" marR="0" lvl="0" indent="0" algn="ctr" defTabSz="457200" rtl="0" eaLnBrk="1" fontAlgn="auto" latinLnBrk="0" hangingPunct="1">
                <a:lnSpc>
                  <a:spcPts val="5015"/>
                </a:lnSpc>
                <a:spcBef>
                  <a:spcPts val="0"/>
                </a:spcBef>
                <a:spcAft>
                  <a:spcPts val="0"/>
                </a:spcAft>
                <a:buClrTx/>
                <a:buSzTx/>
                <a:buFontTx/>
                <a:buNone/>
                <a:tabLst/>
                <a:defRPr/>
              </a:pPr>
              <a:endParaRPr kumimoji="0" lang="en-US" sz="3299" b="0" i="0" u="none" strike="noStrike" kern="1200" cap="none" spc="135" normalizeH="0" baseline="0" noProof="0">
                <a:ln>
                  <a:noFill/>
                </a:ln>
                <a:solidFill>
                  <a:srgbClr val="000000"/>
                </a:solidFill>
                <a:effectLst/>
                <a:uLnTx/>
                <a:uFillTx/>
                <a:latin typeface="Aptos"/>
                <a:ea typeface="Aptos"/>
                <a:cs typeface="Aptos"/>
                <a:sym typeface="Aptos"/>
              </a:endParaRPr>
            </a:p>
          </p:txBody>
        </p:sp>
      </p:grpSp>
      <p:sp>
        <p:nvSpPr>
          <p:cNvPr id="11" name="TextBox 11"/>
          <p:cNvSpPr txBox="1"/>
          <p:nvPr/>
        </p:nvSpPr>
        <p:spPr>
          <a:xfrm>
            <a:off x="6468506" y="4249467"/>
            <a:ext cx="11424666" cy="1652568"/>
          </a:xfrm>
          <a:prstGeom prst="rect">
            <a:avLst/>
          </a:prstGeom>
        </p:spPr>
        <p:txBody>
          <a:bodyPr wrap="square" lIns="0" tIns="0" rIns="0" bIns="0" rtlCol="0" anchor="t">
            <a:spAutoFit/>
          </a:bodyPr>
          <a:lstStyle/>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WEEK I</a:t>
            </a:r>
            <a:endParaRPr kumimoji="0" lang="en-US" sz="4400" i="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a:p>
            <a:pPr marL="0" marR="0" lvl="0" indent="0" algn="ctr" defTabSz="457200" rtl="0" eaLnBrk="1" fontAlgn="auto" latinLnBrk="0" hangingPunct="1">
              <a:lnSpc>
                <a:spcPts val="6688"/>
              </a:lnSpc>
              <a:spcBef>
                <a:spcPct val="0"/>
              </a:spcBef>
              <a:spcAft>
                <a:spcPts val="0"/>
              </a:spcAft>
              <a:buClrTx/>
              <a:buSzTx/>
              <a:buFontTx/>
              <a:buNone/>
              <a:tabLst/>
              <a:defRPr/>
            </a:pPr>
            <a:r>
              <a:rPr kumimoji="0" lang="en-US" sz="4400" b="1" i="0"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endParaRPr kumimoji="0" lang="en-US" sz="4400" b="1" u="none" strike="noStrike" kern="1200" cap="none" spc="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endParaRPr>
          </a:p>
        </p:txBody>
      </p:sp>
      <p:sp>
        <p:nvSpPr>
          <p:cNvPr id="12" name="TextBox 12"/>
          <p:cNvSpPr txBox="1"/>
          <p:nvPr/>
        </p:nvSpPr>
        <p:spPr>
          <a:xfrm>
            <a:off x="8965993" y="2479851"/>
            <a:ext cx="6429692" cy="512961"/>
          </a:xfrm>
          <a:prstGeom prst="rect">
            <a:avLst/>
          </a:prstGeom>
        </p:spPr>
        <p:txBody>
          <a:bodyPr lIns="0" tIns="0" rIns="0" bIns="0" rtlCol="0" anchor="t">
            <a:spAutoFit/>
          </a:bodyPr>
          <a:lstStyle/>
          <a:p>
            <a:pPr marL="0" marR="0" lvl="0" indent="0" algn="ctr" defTabSz="457200" rtl="0" eaLnBrk="1" fontAlgn="auto" latinLnBrk="0" hangingPunct="1">
              <a:lnSpc>
                <a:spcPts val="4255"/>
              </a:lnSpc>
              <a:spcBef>
                <a:spcPts val="0"/>
              </a:spcBef>
              <a:spcAft>
                <a:spcPts val="0"/>
              </a:spcAft>
              <a:buClrTx/>
              <a:buSzTx/>
              <a:buFontTx/>
              <a:buNone/>
              <a:tabLst/>
              <a:defRPr/>
            </a:pPr>
            <a:r>
              <a:rPr kumimoji="0" lang="en-US" sz="2799" b="0" i="0" u="none" strike="noStrike" kern="1200" cap="none" spc="103"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TFB3323 FINTECH INNOVATION</a:t>
            </a:r>
          </a:p>
        </p:txBody>
      </p:sp>
      <p:sp>
        <p:nvSpPr>
          <p:cNvPr id="14" name="TextBox 14"/>
          <p:cNvSpPr txBox="1"/>
          <p:nvPr/>
        </p:nvSpPr>
        <p:spPr>
          <a:xfrm>
            <a:off x="8527172" y="6957133"/>
            <a:ext cx="7337522" cy="804451"/>
          </a:xfrm>
          <a:prstGeom prst="rect">
            <a:avLst/>
          </a:prstGeom>
        </p:spPr>
        <p:txBody>
          <a:bodyPr wrap="square" lIns="0" tIns="0" rIns="0" bIns="0" rtlCol="0" anchor="t">
            <a:spAutoFit/>
          </a:bodyPr>
          <a:lstStyle/>
          <a:p>
            <a:pPr algn="ctr">
              <a:lnSpc>
                <a:spcPts val="3343"/>
              </a:lnSpc>
              <a:defRPr/>
            </a:pPr>
            <a:r>
              <a:rPr lang="en-MY" sz="2000"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algn="ctr">
              <a:lnSpc>
                <a:spcPts val="3343"/>
              </a:lnSpc>
              <a:defRPr/>
            </a:pPr>
            <a:r>
              <a:rPr kumimoji="0" lang="en-US" sz="2199" b="0" i="0"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a:t>
            </a:r>
            <a:r>
              <a:rPr lang="en-MY" sz="2199" i="1" spc="8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r (FSMC/UTP)</a:t>
            </a:r>
            <a:r>
              <a:rPr kumimoji="0" lang="en-US" sz="2199" b="0" i="1" u="none" strike="noStrike" kern="1200" cap="none" spc="81"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a:t>
            </a:r>
          </a:p>
        </p:txBody>
      </p:sp>
      <p:sp>
        <p:nvSpPr>
          <p:cNvPr id="15" name="TextBox 15"/>
          <p:cNvSpPr txBox="1"/>
          <p:nvPr/>
        </p:nvSpPr>
        <p:spPr>
          <a:xfrm>
            <a:off x="8085066" y="7789617"/>
            <a:ext cx="8221734" cy="1240083"/>
          </a:xfrm>
          <a:prstGeom prst="rect">
            <a:avLst/>
          </a:prstGeom>
        </p:spPr>
        <p:txBody>
          <a:bodyPr wrap="square"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BACHELOR OF XXXXXX</a:t>
            </a:r>
          </a:p>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DEPARTMENT OF COMPUTING</a:t>
            </a:r>
          </a:p>
          <a:p>
            <a:pPr marL="0" marR="0" lvl="0" indent="0" algn="ctr" defTabSz="457200" rtl="0" eaLnBrk="1" fontAlgn="auto" latinLnBrk="0" hangingPunct="1">
              <a:lnSpc>
                <a:spcPts val="3343"/>
              </a:lnSpc>
              <a:spcBef>
                <a:spcPts val="0"/>
              </a:spcBef>
              <a:spcAft>
                <a:spcPts val="0"/>
              </a:spcAft>
              <a:buClrTx/>
              <a:buSzTx/>
              <a:buFontTx/>
              <a:buNone/>
              <a:tabLst/>
              <a:defRPr/>
            </a:pPr>
            <a:r>
              <a:rPr lang="en-US" sz="2200" spc="90"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Aptos"/>
                <a:cs typeface="Segoe UI" panose="020B0502040204020203" pitchFamily="34" charset="0"/>
                <a:sym typeface="Aptos"/>
              </a:rPr>
              <a:t>FACULTY OF SCIENCE, MANAGEMENT &amp; COMPUTING</a:t>
            </a:r>
            <a:r>
              <a:rPr kumimoji="0" lang="en-US" sz="2200"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Aptos"/>
                <a:cs typeface="Segoe UI" panose="020B0502040204020203" pitchFamily="34" charset="0"/>
                <a:sym typeface="Aptos"/>
              </a:rPr>
              <a:t> </a:t>
            </a:r>
          </a:p>
        </p:txBody>
      </p:sp>
      <p:sp>
        <p:nvSpPr>
          <p:cNvPr id="13" name="Text Box 2">
            <a:extLst>
              <a:ext uri="{FF2B5EF4-FFF2-40B4-BE49-F238E27FC236}">
                <a16:creationId xmlns:a16="http://schemas.microsoft.com/office/drawing/2014/main" id="{486EF194-5755-EE7E-90D6-9FC063183FE5}"/>
              </a:ext>
            </a:extLst>
          </p:cNvPr>
          <p:cNvSpPr txBox="1">
            <a:spLocks/>
          </p:cNvSpPr>
          <p:nvPr/>
        </p:nvSpPr>
        <p:spPr>
          <a:xfrm>
            <a:off x="6629400" y="9582308"/>
            <a:ext cx="10629900" cy="553998"/>
          </a:xfrm>
          <a:prstGeom prst="rect">
            <a:avLst/>
          </a:prstGeom>
          <a:solidFill>
            <a:sysClr val="window" lastClr="FFFFFF"/>
          </a:solidFill>
          <a:ln w="19050" cap="flat" cmpd="sng" algn="ctr">
            <a:noFill/>
            <a:prstDash val="solid"/>
            <a:miter lim="800000"/>
          </a:ln>
          <a:effectLst/>
        </p:spPr>
        <p:txBody>
          <a:bodyPr wrap="square">
            <a:spAutoFit/>
          </a:bodyPr>
          <a:lstStyle/>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 2026 INSTITUTE OF TECHNOLOGY PETRONAS SDN BHD </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a:p>
            <a:pPr marL="237490" algn="ctr" fontAlgn="base">
              <a:buNone/>
            </a:pPr>
            <a:r>
              <a:rPr lang="en-US" sz="1000" kern="1200">
                <a:effectLst/>
                <a:latin typeface="Arial" panose="020B0604020202020204" pitchFamily="34" charset="0"/>
                <a:ea typeface="Times New Roman" panose="02020603050405020304" pitchFamily="18" charset="0"/>
                <a:cs typeface="Times New Roman" panose="02020603050405020304" pitchFamily="18" charset="0"/>
              </a:rPr>
              <a:t>All rights reserved. No part of this document may be reproduced, stored in a retrieval system or transmitted in any form or by any means (electronic, mechanical, photocopying, recording or otherwise) without the permission of the copyright owner.</a:t>
            </a:r>
            <a:endParaRPr lang="en-MY" sz="1100">
              <a:effectLst/>
              <a:latin typeface="Museo Sans 300" panose="02000000000000000000" pitchFamily="50" charset="0"/>
              <a:ea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58BF3AB-9F7F-0AAB-2719-4300608236EE}"/>
              </a:ext>
            </a:extLst>
          </p:cNvPr>
          <p:cNvPicPr>
            <a:picLocks noChangeAspect="1"/>
          </p:cNvPicPr>
          <p:nvPr/>
        </p:nvPicPr>
        <p:blipFill>
          <a:blip r:embed="rId3"/>
          <a:stretch>
            <a:fillRect/>
          </a:stretch>
        </p:blipFill>
        <p:spPr>
          <a:xfrm>
            <a:off x="14913864" y="272259"/>
            <a:ext cx="2617689" cy="1144394"/>
          </a:xfrm>
          <a:prstGeom prst="rect">
            <a:avLst/>
          </a:prstGeom>
        </p:spPr>
      </p:pic>
      <p:pic>
        <p:nvPicPr>
          <p:cNvPr id="16" name="Picture 15">
            <a:extLst>
              <a:ext uri="{FF2B5EF4-FFF2-40B4-BE49-F238E27FC236}">
                <a16:creationId xmlns:a16="http://schemas.microsoft.com/office/drawing/2014/main" id="{62CD8673-E9DB-F8F6-A947-9976EA5209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106887"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D2C32-2405-2D6D-2E95-4FEAC1828E0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C44FB3C-D441-A268-21DB-28FD335B7FB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94D0FD-7DD1-81BC-FF9E-48321CC588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7ADA04D-2EEC-3768-1CF2-E10510389D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LEARNING OUTCOMES</a:t>
            </a:r>
          </a:p>
        </p:txBody>
      </p:sp>
      <p:sp>
        <p:nvSpPr>
          <p:cNvPr id="9" name="Date Placeholder 8">
            <a:extLst>
              <a:ext uri="{FF2B5EF4-FFF2-40B4-BE49-F238E27FC236}">
                <a16:creationId xmlns:a16="http://schemas.microsoft.com/office/drawing/2014/main" id="{3124E5E4-CE96-F8F9-06CC-0229CED8662F}"/>
              </a:ext>
            </a:extLst>
          </p:cNvPr>
          <p:cNvSpPr>
            <a:spLocks noGrp="1"/>
          </p:cNvSpPr>
          <p:nvPr>
            <p:ph type="dt" sz="half" idx="10"/>
          </p:nvPr>
        </p:nvSpPr>
        <p:spPr>
          <a:xfrm>
            <a:off x="633495" y="9617446"/>
            <a:ext cx="4114800" cy="547688"/>
          </a:xfrm>
        </p:spPr>
        <p:txBody>
          <a:bodyPr/>
          <a:lstStyle/>
          <a:p>
            <a:r>
              <a:rPr lang="en-US">
                <a:latin typeface="Segoe UI" panose="020B0502040204020203" pitchFamily="34" charset="0"/>
                <a:cs typeface="Segoe UI" panose="020B0502040204020203" pitchFamily="34" charset="0"/>
              </a:rPr>
              <a:t>Week XX</a:t>
            </a:r>
          </a:p>
        </p:txBody>
      </p:sp>
      <p:sp>
        <p:nvSpPr>
          <p:cNvPr id="10" name="Footer Placeholder 9">
            <a:extLst>
              <a:ext uri="{FF2B5EF4-FFF2-40B4-BE49-F238E27FC236}">
                <a16:creationId xmlns:a16="http://schemas.microsoft.com/office/drawing/2014/main" id="{FFD37AF0-935A-8041-2A98-8EECF5094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94D0C17-6852-F3DE-F2D9-1043BAB09D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888069C-B9FA-8666-48B0-7AC1BCF6D470}"/>
              </a:ext>
            </a:extLst>
          </p:cNvPr>
          <p:cNvSpPr txBox="1"/>
          <p:nvPr/>
        </p:nvSpPr>
        <p:spPr>
          <a:xfrm>
            <a:off x="757618" y="1790700"/>
            <a:ext cx="16773935" cy="6329425"/>
          </a:xfrm>
          <a:prstGeom prst="rect">
            <a:avLst/>
          </a:prstGeom>
          <a:noFill/>
        </p:spPr>
        <p:txBody>
          <a:bodyPr wrap="square" rtlCol="0">
            <a:spAutoFit/>
          </a:bodyPr>
          <a:lstStyle/>
          <a:p>
            <a:r>
              <a:rPr lang="en-US" sz="3600" dirty="0"/>
              <a:t>By the end of this session, students will be able to:</a:t>
            </a:r>
            <a:endParaRPr lang="en-MY" sz="3200" dirty="0"/>
          </a:p>
          <a:p>
            <a:pPr marL="514350" indent="-514350">
              <a:buFont typeface="+mj-lt"/>
              <a:buAutoNum type="arabicPeriod"/>
            </a:pPr>
            <a:endParaRPr lang="en-MY" sz="3200" dirty="0"/>
          </a:p>
          <a:p>
            <a:pPr marL="514350" indent="-514350">
              <a:lnSpc>
                <a:spcPct val="150000"/>
              </a:lnSpc>
              <a:buFont typeface="+mj-lt"/>
              <a:buAutoNum type="arabicPeriod"/>
            </a:pPr>
            <a:r>
              <a:rPr lang="en-US" sz="3600" b="1" dirty="0"/>
              <a:t>Define</a:t>
            </a:r>
            <a:r>
              <a:rPr lang="en-US" sz="3600" dirty="0"/>
              <a:t> FinTech and contrast it with traditional banking. </a:t>
            </a:r>
          </a:p>
          <a:p>
            <a:pPr marL="514350" indent="-514350">
              <a:lnSpc>
                <a:spcPct val="150000"/>
              </a:lnSpc>
              <a:buFont typeface="+mj-lt"/>
              <a:buAutoNum type="arabicPeriod"/>
            </a:pPr>
            <a:endParaRPr lang="en-US" sz="1100" b="1" dirty="0"/>
          </a:p>
          <a:p>
            <a:pPr marL="514350" indent="-514350">
              <a:lnSpc>
                <a:spcPct val="150000"/>
              </a:lnSpc>
              <a:buFont typeface="+mj-lt"/>
              <a:buAutoNum type="arabicPeriod"/>
            </a:pPr>
            <a:r>
              <a:rPr lang="en-US" sz="3600" b="1" dirty="0"/>
              <a:t>Identify</a:t>
            </a:r>
            <a:r>
              <a:rPr lang="en-US" sz="3600" dirty="0"/>
              <a:t> the primary technological and cultural drivers of FinTech. </a:t>
            </a:r>
          </a:p>
          <a:p>
            <a:pPr marL="514350" indent="-514350">
              <a:lnSpc>
                <a:spcPct val="150000"/>
              </a:lnSpc>
              <a:buFont typeface="+mj-lt"/>
              <a:buAutoNum type="arabicPeriod"/>
            </a:pPr>
            <a:endParaRPr lang="en-US" sz="1100" dirty="0"/>
          </a:p>
          <a:p>
            <a:pPr marL="514350" indent="-514350">
              <a:lnSpc>
                <a:spcPct val="150000"/>
              </a:lnSpc>
              <a:buFont typeface="+mj-lt"/>
              <a:buAutoNum type="arabicPeriod"/>
            </a:pPr>
            <a:r>
              <a:rPr lang="en-US" sz="3600" b="1" dirty="0"/>
              <a:t>Explain</a:t>
            </a:r>
            <a:r>
              <a:rPr lang="en-US" sz="3600" dirty="0"/>
              <a:t> how "unbundling" and "disintermediation" disrupt traditional finance. </a:t>
            </a:r>
          </a:p>
          <a:p>
            <a:pPr marL="514350" indent="-514350">
              <a:lnSpc>
                <a:spcPct val="150000"/>
              </a:lnSpc>
              <a:buFont typeface="+mj-lt"/>
              <a:buAutoNum type="arabicPeriod"/>
            </a:pPr>
            <a:endParaRPr lang="en-US" sz="1100" dirty="0"/>
          </a:p>
          <a:p>
            <a:pPr marL="514350" indent="-514350">
              <a:lnSpc>
                <a:spcPct val="150000"/>
              </a:lnSpc>
              <a:buFont typeface="+mj-lt"/>
              <a:buAutoNum type="arabicPeriod"/>
            </a:pPr>
            <a:r>
              <a:rPr lang="en-US" sz="3600" b="1" dirty="0"/>
              <a:t>Analyze</a:t>
            </a:r>
            <a:r>
              <a:rPr lang="en-US" sz="3600" dirty="0"/>
              <a:t> the key challenges faced by both incumbent banks and FinTech startups. </a:t>
            </a:r>
          </a:p>
          <a:p>
            <a:pPr marL="514350" indent="-514350">
              <a:lnSpc>
                <a:spcPct val="150000"/>
              </a:lnSpc>
              <a:buFont typeface="+mj-lt"/>
              <a:buAutoNum type="arabicPeriod"/>
            </a:pPr>
            <a:endParaRPr lang="en-US" sz="1100" dirty="0"/>
          </a:p>
          <a:p>
            <a:pPr marL="514350" indent="-514350">
              <a:lnSpc>
                <a:spcPct val="150000"/>
              </a:lnSpc>
              <a:buFont typeface="+mj-lt"/>
              <a:buAutoNum type="arabicPeriod"/>
            </a:pPr>
            <a:r>
              <a:rPr lang="en-US" sz="3600" b="1" dirty="0"/>
              <a:t>Recognize</a:t>
            </a:r>
            <a:r>
              <a:rPr lang="en-US" sz="3600" dirty="0"/>
              <a:t> major global markets and top Southeast Asian FinTech unicorns.</a:t>
            </a:r>
            <a:endParaRPr lang="en-MY" sz="3200" dirty="0"/>
          </a:p>
        </p:txBody>
      </p:sp>
    </p:spTree>
    <p:extLst>
      <p:ext uri="{BB962C8B-B14F-4D97-AF65-F5344CB8AC3E}">
        <p14:creationId xmlns:p14="http://schemas.microsoft.com/office/powerpoint/2010/main" val="171779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4" end="4"/>
                                            </p:txEl>
                                          </p:spTgt>
                                        </p:tgtEl>
                                        <p:attrNameLst>
                                          <p:attrName>style.visibility</p:attrName>
                                        </p:attrNameLst>
                                      </p:cBhvr>
                                      <p:to>
                                        <p:strVal val="visible"/>
                                      </p:to>
                                    </p:set>
                                    <p:animEffect transition="in" filter="fade">
                                      <p:cBhvr>
                                        <p:cTn id="12" dur="500"/>
                                        <p:tgtEl>
                                          <p:spTgt spid="7">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animEffect transition="in" filter="fade">
                                      <p:cBhvr>
                                        <p:cTn id="17" dur="500"/>
                                        <p:tgtEl>
                                          <p:spTgt spid="7">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8" end="8"/>
                                            </p:txEl>
                                          </p:spTgt>
                                        </p:tgtEl>
                                        <p:attrNameLst>
                                          <p:attrName>style.visibility</p:attrName>
                                        </p:attrNameLst>
                                      </p:cBhvr>
                                      <p:to>
                                        <p:strVal val="visible"/>
                                      </p:to>
                                    </p:set>
                                    <p:animEffect transition="in" filter="fade">
                                      <p:cBhvr>
                                        <p:cTn id="22" dur="500"/>
                                        <p:tgtEl>
                                          <p:spTgt spid="7">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animEffect transition="in" filter="fade">
                                      <p:cBhvr>
                                        <p:cTn id="27"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9CD0D-972B-FE6D-B005-F472E53C011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F305BD-B647-52A1-7229-8D1C689775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0AD37D0-AB7C-531D-442D-316B5352ACD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EE389B7-4BDC-9F88-5E29-C825141ABF62}"/>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TOPICS</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74AC5EDA-CD04-CA81-5505-46F71DF981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84BAFFF-0B17-2D6B-F88C-8FD53E5AE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FAFA90-B6A0-006E-2A2C-78E3AA19E6A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a:t>
            </a:fld>
            <a:endParaRPr lang="en-US">
              <a:latin typeface="Segoe UI" panose="020B0502040204020203" pitchFamily="34" charset="0"/>
              <a:cs typeface="Segoe UI" panose="020B0502040204020203" pitchFamily="34" charset="0"/>
            </a:endParaRPr>
          </a:p>
        </p:txBody>
      </p:sp>
      <p:sp>
        <p:nvSpPr>
          <p:cNvPr id="4" name="TextBox 3">
            <a:extLst>
              <a:ext uri="{FF2B5EF4-FFF2-40B4-BE49-F238E27FC236}">
                <a16:creationId xmlns:a16="http://schemas.microsoft.com/office/drawing/2014/main" id="{6368044F-6D69-5ECE-F229-C0DDFB6CEC83}"/>
              </a:ext>
            </a:extLst>
          </p:cNvPr>
          <p:cNvSpPr txBox="1"/>
          <p:nvPr/>
        </p:nvSpPr>
        <p:spPr>
          <a:xfrm>
            <a:off x="633495" y="1790700"/>
            <a:ext cx="8275813" cy="7971413"/>
          </a:xfrm>
          <a:prstGeom prst="rect">
            <a:avLst/>
          </a:prstGeom>
          <a:noFill/>
        </p:spPr>
        <p:txBody>
          <a:bodyPr wrap="square" rtlCol="0">
            <a:spAutoFit/>
          </a:bodyPr>
          <a:lstStyle/>
          <a:p>
            <a:pPr marL="514350" indent="-514350">
              <a:buFont typeface="+mj-lt"/>
              <a:buAutoNum type="arabicPeriod"/>
            </a:pPr>
            <a:r>
              <a:rPr lang="en-MY" sz="2800" b="1" dirty="0"/>
              <a:t>What is FinTech?</a:t>
            </a:r>
          </a:p>
          <a:p>
            <a:pPr lvl="1"/>
            <a:r>
              <a:rPr lang="en-MY" sz="2400" dirty="0"/>
              <a:t>	1.1. Traditional Banking</a:t>
            </a:r>
          </a:p>
          <a:p>
            <a:pPr lvl="1"/>
            <a:r>
              <a:rPr lang="en-MY" sz="2400" dirty="0"/>
              <a:t>	1.2. Introduction</a:t>
            </a:r>
          </a:p>
          <a:p>
            <a:pPr lvl="1"/>
            <a:endParaRPr lang="en-MY" sz="2400" dirty="0"/>
          </a:p>
          <a:p>
            <a:r>
              <a:rPr lang="en-MY" sz="2800" b="1" dirty="0"/>
              <a:t>2. 	What is the Problem?</a:t>
            </a:r>
          </a:p>
          <a:p>
            <a:r>
              <a:rPr lang="en-MY" sz="2800" dirty="0"/>
              <a:t>		</a:t>
            </a:r>
            <a:r>
              <a:rPr lang="en-MY" sz="2400" dirty="0"/>
              <a:t>2.1. How did it all begin?</a:t>
            </a:r>
          </a:p>
          <a:p>
            <a:r>
              <a:rPr lang="en-MY" sz="2400" dirty="0"/>
              <a:t>		2.2. How long does it take to open a bank account today?</a:t>
            </a:r>
          </a:p>
          <a:p>
            <a:r>
              <a:rPr lang="en-MY" sz="2400" dirty="0"/>
              <a:t>		2.3. Why choose technology providers over banks?</a:t>
            </a:r>
          </a:p>
          <a:p>
            <a:endParaRPr lang="en-MY" sz="2800" dirty="0"/>
          </a:p>
          <a:p>
            <a:pPr marL="514350" indent="-514350">
              <a:buAutoNum type="arabicPeriod" startAt="3"/>
            </a:pPr>
            <a:r>
              <a:rPr lang="en-MY" sz="2800" b="1" dirty="0"/>
              <a:t>Intermediaries &amp; Disintermediation</a:t>
            </a:r>
          </a:p>
          <a:p>
            <a:r>
              <a:rPr lang="en-MY" sz="2800" dirty="0"/>
              <a:t>		</a:t>
            </a:r>
            <a:r>
              <a:rPr lang="en-MY" sz="2400" dirty="0"/>
              <a:t>3.1. Disintermediation</a:t>
            </a:r>
          </a:p>
          <a:p>
            <a:r>
              <a:rPr lang="en-MY" sz="2400" dirty="0"/>
              <a:t>		3.2. Features</a:t>
            </a:r>
          </a:p>
          <a:p>
            <a:r>
              <a:rPr lang="en-MY" sz="2400" dirty="0"/>
              <a:t>		3.3. FinTech as a Disruptive Force</a:t>
            </a:r>
          </a:p>
          <a:p>
            <a:r>
              <a:rPr lang="en-MY" sz="2400" dirty="0"/>
              <a:t>		3.4. The Secret to Success</a:t>
            </a:r>
          </a:p>
          <a:p>
            <a:r>
              <a:rPr lang="en-MY" sz="2400" dirty="0"/>
              <a:t>		3.5. Insights</a:t>
            </a:r>
            <a:endParaRPr lang="en-MY" sz="2800" dirty="0"/>
          </a:p>
          <a:p>
            <a:endParaRPr lang="en-MY" sz="2800" dirty="0"/>
          </a:p>
          <a:p>
            <a:pPr marL="514350" indent="-514350">
              <a:buFont typeface="+mj-lt"/>
              <a:buAutoNum type="arabicPeriod" startAt="4"/>
            </a:pPr>
            <a:r>
              <a:rPr lang="en-MY" sz="2800" b="1" dirty="0"/>
              <a:t>Unbundling – Breaking Up the Value Chain</a:t>
            </a:r>
          </a:p>
          <a:p>
            <a:r>
              <a:rPr lang="en-MY" sz="2800" dirty="0"/>
              <a:t>		</a:t>
            </a:r>
            <a:r>
              <a:rPr lang="en-MY" sz="2400" dirty="0"/>
              <a:t>4.1. “fit-for-single-purpose” solutions</a:t>
            </a:r>
          </a:p>
          <a:p>
            <a:r>
              <a:rPr lang="en-MY" sz="2400" dirty="0"/>
              <a:t>		4.2. Breaking Up Traditional Bank Value Chain</a:t>
            </a:r>
          </a:p>
          <a:p>
            <a:endParaRPr lang="en-MY" sz="2400" dirty="0"/>
          </a:p>
        </p:txBody>
      </p:sp>
      <p:sp>
        <p:nvSpPr>
          <p:cNvPr id="5" name="TextBox 4">
            <a:extLst>
              <a:ext uri="{FF2B5EF4-FFF2-40B4-BE49-F238E27FC236}">
                <a16:creationId xmlns:a16="http://schemas.microsoft.com/office/drawing/2014/main" id="{485AFB45-CD69-570B-4D80-823A4A345F8B}"/>
              </a:ext>
            </a:extLst>
          </p:cNvPr>
          <p:cNvSpPr txBox="1"/>
          <p:nvPr/>
        </p:nvSpPr>
        <p:spPr>
          <a:xfrm>
            <a:off x="9378694" y="1790700"/>
            <a:ext cx="8152859" cy="6247864"/>
          </a:xfrm>
          <a:prstGeom prst="rect">
            <a:avLst/>
          </a:prstGeom>
          <a:noFill/>
        </p:spPr>
        <p:txBody>
          <a:bodyPr wrap="square" rtlCol="0">
            <a:spAutoFit/>
          </a:bodyPr>
          <a:lstStyle/>
          <a:p>
            <a:pPr marL="514350" indent="-514350">
              <a:buFont typeface="+mj-lt"/>
              <a:buAutoNum type="arabicPeriod" startAt="5"/>
            </a:pPr>
            <a:r>
              <a:rPr lang="en-MY" sz="2800" b="1" dirty="0"/>
              <a:t>FinTech Drivers</a:t>
            </a:r>
          </a:p>
          <a:p>
            <a:pPr lvl="1"/>
            <a:r>
              <a:rPr lang="en-MY" sz="2400" dirty="0"/>
              <a:t>	5.1. Why FinTech now?</a:t>
            </a:r>
          </a:p>
          <a:p>
            <a:pPr lvl="1"/>
            <a:r>
              <a:rPr lang="en-MY" sz="2400" dirty="0"/>
              <a:t>	5.2. Drivers</a:t>
            </a:r>
          </a:p>
          <a:p>
            <a:pPr lvl="1"/>
            <a:r>
              <a:rPr lang="en-MY" sz="2400" dirty="0"/>
              <a:t>	5.3. Distinctive Advantages</a:t>
            </a:r>
          </a:p>
          <a:p>
            <a:pPr lvl="1"/>
            <a:r>
              <a:rPr lang="en-MY" sz="2400" dirty="0"/>
              <a:t>	5.4. Opportunities</a:t>
            </a:r>
          </a:p>
          <a:p>
            <a:pPr lvl="1"/>
            <a:endParaRPr lang="en-MY" sz="2400" dirty="0"/>
          </a:p>
          <a:p>
            <a:pPr marL="514350" indent="-514350">
              <a:buFont typeface="+mj-lt"/>
              <a:buAutoNum type="arabicPeriod" startAt="5"/>
            </a:pPr>
            <a:r>
              <a:rPr lang="en-MY" sz="2800" b="1" dirty="0"/>
              <a:t>Issues, Threats &amp; Challenges</a:t>
            </a:r>
          </a:p>
          <a:p>
            <a:pPr lvl="1"/>
            <a:r>
              <a:rPr lang="en-MY" sz="2400" dirty="0"/>
              <a:t>	6.1. Threats Posed by FinTech</a:t>
            </a:r>
          </a:p>
          <a:p>
            <a:pPr lvl="1"/>
            <a:r>
              <a:rPr lang="en-MY" sz="2400" dirty="0"/>
              <a:t>	6.2. Challenges</a:t>
            </a:r>
          </a:p>
          <a:p>
            <a:pPr lvl="1"/>
            <a:endParaRPr lang="en-MY" sz="2400" dirty="0"/>
          </a:p>
          <a:p>
            <a:pPr marL="514350" indent="-514350">
              <a:buFont typeface="+mj-lt"/>
              <a:buAutoNum type="arabicPeriod" startAt="5"/>
            </a:pPr>
            <a:r>
              <a:rPr lang="en-MY" sz="2800" b="1" dirty="0"/>
              <a:t>China - The largest FinTech market in the World</a:t>
            </a:r>
          </a:p>
          <a:p>
            <a:pPr lvl="1"/>
            <a:r>
              <a:rPr lang="en-MY" sz="2400" dirty="0"/>
              <a:t>	7.1. Global FinTech VC Investment – Top 15 Global Deals</a:t>
            </a:r>
          </a:p>
          <a:p>
            <a:pPr lvl="1"/>
            <a:r>
              <a:rPr lang="en-MY" sz="2400" dirty="0"/>
              <a:t>	7.2. Singapore, ASEAN Capital of FinTech</a:t>
            </a:r>
          </a:p>
          <a:p>
            <a:pPr lvl="1"/>
            <a:endParaRPr lang="en-MY" sz="2400" dirty="0"/>
          </a:p>
          <a:p>
            <a:pPr marL="514350" indent="-514350">
              <a:buFont typeface="+mj-lt"/>
              <a:buAutoNum type="arabicPeriod" startAt="5"/>
            </a:pPr>
            <a:r>
              <a:rPr lang="en-MY" sz="2800" b="1" dirty="0"/>
              <a:t>Southeast Asia’s – Top 5 Largest FinTech Unicorn</a:t>
            </a:r>
            <a:r>
              <a:rPr lang="en-MY" sz="2400" b="1" dirty="0"/>
              <a:t>	</a:t>
            </a:r>
          </a:p>
          <a:p>
            <a:pPr lvl="1"/>
            <a:endParaRPr lang="en-MY" sz="2400" dirty="0"/>
          </a:p>
        </p:txBody>
      </p:sp>
      <p:cxnSp>
        <p:nvCxnSpPr>
          <p:cNvPr id="8" name="Straight Connector 7">
            <a:extLst>
              <a:ext uri="{FF2B5EF4-FFF2-40B4-BE49-F238E27FC236}">
                <a16:creationId xmlns:a16="http://schemas.microsoft.com/office/drawing/2014/main" id="{92A196CE-0CD8-D0BA-1596-A8591A66DBDF}"/>
              </a:ext>
            </a:extLst>
          </p:cNvPr>
          <p:cNvCxnSpPr>
            <a:cxnSpLocks/>
          </p:cNvCxnSpPr>
          <p:nvPr/>
        </p:nvCxnSpPr>
        <p:spPr>
          <a:xfrm>
            <a:off x="8909308" y="1612900"/>
            <a:ext cx="0" cy="75819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62996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5" end="5"/>
                                            </p:txEl>
                                          </p:spTgt>
                                        </p:tgtEl>
                                        <p:attrNameLst>
                                          <p:attrName>style.visibility</p:attrName>
                                        </p:attrNameLst>
                                      </p:cBhvr>
                                      <p:to>
                                        <p:strVal val="visible"/>
                                      </p:to>
                                    </p:set>
                                    <p:animEffect transition="in" filter="fade">
                                      <p:cBhvr>
                                        <p:cTn id="10" dur="500"/>
                                        <p:tgtEl>
                                          <p:spTgt spid="4">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animEffect transition="in" filter="fade">
                                      <p:cBhvr>
                                        <p:cTn id="13" dur="500"/>
                                        <p:tgtEl>
                                          <p:spTgt spid="4">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4">
                                            <p:txEl>
                                              <p:pRg st="7" end="7"/>
                                            </p:txEl>
                                          </p:spTgt>
                                        </p:tgtEl>
                                        <p:attrNameLst>
                                          <p:attrName>style.visibility</p:attrName>
                                        </p:attrNameLst>
                                      </p:cBhvr>
                                      <p:to>
                                        <p:strVal val="visible"/>
                                      </p:to>
                                    </p:set>
                                    <p:animEffect transition="in" filter="fade">
                                      <p:cBhvr>
                                        <p:cTn id="16" dur="500"/>
                                        <p:tgtEl>
                                          <p:spTgt spid="4">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xEl>
                                              <p:pRg st="9" end="9"/>
                                            </p:txEl>
                                          </p:spTgt>
                                        </p:tgtEl>
                                        <p:attrNameLst>
                                          <p:attrName>style.visibility</p:attrName>
                                        </p:attrNameLst>
                                      </p:cBhvr>
                                      <p:to>
                                        <p:strVal val="visible"/>
                                      </p:to>
                                    </p:set>
                                    <p:animEffect transition="in" filter="fade">
                                      <p:cBhvr>
                                        <p:cTn id="21" dur="500"/>
                                        <p:tgtEl>
                                          <p:spTgt spid="4">
                                            <p:txEl>
                                              <p:pRg st="9" end="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10" end="10"/>
                                            </p:txEl>
                                          </p:spTgt>
                                        </p:tgtEl>
                                        <p:attrNameLst>
                                          <p:attrName>style.visibility</p:attrName>
                                        </p:attrNameLst>
                                      </p:cBhvr>
                                      <p:to>
                                        <p:strVal val="visible"/>
                                      </p:to>
                                    </p:set>
                                    <p:animEffect transition="in" filter="fade">
                                      <p:cBhvr>
                                        <p:cTn id="24" dur="500"/>
                                        <p:tgtEl>
                                          <p:spTgt spid="4">
                                            <p:txEl>
                                              <p:pRg st="10" end="1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11" end="11"/>
                                            </p:txEl>
                                          </p:spTgt>
                                        </p:tgtEl>
                                        <p:attrNameLst>
                                          <p:attrName>style.visibility</p:attrName>
                                        </p:attrNameLst>
                                      </p:cBhvr>
                                      <p:to>
                                        <p:strVal val="visible"/>
                                      </p:to>
                                    </p:set>
                                    <p:animEffect transition="in" filter="fade">
                                      <p:cBhvr>
                                        <p:cTn id="27" dur="500"/>
                                        <p:tgtEl>
                                          <p:spTgt spid="4">
                                            <p:txEl>
                                              <p:pRg st="11" end="1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12" end="12"/>
                                            </p:txEl>
                                          </p:spTgt>
                                        </p:tgtEl>
                                        <p:attrNameLst>
                                          <p:attrName>style.visibility</p:attrName>
                                        </p:attrNameLst>
                                      </p:cBhvr>
                                      <p:to>
                                        <p:strVal val="visible"/>
                                      </p:to>
                                    </p:set>
                                    <p:animEffect transition="in" filter="fade">
                                      <p:cBhvr>
                                        <p:cTn id="30" dur="500"/>
                                        <p:tgtEl>
                                          <p:spTgt spid="4">
                                            <p:txEl>
                                              <p:pRg st="12" end="12"/>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4">
                                            <p:txEl>
                                              <p:pRg st="13" end="13"/>
                                            </p:txEl>
                                          </p:spTgt>
                                        </p:tgtEl>
                                        <p:attrNameLst>
                                          <p:attrName>style.visibility</p:attrName>
                                        </p:attrNameLst>
                                      </p:cBhvr>
                                      <p:to>
                                        <p:strVal val="visible"/>
                                      </p:to>
                                    </p:set>
                                    <p:animEffect transition="in" filter="fade">
                                      <p:cBhvr>
                                        <p:cTn id="33" dur="500"/>
                                        <p:tgtEl>
                                          <p:spTgt spid="4">
                                            <p:txEl>
                                              <p:pRg st="13" end="13"/>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
                                            <p:txEl>
                                              <p:pRg st="14" end="14"/>
                                            </p:txEl>
                                          </p:spTgt>
                                        </p:tgtEl>
                                        <p:attrNameLst>
                                          <p:attrName>style.visibility</p:attrName>
                                        </p:attrNameLst>
                                      </p:cBhvr>
                                      <p:to>
                                        <p:strVal val="visible"/>
                                      </p:to>
                                    </p:set>
                                    <p:animEffect transition="in" filter="fade">
                                      <p:cBhvr>
                                        <p:cTn id="36" dur="500"/>
                                        <p:tgtEl>
                                          <p:spTgt spid="4">
                                            <p:txEl>
                                              <p:pRg st="14" end="1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
                                            <p:txEl>
                                              <p:pRg st="16" end="16"/>
                                            </p:txEl>
                                          </p:spTgt>
                                        </p:tgtEl>
                                        <p:attrNameLst>
                                          <p:attrName>style.visibility</p:attrName>
                                        </p:attrNameLst>
                                      </p:cBhvr>
                                      <p:to>
                                        <p:strVal val="visible"/>
                                      </p:to>
                                    </p:set>
                                    <p:animEffect transition="in" filter="fade">
                                      <p:cBhvr>
                                        <p:cTn id="41" dur="500"/>
                                        <p:tgtEl>
                                          <p:spTgt spid="4">
                                            <p:txEl>
                                              <p:pRg st="16" end="16"/>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4">
                                            <p:txEl>
                                              <p:pRg st="17" end="17"/>
                                            </p:txEl>
                                          </p:spTgt>
                                        </p:tgtEl>
                                        <p:attrNameLst>
                                          <p:attrName>style.visibility</p:attrName>
                                        </p:attrNameLst>
                                      </p:cBhvr>
                                      <p:to>
                                        <p:strVal val="visible"/>
                                      </p:to>
                                    </p:set>
                                    <p:animEffect transition="in" filter="fade">
                                      <p:cBhvr>
                                        <p:cTn id="44" dur="500"/>
                                        <p:tgtEl>
                                          <p:spTgt spid="4">
                                            <p:txEl>
                                              <p:pRg st="17" end="17"/>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4">
                                            <p:txEl>
                                              <p:pRg st="18" end="18"/>
                                            </p:txEl>
                                          </p:spTgt>
                                        </p:tgtEl>
                                        <p:attrNameLst>
                                          <p:attrName>style.visibility</p:attrName>
                                        </p:attrNameLst>
                                      </p:cBhvr>
                                      <p:to>
                                        <p:strVal val="visible"/>
                                      </p:to>
                                    </p:set>
                                    <p:animEffect transition="in" filter="fade">
                                      <p:cBhvr>
                                        <p:cTn id="47" dur="500"/>
                                        <p:tgtEl>
                                          <p:spTgt spid="4">
                                            <p:txEl>
                                              <p:pRg st="18" end="1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xEl>
                                              <p:pRg st="0" end="0"/>
                                            </p:txEl>
                                          </p:spTgt>
                                        </p:tgtEl>
                                        <p:attrNameLst>
                                          <p:attrName>style.visibility</p:attrName>
                                        </p:attrNameLst>
                                      </p:cBhvr>
                                      <p:to>
                                        <p:strVal val="visible"/>
                                      </p:to>
                                    </p:set>
                                    <p:animEffect transition="in" filter="fade">
                                      <p:cBhvr>
                                        <p:cTn id="52" dur="500"/>
                                        <p:tgtEl>
                                          <p:spTgt spid="5">
                                            <p:txEl>
                                              <p:pRg st="0" end="0"/>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5">
                                            <p:txEl>
                                              <p:pRg st="1" end="1"/>
                                            </p:txEl>
                                          </p:spTgt>
                                        </p:tgtEl>
                                        <p:attrNameLst>
                                          <p:attrName>style.visibility</p:attrName>
                                        </p:attrNameLst>
                                      </p:cBhvr>
                                      <p:to>
                                        <p:strVal val="visible"/>
                                      </p:to>
                                    </p:set>
                                    <p:animEffect transition="in" filter="fade">
                                      <p:cBhvr>
                                        <p:cTn id="55" dur="500"/>
                                        <p:tgtEl>
                                          <p:spTgt spid="5">
                                            <p:txEl>
                                              <p:pRg st="1" end="1"/>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5">
                                            <p:txEl>
                                              <p:pRg st="2" end="2"/>
                                            </p:txEl>
                                          </p:spTgt>
                                        </p:tgtEl>
                                        <p:attrNameLst>
                                          <p:attrName>style.visibility</p:attrName>
                                        </p:attrNameLst>
                                      </p:cBhvr>
                                      <p:to>
                                        <p:strVal val="visible"/>
                                      </p:to>
                                    </p:set>
                                    <p:animEffect transition="in" filter="fade">
                                      <p:cBhvr>
                                        <p:cTn id="58" dur="500"/>
                                        <p:tgtEl>
                                          <p:spTgt spid="5">
                                            <p:txEl>
                                              <p:pRg st="2" end="2"/>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5">
                                            <p:txEl>
                                              <p:pRg st="3" end="3"/>
                                            </p:txEl>
                                          </p:spTgt>
                                        </p:tgtEl>
                                        <p:attrNameLst>
                                          <p:attrName>style.visibility</p:attrName>
                                        </p:attrNameLst>
                                      </p:cBhvr>
                                      <p:to>
                                        <p:strVal val="visible"/>
                                      </p:to>
                                    </p:set>
                                    <p:animEffect transition="in" filter="fade">
                                      <p:cBhvr>
                                        <p:cTn id="61" dur="500"/>
                                        <p:tgtEl>
                                          <p:spTgt spid="5">
                                            <p:txEl>
                                              <p:pRg st="3" end="3"/>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5">
                                            <p:txEl>
                                              <p:pRg st="4" end="4"/>
                                            </p:txEl>
                                          </p:spTgt>
                                        </p:tgtEl>
                                        <p:attrNameLst>
                                          <p:attrName>style.visibility</p:attrName>
                                        </p:attrNameLst>
                                      </p:cBhvr>
                                      <p:to>
                                        <p:strVal val="visible"/>
                                      </p:to>
                                    </p:set>
                                    <p:animEffect transition="in" filter="fade">
                                      <p:cBhvr>
                                        <p:cTn id="64" dur="500"/>
                                        <p:tgtEl>
                                          <p:spTgt spid="5">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5">
                                            <p:txEl>
                                              <p:pRg st="6" end="6"/>
                                            </p:txEl>
                                          </p:spTgt>
                                        </p:tgtEl>
                                        <p:attrNameLst>
                                          <p:attrName>style.visibility</p:attrName>
                                        </p:attrNameLst>
                                      </p:cBhvr>
                                      <p:to>
                                        <p:strVal val="visible"/>
                                      </p:to>
                                    </p:set>
                                    <p:animEffect transition="in" filter="fade">
                                      <p:cBhvr>
                                        <p:cTn id="69" dur="500"/>
                                        <p:tgtEl>
                                          <p:spTgt spid="5">
                                            <p:txEl>
                                              <p:pRg st="6" end="6"/>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5">
                                            <p:txEl>
                                              <p:pRg st="7" end="7"/>
                                            </p:txEl>
                                          </p:spTgt>
                                        </p:tgtEl>
                                        <p:attrNameLst>
                                          <p:attrName>style.visibility</p:attrName>
                                        </p:attrNameLst>
                                      </p:cBhvr>
                                      <p:to>
                                        <p:strVal val="visible"/>
                                      </p:to>
                                    </p:set>
                                    <p:animEffect transition="in" filter="fade">
                                      <p:cBhvr>
                                        <p:cTn id="72" dur="500"/>
                                        <p:tgtEl>
                                          <p:spTgt spid="5">
                                            <p:txEl>
                                              <p:pRg st="7" end="7"/>
                                            </p:txEl>
                                          </p:spTgt>
                                        </p:tgtEl>
                                      </p:cBhvr>
                                    </p:animEffect>
                                  </p:childTnLst>
                                </p:cTn>
                              </p:par>
                              <p:par>
                                <p:cTn id="73" presetID="10" presetClass="entr" presetSubtype="0" fill="hold" nodeType="withEffect">
                                  <p:stCondLst>
                                    <p:cond delay="0"/>
                                  </p:stCondLst>
                                  <p:childTnLst>
                                    <p:set>
                                      <p:cBhvr>
                                        <p:cTn id="74" dur="1" fill="hold">
                                          <p:stCondLst>
                                            <p:cond delay="0"/>
                                          </p:stCondLst>
                                        </p:cTn>
                                        <p:tgtEl>
                                          <p:spTgt spid="5">
                                            <p:txEl>
                                              <p:pRg st="8" end="8"/>
                                            </p:txEl>
                                          </p:spTgt>
                                        </p:tgtEl>
                                        <p:attrNameLst>
                                          <p:attrName>style.visibility</p:attrName>
                                        </p:attrNameLst>
                                      </p:cBhvr>
                                      <p:to>
                                        <p:strVal val="visible"/>
                                      </p:to>
                                    </p:set>
                                    <p:animEffect transition="in" filter="fade">
                                      <p:cBhvr>
                                        <p:cTn id="75" dur="500"/>
                                        <p:tgtEl>
                                          <p:spTgt spid="5">
                                            <p:txEl>
                                              <p:pRg st="8" end="8"/>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5">
                                            <p:txEl>
                                              <p:pRg st="10" end="10"/>
                                            </p:txEl>
                                          </p:spTgt>
                                        </p:tgtEl>
                                        <p:attrNameLst>
                                          <p:attrName>style.visibility</p:attrName>
                                        </p:attrNameLst>
                                      </p:cBhvr>
                                      <p:to>
                                        <p:strVal val="visible"/>
                                      </p:to>
                                    </p:set>
                                    <p:animEffect transition="in" filter="fade">
                                      <p:cBhvr>
                                        <p:cTn id="80" dur="500"/>
                                        <p:tgtEl>
                                          <p:spTgt spid="5">
                                            <p:txEl>
                                              <p:pRg st="10" end="10"/>
                                            </p:txEl>
                                          </p:spTgt>
                                        </p:tgtEl>
                                      </p:cBhvr>
                                    </p:animEffect>
                                  </p:childTnLst>
                                </p:cTn>
                              </p:par>
                              <p:par>
                                <p:cTn id="81" presetID="10" presetClass="entr" presetSubtype="0" fill="hold" nodeType="withEffect">
                                  <p:stCondLst>
                                    <p:cond delay="0"/>
                                  </p:stCondLst>
                                  <p:childTnLst>
                                    <p:set>
                                      <p:cBhvr>
                                        <p:cTn id="82" dur="1" fill="hold">
                                          <p:stCondLst>
                                            <p:cond delay="0"/>
                                          </p:stCondLst>
                                        </p:cTn>
                                        <p:tgtEl>
                                          <p:spTgt spid="5">
                                            <p:txEl>
                                              <p:pRg st="11" end="11"/>
                                            </p:txEl>
                                          </p:spTgt>
                                        </p:tgtEl>
                                        <p:attrNameLst>
                                          <p:attrName>style.visibility</p:attrName>
                                        </p:attrNameLst>
                                      </p:cBhvr>
                                      <p:to>
                                        <p:strVal val="visible"/>
                                      </p:to>
                                    </p:set>
                                    <p:animEffect transition="in" filter="fade">
                                      <p:cBhvr>
                                        <p:cTn id="83" dur="500"/>
                                        <p:tgtEl>
                                          <p:spTgt spid="5">
                                            <p:txEl>
                                              <p:pRg st="11" end="11"/>
                                            </p:txEl>
                                          </p:spTgt>
                                        </p:tgtEl>
                                      </p:cBhvr>
                                    </p:animEffect>
                                  </p:childTnLst>
                                </p:cTn>
                              </p:par>
                              <p:par>
                                <p:cTn id="84" presetID="10" presetClass="entr" presetSubtype="0" fill="hold" nodeType="withEffect">
                                  <p:stCondLst>
                                    <p:cond delay="0"/>
                                  </p:stCondLst>
                                  <p:childTnLst>
                                    <p:set>
                                      <p:cBhvr>
                                        <p:cTn id="85" dur="1" fill="hold">
                                          <p:stCondLst>
                                            <p:cond delay="0"/>
                                          </p:stCondLst>
                                        </p:cTn>
                                        <p:tgtEl>
                                          <p:spTgt spid="5">
                                            <p:txEl>
                                              <p:pRg st="12" end="12"/>
                                            </p:txEl>
                                          </p:spTgt>
                                        </p:tgtEl>
                                        <p:attrNameLst>
                                          <p:attrName>style.visibility</p:attrName>
                                        </p:attrNameLst>
                                      </p:cBhvr>
                                      <p:to>
                                        <p:strVal val="visible"/>
                                      </p:to>
                                    </p:set>
                                    <p:animEffect transition="in" filter="fade">
                                      <p:cBhvr>
                                        <p:cTn id="86" dur="500"/>
                                        <p:tgtEl>
                                          <p:spTgt spid="5">
                                            <p:txEl>
                                              <p:pRg st="12" end="12"/>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5">
                                            <p:txEl>
                                              <p:pRg st="14" end="14"/>
                                            </p:txEl>
                                          </p:spTgt>
                                        </p:tgtEl>
                                        <p:attrNameLst>
                                          <p:attrName>style.visibility</p:attrName>
                                        </p:attrNameLst>
                                      </p:cBhvr>
                                      <p:to>
                                        <p:strVal val="visible"/>
                                      </p:to>
                                    </p:set>
                                    <p:animEffect transition="in" filter="fade">
                                      <p:cBhvr>
                                        <p:cTn id="91" dur="500"/>
                                        <p:tgtEl>
                                          <p:spTgt spid="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498808D3-A836-5EDC-7B8C-309249F397B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99669084-3CCA-1770-6024-E848243FA0B7}"/>
              </a:ext>
            </a:extLst>
          </p:cNvPr>
          <p:cNvSpPr txBox="1"/>
          <p:nvPr/>
        </p:nvSpPr>
        <p:spPr>
          <a:xfrm>
            <a:off x="316056" y="4076531"/>
            <a:ext cx="7098887" cy="1334276"/>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F996-7635-1787-F807-1C7FEC317A8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4A366B4-B572-DAE1-DF2F-B770D0BED8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9CF50E5-C002-3A45-783D-A8BBBE0D520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7D3C917-8FEB-127C-5C2A-5F099C2969F8}"/>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5024C9A-42D5-5989-7E7B-2E9419BC75D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B59FEC39-794D-5D70-F15F-446880331E71}"/>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210C44E-CE92-0AE7-E274-3C48AFC7051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E2F114F-A8D1-E966-EA67-876B68FB94EE}"/>
              </a:ext>
            </a:extLst>
          </p:cNvPr>
          <p:cNvSpPr txBox="1"/>
          <p:nvPr/>
        </p:nvSpPr>
        <p:spPr>
          <a:xfrm>
            <a:off x="756447" y="2644758"/>
            <a:ext cx="16775106" cy="63118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At the simplest level, retail banks provide three crucial functions, namely:</a:t>
            </a:r>
          </a:p>
          <a:p>
            <a:pPr marL="971550" lvl="1" indent="-514350" algn="just">
              <a:lnSpc>
                <a:spcPct val="150000"/>
              </a:lnSpc>
              <a:buFont typeface="Arial" panose="020B0604020202020204" pitchFamily="34" charset="0"/>
              <a:buChar char="•"/>
            </a:pPr>
            <a:r>
              <a:rPr lang="en-US" sz="2800" dirty="0"/>
              <a:t>They take and provide customers with a secure place to store cash and, backed by deposit </a:t>
            </a:r>
            <a:r>
              <a:rPr lang="en-MY" sz="2800" dirty="0"/>
              <a:t>insurance and significant regulation.</a:t>
            </a:r>
            <a:endParaRPr lang="en-GB" sz="2800" dirty="0"/>
          </a:p>
          <a:p>
            <a:pPr marL="971550" lvl="1" indent="-514350" algn="just">
              <a:lnSpc>
                <a:spcPct val="150000"/>
              </a:lnSpc>
              <a:buFont typeface="Arial" panose="020B0604020202020204" pitchFamily="34" charset="0"/>
              <a:buChar char="•"/>
            </a:pPr>
            <a:r>
              <a:rPr lang="en-US" sz="2800" dirty="0"/>
              <a:t>They	through a range of systems, including cash, cards, and transfers.</a:t>
            </a:r>
            <a:endParaRPr lang="en-GB" sz="2800" dirty="0"/>
          </a:p>
          <a:p>
            <a:pPr marL="971550" lvl="1" indent="-514350" algn="just">
              <a:lnSpc>
                <a:spcPct val="150000"/>
              </a:lnSpc>
              <a:buFont typeface="Arial" panose="020B0604020202020204" pitchFamily="34" charset="0"/>
              <a:buChar char="•"/>
            </a:pPr>
            <a:r>
              <a:rPr lang="en-GB" sz="2800" dirty="0"/>
              <a:t>They lend money.</a:t>
            </a:r>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US" sz="2800" dirty="0"/>
              <a:t>For centuries, banking has remained fundamentally unchanged. </a:t>
            </a:r>
            <a:r>
              <a:rPr lang="en-US" sz="2800" u="sng" dirty="0"/>
              <a:t>In the simplest terms, banks match savers with borrowers</a:t>
            </a:r>
            <a:r>
              <a:rPr lang="en-US" sz="2800" dirty="0"/>
              <a:t>. They pay interest for deposits and make loans to businesses and consumers. Depositors see their savings grow, borrowers use the capital. Banks profit handsomely on the spread.</a:t>
            </a:r>
          </a:p>
        </p:txBody>
      </p:sp>
      <p:sp>
        <p:nvSpPr>
          <p:cNvPr id="4" name="TextBox 6">
            <a:extLst>
              <a:ext uri="{FF2B5EF4-FFF2-40B4-BE49-F238E27FC236}">
                <a16:creationId xmlns:a16="http://schemas.microsoft.com/office/drawing/2014/main" id="{D7703A2D-8146-8388-7268-39977DADB52D}"/>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Traditional Banking</a:t>
            </a:r>
          </a:p>
        </p:txBody>
      </p:sp>
    </p:spTree>
    <p:extLst>
      <p:ext uri="{BB962C8B-B14F-4D97-AF65-F5344CB8AC3E}">
        <p14:creationId xmlns:p14="http://schemas.microsoft.com/office/powerpoint/2010/main" val="4111208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fade">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8EDD-1AD8-A93D-2F0C-0256E0EF12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B29E743-F08C-2A28-8387-1FDBA5663B2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D39295D-258C-08A1-BFF4-83EAC04C3AF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CB5C3F0-4E18-CF00-22B6-4744A98E680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 (Traditional Banking)</a:t>
            </a:r>
          </a:p>
        </p:txBody>
      </p:sp>
      <p:sp>
        <p:nvSpPr>
          <p:cNvPr id="9" name="Date Placeholder 8">
            <a:extLst>
              <a:ext uri="{FF2B5EF4-FFF2-40B4-BE49-F238E27FC236}">
                <a16:creationId xmlns:a16="http://schemas.microsoft.com/office/drawing/2014/main" id="{03FB0C2A-3580-D389-11A8-6383AB855F9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B1EAA7E7-1297-38D9-4BAE-37BD3680167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D4ED1F-674C-1DE0-90DF-983A26A3740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38D0F06-535A-9AB2-1DB2-4724056BCE9B}"/>
              </a:ext>
            </a:extLst>
          </p:cNvPr>
          <p:cNvSpPr txBox="1"/>
          <p:nvPr/>
        </p:nvSpPr>
        <p:spPr>
          <a:xfrm>
            <a:off x="756447" y="1608990"/>
            <a:ext cx="16775106" cy="7481407"/>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u="sng" dirty="0"/>
              <a:t>Banks, as </a:t>
            </a:r>
            <a:r>
              <a:rPr lang="en-US" sz="2800" b="1" dirty="0"/>
              <a:t>intermediaries</a:t>
            </a:r>
            <a:r>
              <a:rPr lang="en-US" sz="2800" u="sng" dirty="0"/>
              <a:t>, have always added to the cost of borrowing and lending </a:t>
            </a:r>
            <a:r>
              <a:rPr lang="en-US" sz="2800" dirty="0"/>
              <a:t>– that’s the price we pay as a society for their market-making abilities. That spread represents a price that was accepted because the banks played a part in the community and served community needs.</a:t>
            </a:r>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US" sz="2800" dirty="0"/>
              <a:t>The current banking model is fundamentally unfair, due to the </a:t>
            </a:r>
            <a:r>
              <a:rPr lang="en-US" sz="2800" u="sng" dirty="0"/>
              <a:t>costs of using the banking system plus the profits of banks being overwhelmingly accrued from fees and charges that hit the poorest hardest.</a:t>
            </a:r>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US" sz="2800" b="1" dirty="0"/>
              <a:t>Incumbent Banks </a:t>
            </a:r>
            <a:r>
              <a:rPr lang="en-US" sz="2800" dirty="0"/>
              <a:t>have traditionally placed </a:t>
            </a:r>
            <a:r>
              <a:rPr lang="en-US" sz="2800" u="sng" dirty="0"/>
              <a:t>themselves at the center of their own universe</a:t>
            </a:r>
            <a:r>
              <a:rPr lang="en-US" sz="2800" dirty="0"/>
              <a:t>, while the </a:t>
            </a:r>
            <a:r>
              <a:rPr lang="en-US" sz="2800" u="sng" dirty="0"/>
              <a:t>customer came second.</a:t>
            </a:r>
            <a:r>
              <a:rPr lang="en-US" sz="2800" dirty="0"/>
              <a:t> The customer only had access to the bank during opening hours, and always had to play by the bank’s rules</a:t>
            </a:r>
          </a:p>
        </p:txBody>
      </p:sp>
    </p:spTree>
    <p:extLst>
      <p:ext uri="{BB962C8B-B14F-4D97-AF65-F5344CB8AC3E}">
        <p14:creationId xmlns:p14="http://schemas.microsoft.com/office/powerpoint/2010/main" val="349989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C0A9B-A2D2-C603-21EE-DB098E7A37A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996894F-2D51-B729-504F-62DDDA88FB0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1750EE3-A64F-BDD4-884C-BC1F2701C2D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ED4F29D-7334-D6E0-CAF7-7339ED65A72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 (Traditional Banking)</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BDA2C84-9123-C268-C364-39153A0D6DF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C01EC557-848C-5C56-8D77-129AB3B4AAF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0442047-F8D1-0F52-F3F3-2D6C2DE2E1C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450418B-092F-E106-58BE-598D6A31403E}"/>
              </a:ext>
            </a:extLst>
          </p:cNvPr>
          <p:cNvSpPr txBox="1"/>
          <p:nvPr/>
        </p:nvSpPr>
        <p:spPr>
          <a:xfrm>
            <a:off x="756447" y="1608990"/>
            <a:ext cx="16775106" cy="9508757"/>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For a long time, </a:t>
            </a:r>
            <a:r>
              <a:rPr lang="en-US" sz="2800" u="sng" dirty="0"/>
              <a:t>new market entrants found it difficult to break into the financial services industry</a:t>
            </a:r>
            <a:r>
              <a:rPr lang="en-US" sz="2800" dirty="0"/>
              <a:t>. The large, well-established financial institution that we call ‘incumbents’ had </a:t>
            </a:r>
            <a:r>
              <a:rPr lang="en-US" sz="2800" u="sng" dirty="0"/>
              <a:t>advantages in siz</a:t>
            </a:r>
            <a:r>
              <a:rPr lang="en-US" sz="2800" dirty="0"/>
              <a:t>e, and their networks added a multiplier effect. They had </a:t>
            </a:r>
            <a:r>
              <a:rPr lang="en-US" sz="2800" u="sng" dirty="0"/>
              <a:t>strong compliance systems in place to manage ever-increasing regulations</a:t>
            </a:r>
            <a:r>
              <a:rPr lang="en-US" sz="2800" dirty="0"/>
              <a:t>, and they had </a:t>
            </a:r>
            <a:r>
              <a:rPr lang="en-US" sz="2800" u="sng" dirty="0"/>
              <a:t>the client base and resources</a:t>
            </a:r>
            <a:r>
              <a:rPr lang="en-US" sz="2800" dirty="0"/>
              <a:t> to prosper even in tough economic conditions.</a:t>
            </a:r>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US" sz="2800" dirty="0"/>
              <a:t>The term “</a:t>
            </a:r>
            <a:r>
              <a:rPr lang="en-US" sz="2800" b="1" dirty="0"/>
              <a:t>FinTech</a:t>
            </a:r>
            <a:r>
              <a:rPr lang="en-US" sz="2800" dirty="0"/>
              <a:t>,” which is the short form of the phrase </a:t>
            </a:r>
            <a:r>
              <a:rPr lang="en-US" sz="2800" u="sng" dirty="0"/>
              <a:t>financial technology</a:t>
            </a:r>
            <a:r>
              <a:rPr lang="en-US" sz="2800" dirty="0"/>
              <a:t>, denotes companies or </a:t>
            </a:r>
            <a:r>
              <a:rPr lang="en-MY" sz="2800" dirty="0"/>
              <a:t>representatives of companies that </a:t>
            </a:r>
            <a:r>
              <a:rPr lang="en-MY" sz="2800" u="sng" dirty="0"/>
              <a:t>combine financial </a:t>
            </a:r>
            <a:r>
              <a:rPr lang="en-US" sz="2800" u="sng" dirty="0"/>
              <a:t>services with modern, innovative technologies</a:t>
            </a:r>
            <a:r>
              <a:rPr lang="en-US" sz="2800" dirty="0"/>
              <a:t>. It encompasses a new wave of companies changing the way people pay, send money, borrow, lend, and invest.</a:t>
            </a:r>
          </a:p>
          <a:p>
            <a:pPr marL="514350" indent="-514350" algn="just">
              <a:lnSpc>
                <a:spcPct val="200000"/>
              </a:lnSpc>
              <a:buFont typeface="Wingdings" panose="05000000000000000000" pitchFamily="2" charset="2"/>
              <a:buChar char="§"/>
            </a:pPr>
            <a:endParaRPr lang="en-MY" sz="2800" dirty="0">
              <a:latin typeface="Arial MT"/>
              <a:cs typeface="Arial MT"/>
            </a:endParaRPr>
          </a:p>
          <a:p>
            <a:pPr marL="514350" indent="-514350" algn="just">
              <a:lnSpc>
                <a:spcPct val="200000"/>
              </a:lnSpc>
              <a:buFont typeface="Wingdings" panose="05000000000000000000" pitchFamily="2" charset="2"/>
              <a:buChar char="§"/>
            </a:pPr>
            <a:endParaRPr lang="en-MY" sz="2800" dirty="0">
              <a:latin typeface="Arial MT"/>
              <a:cs typeface="Arial MT"/>
            </a:endParaRPr>
          </a:p>
          <a:p>
            <a:pPr marL="514350" indent="-514350" algn="just">
              <a:lnSpc>
                <a:spcPct val="200000"/>
              </a:lnSpc>
              <a:buFont typeface="Wingdings" panose="05000000000000000000" pitchFamily="2" charset="2"/>
              <a:buChar char="§"/>
            </a:pPr>
            <a:endParaRPr lang="en-US" sz="2800" dirty="0">
              <a:latin typeface="Arial MT"/>
              <a:cs typeface="Arial MT"/>
            </a:endParaRPr>
          </a:p>
        </p:txBody>
      </p:sp>
    </p:spTree>
    <p:extLst>
      <p:ext uri="{BB962C8B-B14F-4D97-AF65-F5344CB8AC3E}">
        <p14:creationId xmlns:p14="http://schemas.microsoft.com/office/powerpoint/2010/main" val="2977668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42DF0-1C5A-5E9D-8CCB-B6276539796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E7B6CE2-26EB-894D-BABC-60B80FEB645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17C0970-6E3C-4004-761C-F8FD8BD4060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3EE83AB-D2D7-F2CE-313C-342ACE0DA05E}"/>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76ABD46-6124-3321-0F65-D016248A057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A397EFBB-0F62-0A9A-B237-FEE55C19C67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0B4C8E6-95F3-43D9-4A59-D2AE66BD569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E0BFFC0-8E69-9A8F-CF09-863DFFAF8111}"/>
              </a:ext>
            </a:extLst>
          </p:cNvPr>
          <p:cNvSpPr txBox="1"/>
          <p:nvPr/>
        </p:nvSpPr>
        <p:spPr>
          <a:xfrm>
            <a:off x="756447" y="2644758"/>
            <a:ext cx="16775106" cy="606563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The finance industry has been protected because the capabilities that are the bedrock of the industry – trust, economic knowledge, capital management, risk management, capital distribution etc. – have until now been better embodied in large, integrated organizations like banks.</a:t>
            </a:r>
          </a:p>
          <a:p>
            <a:pPr marL="971550" lvl="1" indent="-514350" algn="just">
              <a:lnSpc>
                <a:spcPct val="150000"/>
              </a:lnSpc>
              <a:buFont typeface="Arial" panose="020B0604020202020204" pitchFamily="34" charset="0"/>
              <a:buChar char="•"/>
            </a:pPr>
            <a:endParaRPr lang="en-US" sz="1000" dirty="0"/>
          </a:p>
          <a:p>
            <a:pPr marL="971550" lvl="1" indent="-514350" algn="just">
              <a:lnSpc>
                <a:spcPct val="150000"/>
              </a:lnSpc>
              <a:buFont typeface="Arial" panose="020B0604020202020204" pitchFamily="34" charset="0"/>
              <a:buChar char="•"/>
            </a:pPr>
            <a:endParaRPr lang="en-US" sz="1000" dirty="0"/>
          </a:p>
          <a:p>
            <a:pPr marL="971550" lvl="1" indent="-514350" algn="just">
              <a:lnSpc>
                <a:spcPct val="150000"/>
              </a:lnSpc>
              <a:buFont typeface="Arial" panose="020B0604020202020204" pitchFamily="34" charset="0"/>
              <a:buChar char="•"/>
            </a:pPr>
            <a:endParaRPr lang="en-US" sz="1000" dirty="0"/>
          </a:p>
          <a:p>
            <a:pPr marL="971550" lvl="1" indent="-514350" algn="just">
              <a:lnSpc>
                <a:spcPct val="150000"/>
              </a:lnSpc>
              <a:buFont typeface="Arial" panose="020B0604020202020204" pitchFamily="34" charset="0"/>
              <a:buChar char="•"/>
            </a:pPr>
            <a:endParaRPr lang="en-US" sz="1000" dirty="0"/>
          </a:p>
          <a:p>
            <a:pPr marL="514350" indent="-514350" algn="just">
              <a:lnSpc>
                <a:spcPct val="200000"/>
              </a:lnSpc>
              <a:buFont typeface="Wingdings" panose="05000000000000000000" pitchFamily="2" charset="2"/>
              <a:buChar char="§"/>
            </a:pPr>
            <a:r>
              <a:rPr lang="en-US" sz="2800" dirty="0"/>
              <a:t>For centuries, banking has remained fundamentally unchanged. In the simplest terms, banks match savers with borrowers. They pay interest for deposits and make loans to businesses and consumers. Depositors see their savings grow; borrowers use the capital. Banks profit handsomely on the spread.</a:t>
            </a:r>
            <a:endParaRPr lang="en-MY" sz="2800" dirty="0"/>
          </a:p>
        </p:txBody>
      </p:sp>
      <p:sp>
        <p:nvSpPr>
          <p:cNvPr id="4" name="TextBox 6">
            <a:extLst>
              <a:ext uri="{FF2B5EF4-FFF2-40B4-BE49-F238E27FC236}">
                <a16:creationId xmlns:a16="http://schemas.microsoft.com/office/drawing/2014/main" id="{1B44D8FA-A385-19AC-8A18-8579F2C0C434}"/>
              </a:ext>
            </a:extLst>
          </p:cNvPr>
          <p:cNvSpPr txBox="1"/>
          <p:nvPr/>
        </p:nvSpPr>
        <p:spPr>
          <a:xfrm>
            <a:off x="756447" y="1805216"/>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1.2. 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3970021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583D5-588B-797D-BEAC-A96353CDFBF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E3356E7-DA0B-964D-CC1A-8281F4FC033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3663FEC-7F88-DB30-1041-ACDD75C0214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17CAA88-CFD9-CDAC-4EB9-45DBE33C74F4}"/>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 (Introduction)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8E99C71A-C624-32E7-A097-8DBFFE51ED8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6EF0DC59-7D3F-815C-A4CB-253750F9F4C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77B5F2A-4C9A-7DE4-A0E4-23CE0F567FD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EE0751B-4F97-4ADA-0843-947A36FF936D}"/>
              </a:ext>
            </a:extLst>
          </p:cNvPr>
          <p:cNvSpPr txBox="1"/>
          <p:nvPr/>
        </p:nvSpPr>
        <p:spPr>
          <a:xfrm>
            <a:off x="756447" y="1608990"/>
            <a:ext cx="16775106" cy="926651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US" sz="2800" b="1" dirty="0"/>
              <a:t>FinTech</a:t>
            </a:r>
            <a:r>
              <a:rPr lang="en-US" sz="2800" dirty="0"/>
              <a:t> is about </a:t>
            </a:r>
            <a:r>
              <a:rPr lang="en-US" sz="2800" u="sng" dirty="0"/>
              <a:t>using technology creatively</a:t>
            </a:r>
            <a:r>
              <a:rPr lang="en-US" sz="2800" dirty="0"/>
              <a:t> to improve our lives → making banking </a:t>
            </a:r>
            <a:r>
              <a:rPr lang="en-US" sz="2800" u="sng" dirty="0"/>
              <a:t>accessible and affordable</a:t>
            </a:r>
            <a:r>
              <a:rPr lang="en-US" sz="2800" dirty="0"/>
              <a:t>.</a:t>
            </a:r>
          </a:p>
          <a:p>
            <a:pPr marL="514350" indent="-514350" algn="just">
              <a:lnSpc>
                <a:spcPct val="200000"/>
              </a:lnSpc>
              <a:buFont typeface="Wingdings" panose="05000000000000000000" pitchFamily="2" charset="2"/>
              <a:buChar char="§"/>
            </a:pPr>
            <a:endParaRPr lang="en-US" sz="1000" b="1" dirty="0"/>
          </a:p>
          <a:p>
            <a:pPr marL="514350" indent="-514350" algn="just">
              <a:lnSpc>
                <a:spcPct val="200000"/>
              </a:lnSpc>
              <a:buFont typeface="Wingdings" panose="05000000000000000000" pitchFamily="2" charset="2"/>
              <a:buChar char="§"/>
            </a:pPr>
            <a:endParaRPr lang="en-US" sz="1000" b="1" dirty="0"/>
          </a:p>
          <a:p>
            <a:pPr marL="514350" indent="-514350" algn="just">
              <a:lnSpc>
                <a:spcPct val="200000"/>
              </a:lnSpc>
              <a:buFont typeface="Wingdings" panose="05000000000000000000" pitchFamily="2" charset="2"/>
              <a:buChar char="§"/>
            </a:pPr>
            <a:r>
              <a:rPr lang="en-US" sz="2800" b="1" dirty="0"/>
              <a:t>Fintech → </a:t>
            </a:r>
            <a:r>
              <a:rPr lang="en-US" sz="2800" dirty="0"/>
              <a:t>advances in technology that have the potential to transform the provision of financial services, spurring the development of new business models, applications, processes, and products (IMF-World Bank (2018)). </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r>
              <a:rPr lang="en-US" sz="2800" dirty="0"/>
              <a:t>Fintech activities can be observed in different types of financial services, such </a:t>
            </a:r>
            <a:r>
              <a:rPr lang="en-US" sz="2800" u="sng" dirty="0"/>
              <a:t>as deposits, lending and capital raising, insurance, investment management, and payments, clearing, and settlement</a:t>
            </a:r>
            <a:r>
              <a:rPr lang="en-US" sz="2800" dirty="0"/>
              <a:t>.</a:t>
            </a:r>
          </a:p>
          <a:p>
            <a:pPr marL="514350" indent="-514350" algn="just">
              <a:lnSpc>
                <a:spcPct val="200000"/>
              </a:lnSpc>
              <a:buFont typeface="Wingdings" panose="05000000000000000000" pitchFamily="2" charset="2"/>
              <a:buChar char="§"/>
            </a:pPr>
            <a:endParaRPr lang="en-MY" sz="28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MY" sz="2800" dirty="0"/>
          </a:p>
        </p:txBody>
      </p:sp>
    </p:spTree>
    <p:extLst>
      <p:ext uri="{BB962C8B-B14F-4D97-AF65-F5344CB8AC3E}">
        <p14:creationId xmlns:p14="http://schemas.microsoft.com/office/powerpoint/2010/main" val="261565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7A94C-0B87-9EDA-CCC8-C63FE60CBDE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DE0C462-B859-E0A9-EE38-818253401F3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68213F3-D2B9-00A5-4BE0-5A1407EBFC4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4BEB606-C344-1576-EC76-BBC5DF15A8AA}"/>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 (Introduction)</a:t>
            </a:r>
          </a:p>
        </p:txBody>
      </p:sp>
      <p:sp>
        <p:nvSpPr>
          <p:cNvPr id="9" name="Date Placeholder 8">
            <a:extLst>
              <a:ext uri="{FF2B5EF4-FFF2-40B4-BE49-F238E27FC236}">
                <a16:creationId xmlns:a16="http://schemas.microsoft.com/office/drawing/2014/main" id="{596508F6-0838-4A6E-A9A3-0EC5250F2F6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CD40D810-36E1-7AC3-4C24-26743A3824B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32EA923-BE99-6D93-C1EB-368783C8AF4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BEE05B0F-B169-58B9-174F-9A57420B6F7C}"/>
              </a:ext>
            </a:extLst>
          </p:cNvPr>
          <p:cNvSpPr txBox="1"/>
          <p:nvPr/>
        </p:nvSpPr>
        <p:spPr>
          <a:xfrm>
            <a:off x="756447" y="1608990"/>
            <a:ext cx="16775106" cy="957428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Definition has been adopted by the People’s Bank of China (PBOC) in its FinTech Development Plan (2019–2021) → defines </a:t>
            </a:r>
            <a:r>
              <a:rPr lang="en-US" sz="2800" b="1" dirty="0"/>
              <a:t>FinTech</a:t>
            </a:r>
            <a:r>
              <a:rPr lang="en-US" sz="2800" dirty="0"/>
              <a:t> as technology-enabled innovation in financial services that can result in new business models, applications, processes or products with an associated material effect on the provision of financial services.</a:t>
            </a:r>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US" sz="2800" dirty="0"/>
              <a:t>New participants in the market offer Internet-based and application-oriented products. </a:t>
            </a:r>
            <a:r>
              <a:rPr lang="en-US" sz="2800" dirty="0" err="1"/>
              <a:t>FinTechs</a:t>
            </a:r>
            <a:r>
              <a:rPr lang="en-US" sz="2800" dirty="0"/>
              <a:t> generally aim to attract customers with products and services that are more user-friendly, efficient, transparent, and automated than those currently available. </a:t>
            </a:r>
            <a:endParaRPr lang="en-MY" sz="2800" dirty="0"/>
          </a:p>
          <a:p>
            <a:pPr marL="514350" indent="-514350" algn="just">
              <a:lnSpc>
                <a:spcPct val="200000"/>
              </a:lnSpc>
              <a:buFont typeface="Wingdings" panose="05000000000000000000" pitchFamily="2" charset="2"/>
              <a:buChar char="§"/>
            </a:pPr>
            <a:endParaRPr lang="en-MY" sz="28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MY" sz="2800" dirty="0"/>
          </a:p>
        </p:txBody>
      </p:sp>
    </p:spTree>
    <p:extLst>
      <p:ext uri="{BB962C8B-B14F-4D97-AF65-F5344CB8AC3E}">
        <p14:creationId xmlns:p14="http://schemas.microsoft.com/office/powerpoint/2010/main" val="304510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286C0-5CB4-13FE-2C18-D0BAC130341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08E556B-1AB9-7134-2867-E90319B5715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3C154031-C1BA-5728-9D34-07432D1348C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652AD01-4E36-E20B-0414-F34233772AC0}"/>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 (Introduction)</a:t>
            </a:r>
          </a:p>
        </p:txBody>
      </p:sp>
      <p:sp>
        <p:nvSpPr>
          <p:cNvPr id="9" name="Date Placeholder 8">
            <a:extLst>
              <a:ext uri="{FF2B5EF4-FFF2-40B4-BE49-F238E27FC236}">
                <a16:creationId xmlns:a16="http://schemas.microsoft.com/office/drawing/2014/main" id="{1D46D7C8-3DEE-6873-D78D-420204FBE56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3FF1FABF-82DD-7FBF-0F93-C5FED84E1B4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0C98CB8-86F1-EF9D-7C72-770341BECBC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039E8BB-C6BB-8F7E-9BE6-9B2FD4B96910}"/>
              </a:ext>
            </a:extLst>
          </p:cNvPr>
          <p:cNvSpPr txBox="1"/>
          <p:nvPr/>
        </p:nvSpPr>
        <p:spPr>
          <a:xfrm>
            <a:off x="756447" y="1465591"/>
            <a:ext cx="16775106" cy="668118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US" sz="2800" dirty="0"/>
              <a:t>The financial industry is undergoing rapid technological change. Traditional banks face competition from online start-ups with no physical branches. Social media and other digital platforms are expanding into payments and credit. The increase in demand for digital services triggered by COVID-19 is turbo-charging this transformation.</a:t>
            </a:r>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US" sz="2800" dirty="0"/>
              <a:t>It is estimated that global investment in financial technology has increased by almost 100X, from $930 million in 2008 to more than $91.5 billion in 2021.</a:t>
            </a:r>
          </a:p>
          <a:p>
            <a:pPr marL="514350" indent="-514350" algn="just">
              <a:lnSpc>
                <a:spcPct val="200000"/>
              </a:lnSpc>
              <a:buFont typeface="Wingdings" panose="05000000000000000000" pitchFamily="2" charset="2"/>
              <a:buChar char="§"/>
            </a:pPr>
            <a:endParaRPr lang="en-MY" sz="2800" dirty="0"/>
          </a:p>
        </p:txBody>
      </p:sp>
    </p:spTree>
    <p:extLst>
      <p:ext uri="{BB962C8B-B14F-4D97-AF65-F5344CB8AC3E}">
        <p14:creationId xmlns:p14="http://schemas.microsoft.com/office/powerpoint/2010/main" val="354999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6" end="6"/>
                                            </p:txEl>
                                          </p:spTgt>
                                        </p:tgtEl>
                                        <p:attrNameLst>
                                          <p:attrName>style.visibility</p:attrName>
                                        </p:attrNameLst>
                                      </p:cBhvr>
                                      <p:to>
                                        <p:strVal val="visible"/>
                                      </p:to>
                                    </p:set>
                                    <p:animEffect transition="in" filter="fade">
                                      <p:cBhvr>
                                        <p:cTn id="1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9A4C4-47E1-F979-B7DA-129235CD7491}"/>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F41FEB9C-2663-1057-3B5E-F8F66D277DB3}"/>
              </a:ext>
            </a:extLst>
          </p:cNvPr>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CC6B9596-1D31-7309-2832-0D62F25EEF1F}"/>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105EA481-881D-E7E9-DE59-2D641850FCD3}"/>
              </a:ext>
            </a:extLst>
          </p:cNvPr>
          <p:cNvSpPr txBox="1"/>
          <p:nvPr/>
        </p:nvSpPr>
        <p:spPr>
          <a:xfrm>
            <a:off x="316056" y="4076531"/>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the Problem?</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23518556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7D160-B8BA-5C18-E164-A6225303D68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D438920-F036-FD88-9EF2-2D3345D4F0D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647BBD3-C2AF-A91A-3882-BCAB0FEE02D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702F9D5-A3DB-F6AE-1177-0EEF76862A8D}"/>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the Problem?</a:t>
            </a:r>
          </a:p>
        </p:txBody>
      </p:sp>
      <p:sp>
        <p:nvSpPr>
          <p:cNvPr id="9" name="Date Placeholder 8">
            <a:extLst>
              <a:ext uri="{FF2B5EF4-FFF2-40B4-BE49-F238E27FC236}">
                <a16:creationId xmlns:a16="http://schemas.microsoft.com/office/drawing/2014/main" id="{8E0B2697-D6EC-767B-596C-625E1FED440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AF30BCD5-18E6-C7E6-9210-9F83B187F6C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56EBD6A-FFFD-14E0-A155-DB346793996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A19045E-3677-689C-6459-6D0BD90FC3A7}"/>
              </a:ext>
            </a:extLst>
          </p:cNvPr>
          <p:cNvSpPr txBox="1"/>
          <p:nvPr/>
        </p:nvSpPr>
        <p:spPr>
          <a:xfrm>
            <a:off x="756447" y="2644758"/>
            <a:ext cx="16775106" cy="7481407"/>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birth and rise of FinTech is deeply rooted in the global financial crisis in 2008, and the erosion of trust it generated → people disappointed and angry at the banking system.</a:t>
            </a:r>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GB" sz="2800" dirty="0"/>
              <a:t>Digital natives (a.k.a. millennials) becoming old enough to be potential customers and their preferences pointed to the mobile services they understood and mastered, instead of bankers they could not relate to.</a:t>
            </a:r>
          </a:p>
          <a:p>
            <a:pPr marL="514350" indent="-514350" algn="just">
              <a:lnSpc>
                <a:spcPct val="200000"/>
              </a:lnSpc>
              <a:buFont typeface="Wingdings" panose="05000000000000000000" pitchFamily="2" charset="2"/>
              <a:buChar char="§"/>
            </a:pPr>
            <a:endParaRPr lang="en-GB" sz="1000" dirty="0"/>
          </a:p>
          <a:p>
            <a:pPr marL="514350" indent="-514350" algn="just">
              <a:lnSpc>
                <a:spcPct val="200000"/>
              </a:lnSpc>
              <a:buFont typeface="Wingdings" panose="05000000000000000000" pitchFamily="2" charset="2"/>
              <a:buChar char="§"/>
            </a:pPr>
            <a:r>
              <a:rPr lang="en-GB" sz="2800" dirty="0"/>
              <a:t>In this favourable landscape, FinTech providers came in, offering new and fresh services at lower costs, through well-designed platforms or mobile apps.</a:t>
            </a:r>
          </a:p>
          <a:p>
            <a:pPr marL="514350" indent="-514350" algn="just">
              <a:lnSpc>
                <a:spcPct val="200000"/>
              </a:lnSpc>
              <a:buFont typeface="Wingdings" panose="05000000000000000000" pitchFamily="2" charset="2"/>
              <a:buChar char="§"/>
            </a:pPr>
            <a:endParaRPr lang="en-GB" sz="2800" dirty="0"/>
          </a:p>
          <a:p>
            <a:pPr marL="514350" indent="-514350" algn="just">
              <a:lnSpc>
                <a:spcPct val="200000"/>
              </a:lnSpc>
              <a:buFont typeface="Wingdings" panose="05000000000000000000" pitchFamily="2" charset="2"/>
              <a:buChar char="§"/>
            </a:pPr>
            <a:endParaRPr lang="en-MY" sz="2800" dirty="0"/>
          </a:p>
        </p:txBody>
      </p:sp>
      <p:sp>
        <p:nvSpPr>
          <p:cNvPr id="4" name="TextBox 6">
            <a:extLst>
              <a:ext uri="{FF2B5EF4-FFF2-40B4-BE49-F238E27FC236}">
                <a16:creationId xmlns:a16="http://schemas.microsoft.com/office/drawing/2014/main" id="{8675E9A4-2C39-569D-3403-495CA5C81384}"/>
              </a:ext>
            </a:extLst>
          </p:cNvPr>
          <p:cNvSpPr txBox="1"/>
          <p:nvPr/>
        </p:nvSpPr>
        <p:spPr>
          <a:xfrm>
            <a:off x="756447" y="1805216"/>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2.1. How did it all begin?</a:t>
            </a:r>
          </a:p>
        </p:txBody>
      </p:sp>
    </p:spTree>
    <p:extLst>
      <p:ext uri="{BB962C8B-B14F-4D97-AF65-F5344CB8AC3E}">
        <p14:creationId xmlns:p14="http://schemas.microsoft.com/office/powerpoint/2010/main" val="223641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CE5E1-9401-A3A3-5FA9-0846E2317F5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17E247A-C847-56F4-1FFE-9BF00535AEA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90C6197-753D-4784-BB95-5E010A09F77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9CDA969-2F65-D98D-A279-B3E6A649A34B}"/>
              </a:ext>
            </a:extLst>
          </p:cNvPr>
          <p:cNvSpPr txBox="1"/>
          <p:nvPr/>
        </p:nvSpPr>
        <p:spPr>
          <a:xfrm>
            <a:off x="990600" y="300719"/>
            <a:ext cx="1543343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the Problem? (How did it all begin?)</a:t>
            </a:r>
          </a:p>
        </p:txBody>
      </p:sp>
      <p:sp>
        <p:nvSpPr>
          <p:cNvPr id="9" name="Date Placeholder 8">
            <a:extLst>
              <a:ext uri="{FF2B5EF4-FFF2-40B4-BE49-F238E27FC236}">
                <a16:creationId xmlns:a16="http://schemas.microsoft.com/office/drawing/2014/main" id="{3202ACDF-4E8A-5401-317D-94824418C1A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02B7EAFD-B9C4-2019-9A2C-F327336BDD2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3DCD725-AEE4-6834-5EFE-82753C015E6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631B4FB-717E-657F-08ED-9C94392B34D4}"/>
              </a:ext>
            </a:extLst>
          </p:cNvPr>
          <p:cNvSpPr txBox="1"/>
          <p:nvPr/>
        </p:nvSpPr>
        <p:spPr>
          <a:xfrm>
            <a:off x="756447" y="1608990"/>
            <a:ext cx="16775106" cy="637341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FinTech companies offer trust, transparency, and technology. Responding to a trust crisis towards banks, start ups are able to offer services at a lower cost in a more transparent way, through easy-to-use interfaces. The customer is king and there is no one who knows their customers better than youthful, edgy start-ups, often drawn from the ranks of the millennial generation itself.</a:t>
            </a:r>
          </a:p>
          <a:p>
            <a:pPr marL="514350" indent="-514350" algn="just">
              <a:lnSpc>
                <a:spcPct val="200000"/>
              </a:lnSpc>
              <a:buFont typeface="Wingdings" panose="05000000000000000000" pitchFamily="2" charset="2"/>
              <a:buChar char="§"/>
            </a:pPr>
            <a:endParaRPr lang="en-GB" sz="1000" dirty="0"/>
          </a:p>
          <a:p>
            <a:pPr marL="514350" indent="-514350" algn="just">
              <a:lnSpc>
                <a:spcPct val="200000"/>
              </a:lnSpc>
              <a:buFont typeface="Wingdings" panose="05000000000000000000" pitchFamily="2" charset="2"/>
              <a:buChar char="§"/>
            </a:pPr>
            <a:endParaRPr lang="en-GB" sz="1000" dirty="0"/>
          </a:p>
          <a:p>
            <a:pPr marL="514350" indent="-514350" algn="just">
              <a:lnSpc>
                <a:spcPct val="200000"/>
              </a:lnSpc>
              <a:buFont typeface="Wingdings" panose="05000000000000000000" pitchFamily="2" charset="2"/>
              <a:buChar char="§"/>
            </a:pPr>
            <a:endParaRPr lang="en-GB" sz="1000" dirty="0"/>
          </a:p>
          <a:p>
            <a:pPr marL="514350" indent="-514350" algn="just">
              <a:lnSpc>
                <a:spcPct val="200000"/>
              </a:lnSpc>
              <a:buFont typeface="Wingdings" panose="05000000000000000000" pitchFamily="2" charset="2"/>
              <a:buChar char="§"/>
            </a:pPr>
            <a:endParaRPr lang="en-GB" sz="1000" dirty="0"/>
          </a:p>
          <a:p>
            <a:pPr marL="514350" indent="-514350" algn="just">
              <a:lnSpc>
                <a:spcPct val="200000"/>
              </a:lnSpc>
              <a:buFont typeface="Wingdings" panose="05000000000000000000" pitchFamily="2" charset="2"/>
              <a:buChar char="§"/>
            </a:pPr>
            <a:r>
              <a:rPr lang="en-US" sz="2800" dirty="0"/>
              <a:t>The </a:t>
            </a:r>
            <a:r>
              <a:rPr lang="en-GB" sz="2800" dirty="0"/>
              <a:t>FinTech is providing access to information (that once belonged to a select few) to an ever-increasing pool of people. In our “information economy” age, that is a big democratic move.</a:t>
            </a:r>
          </a:p>
        </p:txBody>
      </p:sp>
    </p:spTree>
    <p:extLst>
      <p:ext uri="{BB962C8B-B14F-4D97-AF65-F5344CB8AC3E}">
        <p14:creationId xmlns:p14="http://schemas.microsoft.com/office/powerpoint/2010/main" val="1686987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03964-DF4C-2D82-32E0-227E1A11FC6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B18973C-3E50-0F45-E921-5185DC11FD6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8C86651-3BD5-7B4B-E5F1-BF697E398CF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CABB2A6-960C-D7F5-FCAD-B3E3B591FAAA}"/>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the Problem?</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F059E14A-0B86-2380-E39D-EF0EA40E71A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03E19DBE-342B-270D-79DC-64B949E967A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C6A8AD5-EB7E-92E0-129C-5493856AFFA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15</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76A734E0-4A53-B8FD-53BF-50248E3C07E5}"/>
              </a:ext>
            </a:extLst>
          </p:cNvPr>
          <p:cNvSpPr txBox="1"/>
          <p:nvPr/>
        </p:nvSpPr>
        <p:spPr>
          <a:xfrm>
            <a:off x="756447" y="1805216"/>
            <a:ext cx="13979461" cy="621902"/>
          </a:xfrm>
          <a:prstGeom prst="rect">
            <a:avLst/>
          </a:prstGeom>
        </p:spPr>
        <p:txBody>
          <a:bodyPr wrap="square"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2.2. How long does it take to open a bank account today?</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pic>
        <p:nvPicPr>
          <p:cNvPr id="8" name="Picture 7">
            <a:extLst>
              <a:ext uri="{FF2B5EF4-FFF2-40B4-BE49-F238E27FC236}">
                <a16:creationId xmlns:a16="http://schemas.microsoft.com/office/drawing/2014/main" id="{AB435A07-6177-B506-B6A3-4EEE1D3357A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29904" y="2862674"/>
            <a:ext cx="11228192" cy="6319216"/>
          </a:xfrm>
          <a:prstGeom prst="rect">
            <a:avLst/>
          </a:prstGeom>
        </p:spPr>
      </p:pic>
    </p:spTree>
    <p:extLst>
      <p:ext uri="{BB962C8B-B14F-4D97-AF65-F5344CB8AC3E}">
        <p14:creationId xmlns:p14="http://schemas.microsoft.com/office/powerpoint/2010/main" val="3608746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2B9F2-86D1-E6BC-9F47-3B53AD2D43C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A79D581-BB5E-B7A4-316D-BA78DBDB73F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2F2F1CE-EA36-2FB0-D5B1-0FAA201CB2F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805E914-CA33-1E53-308C-BFBF0DC067C0}"/>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the Problem?</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2B40E9E6-203E-044A-0EDF-DEBE39F570B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3495D8C7-3BE6-33A2-374E-37F932F79CD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F1BEBEA-10EF-03F7-5EB0-F281BDD4644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4A013EC-9E66-5FE0-A3DA-112FCC68F48E}"/>
              </a:ext>
            </a:extLst>
          </p:cNvPr>
          <p:cNvSpPr txBox="1"/>
          <p:nvPr/>
        </p:nvSpPr>
        <p:spPr>
          <a:xfrm>
            <a:off x="756447" y="2644758"/>
            <a:ext cx="16775106" cy="670427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According to a TransferWise survey, the five main factors that prompt consumers to choose technology providers over banks are as follows:</a:t>
            </a:r>
            <a:endParaRPr lang="en-US" sz="2800" dirty="0"/>
          </a:p>
          <a:p>
            <a:pPr marL="971550" lvl="1" indent="-514350" algn="just">
              <a:lnSpc>
                <a:spcPct val="200000"/>
              </a:lnSpc>
              <a:buFont typeface="Arial" panose="020B0604020202020204" pitchFamily="34" charset="0"/>
              <a:buChar char="•"/>
            </a:pPr>
            <a:r>
              <a:rPr lang="en-GB" sz="2800" dirty="0"/>
              <a:t>a more secure service than banks (34%),</a:t>
            </a:r>
          </a:p>
          <a:p>
            <a:pPr marL="971550" lvl="1" indent="-514350" algn="just">
              <a:lnSpc>
                <a:spcPct val="200000"/>
              </a:lnSpc>
              <a:buFont typeface="Arial" panose="020B0604020202020204" pitchFamily="34" charset="0"/>
              <a:buChar char="•"/>
            </a:pPr>
            <a:r>
              <a:rPr lang="en-GB" sz="2800" dirty="0"/>
              <a:t>a lower cost than banks (29%),</a:t>
            </a:r>
          </a:p>
          <a:p>
            <a:pPr marL="971550" lvl="1" indent="-514350" algn="just">
              <a:lnSpc>
                <a:spcPct val="200000"/>
              </a:lnSpc>
              <a:buFont typeface="Arial" panose="020B0604020202020204" pitchFamily="34" charset="0"/>
              <a:buChar char="•"/>
            </a:pPr>
            <a:r>
              <a:rPr lang="en-GB" sz="2800" dirty="0"/>
              <a:t>a more convenient service than banks (26%),</a:t>
            </a:r>
          </a:p>
          <a:p>
            <a:pPr marL="971550" lvl="1" indent="-514350" algn="just">
              <a:lnSpc>
                <a:spcPct val="200000"/>
              </a:lnSpc>
              <a:buFont typeface="Arial" panose="020B0604020202020204" pitchFamily="34" charset="0"/>
              <a:buChar char="•"/>
            </a:pPr>
            <a:r>
              <a:rPr lang="en-GB" sz="2800" dirty="0"/>
              <a:t>a quicker service than banks (18%),</a:t>
            </a:r>
          </a:p>
          <a:p>
            <a:pPr marL="971550" lvl="1" indent="-514350" algn="just">
              <a:lnSpc>
                <a:spcPct val="200000"/>
              </a:lnSpc>
              <a:buFont typeface="Arial" panose="020B0604020202020204" pitchFamily="34" charset="0"/>
              <a:buChar char="•"/>
            </a:pPr>
            <a:r>
              <a:rPr lang="en-GB" sz="2800" dirty="0"/>
              <a:t>a better customer service than banks (18%).</a:t>
            </a:r>
          </a:p>
          <a:p>
            <a:pPr marL="971550" lvl="1" indent="-514350" algn="just">
              <a:lnSpc>
                <a:spcPct val="150000"/>
              </a:lnSpc>
              <a:buFont typeface="Arial" panose="020B0604020202020204" pitchFamily="34" charset="0"/>
              <a:buChar char="•"/>
            </a:pPr>
            <a:endParaRPr lang="en-MY" sz="2800" dirty="0"/>
          </a:p>
        </p:txBody>
      </p:sp>
      <p:sp>
        <p:nvSpPr>
          <p:cNvPr id="4" name="TextBox 6">
            <a:extLst>
              <a:ext uri="{FF2B5EF4-FFF2-40B4-BE49-F238E27FC236}">
                <a16:creationId xmlns:a16="http://schemas.microsoft.com/office/drawing/2014/main" id="{7C615956-7D28-30E7-6626-0ED902398098}"/>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2.3. </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rPr>
              <a:t>How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Why choose technology providers over banks</a:t>
            </a:r>
          </a:p>
        </p:txBody>
      </p:sp>
    </p:spTree>
    <p:extLst>
      <p:ext uri="{BB962C8B-B14F-4D97-AF65-F5344CB8AC3E}">
        <p14:creationId xmlns:p14="http://schemas.microsoft.com/office/powerpoint/2010/main" val="159186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fade">
                                      <p:cBhvr>
                                        <p:cTn id="3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95498-5E8A-07E7-9B7B-ED584B0E59CC}"/>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43ED731F-E717-60F3-9640-B0EED5D0BC12}"/>
              </a:ext>
            </a:extLst>
          </p:cNvPr>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2A22F559-63AD-08D0-E8FE-D313B3FEF24C}"/>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E4B8B905-636A-B298-6A8C-18C3A5A74D5A}"/>
              </a:ext>
            </a:extLst>
          </p:cNvPr>
          <p:cNvSpPr txBox="1"/>
          <p:nvPr/>
        </p:nvSpPr>
        <p:spPr>
          <a:xfrm>
            <a:off x="175427" y="2952868"/>
            <a:ext cx="7710344"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Intermediaries</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&amp;</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Disintermediation</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3276413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D7FAA-9B82-3555-96BC-B068BF6BBD0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36D9533-2BC3-D193-0E19-E9AB7BB5371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9BDA64C-DED2-852D-902A-98937D42312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F89C105-A549-D9C5-3C04-B7FD25FCCC69}"/>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Intermediaries &amp; Disintermediation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9D729A58-A5B5-CD21-2966-B27736FB547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FD664E8C-A659-48F8-C4BD-B53D29E0416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3A23A80-A83F-0B17-9ACF-DB1BCBD902E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8E2847E-E774-462D-EA90-22F4A70F5E24}"/>
              </a:ext>
            </a:extLst>
          </p:cNvPr>
          <p:cNvSpPr txBox="1"/>
          <p:nvPr/>
        </p:nvSpPr>
        <p:spPr>
          <a:xfrm>
            <a:off x="756447" y="2644758"/>
            <a:ext cx="16775106" cy="7743017"/>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As these new (fintech) systems are markets, not banks, this is a potentially disruptive model. The reasons are…</a:t>
            </a:r>
            <a:endParaRPr lang="en-US" sz="2800" dirty="0"/>
          </a:p>
          <a:p>
            <a:pPr marL="971550" lvl="1" indent="-514350" algn="just">
              <a:lnSpc>
                <a:spcPct val="150000"/>
              </a:lnSpc>
              <a:buFont typeface="Arial" panose="020B0604020202020204" pitchFamily="34" charset="0"/>
              <a:buChar char="•"/>
            </a:pPr>
            <a:r>
              <a:rPr lang="en-GB" sz="2800" dirty="0"/>
              <a:t>By cutting out the middleman the system promises lower interest rates to borrowers and higher returns to lenders if they actively manage their lending;</a:t>
            </a:r>
          </a:p>
          <a:p>
            <a:pPr marL="971550" lvl="1" indent="-514350" algn="just">
              <a:lnSpc>
                <a:spcPct val="150000"/>
              </a:lnSpc>
              <a:buFont typeface="Arial" panose="020B0604020202020204" pitchFamily="34" charset="0"/>
              <a:buChar char="•"/>
            </a:pPr>
            <a:r>
              <a:rPr lang="en-GB" sz="2800" dirty="0"/>
              <a:t>The lender, not the service, carries the risk of bad debt;</a:t>
            </a:r>
          </a:p>
          <a:p>
            <a:pPr marL="971550" lvl="1" indent="-514350" algn="just">
              <a:lnSpc>
                <a:spcPct val="150000"/>
              </a:lnSpc>
              <a:buFont typeface="Arial" panose="020B0604020202020204" pitchFamily="34" charset="0"/>
              <a:buChar char="•"/>
            </a:pPr>
            <a:r>
              <a:rPr lang="en-GB" sz="2800" dirty="0"/>
              <a:t>The agent is not required to maintain any liquidity;</a:t>
            </a:r>
          </a:p>
          <a:p>
            <a:pPr marL="971550" lvl="1" indent="-514350" algn="just">
              <a:lnSpc>
                <a:spcPct val="150000"/>
              </a:lnSpc>
              <a:buFont typeface="Arial" panose="020B0604020202020204" pitchFamily="34" charset="0"/>
              <a:buChar char="•"/>
            </a:pPr>
            <a:r>
              <a:rPr lang="en-GB" sz="2800" dirty="0"/>
              <a:t>The agents’ returns are volume-based rather than risk based</a:t>
            </a:r>
          </a:p>
          <a:p>
            <a:pPr marL="971550" lvl="1" indent="-514350" algn="just">
              <a:lnSpc>
                <a:spcPct val="150000"/>
              </a:lnSpc>
              <a:buFont typeface="Arial" panose="020B0604020202020204" pitchFamily="34" charset="0"/>
              <a:buChar char="•"/>
            </a:pPr>
            <a:endParaRPr lang="en-US" sz="1000" dirty="0"/>
          </a:p>
          <a:p>
            <a:pPr marL="514350" indent="-514350" algn="just">
              <a:lnSpc>
                <a:spcPct val="200000"/>
              </a:lnSpc>
              <a:buFont typeface="Wingdings" panose="05000000000000000000" pitchFamily="2" charset="2"/>
              <a:buChar char="§"/>
            </a:pPr>
            <a:r>
              <a:rPr lang="en-GB" sz="2800" dirty="0"/>
              <a:t>The current wave of innovation, built as it is on the progressive digitization of the society and by the incremental technology now available and pushed forward by “fintech” new players, has a number of clearly identifiable features:</a:t>
            </a:r>
          </a:p>
          <a:p>
            <a:pPr marL="514350" indent="-514350" algn="just">
              <a:lnSpc>
                <a:spcPct val="200000"/>
              </a:lnSpc>
              <a:buFont typeface="Wingdings" panose="05000000000000000000" pitchFamily="2" charset="2"/>
              <a:buChar char="§"/>
            </a:pPr>
            <a:endParaRPr lang="en-MY" sz="2800" dirty="0"/>
          </a:p>
        </p:txBody>
      </p:sp>
      <p:sp>
        <p:nvSpPr>
          <p:cNvPr id="4" name="TextBox 6">
            <a:extLst>
              <a:ext uri="{FF2B5EF4-FFF2-40B4-BE49-F238E27FC236}">
                <a16:creationId xmlns:a16="http://schemas.microsoft.com/office/drawing/2014/main" id="{239B3D5C-E146-086D-9A77-4D20F109D075}"/>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3.1.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Disintermediation</a:t>
            </a:r>
          </a:p>
        </p:txBody>
      </p:sp>
    </p:spTree>
    <p:extLst>
      <p:ext uri="{BB962C8B-B14F-4D97-AF65-F5344CB8AC3E}">
        <p14:creationId xmlns:p14="http://schemas.microsoft.com/office/powerpoint/2010/main" val="1048588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47B6-3CB4-AA72-4DC7-4648395F7CE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7742B1A-B9BF-5C6D-9AC3-B8A319AF022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BDA916F-9BE2-97E7-C112-B738C839340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FF5C001-AB0C-9CFE-B87A-9F96C62A72FA}"/>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Intermediaries &amp; Disintermediation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E6D18D2-F67E-5B84-E5D6-3CDA744DD34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3256A8BB-8DF0-AF29-9FEB-1286306E541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E17920C-287D-A0FD-F0EC-B73FE7D18C8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19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C7645302-1E08-DFEF-B56D-C975C0EA08A7}"/>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current wave of innovation, built as it is on the progressive digitization of society and by the incremental technology now available and pushed forward by “fintech” new players, has several clearly identifiable features:</a:t>
            </a:r>
          </a:p>
          <a:p>
            <a:pPr marL="514350" indent="-514350" algn="just">
              <a:lnSpc>
                <a:spcPct val="200000"/>
              </a:lnSpc>
              <a:buFont typeface="Wingdings" panose="05000000000000000000" pitchFamily="2" charset="2"/>
              <a:buChar char="§"/>
            </a:pPr>
            <a:endParaRPr lang="en-GB" sz="2800" dirty="0"/>
          </a:p>
          <a:p>
            <a:pPr marL="514350" indent="-514350" algn="just">
              <a:lnSpc>
                <a:spcPct val="200000"/>
              </a:lnSpc>
              <a:buFont typeface="+mj-lt"/>
              <a:buAutoNum type="arabicPeriod"/>
            </a:pPr>
            <a:r>
              <a:rPr lang="en-US" sz="2800" dirty="0"/>
              <a:t>I</a:t>
            </a:r>
            <a:r>
              <a:rPr lang="en-GB" sz="2800" dirty="0"/>
              <a:t>t has now become more deliberate and targeted, often at the harm of traditional banks, as incumbents are perceived more and more as inefficient, overregulated, and mostly unable to react in a prompt way.</a:t>
            </a:r>
          </a:p>
          <a:p>
            <a:pPr marL="514350" indent="-514350" algn="just">
              <a:lnSpc>
                <a:spcPct val="200000"/>
              </a:lnSpc>
              <a:buFont typeface="Wingdings" panose="05000000000000000000" pitchFamily="2" charset="2"/>
              <a:buChar char="§"/>
            </a:pPr>
            <a:endParaRPr lang="en-GB" sz="2800" dirty="0"/>
          </a:p>
          <a:p>
            <a:pPr marL="514350" indent="-514350" algn="just">
              <a:lnSpc>
                <a:spcPct val="200000"/>
              </a:lnSpc>
              <a:buFont typeface="Wingdings" panose="05000000000000000000" pitchFamily="2" charset="2"/>
              <a:buChar char="§"/>
            </a:pPr>
            <a:endParaRPr lang="en-MY" sz="2800" dirty="0"/>
          </a:p>
        </p:txBody>
      </p:sp>
      <p:sp>
        <p:nvSpPr>
          <p:cNvPr id="4" name="TextBox 6">
            <a:extLst>
              <a:ext uri="{FF2B5EF4-FFF2-40B4-BE49-F238E27FC236}">
                <a16:creationId xmlns:a16="http://schemas.microsoft.com/office/drawing/2014/main" id="{65ED07F7-728B-0A49-8406-155DA6B646B2}"/>
              </a:ext>
            </a:extLst>
          </p:cNvPr>
          <p:cNvSpPr txBox="1"/>
          <p:nvPr/>
        </p:nvSpPr>
        <p:spPr>
          <a:xfrm>
            <a:off x="756447" y="1805216"/>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3.2.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Features</a:t>
            </a:r>
          </a:p>
        </p:txBody>
      </p:sp>
    </p:spTree>
    <p:extLst>
      <p:ext uri="{BB962C8B-B14F-4D97-AF65-F5344CB8AC3E}">
        <p14:creationId xmlns:p14="http://schemas.microsoft.com/office/powerpoint/2010/main" val="689798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23061-B8E4-7EF8-C440-128800E71CE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3164D9E-F936-7342-9E89-560905578A5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A51E6D9-E4FA-AAE9-CEC7-67E8B9E6995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CC4D912-B5D4-D1FF-BD57-71C02556B279}"/>
              </a:ext>
            </a:extLst>
          </p:cNvPr>
          <p:cNvSpPr txBox="1"/>
          <p:nvPr/>
        </p:nvSpPr>
        <p:spPr>
          <a:xfrm>
            <a:off x="990600" y="300719"/>
            <a:ext cx="12954000" cy="1327223"/>
          </a:xfrm>
          <a:prstGeom prst="rect">
            <a:avLst/>
          </a:prstGeom>
        </p:spPr>
        <p:txBody>
          <a:bodyPr wrap="square"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Intermediaries &amp; Disintermediation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 Features</a:t>
            </a:r>
          </a:p>
          <a:p>
            <a:pPr>
              <a:lnSpc>
                <a:spcPts val="5472"/>
              </a:lnSpc>
              <a:defRPr/>
            </a:pP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6301DD67-7BB0-6040-0F5C-2F260C79DC8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4F3BA3D1-632B-39D3-4642-7565205E63D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8247F09-6EBE-FC1F-6208-83CE8276637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175A3CD-7B18-29FD-75D3-5140CCDA3509}"/>
              </a:ext>
            </a:extLst>
          </p:cNvPr>
          <p:cNvSpPr txBox="1"/>
          <p:nvPr/>
        </p:nvSpPr>
        <p:spPr>
          <a:xfrm>
            <a:off x="756447" y="1608990"/>
            <a:ext cx="16775106" cy="6373411"/>
          </a:xfrm>
          <a:prstGeom prst="rect">
            <a:avLst/>
          </a:prstGeom>
          <a:noFill/>
        </p:spPr>
        <p:txBody>
          <a:bodyPr wrap="square" rtlCol="0">
            <a:spAutoFit/>
          </a:bodyPr>
          <a:lstStyle/>
          <a:p>
            <a:pPr marL="514350" indent="-514350" algn="just">
              <a:lnSpc>
                <a:spcPct val="200000"/>
              </a:lnSpc>
              <a:buFont typeface="+mj-lt"/>
              <a:buAutoNum type="arabicPeriod"/>
            </a:pPr>
            <a:endParaRPr lang="en-GB" sz="1000" dirty="0"/>
          </a:p>
          <a:p>
            <a:pPr marL="514350" indent="-514350" algn="just">
              <a:lnSpc>
                <a:spcPct val="200000"/>
              </a:lnSpc>
              <a:buFont typeface="+mj-lt"/>
              <a:buAutoNum type="arabicPeriod"/>
            </a:pPr>
            <a:endParaRPr lang="en-GB" sz="1000" dirty="0"/>
          </a:p>
          <a:p>
            <a:pPr algn="just">
              <a:lnSpc>
                <a:spcPct val="200000"/>
              </a:lnSpc>
            </a:pPr>
            <a:endParaRPr lang="en-GB" sz="1000" dirty="0"/>
          </a:p>
          <a:p>
            <a:pPr marL="514350" indent="-514350" algn="just">
              <a:lnSpc>
                <a:spcPct val="200000"/>
              </a:lnSpc>
              <a:buFont typeface="+mj-lt"/>
              <a:buAutoNum type="arabicPeriod" startAt="2"/>
            </a:pPr>
            <a:r>
              <a:rPr lang="en-GB" sz="2800" dirty="0"/>
              <a:t>The focus of the competitive attack from digital players has become mostly associated with the greatest sources of clients’ friction and pain in their relationship with existing incumbents.</a:t>
            </a:r>
          </a:p>
          <a:p>
            <a:pPr marL="514350" indent="-514350" algn="just">
              <a:lnSpc>
                <a:spcPct val="200000"/>
              </a:lnSpc>
              <a:buFont typeface="+mj-lt"/>
              <a:buAutoNum type="arabicPeriod" startAt="2"/>
            </a:pPr>
            <a:endParaRPr lang="en-GB" sz="1000" dirty="0"/>
          </a:p>
          <a:p>
            <a:pPr marL="971550" lvl="1" indent="-514350" algn="just">
              <a:lnSpc>
                <a:spcPct val="150000"/>
              </a:lnSpc>
              <a:buFont typeface="Arial" panose="020B0604020202020204" pitchFamily="34" charset="0"/>
              <a:buChar char="•"/>
            </a:pPr>
            <a:r>
              <a:rPr lang="en-GB" sz="2800" dirty="0"/>
              <a:t>Eg → the time to answer in lending, ranging from many weeks to a few months for the incumbents and approaching real time for some of the new web-based digital lenders, → using sophisticated psychometric analysis, as well as all kinds of applied analytics techniques to mine unstructured sources of data, both “formal” and “social”</a:t>
            </a:r>
            <a:endParaRPr lang="en-MY" sz="2800" dirty="0"/>
          </a:p>
          <a:p>
            <a:pPr marL="514350" indent="-514350" algn="just">
              <a:lnSpc>
                <a:spcPct val="200000"/>
              </a:lnSpc>
              <a:buFont typeface="+mj-lt"/>
              <a:buAutoNum type="arabicPeriod" startAt="2"/>
            </a:pPr>
            <a:endParaRPr lang="en-GB" sz="2800" dirty="0"/>
          </a:p>
        </p:txBody>
      </p:sp>
    </p:spTree>
    <p:extLst>
      <p:ext uri="{BB962C8B-B14F-4D97-AF65-F5344CB8AC3E}">
        <p14:creationId xmlns:p14="http://schemas.microsoft.com/office/powerpoint/2010/main" val="243005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500"/>
                                        <p:tgtEl>
                                          <p:spTgt spid="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977CE-6B4D-B700-A10F-E960ED9EFCF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DC465DA-AEB3-38B7-1DB9-BB34E25CD78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D4FC787-65F1-3CF4-F599-A74FC70124C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FBB16FB-7C87-4006-7215-BB57AB0AEC36}"/>
              </a:ext>
            </a:extLst>
          </p:cNvPr>
          <p:cNvSpPr txBox="1"/>
          <p:nvPr/>
        </p:nvSpPr>
        <p:spPr>
          <a:xfrm>
            <a:off x="990600" y="300719"/>
            <a:ext cx="11103077" cy="621902"/>
          </a:xfrm>
          <a:prstGeom prst="rect">
            <a:avLst/>
          </a:prstGeom>
        </p:spPr>
        <p:txBody>
          <a:bodyPr wrap="square"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Intermediaries &amp; Disintermediation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 Features</a:t>
            </a:r>
          </a:p>
        </p:txBody>
      </p:sp>
      <p:sp>
        <p:nvSpPr>
          <p:cNvPr id="9" name="Date Placeholder 8">
            <a:extLst>
              <a:ext uri="{FF2B5EF4-FFF2-40B4-BE49-F238E27FC236}">
                <a16:creationId xmlns:a16="http://schemas.microsoft.com/office/drawing/2014/main" id="{1E1B1E4D-210B-E37D-EBA2-43F7F009D08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B027A2D-ADD6-658E-0C02-513E9B95124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D11E189-7E5F-27B9-E37E-8E38FB6BA29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E2ADEE9-E7A5-F073-754B-8516D4F9F30A}"/>
              </a:ext>
            </a:extLst>
          </p:cNvPr>
          <p:cNvSpPr txBox="1"/>
          <p:nvPr/>
        </p:nvSpPr>
        <p:spPr>
          <a:xfrm>
            <a:off x="756447" y="1608990"/>
            <a:ext cx="16775106" cy="6796604"/>
          </a:xfrm>
          <a:prstGeom prst="rect">
            <a:avLst/>
          </a:prstGeom>
          <a:noFill/>
        </p:spPr>
        <p:txBody>
          <a:bodyPr wrap="square" rtlCol="0">
            <a:spAutoFit/>
          </a:bodyPr>
          <a:lstStyle/>
          <a:p>
            <a:pPr marL="514350" indent="-514350" algn="just">
              <a:lnSpc>
                <a:spcPct val="200000"/>
              </a:lnSpc>
              <a:buFont typeface="+mj-lt"/>
              <a:buAutoNum type="arabicPeriod" startAt="3"/>
            </a:pPr>
            <a:endParaRPr lang="en-GB" sz="2800" dirty="0"/>
          </a:p>
          <a:p>
            <a:pPr marL="514350" indent="-514350" algn="just">
              <a:lnSpc>
                <a:spcPct val="200000"/>
              </a:lnSpc>
              <a:buFont typeface="+mj-lt"/>
              <a:buAutoNum type="arabicPeriod" startAt="3"/>
            </a:pPr>
            <a:r>
              <a:rPr lang="en-GB" sz="2800" dirty="0"/>
              <a:t>It has the greatest impact where the new digital challengers can employ business models that are platform-based, data-intensive, and capital light, or capital-less</a:t>
            </a:r>
          </a:p>
          <a:p>
            <a:pPr marL="514350" indent="-514350" algn="just">
              <a:lnSpc>
                <a:spcPct val="200000"/>
              </a:lnSpc>
              <a:buFont typeface="+mj-lt"/>
              <a:buAutoNum type="arabicPeriod" startAt="3"/>
            </a:pPr>
            <a:endParaRPr lang="en-GB" sz="1000" dirty="0"/>
          </a:p>
          <a:p>
            <a:pPr marL="971550" lvl="1" indent="-514350" algn="just">
              <a:lnSpc>
                <a:spcPct val="150000"/>
              </a:lnSpc>
              <a:buFont typeface="Arial" panose="020B0604020202020204" pitchFamily="34" charset="0"/>
              <a:buChar char="•"/>
            </a:pPr>
            <a:r>
              <a:rPr lang="en-GB" sz="2800" dirty="0" err="1"/>
              <a:t>Eg.</a:t>
            </a:r>
            <a:r>
              <a:rPr lang="en-GB" sz="2800" dirty="0"/>
              <a:t> → As technology is mostly providing the transformation of information into intelligence, it has also become clear that long dated banks’ trust (significantly tarnished after the global financial crisis and the many scandals related to misconduct—from misspelling to market rates manipulation to money laundering etc.) can be eventually replaced by the brand value of new digital players—new names and logos not even present few years ago.</a:t>
            </a:r>
          </a:p>
          <a:p>
            <a:pPr marL="971550" lvl="1" indent="-514350" algn="just">
              <a:lnSpc>
                <a:spcPct val="150000"/>
              </a:lnSpc>
              <a:buFont typeface="Arial" panose="020B0604020202020204" pitchFamily="34" charset="0"/>
              <a:buChar char="•"/>
            </a:pPr>
            <a:endParaRPr lang="en-GB" sz="2800" dirty="0"/>
          </a:p>
        </p:txBody>
      </p:sp>
    </p:spTree>
    <p:extLst>
      <p:ext uri="{BB962C8B-B14F-4D97-AF65-F5344CB8AC3E}">
        <p14:creationId xmlns:p14="http://schemas.microsoft.com/office/powerpoint/2010/main" val="1172390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3" end="3"/>
                                            </p:txEl>
                                          </p:spTgt>
                                        </p:tgtEl>
                                        <p:attrNameLst>
                                          <p:attrName>style.visibility</p:attrName>
                                        </p:attrNameLst>
                                      </p:cBhvr>
                                      <p:to>
                                        <p:strVal val="visible"/>
                                      </p:to>
                                    </p:set>
                                    <p:animEffect transition="in" filter="fade">
                                      <p:cBhvr>
                                        <p:cTn id="1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D2A0E-83F6-7293-FDBD-EC5D0452C2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94FC6A1-4F92-5836-EC30-D2A3A39819F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3098342-30C7-4B21-7DEC-C98DFC6A727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076C6C2-3E88-F364-0430-E5359B0E510B}"/>
              </a:ext>
            </a:extLst>
          </p:cNvPr>
          <p:cNvSpPr txBox="1"/>
          <p:nvPr/>
        </p:nvSpPr>
        <p:spPr>
          <a:xfrm>
            <a:off x="990600" y="300719"/>
            <a:ext cx="11722510" cy="1327223"/>
          </a:xfrm>
          <a:prstGeom prst="rect">
            <a:avLst/>
          </a:prstGeom>
        </p:spPr>
        <p:txBody>
          <a:bodyPr wrap="square"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Intermediaries &amp; Disintermediation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 Features</a:t>
            </a:r>
          </a:p>
          <a:p>
            <a:pPr>
              <a:lnSpc>
                <a:spcPts val="5472"/>
              </a:lnSpc>
              <a:defRPr/>
            </a:pP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14CC446C-3C5E-25AB-37CE-1C7D16F7718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1B5809B8-4055-F31B-E5BB-63CB35262B6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904D149-1391-580F-4A3E-0B6956631EC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AF95ECFA-79D0-BB47-697A-ACB48677B631}"/>
              </a:ext>
            </a:extLst>
          </p:cNvPr>
          <p:cNvSpPr txBox="1"/>
          <p:nvPr/>
        </p:nvSpPr>
        <p:spPr>
          <a:xfrm>
            <a:off x="756447" y="1608990"/>
            <a:ext cx="16775106" cy="6373411"/>
          </a:xfrm>
          <a:prstGeom prst="rect">
            <a:avLst/>
          </a:prstGeom>
          <a:noFill/>
        </p:spPr>
        <p:txBody>
          <a:bodyPr wrap="square" rtlCol="0">
            <a:spAutoFit/>
          </a:bodyPr>
          <a:lstStyle/>
          <a:p>
            <a:pPr marL="514350" indent="-514350" algn="just">
              <a:lnSpc>
                <a:spcPct val="200000"/>
              </a:lnSpc>
              <a:buFont typeface="+mj-lt"/>
              <a:buAutoNum type="arabicPeriod" startAt="4"/>
            </a:pPr>
            <a:r>
              <a:rPr lang="en-US" sz="2800" dirty="0"/>
              <a:t>I</a:t>
            </a:r>
            <a:r>
              <a:rPr lang="en-GB" sz="2800" dirty="0"/>
              <a:t>t has most immediate effects on very specific processes, whilst impacting significantly the global functions performed by the financial system at large, it is therefore starting in a very vertical, surgical way to then expand horizontally across the overall financial services value chain, to reach and get hold of the client.</a:t>
            </a:r>
          </a:p>
          <a:p>
            <a:pPr marL="514350" indent="-514350" algn="just">
              <a:lnSpc>
                <a:spcPct val="200000"/>
              </a:lnSpc>
              <a:buFont typeface="+mj-lt"/>
              <a:buAutoNum type="arabicPeriod" startAt="4"/>
            </a:pPr>
            <a:endParaRPr lang="en-GB" sz="1000" dirty="0"/>
          </a:p>
          <a:p>
            <a:pPr marL="514350" indent="-514350" algn="just">
              <a:lnSpc>
                <a:spcPct val="200000"/>
              </a:lnSpc>
              <a:buFont typeface="+mj-lt"/>
              <a:buAutoNum type="arabicPeriod" startAt="4"/>
            </a:pPr>
            <a:endParaRPr lang="en-GB" sz="1000" dirty="0"/>
          </a:p>
          <a:p>
            <a:pPr marL="514350" indent="-514350" algn="just">
              <a:lnSpc>
                <a:spcPct val="200000"/>
              </a:lnSpc>
              <a:buFont typeface="+mj-lt"/>
              <a:buAutoNum type="arabicPeriod" startAt="4"/>
            </a:pPr>
            <a:endParaRPr lang="en-GB" sz="1000" dirty="0"/>
          </a:p>
          <a:p>
            <a:pPr marL="514350" indent="-514350" algn="just">
              <a:lnSpc>
                <a:spcPct val="200000"/>
              </a:lnSpc>
              <a:buFont typeface="+mj-lt"/>
              <a:buAutoNum type="arabicPeriod" startAt="4"/>
            </a:pPr>
            <a:endParaRPr lang="en-GB" sz="1000" dirty="0"/>
          </a:p>
          <a:p>
            <a:pPr marL="514350" indent="-514350" algn="just">
              <a:lnSpc>
                <a:spcPct val="200000"/>
              </a:lnSpc>
              <a:buFont typeface="+mj-lt"/>
              <a:buAutoNum type="arabicPeriod" startAt="4"/>
            </a:pPr>
            <a:r>
              <a:rPr lang="en-GB" sz="2800" dirty="0"/>
              <a:t>It needs to change almost continuously, as incumbents naturally try to react with similar strategies, leveraging their legacy assets, often ending up providing the very digital challengers the infrastructure and the services they require to compete in new ways and forms.</a:t>
            </a:r>
          </a:p>
        </p:txBody>
      </p:sp>
    </p:spTree>
    <p:extLst>
      <p:ext uri="{BB962C8B-B14F-4D97-AF65-F5344CB8AC3E}">
        <p14:creationId xmlns:p14="http://schemas.microsoft.com/office/powerpoint/2010/main" val="826369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5" end="5"/>
                                            </p:txEl>
                                          </p:spTgt>
                                        </p:tgtEl>
                                        <p:attrNameLst>
                                          <p:attrName>style.visibility</p:attrName>
                                        </p:attrNameLst>
                                      </p:cBhvr>
                                      <p:to>
                                        <p:strVal val="visible"/>
                                      </p:to>
                                    </p:set>
                                    <p:animEffect transition="in" filter="fade">
                                      <p:cBhvr>
                                        <p:cTn id="1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A9088-2736-C742-C4B2-8AE032A22D2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F96F23E-4EA4-15F4-6D39-51880B0FA85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CB63F75-826B-EE91-9E56-C93BBAE38A1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F7FB5913-4048-9C28-9E80-090310A9CC56}"/>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Intermediaries &amp; Disintermediation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A5144102-0A63-23F6-A912-20728CF5BF2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5E19EBCA-0AEA-EC26-DE9B-3339387FB5C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C8BBBE3-E694-70E3-CB3F-8D1FBCC16F7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19B7463-28AA-69BC-0C39-FFCC00B3ED72}"/>
              </a:ext>
            </a:extLst>
          </p:cNvPr>
          <p:cNvSpPr txBox="1"/>
          <p:nvPr/>
        </p:nvSpPr>
        <p:spPr>
          <a:xfrm>
            <a:off x="756447" y="2644758"/>
            <a:ext cx="16775106" cy="701204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Fintech is a disruptive force in the financial services system, essentially for the following reasons:</a:t>
            </a:r>
          </a:p>
          <a:p>
            <a:pPr marL="971550" lvl="1" indent="-514350" algn="just">
              <a:lnSpc>
                <a:spcPct val="200000"/>
              </a:lnSpc>
              <a:buFont typeface="Arial" panose="020B0604020202020204" pitchFamily="34" charset="0"/>
              <a:buChar char="•"/>
            </a:pPr>
            <a:r>
              <a:rPr lang="en-GB" sz="2800" b="1" dirty="0"/>
              <a:t>Unbundling: </a:t>
            </a:r>
            <a:r>
              <a:rPr lang="en-GB" sz="2800" dirty="0"/>
              <a:t>Historically, large financial institutions served as one-stop shops and could count on their loyal customers to turn to them for all of their financial needs. More and more customers are eager to shop around and are comfortable using multiple providers to </a:t>
            </a:r>
            <a:r>
              <a:rPr lang="en-GB" sz="2800" dirty="0" err="1"/>
              <a:t>fulfill</a:t>
            </a:r>
            <a:r>
              <a:rPr lang="en-GB" sz="2800" dirty="0"/>
              <a:t> their financial services needs.</a:t>
            </a:r>
          </a:p>
          <a:p>
            <a:pPr marL="971550" lvl="1" indent="-514350" algn="just">
              <a:lnSpc>
                <a:spcPct val="200000"/>
              </a:lnSpc>
              <a:buFont typeface="Arial" panose="020B0604020202020204" pitchFamily="34" charset="0"/>
              <a:buChar char="•"/>
            </a:pPr>
            <a:endParaRPr lang="en-GB" sz="1000" dirty="0"/>
          </a:p>
          <a:p>
            <a:pPr marL="971550" lvl="1" indent="-514350" algn="just">
              <a:lnSpc>
                <a:spcPct val="200000"/>
              </a:lnSpc>
              <a:buFont typeface="Arial" panose="020B0604020202020204" pitchFamily="34" charset="0"/>
              <a:buChar char="•"/>
            </a:pPr>
            <a:r>
              <a:rPr lang="en-GB" sz="2800" b="1" dirty="0"/>
              <a:t>Creating better, more innovative products and services: </a:t>
            </a:r>
            <a:r>
              <a:rPr lang="en-GB" sz="2800" dirty="0"/>
              <a:t>Thanks in part to the unbundling trend, fintech startups often have the opportunity to create better products and services than their entrenched competitors.</a:t>
            </a:r>
          </a:p>
          <a:p>
            <a:pPr marL="971550" lvl="1" indent="-514350" algn="just">
              <a:lnSpc>
                <a:spcPct val="150000"/>
              </a:lnSpc>
              <a:buFont typeface="Arial" panose="020B0604020202020204" pitchFamily="34" charset="0"/>
              <a:buChar char="•"/>
            </a:pPr>
            <a:endParaRPr lang="en-MY" sz="2800" dirty="0"/>
          </a:p>
        </p:txBody>
      </p:sp>
      <p:sp>
        <p:nvSpPr>
          <p:cNvPr id="4" name="TextBox 6">
            <a:extLst>
              <a:ext uri="{FF2B5EF4-FFF2-40B4-BE49-F238E27FC236}">
                <a16:creationId xmlns:a16="http://schemas.microsoft.com/office/drawing/2014/main" id="{488A613D-C789-A8AB-2546-6CDDC23CFEF9}"/>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3.3. Fin</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Tech as a Disruptive Force</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2087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B5126-5F85-9678-509B-0C55DC16BFD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5CB0A09-8336-9902-19CA-17CDB9146EC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D135BB6-C24F-CFDA-9336-4292126DC91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392F53F-3A2F-851A-2AB5-44A283BCB338}"/>
              </a:ext>
            </a:extLst>
          </p:cNvPr>
          <p:cNvSpPr txBox="1"/>
          <p:nvPr/>
        </p:nvSpPr>
        <p:spPr>
          <a:xfrm>
            <a:off x="990600" y="300719"/>
            <a:ext cx="14082252" cy="621902"/>
          </a:xfrm>
          <a:prstGeom prst="rect">
            <a:avLst/>
          </a:prstGeom>
        </p:spPr>
        <p:txBody>
          <a:bodyPr wrap="square"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Intermediaries &amp; Disintermediation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 FinTech as a Disruptive Force</a:t>
            </a:r>
          </a:p>
        </p:txBody>
      </p:sp>
      <p:sp>
        <p:nvSpPr>
          <p:cNvPr id="9" name="Date Placeholder 8">
            <a:extLst>
              <a:ext uri="{FF2B5EF4-FFF2-40B4-BE49-F238E27FC236}">
                <a16:creationId xmlns:a16="http://schemas.microsoft.com/office/drawing/2014/main" id="{ABCFC2CD-D86A-47AF-7FE0-8EAF5D3F3C2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FEACD7E6-903B-8D0B-A713-15F3BAE640C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DFF93A9-D49A-E7A0-0D2B-6880C20E7459}"/>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CCAC0C3-684A-4A18-A363-9065ED673DCC}"/>
              </a:ext>
            </a:extLst>
          </p:cNvPr>
          <p:cNvSpPr txBox="1"/>
          <p:nvPr/>
        </p:nvSpPr>
        <p:spPr>
          <a:xfrm>
            <a:off x="756447" y="1608990"/>
            <a:ext cx="16775106" cy="8343181"/>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GB" sz="2800" b="1" dirty="0"/>
              <a:t>Improving customer experience: </a:t>
            </a:r>
            <a:r>
              <a:rPr lang="en-GB" sz="2800" dirty="0"/>
              <a:t>Traditional financial institutions did not have to worry about customer experience because of the historical lock-in they held. Fintech companies use customer experience as a key point of differentiation. This gives them a real edge in customer acquisition and retention.</a:t>
            </a:r>
          </a:p>
          <a:p>
            <a:pPr marL="514350" indent="-514350" algn="just">
              <a:lnSpc>
                <a:spcPct val="200000"/>
              </a:lnSpc>
              <a:buFont typeface="Arial" panose="020B0604020202020204" pitchFamily="34" charset="0"/>
              <a:buChar char="•"/>
            </a:pPr>
            <a:endParaRPr lang="en-GB" sz="1000" dirty="0"/>
          </a:p>
          <a:p>
            <a:pPr marL="514350" indent="-514350" algn="just">
              <a:lnSpc>
                <a:spcPct val="200000"/>
              </a:lnSpc>
              <a:buFont typeface="Arial" panose="020B0604020202020204" pitchFamily="34" charset="0"/>
              <a:buChar char="•"/>
            </a:pPr>
            <a:r>
              <a:rPr lang="en-GB" sz="2800" dirty="0"/>
              <a:t> </a:t>
            </a:r>
            <a:r>
              <a:rPr lang="en-GB" sz="2800" b="1" dirty="0"/>
              <a:t>Offering better pricing: </a:t>
            </a:r>
            <a:r>
              <a:rPr lang="en-GB" sz="2800" dirty="0"/>
              <a:t>Fintech upstarts are exploiting increased consumer sophistication and decreased trust in large financial services providers to create offerings that have more compelling pricing. </a:t>
            </a:r>
          </a:p>
          <a:p>
            <a:pPr marL="514350" indent="-514350" algn="just">
              <a:lnSpc>
                <a:spcPct val="200000"/>
              </a:lnSpc>
              <a:buFont typeface="Arial" panose="020B0604020202020204" pitchFamily="34" charset="0"/>
              <a:buChar char="•"/>
            </a:pPr>
            <a:endParaRPr lang="en-GB" sz="1000" dirty="0"/>
          </a:p>
          <a:p>
            <a:pPr marL="514350" indent="-514350" algn="just">
              <a:lnSpc>
                <a:spcPct val="200000"/>
              </a:lnSpc>
              <a:buFont typeface="Arial" panose="020B0604020202020204" pitchFamily="34" charset="0"/>
              <a:buChar char="•"/>
            </a:pPr>
            <a:r>
              <a:rPr lang="en-GB" sz="2800" b="1" dirty="0"/>
              <a:t>Targeting underserved markets: </a:t>
            </a:r>
            <a:r>
              <a:rPr lang="en-GB" sz="2800" dirty="0"/>
              <a:t>Many fintech startups hope not only to build a business serving the underserved markets, but also to leverage them as footholds for later expansion into other markets or upselling to their initial market</a:t>
            </a:r>
          </a:p>
          <a:p>
            <a:pPr marL="514350" indent="-514350" algn="just">
              <a:lnSpc>
                <a:spcPct val="200000"/>
              </a:lnSpc>
              <a:buFont typeface="Arial" panose="020B0604020202020204" pitchFamily="34" charset="0"/>
              <a:buChar char="•"/>
            </a:pPr>
            <a:endParaRPr lang="en-GB" sz="2800" dirty="0"/>
          </a:p>
        </p:txBody>
      </p:sp>
    </p:spTree>
    <p:extLst>
      <p:ext uri="{BB962C8B-B14F-4D97-AF65-F5344CB8AC3E}">
        <p14:creationId xmlns:p14="http://schemas.microsoft.com/office/powerpoint/2010/main" val="2042644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98485-779A-BDA5-43DA-6DC28C44CFB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734DFF8-52FE-932D-5D7E-D808FF8141C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3352D9B-5442-7A45-6339-26E140FBC08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96A6A43B-BC2A-24E4-D3E7-19BA6801F7D7}"/>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Intermediaries &amp; Disintermediation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1B4AE9AD-545B-437C-1CBA-D6E0D6EA98F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B1501579-CE5F-04AD-BBC2-236524A4F97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2D908DC-9BC3-7C30-679C-4272487D9BD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56947E51-7FE7-8C83-3EC0-4F83EEF0350A}"/>
              </a:ext>
            </a:extLst>
          </p:cNvPr>
          <p:cNvSpPr txBox="1"/>
          <p:nvPr/>
        </p:nvSpPr>
        <p:spPr>
          <a:xfrm>
            <a:off x="756447" y="2644758"/>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The following are:</a:t>
            </a:r>
          </a:p>
          <a:p>
            <a:pPr marL="971550" lvl="1" indent="-514350" algn="just">
              <a:lnSpc>
                <a:spcPct val="200000"/>
              </a:lnSpc>
              <a:buFont typeface="Arial" panose="020B0604020202020204" pitchFamily="34" charset="0"/>
              <a:buChar char="•"/>
            </a:pPr>
            <a:r>
              <a:rPr lang="en-GB" sz="2800" b="1" dirty="0"/>
              <a:t>Best Customer Experience:</a:t>
            </a:r>
            <a:r>
              <a:rPr lang="en-GB" sz="2800" dirty="0"/>
              <a:t> Customer is at the forefront… innovating for the customer (Apple).</a:t>
            </a:r>
          </a:p>
          <a:p>
            <a:pPr marL="971550" lvl="1" indent="-514350" algn="just">
              <a:lnSpc>
                <a:spcPct val="200000"/>
              </a:lnSpc>
              <a:buFont typeface="Arial" panose="020B0604020202020204" pitchFamily="34" charset="0"/>
              <a:buChar char="•"/>
            </a:pPr>
            <a:r>
              <a:rPr lang="en-GB" sz="2800" b="1" dirty="0"/>
              <a:t>Asset Light Operations: </a:t>
            </a:r>
            <a:r>
              <a:rPr lang="en-GB" sz="2800" dirty="0"/>
              <a:t>No big factories… such as Uber (they don’t have taxis, they don’t have employees), </a:t>
            </a:r>
            <a:r>
              <a:rPr lang="en-GB" sz="2800" dirty="0" err="1"/>
              <a:t>AirBnB</a:t>
            </a:r>
            <a:r>
              <a:rPr lang="en-GB" sz="2800" dirty="0"/>
              <a:t>…they are just marketplaces → connecting one person with another</a:t>
            </a:r>
          </a:p>
        </p:txBody>
      </p:sp>
      <p:sp>
        <p:nvSpPr>
          <p:cNvPr id="4" name="TextBox 6">
            <a:extLst>
              <a:ext uri="{FF2B5EF4-FFF2-40B4-BE49-F238E27FC236}">
                <a16:creationId xmlns:a16="http://schemas.microsoft.com/office/drawing/2014/main" id="{5C5CC04E-854B-1656-F81C-07525BCE2039}"/>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3.4.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The Secret to Success</a:t>
            </a:r>
          </a:p>
        </p:txBody>
      </p:sp>
    </p:spTree>
    <p:extLst>
      <p:ext uri="{BB962C8B-B14F-4D97-AF65-F5344CB8AC3E}">
        <p14:creationId xmlns:p14="http://schemas.microsoft.com/office/powerpoint/2010/main" val="144562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65FE9-843B-8721-E7EB-1A7D65301A8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5C1014E-C373-1173-F5F9-264AB0611D0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CA80E1F-782A-3007-4A59-7AA21F56195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A118EAD-6FEF-1573-9981-FDD5D70F52C0}"/>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Intermediaries &amp; Disintermediation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1A362E62-758D-A0F0-3E53-CED2C2C796F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366DDA8D-2B47-7323-F388-F3CBD42917D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7938550-1937-AA36-1E93-E7E7EACEABE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958AAC0F-4360-8035-2759-E7D9B8F36371}"/>
              </a:ext>
            </a:extLst>
          </p:cNvPr>
          <p:cNvSpPr txBox="1"/>
          <p:nvPr/>
        </p:nvSpPr>
        <p:spPr>
          <a:xfrm>
            <a:off x="756447" y="2644758"/>
            <a:ext cx="16775106" cy="557319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3200" dirty="0"/>
              <a:t>High-level insights on innovation in financial services:</a:t>
            </a:r>
          </a:p>
          <a:p>
            <a:pPr marL="971550" lvl="1" indent="-514350" algn="just">
              <a:lnSpc>
                <a:spcPct val="200000"/>
              </a:lnSpc>
              <a:buFont typeface="Arial" panose="020B0604020202020204" pitchFamily="34" charset="0"/>
              <a:buChar char="•"/>
            </a:pPr>
            <a:r>
              <a:rPr lang="en-GB" sz="2800" dirty="0"/>
              <a:t>Innovation in financial services is </a:t>
            </a:r>
            <a:r>
              <a:rPr lang="en-GB" sz="2800" b="1" dirty="0"/>
              <a:t>deliberate and predictable</a:t>
            </a:r>
            <a:r>
              <a:rPr lang="en-GB" sz="2800" dirty="0"/>
              <a:t>; incumbent players are most likely to be attacked where the </a:t>
            </a:r>
            <a:r>
              <a:rPr lang="en-GB" sz="2800" b="1" dirty="0"/>
              <a:t>greatest sources of customer friction </a:t>
            </a:r>
            <a:r>
              <a:rPr lang="en-GB" sz="2800" dirty="0"/>
              <a:t>meet the </a:t>
            </a:r>
            <a:r>
              <a:rPr lang="en-GB" sz="2800" b="1" dirty="0"/>
              <a:t>largest profit pools.</a:t>
            </a:r>
          </a:p>
          <a:p>
            <a:pPr marL="971550" lvl="1" indent="-514350" algn="just">
              <a:lnSpc>
                <a:spcPct val="200000"/>
              </a:lnSpc>
              <a:buFont typeface="Arial" panose="020B0604020202020204" pitchFamily="34" charset="0"/>
              <a:buChar char="•"/>
            </a:pPr>
            <a:endParaRPr lang="en-GB" sz="1000" b="1" dirty="0"/>
          </a:p>
          <a:p>
            <a:pPr marL="971550" lvl="1" indent="-514350" algn="just">
              <a:lnSpc>
                <a:spcPct val="200000"/>
              </a:lnSpc>
              <a:buFont typeface="Arial" panose="020B0604020202020204" pitchFamily="34" charset="0"/>
              <a:buChar char="•"/>
            </a:pPr>
            <a:r>
              <a:rPr lang="en-GB" sz="2800" dirty="0"/>
              <a:t>The most imminent effects of disruption will be felt in the banking sector; however, the greatest impact of disruption is likely to be felt in the insurance sector</a:t>
            </a:r>
          </a:p>
          <a:p>
            <a:pPr marL="971550" lvl="1" indent="-514350" algn="just">
              <a:lnSpc>
                <a:spcPct val="200000"/>
              </a:lnSpc>
              <a:buFont typeface="Arial" panose="020B0604020202020204" pitchFamily="34" charset="0"/>
              <a:buChar char="•"/>
            </a:pPr>
            <a:endParaRPr lang="en-GB" sz="2800" b="1" dirty="0"/>
          </a:p>
        </p:txBody>
      </p:sp>
      <p:sp>
        <p:nvSpPr>
          <p:cNvPr id="4" name="TextBox 6">
            <a:extLst>
              <a:ext uri="{FF2B5EF4-FFF2-40B4-BE49-F238E27FC236}">
                <a16:creationId xmlns:a16="http://schemas.microsoft.com/office/drawing/2014/main" id="{54B06ABB-F802-2109-FB06-1104FA9ACC33}"/>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3.5. Insights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88858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31817-45C5-B85C-0602-D1AF32762BD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8AA4D77-72DF-12B4-F80F-B6FAE6AD770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5840E72-9CF8-72F3-788F-7EC555D31DE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2C39A2F-7B61-7A0E-462D-A7C1F6B4A0E6}"/>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Intermediaries &amp; Disintermediation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AF23DC29-B16B-40A9-7B70-8D803DCBE0F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FF905F3D-8D4B-7C70-3BA1-B84E91DDBC0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51C44A2-2EF0-3325-A4F7-CEE7A11B5CA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61BF291-929D-2F76-888C-D1D3BAC4A07A}"/>
              </a:ext>
            </a:extLst>
          </p:cNvPr>
          <p:cNvSpPr txBox="1"/>
          <p:nvPr/>
        </p:nvSpPr>
        <p:spPr>
          <a:xfrm>
            <a:off x="756447" y="2644758"/>
            <a:ext cx="16775106" cy="557319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3200" dirty="0"/>
              <a:t>High-level insights on innovation in financial services:</a:t>
            </a:r>
          </a:p>
          <a:p>
            <a:pPr marL="971550" lvl="1" indent="-514350" algn="just">
              <a:lnSpc>
                <a:spcPct val="200000"/>
              </a:lnSpc>
              <a:buFont typeface="Arial" panose="020B0604020202020204" pitchFamily="34" charset="0"/>
              <a:buChar char="•"/>
            </a:pPr>
            <a:r>
              <a:rPr lang="en-GB" sz="2800" dirty="0"/>
              <a:t>Innovation in financial services is </a:t>
            </a:r>
            <a:r>
              <a:rPr lang="en-GB" sz="2800" b="1" dirty="0"/>
              <a:t>deliberate and predictable</a:t>
            </a:r>
            <a:r>
              <a:rPr lang="en-GB" sz="2800" dirty="0"/>
              <a:t>; incumbent players are most likely to be attacked where the </a:t>
            </a:r>
            <a:r>
              <a:rPr lang="en-GB" sz="2800" b="1" dirty="0"/>
              <a:t>greatest sources of customer friction </a:t>
            </a:r>
            <a:r>
              <a:rPr lang="en-GB" sz="2800" dirty="0"/>
              <a:t>meet the </a:t>
            </a:r>
            <a:r>
              <a:rPr lang="en-GB" sz="2800" b="1" dirty="0"/>
              <a:t>largest profit pools.</a:t>
            </a:r>
          </a:p>
          <a:p>
            <a:pPr marL="971550" lvl="1" indent="-514350" algn="just">
              <a:lnSpc>
                <a:spcPct val="200000"/>
              </a:lnSpc>
              <a:buFont typeface="Arial" panose="020B0604020202020204" pitchFamily="34" charset="0"/>
              <a:buChar char="•"/>
            </a:pPr>
            <a:endParaRPr lang="en-GB" sz="1000" b="1" dirty="0"/>
          </a:p>
          <a:p>
            <a:pPr marL="971550" lvl="1" indent="-514350" algn="just">
              <a:lnSpc>
                <a:spcPct val="200000"/>
              </a:lnSpc>
              <a:buFont typeface="Arial" panose="020B0604020202020204" pitchFamily="34" charset="0"/>
              <a:buChar char="•"/>
            </a:pPr>
            <a:r>
              <a:rPr lang="en-GB" sz="2800" dirty="0"/>
              <a:t>The most imminent effects of disruption will be felt in the banking sector; however, the greatest impact of disruption is likely to be felt in the insurance sector</a:t>
            </a:r>
          </a:p>
          <a:p>
            <a:pPr marL="971550" lvl="1" indent="-514350" algn="just">
              <a:lnSpc>
                <a:spcPct val="200000"/>
              </a:lnSpc>
              <a:buFont typeface="Arial" panose="020B0604020202020204" pitchFamily="34" charset="0"/>
              <a:buChar char="•"/>
            </a:pPr>
            <a:endParaRPr lang="en-GB" sz="2800" b="1" dirty="0"/>
          </a:p>
        </p:txBody>
      </p:sp>
      <p:sp>
        <p:nvSpPr>
          <p:cNvPr id="4" name="TextBox 6">
            <a:extLst>
              <a:ext uri="{FF2B5EF4-FFF2-40B4-BE49-F238E27FC236}">
                <a16:creationId xmlns:a16="http://schemas.microsoft.com/office/drawing/2014/main" id="{4176B547-70D7-13A0-CDBA-10CD449B21DB}"/>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3.5. Insights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68382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7577A-A68F-3DAF-E133-7DF95ED75838}"/>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B8C965FA-C01E-C8D5-28FB-FBC49F7E27FE}"/>
              </a:ext>
            </a:extLst>
          </p:cNvPr>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700CE24E-88CF-770B-33AB-A76F03057C33}"/>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B585FF41-44D1-55FA-2187-A5A0BBAAA831}"/>
              </a:ext>
            </a:extLst>
          </p:cNvPr>
          <p:cNvSpPr txBox="1"/>
          <p:nvPr/>
        </p:nvSpPr>
        <p:spPr>
          <a:xfrm>
            <a:off x="316056" y="2952868"/>
            <a:ext cx="7098887"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Unbundling</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B</a:t>
            </a:r>
            <a:r>
              <a:rPr lang="en-US" sz="66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reaking</a:t>
            </a: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Up the</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Value Chain</a:t>
            </a:r>
          </a:p>
        </p:txBody>
      </p:sp>
    </p:spTree>
    <p:extLst>
      <p:ext uri="{BB962C8B-B14F-4D97-AF65-F5344CB8AC3E}">
        <p14:creationId xmlns:p14="http://schemas.microsoft.com/office/powerpoint/2010/main" val="2145375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7CC1A-BDC7-33F5-62C5-F2418CC40A7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36F387E-87C9-0D3F-957A-4629BD898C8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EA2D645-7F30-C80F-8457-07ADD73310D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F84F95F-7AB0-AD6F-CC85-E4541C2C0924}"/>
              </a:ext>
            </a:extLst>
          </p:cNvPr>
          <p:cNvSpPr txBox="1"/>
          <p:nvPr/>
        </p:nvSpPr>
        <p:spPr>
          <a:xfrm>
            <a:off x="990600" y="300047"/>
            <a:ext cx="16540953" cy="1472070"/>
          </a:xfrm>
          <a:prstGeom prst="rect">
            <a:avLst/>
          </a:prstGeom>
        </p:spPr>
        <p:txBody>
          <a:bodyPr wrap="square" lIns="0" tIns="0" rIns="0" bIns="0" rtlCol="0" anchor="t">
            <a:spAutoFit/>
          </a:bodyPr>
          <a:lstStyle/>
          <a:p>
            <a:pPr marL="19050">
              <a:spcBef>
                <a:spcPts val="150"/>
              </a:spcBef>
            </a:pPr>
            <a:r>
              <a:rPr lang="en-US" sz="28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Traditional bank value chain is breaking up and Fin Tech start-ups are attacking valuable parts with fit-for-single-purpose </a:t>
            </a:r>
            <a:r>
              <a:rPr lang="en-MY" sz="28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solutions</a:t>
            </a:r>
            <a:endParaRPr lang="en-US" sz="28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GB" sz="28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673659BD-6244-AFF6-0EA7-46B2E7E7AD8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A4CB36A6-B653-59DA-8808-605AED2E228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15D55962-7AF1-80F3-A274-4626A308BDC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29</a:t>
            </a:fld>
            <a:endParaRPr lang="en-US">
              <a:latin typeface="Segoe UI" panose="020B0502040204020203" pitchFamily="34" charset="0"/>
              <a:cs typeface="Segoe UI" panose="020B0502040204020203" pitchFamily="34" charset="0"/>
            </a:endParaRPr>
          </a:p>
        </p:txBody>
      </p:sp>
      <p:pic>
        <p:nvPicPr>
          <p:cNvPr id="7" name="object 4">
            <a:extLst>
              <a:ext uri="{FF2B5EF4-FFF2-40B4-BE49-F238E27FC236}">
                <a16:creationId xmlns:a16="http://schemas.microsoft.com/office/drawing/2014/main" id="{03204B6B-42D2-81C8-7B29-387FC239B736}"/>
              </a:ext>
            </a:extLst>
          </p:cNvPr>
          <p:cNvPicPr/>
          <p:nvPr/>
        </p:nvPicPr>
        <p:blipFill>
          <a:blip r:embed="rId3">
            <a:extLst>
              <a:ext uri="{28A0092B-C50C-407E-A947-70E740481C1C}">
                <a14:useLocalDpi xmlns:a14="http://schemas.microsoft.com/office/drawing/2010/main" val="0"/>
              </a:ext>
            </a:extLst>
          </a:blip>
          <a:srcRect/>
          <a:stretch/>
        </p:blipFill>
        <p:spPr>
          <a:xfrm>
            <a:off x="756447" y="1322862"/>
            <a:ext cx="16775106" cy="8294584"/>
          </a:xfrm>
          <a:prstGeom prst="rect">
            <a:avLst/>
          </a:prstGeom>
        </p:spPr>
      </p:pic>
    </p:spTree>
    <p:extLst>
      <p:ext uri="{BB962C8B-B14F-4D97-AF65-F5344CB8AC3E}">
        <p14:creationId xmlns:p14="http://schemas.microsoft.com/office/powerpoint/2010/main" val="1863672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F5E72-C385-5206-C389-11D87173EC4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FF57AB0-D6FF-D409-3ADC-AB07302DD7CA}"/>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E89E066-4ADE-FE06-6C47-DFE208C5260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C727761-457A-8637-F597-CEB1B84C78B3}"/>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Unbundling – Breaking Up the Value Chain</a:t>
            </a:r>
          </a:p>
        </p:txBody>
      </p:sp>
      <p:sp>
        <p:nvSpPr>
          <p:cNvPr id="9" name="Date Placeholder 8">
            <a:extLst>
              <a:ext uri="{FF2B5EF4-FFF2-40B4-BE49-F238E27FC236}">
                <a16:creationId xmlns:a16="http://schemas.microsoft.com/office/drawing/2014/main" id="{C426FA5F-E056-8753-828D-5FA7CD85A21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871B7320-5B2E-C9E7-7126-6FAE253A94A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4160D5F-9AA9-BBE1-8731-C0DEDBFC09A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82FCC5E-E152-C9A4-9C62-556DCA683689}"/>
              </a:ext>
            </a:extLst>
          </p:cNvPr>
          <p:cNvSpPr txBox="1"/>
          <p:nvPr/>
        </p:nvSpPr>
        <p:spPr>
          <a:xfrm>
            <a:off x="756447" y="2644758"/>
            <a:ext cx="16775106" cy="6615657"/>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Fintech players, in particular, are ..</a:t>
            </a:r>
            <a:r>
              <a:rPr lang="en-GB" sz="2800" dirty="0"/>
              <a:t>:</a:t>
            </a:r>
          </a:p>
          <a:p>
            <a:pPr marL="971550" lvl="1" indent="-514350" algn="just">
              <a:lnSpc>
                <a:spcPct val="200000"/>
              </a:lnSpc>
              <a:buFont typeface="Arial" panose="020B0604020202020204" pitchFamily="34" charset="0"/>
              <a:buChar char="•"/>
            </a:pPr>
            <a:r>
              <a:rPr lang="en-US" sz="2800" dirty="0"/>
              <a:t>Attacking valuable specific components of such value chain and with “fit-for-single-purpose” solutions.</a:t>
            </a:r>
          </a:p>
          <a:p>
            <a:pPr marL="971550" lvl="1" indent="-514350" algn="just">
              <a:lnSpc>
                <a:spcPct val="200000"/>
              </a:lnSpc>
              <a:buFont typeface="Arial" panose="020B0604020202020204" pitchFamily="34" charset="0"/>
              <a:buChar char="•"/>
            </a:pPr>
            <a:endParaRPr lang="en-US" sz="1000" dirty="0"/>
          </a:p>
          <a:p>
            <a:pPr marL="971550" lvl="1" indent="-514350" algn="just">
              <a:lnSpc>
                <a:spcPct val="200000"/>
              </a:lnSpc>
              <a:buFont typeface="Arial" panose="020B0604020202020204" pitchFamily="34" charset="0"/>
              <a:buChar char="•"/>
            </a:pPr>
            <a:r>
              <a:rPr lang="en-US" sz="2800" dirty="0"/>
              <a:t>Their efficacy is then magnified, as they	just on a single, tiny component (a service, or product), to </a:t>
            </a:r>
            <a:r>
              <a:rPr lang="en-MY" sz="2800" dirty="0"/>
              <a:t>make it </a:t>
            </a:r>
            <a:r>
              <a:rPr lang="en-US" sz="2800" dirty="0"/>
              <a:t>much more valuable and competitive with what currently </a:t>
            </a:r>
            <a:r>
              <a:rPr lang="en-MY" sz="2800" dirty="0"/>
              <a:t>offered.</a:t>
            </a:r>
          </a:p>
          <a:p>
            <a:pPr marL="971550" lvl="1" indent="-514350" algn="just">
              <a:lnSpc>
                <a:spcPct val="200000"/>
              </a:lnSpc>
              <a:buFont typeface="Arial" panose="020B0604020202020204" pitchFamily="34" charset="0"/>
              <a:buChar char="•"/>
            </a:pPr>
            <a:endParaRPr lang="en-GB" sz="1000" dirty="0"/>
          </a:p>
          <a:p>
            <a:pPr marL="971550" lvl="1" indent="-514350" algn="just">
              <a:lnSpc>
                <a:spcPct val="200000"/>
              </a:lnSpc>
              <a:buFont typeface="Arial" panose="020B0604020202020204" pitchFamily="34" charset="0"/>
              <a:buChar char="•"/>
            </a:pPr>
            <a:r>
              <a:rPr lang="en-GB" sz="2800" dirty="0"/>
              <a:t>And then </a:t>
            </a:r>
            <a:r>
              <a:rPr lang="en-US" sz="2800" dirty="0"/>
              <a:t>using this single attack point to disaggregate</a:t>
            </a:r>
            <a:r>
              <a:rPr lang="en-GB" sz="2800" dirty="0"/>
              <a:t> </a:t>
            </a:r>
            <a:r>
              <a:rPr lang="en-US" sz="2800" dirty="0"/>
              <a:t>further the original banks’ service proposition and gain larger shares of it towards the end customer.</a:t>
            </a:r>
          </a:p>
          <a:p>
            <a:pPr marL="971550" lvl="1" indent="-514350" algn="just">
              <a:lnSpc>
                <a:spcPct val="200000"/>
              </a:lnSpc>
              <a:buFont typeface="Arial" panose="020B0604020202020204" pitchFamily="34" charset="0"/>
              <a:buChar char="•"/>
            </a:pPr>
            <a:endParaRPr lang="en-US" sz="2800" dirty="0">
              <a:latin typeface="Arial MT"/>
              <a:cs typeface="Arial MT"/>
            </a:endParaRPr>
          </a:p>
        </p:txBody>
      </p:sp>
      <p:sp>
        <p:nvSpPr>
          <p:cNvPr id="4" name="TextBox 6">
            <a:extLst>
              <a:ext uri="{FF2B5EF4-FFF2-40B4-BE49-F238E27FC236}">
                <a16:creationId xmlns:a16="http://schemas.microsoft.com/office/drawing/2014/main" id="{D0D99ABA-40EE-F4F8-C1D2-A78D22F210DE}"/>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4.1. </a:t>
            </a: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“fit-for-single-purpose” solutions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34202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5" end="5"/>
                                            </p:txEl>
                                          </p:spTgt>
                                        </p:tgtEl>
                                        <p:attrNameLst>
                                          <p:attrName>style.visibility</p:attrName>
                                        </p:attrNameLst>
                                      </p:cBhvr>
                                      <p:to>
                                        <p:strVal val="visible"/>
                                      </p:to>
                                    </p:set>
                                    <p:animEffect transition="in" filter="fade">
                                      <p:cBhvr>
                                        <p:cTn id="22"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151FC-187C-B1F1-9CCF-A2A196FE879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D7271A7-AF36-B82E-7798-209537231E1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50B47C0-EDD2-52A9-7AEF-F35753C22882}"/>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CD1867B-9D0F-3F37-93B7-9BC733E3896D}"/>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Unbundling – Breaking Up the Value Chain</a:t>
            </a:r>
          </a:p>
        </p:txBody>
      </p:sp>
      <p:sp>
        <p:nvSpPr>
          <p:cNvPr id="9" name="Date Placeholder 8">
            <a:extLst>
              <a:ext uri="{FF2B5EF4-FFF2-40B4-BE49-F238E27FC236}">
                <a16:creationId xmlns:a16="http://schemas.microsoft.com/office/drawing/2014/main" id="{4A7AF1E6-8153-8BCC-52E1-C936743B416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731460C6-BB35-133F-772D-92B4040ABCE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1CA1869-A68D-0468-CD0A-565B44C0DAB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AF17D9C-DC8E-0FDE-E53D-74084AD5D329}"/>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While banks try to offer a wide scope of services, there are many innovative FinTech companies that just	on the development of one simple service with great user experience. This certainly makes the lives of banks harder, as it is simply impossible for a large organization to achieve sustainable growth in every niche of the financial services </a:t>
            </a:r>
            <a:r>
              <a:rPr lang="en-MY" sz="2800" dirty="0"/>
              <a:t>sector.</a:t>
            </a:r>
          </a:p>
          <a:p>
            <a:pPr marL="514350" indent="-514350" algn="just">
              <a:lnSpc>
                <a:spcPct val="200000"/>
              </a:lnSpc>
              <a:buFont typeface="Wingdings" panose="05000000000000000000" pitchFamily="2" charset="2"/>
              <a:buChar char="§"/>
            </a:pPr>
            <a:r>
              <a:rPr lang="en-US" sz="2800" dirty="0"/>
              <a:t>This development refers to the “unbundling” trend, </a:t>
            </a:r>
            <a:r>
              <a:rPr lang="en-MY" sz="2800" dirty="0"/>
              <a:t>meaning that </a:t>
            </a:r>
            <a:r>
              <a:rPr lang="en-US" sz="2800" dirty="0"/>
              <a:t>FinTech firms focus on distinct areas of banking with the goal to become the “best of breed” </a:t>
            </a:r>
            <a:r>
              <a:rPr lang="en-MY" sz="2800" dirty="0"/>
              <a:t>providers in these areas. </a:t>
            </a:r>
            <a:r>
              <a:rPr lang="en-US" sz="2800" dirty="0"/>
              <a:t>Therefore, on an aggregate level there is a danger that the banking service offering overall is “unbundled” by the best FinTech providers in each category. </a:t>
            </a:r>
          </a:p>
        </p:txBody>
      </p:sp>
      <p:sp>
        <p:nvSpPr>
          <p:cNvPr id="4" name="TextBox 6">
            <a:extLst>
              <a:ext uri="{FF2B5EF4-FFF2-40B4-BE49-F238E27FC236}">
                <a16:creationId xmlns:a16="http://schemas.microsoft.com/office/drawing/2014/main" id="{B843F163-E608-62AD-DA27-E5597C4D331B}"/>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4.2. </a:t>
            </a: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Breaking Up Traditional Bank Value Chain</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57684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A65AC-510A-36EB-1B87-3AB5FDAFEFA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0B32BD4-ACF1-B1A1-6DE8-5156960374C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05FD8D6-87A1-AE5C-8E08-184DA52EF66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AD16C18-BC1F-C44A-6D20-559C3E452E3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Unbundling – Breaking Up the Value Chain</a:t>
            </a:r>
          </a:p>
        </p:txBody>
      </p:sp>
      <p:sp>
        <p:nvSpPr>
          <p:cNvPr id="9" name="Date Placeholder 8">
            <a:extLst>
              <a:ext uri="{FF2B5EF4-FFF2-40B4-BE49-F238E27FC236}">
                <a16:creationId xmlns:a16="http://schemas.microsoft.com/office/drawing/2014/main" id="{9701BACC-C820-ADF9-CA77-692F2012228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67F2819-1492-D0A6-429D-D72A301EBF4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B24CD29-86DD-84B0-3E1C-B9447AADA02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2F72C8F1-BD10-4F54-5B4D-5A28C737628C}"/>
              </a:ext>
            </a:extLst>
          </p:cNvPr>
          <p:cNvSpPr txBox="1"/>
          <p:nvPr/>
        </p:nvSpPr>
        <p:spPr>
          <a:xfrm>
            <a:off x="756447" y="1608990"/>
            <a:ext cx="16775106" cy="7221657"/>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US" sz="2400" dirty="0"/>
              <a:t>While  New entrants are thus breaking up in a number of ways the different banking value chains and with relevant implications on most (if not all) of the fundamental functions of the global financial system, including</a:t>
            </a:r>
            <a:r>
              <a:rPr lang="en-US" sz="900" dirty="0"/>
              <a:t>:</a:t>
            </a:r>
          </a:p>
          <a:p>
            <a:pPr marL="514350" indent="-514350" algn="just">
              <a:lnSpc>
                <a:spcPct val="200000"/>
              </a:lnSpc>
              <a:buFont typeface="Arial" panose="020B0604020202020204" pitchFamily="34" charset="0"/>
              <a:buChar char="•"/>
            </a:pPr>
            <a:endParaRPr lang="en-GB" sz="900" dirty="0"/>
          </a:p>
          <a:p>
            <a:pPr marL="514350" indent="-514350" algn="just">
              <a:lnSpc>
                <a:spcPct val="200000"/>
              </a:lnSpc>
              <a:buFont typeface="Arial" panose="020B0604020202020204" pitchFamily="34" charset="0"/>
              <a:buChar char="•"/>
            </a:pPr>
            <a:r>
              <a:rPr lang="en-GB" sz="2400" dirty="0"/>
              <a:t> </a:t>
            </a:r>
            <a:r>
              <a:rPr lang="en-US" sz="2400" dirty="0"/>
              <a:t>Payments and settlements, where electronic payments 	and digital currencies are now changing how consumers 	pay for their consumptions, and where new technologies 	such as the “distributed ledgers” (Blockchain) one offers 	potentially a radical disruption of the system, with almost 	unlimited savings on cost structures;</a:t>
            </a:r>
          </a:p>
          <a:p>
            <a:pPr marL="514350" indent="-514350" algn="just">
              <a:lnSpc>
                <a:spcPct val="200000"/>
              </a:lnSpc>
              <a:buFont typeface="Arial" panose="020B0604020202020204" pitchFamily="34" charset="0"/>
              <a:buChar char="•"/>
            </a:pPr>
            <a:endParaRPr lang="en-US" sz="1000" dirty="0"/>
          </a:p>
          <a:p>
            <a:pPr marL="514350" indent="-514350" algn="just">
              <a:lnSpc>
                <a:spcPct val="200000"/>
              </a:lnSpc>
              <a:buFont typeface="Arial" panose="020B0604020202020204" pitchFamily="34" charset="0"/>
              <a:buChar char="•"/>
            </a:pPr>
            <a:r>
              <a:rPr lang="en-US" sz="2400" dirty="0"/>
              <a:t>Funding, where new direct lending opportunities, and even equity raises opportunities via crowd funding initiatives, are now operated through digital channels and available almost real time because of the mining and analysis of a multitude of structured and unstructured data, that can now connect borrowers and savers directly, allowing a better matching of demand and supply complementary risk/return profiles;</a:t>
            </a:r>
            <a:endParaRPr lang="en-GB" sz="2400" dirty="0"/>
          </a:p>
        </p:txBody>
      </p:sp>
    </p:spTree>
    <p:extLst>
      <p:ext uri="{BB962C8B-B14F-4D97-AF65-F5344CB8AC3E}">
        <p14:creationId xmlns:p14="http://schemas.microsoft.com/office/powerpoint/2010/main" val="3231699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animEffect transition="in" filter="fade">
                                      <p:cBhvr>
                                        <p:cTn id="1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C0C25-3D01-3850-A44F-258E6EFDD63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3C47861-9EE9-67D9-93E2-99CF31F0FB5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7AF7594-D6C8-A3BA-7197-F4BB90858B8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DBE424D-ADF3-081F-7A4A-405E00F259AA}"/>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Unbundling – Breaking Up the Value Chain</a:t>
            </a:r>
          </a:p>
        </p:txBody>
      </p:sp>
      <p:sp>
        <p:nvSpPr>
          <p:cNvPr id="9" name="Date Placeholder 8">
            <a:extLst>
              <a:ext uri="{FF2B5EF4-FFF2-40B4-BE49-F238E27FC236}">
                <a16:creationId xmlns:a16="http://schemas.microsoft.com/office/drawing/2014/main" id="{9D177E82-D1F8-BDC7-78BC-7EAC05A02CD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0F861060-BA36-B3D9-3EF7-09FA1D77CD3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BE6BEBA-2051-676D-B917-62D0DAA3E67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33</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6A6903A3-4FF4-AA2F-0099-53F5A3DA5831}"/>
              </a:ext>
            </a:extLst>
          </p:cNvPr>
          <p:cNvSpPr txBox="1"/>
          <p:nvPr/>
        </p:nvSpPr>
        <p:spPr>
          <a:xfrm>
            <a:off x="756447" y="1608990"/>
            <a:ext cx="16775106" cy="8974765"/>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US" sz="2800" dirty="0"/>
              <a:t>Asset management, where robot-advisers (based on 	artificial intelligence—AI— techniques and software) are now making sophisticated financial consulting on asset 	allocation available to almost anyone at a marginal cost 	approaching zero—allowing also faster responses and continuous monitoring;</a:t>
            </a:r>
          </a:p>
          <a:p>
            <a:pPr marL="514350" indent="-514350" algn="just">
              <a:lnSpc>
                <a:spcPct val="200000"/>
              </a:lnSpc>
              <a:buFont typeface="Arial" panose="020B0604020202020204" pitchFamily="34" charset="0"/>
              <a:buChar char="•"/>
            </a:pPr>
            <a:r>
              <a:rPr lang="en-US" sz="2800" dirty="0"/>
              <a:t>Investment banking, where frequency trading is now almost completely operated by AI systems, and new B2B platforms such as dark pools, usually operated by consortia of global investment banks) allow now a direct and more efficient (if not less regulated and supervised) link between buyers and sellers;</a:t>
            </a:r>
          </a:p>
          <a:p>
            <a:pPr marL="514350" indent="-514350" algn="just">
              <a:lnSpc>
                <a:spcPct val="200000"/>
              </a:lnSpc>
              <a:buFont typeface="Arial" panose="020B0604020202020204" pitchFamily="34" charset="0"/>
              <a:buChar char="•"/>
            </a:pPr>
            <a:r>
              <a:rPr lang="en-US" sz="2800" dirty="0"/>
              <a:t>Insurance, where new technologies such as self-driving 	cars, internet of things, shared economy applied to durable 	goods and fixed assets such as apartments and offices 	are progressively revolutionizing the traditional risk 	underwriting, insurance and re-insurance activities, not to 	mention the brokerage ones.</a:t>
            </a:r>
          </a:p>
          <a:p>
            <a:pPr marL="514350" indent="-514350" algn="just">
              <a:lnSpc>
                <a:spcPct val="200000"/>
              </a:lnSpc>
              <a:buFont typeface="Arial" panose="020B0604020202020204" pitchFamily="34" charset="0"/>
              <a:buChar char="•"/>
            </a:pPr>
            <a:endParaRPr lang="en-US" sz="2800" dirty="0"/>
          </a:p>
          <a:p>
            <a:pPr marL="514350" indent="-514350" algn="just">
              <a:lnSpc>
                <a:spcPct val="200000"/>
              </a:lnSpc>
              <a:buFont typeface="Arial" panose="020B0604020202020204" pitchFamily="34" charset="0"/>
              <a:buChar char="•"/>
            </a:pPr>
            <a:endParaRPr lang="en-GB" sz="1000" dirty="0"/>
          </a:p>
        </p:txBody>
      </p:sp>
    </p:spTree>
    <p:extLst>
      <p:ext uri="{BB962C8B-B14F-4D97-AF65-F5344CB8AC3E}">
        <p14:creationId xmlns:p14="http://schemas.microsoft.com/office/powerpoint/2010/main" val="1858454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5A248-876E-B8D4-0E45-BDBBB3D5917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6A862CD-717B-AD94-7D25-8EF034E5342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E8220C9-7180-3117-D622-322BE8E2DAB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42984AC-C2EE-7831-0A22-5A044B7F3B48}"/>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Unbundling – Breaking Up the Value Chain</a:t>
            </a:r>
          </a:p>
        </p:txBody>
      </p:sp>
      <p:sp>
        <p:nvSpPr>
          <p:cNvPr id="9" name="Date Placeholder 8">
            <a:extLst>
              <a:ext uri="{FF2B5EF4-FFF2-40B4-BE49-F238E27FC236}">
                <a16:creationId xmlns:a16="http://schemas.microsoft.com/office/drawing/2014/main" id="{C2B0BE30-0BBF-956F-6223-23736EEA019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687DE617-3EEE-E9F9-7B84-5F478A0226F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DBA5EF8-D03A-09A1-40A6-CBD69FCC505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34</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419DAFB3-929D-25D7-7268-9F0C56CA0890}"/>
              </a:ext>
            </a:extLst>
          </p:cNvPr>
          <p:cNvSpPr txBox="1"/>
          <p:nvPr/>
        </p:nvSpPr>
        <p:spPr>
          <a:xfrm>
            <a:off x="756447" y="1608990"/>
            <a:ext cx="16775106" cy="3804118"/>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US" sz="2800" dirty="0"/>
              <a:t>Corporate incumbents can’t match the speed to market and the ability to innovate that the best FinTech developers bring to the table. So, rather than trying to reinvent the wheel by developing their own solutions, banks will have to work with innovators to bring new services to their consumers.</a:t>
            </a:r>
          </a:p>
          <a:p>
            <a:pPr marL="514350" indent="-514350" algn="just">
              <a:lnSpc>
                <a:spcPct val="200000"/>
              </a:lnSpc>
              <a:buFont typeface="Arial" panose="020B0604020202020204" pitchFamily="34" charset="0"/>
              <a:buChar char="•"/>
            </a:pPr>
            <a:endParaRPr lang="en-US" sz="2800" dirty="0"/>
          </a:p>
          <a:p>
            <a:pPr marL="514350" indent="-514350" algn="just">
              <a:lnSpc>
                <a:spcPct val="200000"/>
              </a:lnSpc>
              <a:buFont typeface="Arial" panose="020B0604020202020204" pitchFamily="34" charset="0"/>
              <a:buChar char="•"/>
            </a:pPr>
            <a:endParaRPr lang="en-GB" sz="1000" dirty="0"/>
          </a:p>
        </p:txBody>
      </p:sp>
    </p:spTree>
    <p:extLst>
      <p:ext uri="{BB962C8B-B14F-4D97-AF65-F5344CB8AC3E}">
        <p14:creationId xmlns:p14="http://schemas.microsoft.com/office/powerpoint/2010/main" val="130407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7B0C4-0F41-B0CC-057E-70A60A4E4A57}"/>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405C2F00-DD7D-0080-0EA6-68A4E5B01C98}"/>
              </a:ext>
            </a:extLst>
          </p:cNvPr>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DD1EE38F-B380-3AE0-A5CE-16DC77824EAF}"/>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E549C440-5A16-5814-E713-D73C5056325D}"/>
              </a:ext>
            </a:extLst>
          </p:cNvPr>
          <p:cNvSpPr txBox="1"/>
          <p:nvPr/>
        </p:nvSpPr>
        <p:spPr>
          <a:xfrm>
            <a:off x="316056" y="3714615"/>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FinTech</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Drivers</a:t>
            </a:r>
          </a:p>
        </p:txBody>
      </p:sp>
    </p:spTree>
    <p:extLst>
      <p:ext uri="{BB962C8B-B14F-4D97-AF65-F5344CB8AC3E}">
        <p14:creationId xmlns:p14="http://schemas.microsoft.com/office/powerpoint/2010/main" val="12072428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B1D59-1716-5103-AB45-AC415DA65C8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ABBF3F4-F065-250A-DAE4-2C663610EDA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C6DADA88-69D9-F744-E1D2-2139EB4D9DA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17EF740-E788-A5C4-E9A1-433F49B53DE4}"/>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Drivers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F3BD92FA-B41D-C4BA-7D92-D909B0BFA1B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7F3BBF35-7C17-2E2D-C44E-B5642CE1966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8D32E5E-8038-FC5E-0535-4CC9005883E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36</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10177AA9-CEC4-9E43-CC59-413C80FC41B9}"/>
              </a:ext>
            </a:extLst>
          </p:cNvPr>
          <p:cNvSpPr txBox="1"/>
          <p:nvPr/>
        </p:nvSpPr>
        <p:spPr>
          <a:xfrm>
            <a:off x="756447" y="2644758"/>
            <a:ext cx="16775106" cy="6004080"/>
          </a:xfrm>
          <a:prstGeom prst="rect">
            <a:avLst/>
          </a:prstGeom>
          <a:noFill/>
        </p:spPr>
        <p:txBody>
          <a:bodyPr wrap="square" rtlCol="0">
            <a:spAutoFit/>
          </a:bodyPr>
          <a:lstStyle/>
          <a:p>
            <a:pPr marL="971550" lvl="1" indent="-514350" algn="just">
              <a:lnSpc>
                <a:spcPct val="200000"/>
              </a:lnSpc>
              <a:buFont typeface="Arial" panose="020B0604020202020204" pitchFamily="34" charset="0"/>
              <a:buChar char="•"/>
            </a:pPr>
            <a:r>
              <a:rPr lang="en-US" sz="2800" dirty="0"/>
              <a:t>Disruption is also occurring because customers’ experiences with technological leaders in other sectors are transforming their expectations of banking &amp; insurance customer service.</a:t>
            </a:r>
          </a:p>
          <a:p>
            <a:pPr marL="971550" lvl="1" indent="-514350" algn="just">
              <a:lnSpc>
                <a:spcPct val="200000"/>
              </a:lnSpc>
              <a:buFont typeface="Arial" panose="020B0604020202020204" pitchFamily="34" charset="0"/>
              <a:buChar char="•"/>
            </a:pPr>
            <a:r>
              <a:rPr lang="en-US" sz="2800" dirty="0"/>
              <a:t>Consumers do not now judge their customer experience of 	an FS/insurance company against that of other FS/insurance companies, but instead judge it against their 	superior experiences with digital leaders such as Amazon, 	Google.</a:t>
            </a:r>
          </a:p>
          <a:p>
            <a:pPr marL="971550" lvl="1" indent="-514350" algn="just">
              <a:lnSpc>
                <a:spcPct val="200000"/>
              </a:lnSpc>
              <a:buFont typeface="Arial" panose="020B0604020202020204" pitchFamily="34" charset="0"/>
              <a:buChar char="•"/>
            </a:pPr>
            <a:r>
              <a:rPr lang="en-US" sz="2800" dirty="0"/>
              <a:t>Yet FS/insurers still tend to benchmark themselves against 	other FS/insurers instead of benchmarking against possible 	external disruptors.</a:t>
            </a:r>
          </a:p>
        </p:txBody>
      </p:sp>
      <p:sp>
        <p:nvSpPr>
          <p:cNvPr id="4" name="TextBox 6">
            <a:extLst>
              <a:ext uri="{FF2B5EF4-FFF2-40B4-BE49-F238E27FC236}">
                <a16:creationId xmlns:a16="http://schemas.microsoft.com/office/drawing/2014/main" id="{AC819EE9-5828-F72D-1FCC-E375C5AECD24}"/>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5.1. </a:t>
            </a: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Why FinTech Now?</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61919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AD987-434A-5870-86D8-14F352B1E44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A16F1E8-DFAD-9B51-B3E6-BB11B8541EA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1B594D8-799E-C35E-7C7C-E45452A80C8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433F08C-69F6-7F84-C9DA-8746C7CE6B75}"/>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Drivers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9FAEA5A6-D948-9C69-3A6F-B449E5D6B90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DDAA4E28-0899-B36A-86A2-D91883560A3B}"/>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C0D03BC-FB78-7639-E2FC-78639251A78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37</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515C1079-1E56-274C-27C3-788430F1F094}"/>
              </a:ext>
            </a:extLst>
          </p:cNvPr>
          <p:cNvSpPr txBox="1"/>
          <p:nvPr/>
        </p:nvSpPr>
        <p:spPr>
          <a:xfrm>
            <a:off x="756447" y="1608990"/>
            <a:ext cx="16775106" cy="6865854"/>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US" sz="2800" dirty="0"/>
              <a:t>Today (Dec 2023), as consumers confront high inflation, rising interest rates and uncertain markets, there is a growing sense that fintech will play a central role in helping consumers to manage their financial situations. Over half of Americans (53%) and more than six in ten Brits (62%) say their financial stress has increased over the past year. A similar proportion (61%) of respondents believe digital financial tools will help them weather economic challenges.</a:t>
            </a:r>
          </a:p>
          <a:p>
            <a:pPr marL="514350" indent="-514350" algn="just">
              <a:lnSpc>
                <a:spcPct val="200000"/>
              </a:lnSpc>
              <a:buFont typeface="Arial" panose="020B0604020202020204" pitchFamily="34" charset="0"/>
              <a:buChar char="•"/>
            </a:pPr>
            <a:endParaRPr lang="en-US" sz="2800" dirty="0"/>
          </a:p>
          <a:p>
            <a:pPr marL="514350" indent="-514350" algn="just">
              <a:lnSpc>
                <a:spcPct val="200000"/>
              </a:lnSpc>
              <a:buFont typeface="Arial" panose="020B0604020202020204" pitchFamily="34" charset="0"/>
              <a:buChar char="•"/>
            </a:pPr>
            <a:r>
              <a:rPr lang="en-US" sz="2800" dirty="0"/>
              <a:t>Trends over the past three years (2019-2022) show that 	fintech’s positive everyday impact has led to sustained consumer appetite for technology-driven financial 	innovation.</a:t>
            </a:r>
            <a:endParaRPr lang="en-GB" sz="2800" dirty="0"/>
          </a:p>
        </p:txBody>
      </p:sp>
    </p:spTree>
    <p:extLst>
      <p:ext uri="{BB962C8B-B14F-4D97-AF65-F5344CB8AC3E}">
        <p14:creationId xmlns:p14="http://schemas.microsoft.com/office/powerpoint/2010/main" val="1904787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8B5F8-B802-EE7E-771F-325F955DAB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F128DEA-73B3-3F39-746B-C9A7F489271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8E55CD2-BB8D-7879-29F0-CB0F0E17879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2063F15-54B4-C954-0F6B-481577D49628}"/>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Drivers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ED52FB9B-6EB9-00CE-6450-59938CB521DA}"/>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ED86D0A1-50BE-294B-DC5D-8B28431DCA2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074ED10-00E6-2AE2-715F-7D74FC28B8E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38</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E9BD0357-D8F6-D2B0-4E3E-5D56DAC5F538}"/>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US" sz="2800" dirty="0"/>
              <a:t>Inflation has dragged down financial confidence but consumers say fintech is helping them weather the economic storm. Beyond access to their finances from anywhere, consumers seek stability from payments and liquidity management applications, and use savings tools to meet short- and long-term goals.</a:t>
            </a:r>
          </a:p>
          <a:p>
            <a:pPr marL="514350" indent="-514350" algn="just">
              <a:lnSpc>
                <a:spcPct val="200000"/>
              </a:lnSpc>
              <a:buFont typeface="Arial" panose="020B0604020202020204" pitchFamily="34" charset="0"/>
              <a:buChar char="•"/>
            </a:pPr>
            <a:endParaRPr lang="en-US" sz="2800" dirty="0"/>
          </a:p>
          <a:p>
            <a:pPr marL="514350" indent="-514350" algn="just">
              <a:lnSpc>
                <a:spcPct val="200000"/>
              </a:lnSpc>
              <a:buFont typeface="Arial" panose="020B0604020202020204" pitchFamily="34" charset="0"/>
              <a:buChar char="•"/>
            </a:pPr>
            <a:r>
              <a:rPr lang="en-US" sz="2800" dirty="0"/>
              <a:t>As</a:t>
            </a:r>
            <a:r>
              <a:rPr lang="en-US" sz="2800" spc="-75" dirty="0"/>
              <a:t> </a:t>
            </a:r>
            <a:r>
              <a:rPr lang="en-US" sz="2800" dirty="0"/>
              <a:t>financial</a:t>
            </a:r>
            <a:r>
              <a:rPr lang="en-US" sz="2800" spc="-55" dirty="0"/>
              <a:t> </a:t>
            </a:r>
            <a:r>
              <a:rPr lang="en-US" sz="2800" dirty="0"/>
              <a:t>markets</a:t>
            </a:r>
            <a:r>
              <a:rPr lang="en-US" sz="2800" spc="-75" dirty="0"/>
              <a:t> </a:t>
            </a:r>
            <a:r>
              <a:rPr lang="en-US" sz="2800" dirty="0"/>
              <a:t>face</a:t>
            </a:r>
            <a:r>
              <a:rPr lang="en-US" sz="2800" spc="-80" dirty="0"/>
              <a:t> </a:t>
            </a:r>
            <a:r>
              <a:rPr lang="en-US" sz="2800" dirty="0"/>
              <a:t>volatility,</a:t>
            </a:r>
            <a:r>
              <a:rPr lang="en-US" sz="2800" spc="-55" dirty="0"/>
              <a:t> </a:t>
            </a:r>
            <a:r>
              <a:rPr lang="en-US" sz="2800" dirty="0"/>
              <a:t>consumers</a:t>
            </a:r>
            <a:r>
              <a:rPr lang="en-US" sz="2800" spc="-65" dirty="0"/>
              <a:t> </a:t>
            </a:r>
            <a:r>
              <a:rPr lang="en-US" sz="2800" dirty="0"/>
              <a:t>across</a:t>
            </a:r>
            <a:r>
              <a:rPr lang="en-US" sz="2800" spc="-70" dirty="0"/>
              <a:t> </a:t>
            </a:r>
            <a:r>
              <a:rPr lang="en-US" sz="2800" spc="-25" dirty="0"/>
              <a:t>the 	</a:t>
            </a:r>
            <a:r>
              <a:rPr lang="en-US" sz="2800" dirty="0"/>
              <a:t>income</a:t>
            </a:r>
            <a:r>
              <a:rPr lang="en-US" sz="2800" spc="-45" dirty="0"/>
              <a:t> </a:t>
            </a:r>
            <a:r>
              <a:rPr lang="en-US" sz="2800" dirty="0"/>
              <a:t>spectrum</a:t>
            </a:r>
            <a:r>
              <a:rPr lang="en-US" sz="2800" spc="-55" dirty="0"/>
              <a:t> </a:t>
            </a:r>
            <a:r>
              <a:rPr lang="en-US" sz="2800" dirty="0"/>
              <a:t>turn</a:t>
            </a:r>
            <a:r>
              <a:rPr lang="en-US" sz="2800" spc="-55" dirty="0"/>
              <a:t> </a:t>
            </a:r>
            <a:r>
              <a:rPr lang="en-US" sz="2800" dirty="0"/>
              <a:t>to</a:t>
            </a:r>
            <a:r>
              <a:rPr lang="en-US" sz="2800" spc="-65" dirty="0"/>
              <a:t> </a:t>
            </a:r>
            <a:r>
              <a:rPr lang="en-US" sz="2800" dirty="0"/>
              <a:t>their</a:t>
            </a:r>
            <a:r>
              <a:rPr lang="en-US" sz="2800" spc="-45" dirty="0"/>
              <a:t> </a:t>
            </a:r>
            <a:r>
              <a:rPr lang="en-US" sz="2800" dirty="0"/>
              <a:t>investment</a:t>
            </a:r>
            <a:r>
              <a:rPr lang="en-US" sz="2800" spc="-50" dirty="0"/>
              <a:t> </a:t>
            </a:r>
            <a:r>
              <a:rPr lang="en-US" sz="2800" dirty="0"/>
              <a:t>applications</a:t>
            </a:r>
            <a:r>
              <a:rPr lang="en-US" sz="2800" spc="-20" dirty="0"/>
              <a:t> </a:t>
            </a:r>
            <a:r>
              <a:rPr lang="en-US" sz="2800" spc="-25" dirty="0"/>
              <a:t>to 	</a:t>
            </a:r>
            <a:r>
              <a:rPr lang="en-US" sz="2800" dirty="0"/>
              <a:t>stay</a:t>
            </a:r>
            <a:r>
              <a:rPr lang="en-US" sz="2800" spc="-55" dirty="0"/>
              <a:t> </a:t>
            </a:r>
            <a:r>
              <a:rPr lang="en-US" sz="2800" dirty="0"/>
              <a:t>on</a:t>
            </a:r>
            <a:r>
              <a:rPr lang="en-US" sz="2800" spc="-65" dirty="0"/>
              <a:t> </a:t>
            </a:r>
            <a:r>
              <a:rPr lang="en-US" sz="2800" dirty="0"/>
              <a:t>top</a:t>
            </a:r>
            <a:r>
              <a:rPr lang="en-US" sz="2800" spc="-70" dirty="0"/>
              <a:t> </a:t>
            </a:r>
            <a:r>
              <a:rPr lang="en-US" sz="2800" dirty="0"/>
              <a:t>of</a:t>
            </a:r>
            <a:r>
              <a:rPr lang="en-US" sz="2800" spc="-50" dirty="0"/>
              <a:t> </a:t>
            </a:r>
            <a:r>
              <a:rPr lang="en-US" sz="2800" dirty="0"/>
              <a:t>their</a:t>
            </a:r>
            <a:r>
              <a:rPr lang="en-US" sz="2800" spc="-50" dirty="0"/>
              <a:t> </a:t>
            </a:r>
            <a:r>
              <a:rPr lang="en-US" sz="2800" dirty="0"/>
              <a:t>holdings</a:t>
            </a:r>
            <a:r>
              <a:rPr lang="en-US" sz="2800" spc="-30" dirty="0"/>
              <a:t> </a:t>
            </a:r>
            <a:r>
              <a:rPr lang="en-US" sz="2800" dirty="0"/>
              <a:t>and</a:t>
            </a:r>
            <a:r>
              <a:rPr lang="en-US" sz="2800" spc="-50" dirty="0"/>
              <a:t> </a:t>
            </a:r>
            <a:r>
              <a:rPr lang="en-US" sz="2800" dirty="0"/>
              <a:t>navigate</a:t>
            </a:r>
            <a:r>
              <a:rPr lang="en-US" sz="2800" spc="-45" dirty="0"/>
              <a:t> </a:t>
            </a:r>
            <a:r>
              <a:rPr lang="en-US" sz="2800" dirty="0"/>
              <a:t>inflationary</a:t>
            </a:r>
            <a:r>
              <a:rPr lang="en-US" sz="2800" spc="-25" dirty="0"/>
              <a:t> </a:t>
            </a:r>
            <a:r>
              <a:rPr lang="en-US" sz="2800" spc="-10" dirty="0"/>
              <a:t>times.</a:t>
            </a:r>
            <a:r>
              <a:rPr lang="en-US" sz="2800" dirty="0"/>
              <a:t>.</a:t>
            </a:r>
            <a:endParaRPr lang="en-GB" sz="2800" dirty="0"/>
          </a:p>
        </p:txBody>
      </p:sp>
    </p:spTree>
    <p:extLst>
      <p:ext uri="{BB962C8B-B14F-4D97-AF65-F5344CB8AC3E}">
        <p14:creationId xmlns:p14="http://schemas.microsoft.com/office/powerpoint/2010/main" val="1090149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fade">
                                      <p:cBhvr>
                                        <p:cTn id="12"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F5B1C-6D56-9651-D173-D4F0832F916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22421FC-B446-34C7-7441-752C468EDE8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5AB2480-C7B0-2036-A448-37806B6E1AF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49560DB-A08E-ACF2-93F3-7EDF8BF69AD6}"/>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Drivers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10547F5F-968F-0413-6036-70C8E0F930D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094A257F-6893-9C2D-7190-F0896374CA1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56F9F3C3-C388-F21E-7007-59649AB7DA7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39</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BDACB060-0392-9078-6A82-7B0F81854565}"/>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US" sz="2800" dirty="0"/>
              <a:t>Four key factors are driving Fintech innovation in the global 	financial services industry:</a:t>
            </a:r>
          </a:p>
          <a:p>
            <a:pPr marL="514350" indent="-514350" algn="just">
              <a:lnSpc>
                <a:spcPct val="200000"/>
              </a:lnSpc>
              <a:buFont typeface="Arial" panose="020B0604020202020204" pitchFamily="34" charset="0"/>
              <a:buChar char="•"/>
            </a:pPr>
            <a:r>
              <a:rPr lang="en-US" sz="2800" dirty="0"/>
              <a:t>Consumer behavior and expectations in regard to </a:t>
            </a:r>
            <a:r>
              <a:rPr lang="en-MY" sz="2800" dirty="0"/>
              <a:t>financial services have changed.</a:t>
            </a:r>
          </a:p>
          <a:p>
            <a:pPr marL="514350" indent="-514350" algn="just">
              <a:lnSpc>
                <a:spcPct val="200000"/>
              </a:lnSpc>
              <a:buFont typeface="Arial" panose="020B0604020202020204" pitchFamily="34" charset="0"/>
              <a:buChar char="•"/>
            </a:pPr>
            <a:r>
              <a:rPr lang="en-US" sz="2800" dirty="0"/>
              <a:t>Artificial Intelligence (AI) cloud computing and big data have created an affordable infrastructure.</a:t>
            </a:r>
          </a:p>
          <a:p>
            <a:pPr marL="514350" indent="-514350" algn="just">
              <a:lnSpc>
                <a:spcPct val="200000"/>
              </a:lnSpc>
              <a:buFont typeface="Arial" panose="020B0604020202020204" pitchFamily="34" charset="0"/>
              <a:buChar char="•"/>
            </a:pPr>
            <a:r>
              <a:rPr lang="en-US" sz="2800" dirty="0"/>
              <a:t>New currencies (esp. the promise of digital currencies) </a:t>
            </a:r>
            <a:r>
              <a:rPr lang="en-MY" sz="2800" dirty="0"/>
              <a:t>and credit systems have impacted investment and banking. </a:t>
            </a:r>
          </a:p>
          <a:p>
            <a:pPr marL="514350" indent="-514350" algn="just">
              <a:lnSpc>
                <a:spcPct val="200000"/>
              </a:lnSpc>
              <a:buFont typeface="Arial" panose="020B0604020202020204" pitchFamily="34" charset="0"/>
              <a:buChar char="•"/>
            </a:pPr>
            <a:r>
              <a:rPr lang="en-US" sz="2800" dirty="0"/>
              <a:t>Due to mobile phone and other improved access methods, the barriers to entry in the financial services industry are being reduced.</a:t>
            </a:r>
          </a:p>
        </p:txBody>
      </p:sp>
    </p:spTree>
    <p:extLst>
      <p:ext uri="{BB962C8B-B14F-4D97-AF65-F5344CB8AC3E}">
        <p14:creationId xmlns:p14="http://schemas.microsoft.com/office/powerpoint/2010/main" val="369286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577B2-EE81-A2A9-FAAC-8B8D02CE10D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E58B2EA-4991-AEF8-3B64-9079A694B4D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E6356D6-F0E3-8561-B074-C975E23020A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7F8EF685-23A7-4AEB-28D9-2D6D5644DE6B}"/>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Drivers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CE91BACF-9A4A-785E-3B22-785EFBE5E66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46F3AC09-A955-BE1C-643C-CB5B62587BA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0A43221-05D5-2725-EB8F-49A9366A0BC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40</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330FE09C-9A26-3242-CD21-0543E67715BE}"/>
              </a:ext>
            </a:extLst>
          </p:cNvPr>
          <p:cNvSpPr txBox="1"/>
          <p:nvPr/>
        </p:nvSpPr>
        <p:spPr>
          <a:xfrm>
            <a:off x="756447" y="1608990"/>
            <a:ext cx="16775106" cy="8589403"/>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US" sz="2800" dirty="0"/>
              <a:t>Frustration</a:t>
            </a:r>
          </a:p>
          <a:p>
            <a:pPr marL="514350" indent="-514350" algn="just">
              <a:lnSpc>
                <a:spcPct val="200000"/>
              </a:lnSpc>
              <a:buFont typeface="Arial" panose="020B0604020202020204" pitchFamily="34" charset="0"/>
              <a:buChar char="•"/>
            </a:pPr>
            <a:r>
              <a:rPr lang="en-US" sz="2800" dirty="0"/>
              <a:t>CX, Cost and Convenience</a:t>
            </a:r>
          </a:p>
          <a:p>
            <a:pPr marL="514350" indent="-514350" algn="just">
              <a:lnSpc>
                <a:spcPct val="200000"/>
              </a:lnSpc>
              <a:buFont typeface="Arial" panose="020B0604020202020204" pitchFamily="34" charset="0"/>
              <a:buChar char="•"/>
            </a:pPr>
            <a:r>
              <a:rPr lang="en-US" sz="2800" dirty="0"/>
              <a:t>Trust and Transparency</a:t>
            </a:r>
          </a:p>
          <a:p>
            <a:pPr marL="514350" indent="-514350" algn="just">
              <a:lnSpc>
                <a:spcPct val="200000"/>
              </a:lnSpc>
              <a:buFont typeface="Arial" panose="020B0604020202020204" pitchFamily="34" charset="0"/>
              <a:buChar char="•"/>
            </a:pPr>
            <a:r>
              <a:rPr lang="en-US" sz="2800" dirty="0"/>
              <a:t>Emerging technologies</a:t>
            </a:r>
          </a:p>
          <a:p>
            <a:pPr marL="514350" indent="-514350" algn="just">
              <a:lnSpc>
                <a:spcPct val="200000"/>
              </a:lnSpc>
              <a:buFont typeface="Arial" panose="020B0604020202020204" pitchFamily="34" charset="0"/>
              <a:buChar char="•"/>
            </a:pPr>
            <a:r>
              <a:rPr lang="en-US" sz="2800" dirty="0"/>
              <a:t>Easy to use interface  better CX</a:t>
            </a:r>
          </a:p>
          <a:p>
            <a:pPr marL="514350" indent="-514350" algn="just">
              <a:lnSpc>
                <a:spcPct val="200000"/>
              </a:lnSpc>
              <a:buFont typeface="Arial" panose="020B0604020202020204" pitchFamily="34" charset="0"/>
              <a:buChar char="•"/>
            </a:pPr>
            <a:r>
              <a:rPr lang="en-US" sz="2800" dirty="0"/>
              <a:t>Mobile culture / smartphones</a:t>
            </a:r>
          </a:p>
          <a:p>
            <a:pPr marL="514350" indent="-514350" algn="just">
              <a:lnSpc>
                <a:spcPct val="200000"/>
              </a:lnSpc>
              <a:buFont typeface="Arial" panose="020B0604020202020204" pitchFamily="34" charset="0"/>
              <a:buChar char="•"/>
            </a:pPr>
            <a:r>
              <a:rPr lang="en-US" sz="2800" dirty="0"/>
              <a:t>Power of mobile</a:t>
            </a:r>
          </a:p>
          <a:p>
            <a:pPr marL="514350" indent="-514350" algn="just">
              <a:lnSpc>
                <a:spcPct val="200000"/>
              </a:lnSpc>
              <a:buFont typeface="Arial" panose="020B0604020202020204" pitchFamily="34" charset="0"/>
              <a:buChar char="•"/>
            </a:pPr>
            <a:r>
              <a:rPr lang="en-US" sz="2800" dirty="0"/>
              <a:t>Social Media. By </a:t>
            </a:r>
            <a:r>
              <a:rPr lang="en-US" sz="2800" dirty="0" err="1"/>
              <a:t>prioritising</a:t>
            </a:r>
            <a:r>
              <a:rPr lang="en-US" sz="2800" dirty="0"/>
              <a:t> 24/7 access, FinTechs offer services available via non-traditional channels such as social media, empowering customers to a great extent.</a:t>
            </a:r>
          </a:p>
          <a:p>
            <a:pPr marL="514350" indent="-514350" algn="just">
              <a:lnSpc>
                <a:spcPct val="200000"/>
              </a:lnSpc>
              <a:buFont typeface="Arial" panose="020B0604020202020204" pitchFamily="34" charset="0"/>
              <a:buChar char="•"/>
            </a:pPr>
            <a:endParaRPr lang="en-US" sz="2800" dirty="0"/>
          </a:p>
        </p:txBody>
      </p:sp>
    </p:spTree>
    <p:extLst>
      <p:ext uri="{BB962C8B-B14F-4D97-AF65-F5344CB8AC3E}">
        <p14:creationId xmlns:p14="http://schemas.microsoft.com/office/powerpoint/2010/main" val="2752371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A64D8-CFC1-A09A-19CB-FA2E173DD69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87744C4-2ADE-0BA0-15F1-41A1FE6822F0}"/>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04B04666-4D0C-E260-44F4-E17F8006F50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FE0AE66-8DB2-A2FD-BBEA-26CCF86A3744}"/>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Drivers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CE585FB6-C335-7671-E4B3-6BBF50383F5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EB00300B-47C3-6C19-EA87-74BDDBFE708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FE1BF55-3026-D786-CECD-36D9C4D25B6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41</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EEBB895D-151A-0741-5CCE-27AA20FA7AE0}"/>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US" sz="2800" dirty="0"/>
              <a:t>Millennials . Millennials don’t trust banks.	They trust Google, Amazon, Facebook, Apple, …. Many reports show that millennials are disappointed with the level of bank services and are less faithful customers. However, at the same time, they are more willing to use new technologies.</a:t>
            </a:r>
          </a:p>
          <a:p>
            <a:pPr marL="514350" indent="-514350" algn="just">
              <a:lnSpc>
                <a:spcPct val="200000"/>
              </a:lnSpc>
              <a:buFont typeface="Arial" panose="020B0604020202020204" pitchFamily="34" charset="0"/>
              <a:buChar char="•"/>
            </a:pPr>
            <a:r>
              <a:rPr lang="en-US" sz="2800" dirty="0"/>
              <a:t>Liquidity is a powerful driver. People (poor and middle income) need cash quickly (now) to solve immediate problem.</a:t>
            </a:r>
          </a:p>
          <a:p>
            <a:pPr marL="514350" indent="-514350" algn="just">
              <a:lnSpc>
                <a:spcPct val="200000"/>
              </a:lnSpc>
              <a:buFont typeface="Arial" panose="020B0604020202020204" pitchFamily="34" charset="0"/>
              <a:buChar char="•"/>
            </a:pPr>
            <a:r>
              <a:rPr lang="en-US" sz="2800" dirty="0"/>
              <a:t>The underbanked and the unbanked. …30 % of US population,	2 billion globally.</a:t>
            </a:r>
          </a:p>
        </p:txBody>
      </p:sp>
    </p:spTree>
    <p:extLst>
      <p:ext uri="{BB962C8B-B14F-4D97-AF65-F5344CB8AC3E}">
        <p14:creationId xmlns:p14="http://schemas.microsoft.com/office/powerpoint/2010/main" val="3034708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85119-74BC-281D-E1D8-11C24CAE4D4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0F913D7-5402-29CB-971D-670CBFF3D60D}"/>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A13DABA-BE43-1B52-301E-5B0ADBC55F3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E8DABEC-9D5B-1F6F-E9A4-ABDACFF0186C}"/>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Drivers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A7B3568E-9829-857B-938A-1C8B49A3611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EA9DCBED-4B7C-D173-98FB-B7708639FCE5}"/>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1C92890-915B-6C8E-B2C5-113B7CC8081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42</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810B107E-9122-58DD-ADA2-49B2D3991A54}"/>
              </a:ext>
            </a:extLst>
          </p:cNvPr>
          <p:cNvSpPr txBox="1"/>
          <p:nvPr/>
        </p:nvSpPr>
        <p:spPr>
          <a:xfrm>
            <a:off x="756447" y="1608990"/>
            <a:ext cx="16775106" cy="8589403"/>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GB" sz="2800" dirty="0">
                <a:latin typeface="Arial MT"/>
                <a:cs typeface="Arial MT"/>
              </a:rPr>
              <a:t>As</a:t>
            </a:r>
            <a:r>
              <a:rPr lang="en-GB" sz="2800" spc="-50" dirty="0">
                <a:latin typeface="Arial MT"/>
                <a:cs typeface="Arial MT"/>
              </a:rPr>
              <a:t> </a:t>
            </a:r>
            <a:r>
              <a:rPr lang="en-GB" sz="2800" dirty="0">
                <a:latin typeface="Arial MT"/>
                <a:cs typeface="Arial MT"/>
              </a:rPr>
              <a:t>the</a:t>
            </a:r>
            <a:r>
              <a:rPr lang="en-GB" sz="2800" spc="-50" dirty="0">
                <a:latin typeface="Arial MT"/>
                <a:cs typeface="Arial MT"/>
              </a:rPr>
              <a:t> </a:t>
            </a:r>
            <a:r>
              <a:rPr lang="en-GB" sz="2800" dirty="0">
                <a:latin typeface="Arial MT"/>
                <a:cs typeface="Arial MT"/>
              </a:rPr>
              <a:t>global</a:t>
            </a:r>
            <a:r>
              <a:rPr lang="en-GB" sz="2800" spc="-20" dirty="0">
                <a:latin typeface="Arial MT"/>
                <a:cs typeface="Arial MT"/>
              </a:rPr>
              <a:t> </a:t>
            </a:r>
            <a:r>
              <a:rPr lang="en-GB" sz="2800" dirty="0">
                <a:latin typeface="Arial MT"/>
                <a:cs typeface="Arial MT"/>
              </a:rPr>
              <a:t>economy</a:t>
            </a:r>
            <a:r>
              <a:rPr lang="en-GB" sz="2800" spc="-45" dirty="0">
                <a:latin typeface="Arial MT"/>
                <a:cs typeface="Arial MT"/>
              </a:rPr>
              <a:t> </a:t>
            </a:r>
            <a:r>
              <a:rPr lang="en-GB" sz="2800" dirty="0">
                <a:latin typeface="Arial MT"/>
                <a:cs typeface="Arial MT"/>
              </a:rPr>
              <a:t>emerged</a:t>
            </a:r>
            <a:r>
              <a:rPr lang="en-GB" sz="2800" spc="-40" dirty="0">
                <a:latin typeface="Arial MT"/>
                <a:cs typeface="Arial MT"/>
              </a:rPr>
              <a:t> </a:t>
            </a:r>
            <a:r>
              <a:rPr lang="en-GB" sz="2800" dirty="0">
                <a:latin typeface="Arial MT"/>
                <a:cs typeface="Arial MT"/>
              </a:rPr>
              <a:t>from</a:t>
            </a:r>
            <a:r>
              <a:rPr lang="en-GB" sz="2800" spc="-60" dirty="0">
                <a:latin typeface="Arial MT"/>
                <a:cs typeface="Arial MT"/>
              </a:rPr>
              <a:t> </a:t>
            </a:r>
            <a:r>
              <a:rPr lang="en-GB" sz="2800" dirty="0">
                <a:latin typeface="Arial MT"/>
                <a:cs typeface="Arial MT"/>
              </a:rPr>
              <a:t>the</a:t>
            </a:r>
            <a:r>
              <a:rPr lang="en-GB" sz="2800" spc="-50" dirty="0">
                <a:latin typeface="Arial MT"/>
                <a:cs typeface="Arial MT"/>
              </a:rPr>
              <a:t> </a:t>
            </a:r>
            <a:r>
              <a:rPr lang="en-GB" sz="2800" dirty="0">
                <a:latin typeface="Arial MT"/>
                <a:cs typeface="Arial MT"/>
              </a:rPr>
              <a:t>crisis,</a:t>
            </a:r>
            <a:r>
              <a:rPr lang="en-GB" sz="2800" spc="-45" dirty="0">
                <a:latin typeface="Arial MT"/>
                <a:cs typeface="Arial MT"/>
              </a:rPr>
              <a:t> </a:t>
            </a:r>
            <a:r>
              <a:rPr lang="en-GB" sz="2800" dirty="0">
                <a:latin typeface="Arial MT"/>
                <a:cs typeface="Arial MT"/>
              </a:rPr>
              <a:t>it</a:t>
            </a:r>
            <a:r>
              <a:rPr lang="en-GB" sz="2800" spc="-50" dirty="0">
                <a:latin typeface="Arial MT"/>
                <a:cs typeface="Arial MT"/>
              </a:rPr>
              <a:t> </a:t>
            </a:r>
            <a:r>
              <a:rPr lang="en-GB" sz="2800" spc="-10" dirty="0">
                <a:latin typeface="Arial MT"/>
                <a:cs typeface="Arial MT"/>
              </a:rPr>
              <a:t>became 	</a:t>
            </a:r>
            <a:r>
              <a:rPr lang="en-GB" sz="2800" dirty="0">
                <a:latin typeface="Arial MT"/>
                <a:cs typeface="Arial MT"/>
              </a:rPr>
              <a:t>clear</a:t>
            </a:r>
            <a:r>
              <a:rPr lang="en-GB" sz="2800" spc="-30" dirty="0">
                <a:latin typeface="Arial MT"/>
                <a:cs typeface="Arial MT"/>
              </a:rPr>
              <a:t> </a:t>
            </a:r>
            <a:r>
              <a:rPr lang="en-GB" sz="2800" dirty="0">
                <a:latin typeface="Arial MT"/>
                <a:cs typeface="Arial MT"/>
              </a:rPr>
              <a:t>that</a:t>
            </a:r>
            <a:r>
              <a:rPr lang="en-GB" sz="2800" spc="-65" dirty="0">
                <a:latin typeface="Arial MT"/>
                <a:cs typeface="Arial MT"/>
              </a:rPr>
              <a:t> </a:t>
            </a:r>
            <a:r>
              <a:rPr lang="en-GB" sz="2800" dirty="0">
                <a:latin typeface="Arial MT"/>
                <a:cs typeface="Arial MT"/>
              </a:rPr>
              <a:t>many</a:t>
            </a:r>
            <a:r>
              <a:rPr lang="en-GB" sz="2800" spc="-45" dirty="0">
                <a:latin typeface="Arial MT"/>
                <a:cs typeface="Arial MT"/>
              </a:rPr>
              <a:t> </a:t>
            </a:r>
            <a:r>
              <a:rPr lang="en-GB" sz="2800" dirty="0">
                <a:latin typeface="Arial MT"/>
                <a:cs typeface="Arial MT"/>
              </a:rPr>
              <a:t>customers,</a:t>
            </a:r>
            <a:r>
              <a:rPr lang="en-GB" sz="2800" spc="-60" dirty="0">
                <a:latin typeface="Arial MT"/>
                <a:cs typeface="Arial MT"/>
              </a:rPr>
              <a:t> </a:t>
            </a:r>
            <a:r>
              <a:rPr lang="en-GB" sz="2800" dirty="0">
                <a:latin typeface="Arial MT"/>
                <a:cs typeface="Arial MT"/>
              </a:rPr>
              <a:t>and</a:t>
            </a:r>
            <a:r>
              <a:rPr lang="en-GB" sz="2800" spc="-35" dirty="0">
                <a:latin typeface="Arial MT"/>
                <a:cs typeface="Arial MT"/>
              </a:rPr>
              <a:t> </a:t>
            </a:r>
            <a:r>
              <a:rPr lang="en-GB" sz="2800" dirty="0">
                <a:latin typeface="Arial MT"/>
                <a:cs typeface="Arial MT"/>
              </a:rPr>
              <a:t>especially</a:t>
            </a:r>
            <a:r>
              <a:rPr lang="en-GB" sz="2800" spc="-15" dirty="0">
                <a:latin typeface="Arial MT"/>
                <a:cs typeface="Arial MT"/>
              </a:rPr>
              <a:t> </a:t>
            </a:r>
            <a:r>
              <a:rPr lang="en-GB" sz="2800" dirty="0">
                <a:latin typeface="Arial MT"/>
                <a:cs typeface="Arial MT"/>
              </a:rPr>
              <a:t>the</a:t>
            </a:r>
            <a:r>
              <a:rPr lang="en-GB" sz="2800" spc="-45" dirty="0">
                <a:latin typeface="Arial MT"/>
                <a:cs typeface="Arial MT"/>
              </a:rPr>
              <a:t> </a:t>
            </a:r>
            <a:r>
              <a:rPr lang="en-GB" sz="2800" spc="-10" dirty="0">
                <a:latin typeface="Arial MT"/>
                <a:cs typeface="Arial MT"/>
              </a:rPr>
              <a:t>younger </a:t>
            </a:r>
            <a:r>
              <a:rPr lang="en-GB" sz="2800" dirty="0">
                <a:latin typeface="Arial MT"/>
                <a:cs typeface="Arial MT"/>
              </a:rPr>
              <a:t>generations,</a:t>
            </a:r>
            <a:r>
              <a:rPr lang="en-GB" sz="2800" spc="-25" dirty="0">
                <a:latin typeface="Arial MT"/>
                <a:cs typeface="Arial MT"/>
              </a:rPr>
              <a:t> </a:t>
            </a:r>
            <a:r>
              <a:rPr lang="en-GB" sz="2800" dirty="0">
                <a:latin typeface="Arial MT"/>
                <a:cs typeface="Arial MT"/>
              </a:rPr>
              <a:t>the</a:t>
            </a:r>
            <a:r>
              <a:rPr lang="en-GB" sz="2800" spc="-35" dirty="0">
                <a:latin typeface="Arial MT"/>
                <a:cs typeface="Arial MT"/>
              </a:rPr>
              <a:t> </a:t>
            </a:r>
            <a:r>
              <a:rPr lang="en-GB" sz="2800" spc="-10" dirty="0">
                <a:latin typeface="Arial MT"/>
                <a:cs typeface="Arial MT"/>
              </a:rPr>
              <a:t>so-</a:t>
            </a:r>
            <a:r>
              <a:rPr lang="en-GB" sz="2800" dirty="0">
                <a:latin typeface="Arial MT"/>
                <a:cs typeface="Arial MT"/>
              </a:rPr>
              <a:t>called</a:t>
            </a:r>
            <a:r>
              <a:rPr lang="en-GB" sz="2800" spc="-15" dirty="0">
                <a:latin typeface="Arial MT"/>
                <a:cs typeface="Arial MT"/>
              </a:rPr>
              <a:t> </a:t>
            </a:r>
            <a:r>
              <a:rPr lang="en-GB" sz="2800" b="1" u="heavy" dirty="0">
                <a:uFill>
                  <a:solidFill>
                    <a:srgbClr val="000000"/>
                  </a:solidFill>
                </a:uFill>
                <a:latin typeface="Arial"/>
                <a:cs typeface="Arial"/>
              </a:rPr>
              <a:t>millennials,</a:t>
            </a:r>
            <a:r>
              <a:rPr lang="en-GB" sz="2800" b="1" u="heavy" spc="-70" dirty="0">
                <a:uFill>
                  <a:solidFill>
                    <a:srgbClr val="000000"/>
                  </a:solidFill>
                </a:uFill>
                <a:latin typeface="Arial"/>
                <a:cs typeface="Arial"/>
              </a:rPr>
              <a:t> </a:t>
            </a:r>
            <a:r>
              <a:rPr lang="en-GB" sz="2800" b="1" u="heavy" dirty="0">
                <a:uFill>
                  <a:solidFill>
                    <a:srgbClr val="000000"/>
                  </a:solidFill>
                </a:uFill>
                <a:latin typeface="Arial"/>
                <a:cs typeface="Arial"/>
              </a:rPr>
              <a:t>had</a:t>
            </a:r>
            <a:r>
              <a:rPr lang="en-GB" sz="2800" b="1" u="heavy" spc="-40" dirty="0">
                <a:uFill>
                  <a:solidFill>
                    <a:srgbClr val="000000"/>
                  </a:solidFill>
                </a:uFill>
                <a:latin typeface="Arial"/>
                <a:cs typeface="Arial"/>
              </a:rPr>
              <a:t> </a:t>
            </a:r>
            <a:r>
              <a:rPr lang="en-GB" sz="2800" b="1" u="heavy" dirty="0">
                <a:uFill>
                  <a:solidFill>
                    <a:srgbClr val="000000"/>
                  </a:solidFill>
                </a:uFill>
                <a:latin typeface="Arial"/>
                <a:cs typeface="Arial"/>
              </a:rPr>
              <a:t>lost</a:t>
            </a:r>
            <a:r>
              <a:rPr lang="en-GB" sz="2800" b="1" u="heavy" spc="-50" dirty="0">
                <a:uFill>
                  <a:solidFill>
                    <a:srgbClr val="000000"/>
                  </a:solidFill>
                </a:uFill>
                <a:latin typeface="Arial"/>
                <a:cs typeface="Arial"/>
              </a:rPr>
              <a:t> </a:t>
            </a:r>
            <a:r>
              <a:rPr lang="en-GB" sz="2800" b="1" u="heavy" dirty="0">
                <a:uFill>
                  <a:solidFill>
                    <a:srgbClr val="000000"/>
                  </a:solidFill>
                </a:uFill>
                <a:latin typeface="Arial"/>
                <a:cs typeface="Arial"/>
              </a:rPr>
              <a:t>faith</a:t>
            </a:r>
            <a:r>
              <a:rPr lang="en-GB" sz="2800" b="1" u="heavy" spc="-40" dirty="0">
                <a:uFill>
                  <a:solidFill>
                    <a:srgbClr val="000000"/>
                  </a:solidFill>
                </a:uFill>
                <a:latin typeface="Arial"/>
                <a:cs typeface="Arial"/>
              </a:rPr>
              <a:t> </a:t>
            </a:r>
            <a:r>
              <a:rPr lang="en-GB" sz="2800" b="1" u="heavy" dirty="0">
                <a:uFill>
                  <a:solidFill>
                    <a:srgbClr val="000000"/>
                  </a:solidFill>
                </a:uFill>
                <a:latin typeface="Arial"/>
                <a:cs typeface="Arial"/>
              </a:rPr>
              <a:t>in</a:t>
            </a:r>
            <a:r>
              <a:rPr lang="en-GB" sz="2800" b="1" u="heavy" spc="-50" dirty="0">
                <a:uFill>
                  <a:solidFill>
                    <a:srgbClr val="000000"/>
                  </a:solidFill>
                </a:uFill>
                <a:latin typeface="Arial"/>
                <a:cs typeface="Arial"/>
              </a:rPr>
              <a:t> </a:t>
            </a:r>
            <a:r>
              <a:rPr lang="en-GB" sz="2800" b="1" u="heavy" spc="-25" dirty="0">
                <a:uFill>
                  <a:solidFill>
                    <a:srgbClr val="000000"/>
                  </a:solidFill>
                </a:uFill>
                <a:latin typeface="Arial"/>
                <a:cs typeface="Arial"/>
              </a:rPr>
              <a:t>the </a:t>
            </a:r>
            <a:r>
              <a:rPr lang="en-GB" sz="2800" b="1" u="heavy" dirty="0">
                <a:uFill>
                  <a:solidFill>
                    <a:srgbClr val="000000"/>
                  </a:solidFill>
                </a:uFill>
                <a:latin typeface="Arial"/>
                <a:cs typeface="Arial"/>
              </a:rPr>
              <a:t>traditional</a:t>
            </a:r>
            <a:r>
              <a:rPr lang="en-GB" sz="2800" b="1" u="heavy" spc="-70" dirty="0">
                <a:uFill>
                  <a:solidFill>
                    <a:srgbClr val="000000"/>
                  </a:solidFill>
                </a:uFill>
                <a:latin typeface="Arial"/>
                <a:cs typeface="Arial"/>
              </a:rPr>
              <a:t> </a:t>
            </a:r>
            <a:r>
              <a:rPr lang="en-GB" sz="2800" b="1" u="heavy" dirty="0">
                <a:uFill>
                  <a:solidFill>
                    <a:srgbClr val="000000"/>
                  </a:solidFill>
                </a:uFill>
                <a:latin typeface="Arial"/>
                <a:cs typeface="Arial"/>
              </a:rPr>
              <a:t>financial</a:t>
            </a:r>
            <a:r>
              <a:rPr lang="en-GB" sz="2800" b="1" u="heavy" spc="-70" dirty="0">
                <a:uFill>
                  <a:solidFill>
                    <a:srgbClr val="000000"/>
                  </a:solidFill>
                </a:uFill>
                <a:latin typeface="Arial"/>
                <a:cs typeface="Arial"/>
              </a:rPr>
              <a:t> </a:t>
            </a:r>
            <a:r>
              <a:rPr lang="en-GB" sz="2800" b="1" u="heavy" dirty="0">
                <a:uFill>
                  <a:solidFill>
                    <a:srgbClr val="000000"/>
                  </a:solidFill>
                </a:uFill>
                <a:latin typeface="Arial"/>
                <a:cs typeface="Arial"/>
              </a:rPr>
              <a:t>services</a:t>
            </a:r>
            <a:r>
              <a:rPr lang="en-GB" sz="2800" dirty="0">
                <a:latin typeface="Arial MT"/>
                <a:cs typeface="Arial MT"/>
              </a:rPr>
              <a:t>.</a:t>
            </a:r>
            <a:r>
              <a:rPr lang="en-GB" sz="2800" spc="-30" dirty="0">
                <a:latin typeface="Arial MT"/>
                <a:cs typeface="Arial MT"/>
              </a:rPr>
              <a:t> </a:t>
            </a:r>
            <a:r>
              <a:rPr lang="en-GB" sz="2800" dirty="0">
                <a:latin typeface="Arial MT"/>
                <a:cs typeface="Arial MT"/>
              </a:rPr>
              <a:t>From</a:t>
            </a:r>
            <a:r>
              <a:rPr lang="en-GB" sz="2800" spc="-40" dirty="0">
                <a:latin typeface="Arial MT"/>
                <a:cs typeface="Arial MT"/>
              </a:rPr>
              <a:t> </a:t>
            </a:r>
            <a:r>
              <a:rPr lang="en-GB" sz="2800" dirty="0">
                <a:latin typeface="Arial MT"/>
                <a:cs typeface="Arial MT"/>
              </a:rPr>
              <a:t>their</a:t>
            </a:r>
            <a:r>
              <a:rPr lang="en-GB" sz="2800" spc="-40" dirty="0">
                <a:latin typeface="Arial MT"/>
                <a:cs typeface="Arial MT"/>
              </a:rPr>
              <a:t> </a:t>
            </a:r>
            <a:r>
              <a:rPr lang="en-GB" sz="2800" dirty="0">
                <a:latin typeface="Arial MT"/>
                <a:cs typeface="Arial MT"/>
              </a:rPr>
              <a:t>point</a:t>
            </a:r>
            <a:r>
              <a:rPr lang="en-GB" sz="2800" spc="-35" dirty="0">
                <a:latin typeface="Arial MT"/>
                <a:cs typeface="Arial MT"/>
              </a:rPr>
              <a:t> </a:t>
            </a:r>
            <a:r>
              <a:rPr lang="en-GB" sz="2800" dirty="0">
                <a:latin typeface="Arial MT"/>
                <a:cs typeface="Arial MT"/>
              </a:rPr>
              <a:t>of</a:t>
            </a:r>
            <a:r>
              <a:rPr lang="en-GB" sz="2800" spc="-40" dirty="0">
                <a:latin typeface="Arial MT"/>
                <a:cs typeface="Arial MT"/>
              </a:rPr>
              <a:t> </a:t>
            </a:r>
            <a:r>
              <a:rPr lang="en-GB" sz="2800" dirty="0">
                <a:latin typeface="Arial MT"/>
                <a:cs typeface="Arial MT"/>
              </a:rPr>
              <a:t>view,</a:t>
            </a:r>
            <a:r>
              <a:rPr lang="en-GB" sz="2800" spc="-30" dirty="0">
                <a:latin typeface="Arial MT"/>
                <a:cs typeface="Arial MT"/>
              </a:rPr>
              <a:t> </a:t>
            </a:r>
            <a:r>
              <a:rPr lang="en-GB" sz="2800" spc="-25" dirty="0">
                <a:latin typeface="Arial MT"/>
                <a:cs typeface="Arial MT"/>
              </a:rPr>
              <a:t>FIs </a:t>
            </a:r>
            <a:r>
              <a:rPr lang="en-GB" sz="2800" dirty="0">
                <a:latin typeface="Arial MT"/>
                <a:cs typeface="Arial MT"/>
              </a:rPr>
              <a:t>were</a:t>
            </a:r>
            <a:r>
              <a:rPr lang="en-GB" sz="2800" spc="-35" dirty="0">
                <a:latin typeface="Arial MT"/>
                <a:cs typeface="Arial MT"/>
              </a:rPr>
              <a:t> </a:t>
            </a:r>
            <a:r>
              <a:rPr lang="en-GB" sz="2800" dirty="0">
                <a:latin typeface="Arial MT"/>
                <a:cs typeface="Arial MT"/>
              </a:rPr>
              <a:t>the</a:t>
            </a:r>
            <a:r>
              <a:rPr lang="en-GB" sz="2800" spc="-60" dirty="0">
                <a:latin typeface="Arial MT"/>
                <a:cs typeface="Arial MT"/>
              </a:rPr>
              <a:t> </a:t>
            </a:r>
            <a:r>
              <a:rPr lang="en-GB" sz="2800" dirty="0">
                <a:latin typeface="Arial MT"/>
                <a:cs typeface="Arial MT"/>
              </a:rPr>
              <a:t>root</a:t>
            </a:r>
            <a:r>
              <a:rPr lang="en-GB" sz="2800" spc="-45" dirty="0">
                <a:latin typeface="Arial MT"/>
                <a:cs typeface="Arial MT"/>
              </a:rPr>
              <a:t> </a:t>
            </a:r>
            <a:r>
              <a:rPr lang="en-GB" sz="2800" dirty="0">
                <a:latin typeface="Arial MT"/>
                <a:cs typeface="Arial MT"/>
              </a:rPr>
              <a:t>cause</a:t>
            </a:r>
            <a:r>
              <a:rPr lang="en-GB" sz="2800" spc="-40" dirty="0">
                <a:latin typeface="Arial MT"/>
                <a:cs typeface="Arial MT"/>
              </a:rPr>
              <a:t> </a:t>
            </a:r>
            <a:r>
              <a:rPr lang="en-GB" sz="2800" dirty="0">
                <a:latin typeface="Arial MT"/>
                <a:cs typeface="Arial MT"/>
              </a:rPr>
              <a:t>of</a:t>
            </a:r>
            <a:r>
              <a:rPr lang="en-GB" sz="2800" spc="-65" dirty="0">
                <a:latin typeface="Arial MT"/>
                <a:cs typeface="Arial MT"/>
              </a:rPr>
              <a:t> </a:t>
            </a:r>
            <a:r>
              <a:rPr lang="en-GB" sz="2800" dirty="0">
                <a:latin typeface="Arial MT"/>
                <a:cs typeface="Arial MT"/>
              </a:rPr>
              <a:t>the</a:t>
            </a:r>
            <a:r>
              <a:rPr lang="en-GB" sz="2800" spc="-45" dirty="0">
                <a:latin typeface="Arial MT"/>
                <a:cs typeface="Arial MT"/>
              </a:rPr>
              <a:t> </a:t>
            </a:r>
            <a:r>
              <a:rPr lang="en-GB" sz="2800" dirty="0">
                <a:latin typeface="Arial MT"/>
                <a:cs typeface="Arial MT"/>
              </a:rPr>
              <a:t>financial</a:t>
            </a:r>
            <a:r>
              <a:rPr lang="en-GB" sz="2800" spc="-35" dirty="0">
                <a:latin typeface="Arial MT"/>
                <a:cs typeface="Arial MT"/>
              </a:rPr>
              <a:t> </a:t>
            </a:r>
            <a:r>
              <a:rPr lang="en-GB" sz="2800" dirty="0">
                <a:latin typeface="Arial MT"/>
                <a:cs typeface="Arial MT"/>
              </a:rPr>
              <a:t>and</a:t>
            </a:r>
            <a:r>
              <a:rPr lang="en-GB" sz="2800" spc="-35" dirty="0">
                <a:latin typeface="Arial MT"/>
                <a:cs typeface="Arial MT"/>
              </a:rPr>
              <a:t> </a:t>
            </a:r>
            <a:r>
              <a:rPr lang="en-GB" sz="2800" dirty="0">
                <a:latin typeface="Arial MT"/>
                <a:cs typeface="Arial MT"/>
              </a:rPr>
              <a:t>economic</a:t>
            </a:r>
            <a:r>
              <a:rPr lang="en-GB" sz="2800" spc="-40" dirty="0">
                <a:latin typeface="Arial MT"/>
                <a:cs typeface="Arial MT"/>
              </a:rPr>
              <a:t> </a:t>
            </a:r>
            <a:r>
              <a:rPr lang="en-GB" sz="2800" dirty="0">
                <a:latin typeface="Arial MT"/>
                <a:cs typeface="Arial MT"/>
              </a:rPr>
              <a:t>crisis.</a:t>
            </a:r>
            <a:r>
              <a:rPr lang="en-GB" sz="2800" spc="-45" dirty="0">
                <a:latin typeface="Arial MT"/>
                <a:cs typeface="Arial MT"/>
              </a:rPr>
              <a:t> </a:t>
            </a:r>
            <a:r>
              <a:rPr lang="en-GB" sz="2800" spc="-25" dirty="0">
                <a:latin typeface="Arial MT"/>
                <a:cs typeface="Arial MT"/>
              </a:rPr>
              <a:t>To </a:t>
            </a:r>
            <a:r>
              <a:rPr lang="en-GB" sz="2800" dirty="0">
                <a:latin typeface="Arial MT"/>
                <a:cs typeface="Arial MT"/>
              </a:rPr>
              <a:t>make</a:t>
            </a:r>
            <a:r>
              <a:rPr lang="en-GB" sz="2800" spc="-65" dirty="0">
                <a:latin typeface="Arial MT"/>
                <a:cs typeface="Arial MT"/>
              </a:rPr>
              <a:t> </a:t>
            </a:r>
            <a:r>
              <a:rPr lang="en-GB" sz="2800" dirty="0">
                <a:latin typeface="Arial MT"/>
                <a:cs typeface="Arial MT"/>
              </a:rPr>
              <a:t>matters</a:t>
            </a:r>
            <a:r>
              <a:rPr lang="en-GB" sz="2800" spc="-75" dirty="0">
                <a:latin typeface="Arial MT"/>
                <a:cs typeface="Arial MT"/>
              </a:rPr>
              <a:t> </a:t>
            </a:r>
            <a:r>
              <a:rPr lang="en-GB" sz="2800" dirty="0">
                <a:latin typeface="Arial MT"/>
                <a:cs typeface="Arial MT"/>
              </a:rPr>
              <a:t>worse,</a:t>
            </a:r>
            <a:r>
              <a:rPr lang="en-GB" sz="2800" spc="-65" dirty="0">
                <a:latin typeface="Arial MT"/>
                <a:cs typeface="Arial MT"/>
              </a:rPr>
              <a:t> </a:t>
            </a:r>
            <a:r>
              <a:rPr lang="en-GB" sz="2800" dirty="0">
                <a:latin typeface="Arial MT"/>
                <a:cs typeface="Arial MT"/>
              </a:rPr>
              <a:t>those</a:t>
            </a:r>
            <a:r>
              <a:rPr lang="en-GB" sz="2800" spc="-60" dirty="0">
                <a:latin typeface="Arial MT"/>
                <a:cs typeface="Arial MT"/>
              </a:rPr>
              <a:t> </a:t>
            </a:r>
            <a:r>
              <a:rPr lang="en-GB" sz="2800" dirty="0">
                <a:latin typeface="Arial MT"/>
                <a:cs typeface="Arial MT"/>
              </a:rPr>
              <a:t>agents</a:t>
            </a:r>
            <a:r>
              <a:rPr lang="en-GB" sz="2800" spc="-45" dirty="0">
                <a:latin typeface="Arial MT"/>
                <a:cs typeface="Arial MT"/>
              </a:rPr>
              <a:t> </a:t>
            </a:r>
            <a:r>
              <a:rPr lang="en-GB" sz="2800" dirty="0">
                <a:latin typeface="Arial MT"/>
                <a:cs typeface="Arial MT"/>
              </a:rPr>
              <a:t>had</a:t>
            </a:r>
            <a:r>
              <a:rPr lang="en-GB" sz="2800" spc="-70" dirty="0">
                <a:latin typeface="Arial MT"/>
                <a:cs typeface="Arial MT"/>
              </a:rPr>
              <a:t> </a:t>
            </a:r>
            <a:r>
              <a:rPr lang="en-GB" sz="2800" dirty="0">
                <a:latin typeface="Arial MT"/>
                <a:cs typeface="Arial MT"/>
              </a:rPr>
              <a:t>only</a:t>
            </a:r>
            <a:r>
              <a:rPr lang="en-GB" sz="2800" spc="-50" dirty="0">
                <a:latin typeface="Arial MT"/>
                <a:cs typeface="Arial MT"/>
              </a:rPr>
              <a:t> </a:t>
            </a:r>
            <a:r>
              <a:rPr lang="en-GB" sz="2800" dirty="0">
                <a:latin typeface="Arial MT"/>
                <a:cs typeface="Arial MT"/>
              </a:rPr>
              <a:t>managed</a:t>
            </a:r>
            <a:r>
              <a:rPr lang="en-GB" sz="2800" spc="-50" dirty="0">
                <a:latin typeface="Arial MT"/>
                <a:cs typeface="Arial MT"/>
              </a:rPr>
              <a:t> </a:t>
            </a:r>
            <a:r>
              <a:rPr lang="en-GB" sz="2800" spc="-25" dirty="0">
                <a:latin typeface="Arial MT"/>
                <a:cs typeface="Arial MT"/>
              </a:rPr>
              <a:t>to </a:t>
            </a:r>
            <a:r>
              <a:rPr lang="en-GB" sz="2800" dirty="0">
                <a:latin typeface="Arial MT"/>
                <a:cs typeface="Arial MT"/>
              </a:rPr>
              <a:t>avoid</a:t>
            </a:r>
            <a:r>
              <a:rPr lang="en-GB" sz="2800" spc="-80" dirty="0">
                <a:latin typeface="Arial MT"/>
                <a:cs typeface="Arial MT"/>
              </a:rPr>
              <a:t> </a:t>
            </a:r>
            <a:r>
              <a:rPr lang="en-GB" sz="2800" dirty="0">
                <a:latin typeface="Arial MT"/>
                <a:cs typeface="Arial MT"/>
              </a:rPr>
              <a:t>bankruptcy</a:t>
            </a:r>
            <a:r>
              <a:rPr lang="en-GB" sz="2800" spc="-70" dirty="0">
                <a:latin typeface="Arial MT"/>
                <a:cs typeface="Arial MT"/>
              </a:rPr>
              <a:t> </a:t>
            </a:r>
            <a:r>
              <a:rPr lang="en-GB" sz="2800" dirty="0">
                <a:latin typeface="Arial MT"/>
                <a:cs typeface="Arial MT"/>
              </a:rPr>
              <a:t>thanks</a:t>
            </a:r>
            <a:r>
              <a:rPr lang="en-GB" sz="2800" spc="-90" dirty="0">
                <a:latin typeface="Arial MT"/>
                <a:cs typeface="Arial MT"/>
              </a:rPr>
              <a:t> </a:t>
            </a:r>
            <a:r>
              <a:rPr lang="en-GB" sz="2800" dirty="0">
                <a:latin typeface="Arial MT"/>
                <a:cs typeface="Arial MT"/>
              </a:rPr>
              <a:t>to</a:t>
            </a:r>
            <a:r>
              <a:rPr lang="en-GB" sz="2800" spc="-105" dirty="0">
                <a:latin typeface="Arial MT"/>
                <a:cs typeface="Arial MT"/>
              </a:rPr>
              <a:t> </a:t>
            </a:r>
            <a:r>
              <a:rPr lang="en-GB" sz="2800" dirty="0">
                <a:latin typeface="Arial MT"/>
                <a:cs typeface="Arial MT"/>
              </a:rPr>
              <a:t>continuing</a:t>
            </a:r>
            <a:r>
              <a:rPr lang="en-GB" sz="2800" spc="-55" dirty="0">
                <a:latin typeface="Arial MT"/>
                <a:cs typeface="Arial MT"/>
              </a:rPr>
              <a:t> </a:t>
            </a:r>
            <a:r>
              <a:rPr lang="en-GB" sz="2800" dirty="0">
                <a:latin typeface="Arial MT"/>
                <a:cs typeface="Arial MT"/>
              </a:rPr>
              <a:t>massive</a:t>
            </a:r>
            <a:r>
              <a:rPr lang="en-GB" sz="2800" spc="-85" dirty="0">
                <a:latin typeface="Arial MT"/>
                <a:cs typeface="Arial MT"/>
              </a:rPr>
              <a:t> </a:t>
            </a:r>
            <a:r>
              <a:rPr lang="en-GB" sz="2800" dirty="0">
                <a:latin typeface="Arial MT"/>
                <a:cs typeface="Arial MT"/>
              </a:rPr>
              <a:t>injections</a:t>
            </a:r>
            <a:r>
              <a:rPr lang="en-GB" sz="2800" spc="-80" dirty="0">
                <a:latin typeface="Arial MT"/>
                <a:cs typeface="Arial MT"/>
              </a:rPr>
              <a:t> </a:t>
            </a:r>
            <a:r>
              <a:rPr lang="en-GB" sz="2800" spc="-25" dirty="0">
                <a:latin typeface="Arial MT"/>
                <a:cs typeface="Arial MT"/>
              </a:rPr>
              <a:t>or </a:t>
            </a:r>
            <a:r>
              <a:rPr lang="en-GB" sz="2800" dirty="0">
                <a:latin typeface="Arial MT"/>
                <a:cs typeface="Arial MT"/>
              </a:rPr>
              <a:t>support</a:t>
            </a:r>
            <a:r>
              <a:rPr lang="en-GB" sz="2800" spc="-45" dirty="0">
                <a:latin typeface="Arial MT"/>
                <a:cs typeface="Arial MT"/>
              </a:rPr>
              <a:t> </a:t>
            </a:r>
            <a:r>
              <a:rPr lang="en-GB" sz="2800" dirty="0">
                <a:latin typeface="Arial MT"/>
                <a:cs typeface="Arial MT"/>
              </a:rPr>
              <a:t>of</a:t>
            </a:r>
            <a:r>
              <a:rPr lang="en-GB" sz="2800" spc="-45" dirty="0">
                <a:latin typeface="Arial MT"/>
                <a:cs typeface="Arial MT"/>
              </a:rPr>
              <a:t> </a:t>
            </a:r>
            <a:r>
              <a:rPr lang="en-GB" sz="2800" dirty="0">
                <a:latin typeface="Arial MT"/>
                <a:cs typeface="Arial MT"/>
              </a:rPr>
              <a:t>public</a:t>
            </a:r>
            <a:r>
              <a:rPr lang="en-GB" sz="2800" spc="-30" dirty="0">
                <a:latin typeface="Arial MT"/>
                <a:cs typeface="Arial MT"/>
              </a:rPr>
              <a:t> </a:t>
            </a:r>
            <a:r>
              <a:rPr lang="en-GB" sz="2800" dirty="0">
                <a:latin typeface="Arial MT"/>
                <a:cs typeface="Arial MT"/>
              </a:rPr>
              <a:t>money</a:t>
            </a:r>
            <a:r>
              <a:rPr lang="en-GB" sz="2800" spc="-50" dirty="0">
                <a:latin typeface="Arial MT"/>
                <a:cs typeface="Arial MT"/>
              </a:rPr>
              <a:t> </a:t>
            </a:r>
            <a:r>
              <a:rPr lang="en-GB" sz="2800" dirty="0">
                <a:latin typeface="Arial MT"/>
                <a:cs typeface="Arial MT"/>
              </a:rPr>
              <a:t>.</a:t>
            </a:r>
            <a:r>
              <a:rPr lang="en-GB" sz="2800" spc="-45" dirty="0">
                <a:latin typeface="Arial MT"/>
                <a:cs typeface="Arial MT"/>
              </a:rPr>
              <a:t> </a:t>
            </a:r>
            <a:r>
              <a:rPr lang="en-GB" sz="2800" dirty="0">
                <a:latin typeface="Arial MT"/>
                <a:cs typeface="Arial MT"/>
              </a:rPr>
              <a:t>If</a:t>
            </a:r>
            <a:r>
              <a:rPr lang="en-GB" sz="2800" spc="-75" dirty="0">
                <a:latin typeface="Arial MT"/>
                <a:cs typeface="Arial MT"/>
              </a:rPr>
              <a:t> </a:t>
            </a:r>
            <a:r>
              <a:rPr lang="en-GB" sz="2800" dirty="0">
                <a:latin typeface="Arial MT"/>
                <a:cs typeface="Arial MT"/>
              </a:rPr>
              <a:t>the</a:t>
            </a:r>
            <a:r>
              <a:rPr lang="en-GB" sz="2800" spc="-50" dirty="0">
                <a:latin typeface="Arial MT"/>
                <a:cs typeface="Arial MT"/>
              </a:rPr>
              <a:t> </a:t>
            </a:r>
            <a:r>
              <a:rPr lang="en-GB" sz="2800" dirty="0">
                <a:latin typeface="Arial MT"/>
                <a:cs typeface="Arial MT"/>
              </a:rPr>
              <a:t>banks</a:t>
            </a:r>
            <a:r>
              <a:rPr lang="en-GB" sz="2800" spc="-45" dirty="0">
                <a:latin typeface="Arial MT"/>
                <a:cs typeface="Arial MT"/>
              </a:rPr>
              <a:t> </a:t>
            </a:r>
            <a:r>
              <a:rPr lang="en-GB" sz="2800" dirty="0">
                <a:latin typeface="Arial MT"/>
                <a:cs typeface="Arial MT"/>
              </a:rPr>
              <a:t>themselves</a:t>
            </a:r>
            <a:r>
              <a:rPr lang="en-GB" sz="2800" spc="-40" dirty="0">
                <a:latin typeface="Arial MT"/>
                <a:cs typeface="Arial MT"/>
              </a:rPr>
              <a:t> </a:t>
            </a:r>
            <a:r>
              <a:rPr lang="en-GB" sz="2800" spc="-20" dirty="0">
                <a:latin typeface="Arial MT"/>
                <a:cs typeface="Arial MT"/>
              </a:rPr>
              <a:t>were </a:t>
            </a:r>
            <a:r>
              <a:rPr lang="en-GB" sz="2800" dirty="0">
                <a:latin typeface="Arial MT"/>
                <a:cs typeface="Arial MT"/>
              </a:rPr>
              <a:t>incapable</a:t>
            </a:r>
            <a:r>
              <a:rPr lang="en-GB" sz="2800" spc="-10" dirty="0">
                <a:latin typeface="Arial MT"/>
                <a:cs typeface="Arial MT"/>
              </a:rPr>
              <a:t> </a:t>
            </a:r>
            <a:r>
              <a:rPr lang="en-GB" sz="2800" dirty="0">
                <a:latin typeface="Arial MT"/>
                <a:cs typeface="Arial MT"/>
              </a:rPr>
              <a:t>of</a:t>
            </a:r>
            <a:r>
              <a:rPr lang="en-GB" sz="2800" spc="-60" dirty="0">
                <a:latin typeface="Arial MT"/>
                <a:cs typeface="Arial MT"/>
              </a:rPr>
              <a:t> </a:t>
            </a:r>
            <a:r>
              <a:rPr lang="en-GB" sz="2800" dirty="0">
                <a:latin typeface="Arial MT"/>
                <a:cs typeface="Arial MT"/>
              </a:rPr>
              <a:t>managing</a:t>
            </a:r>
            <a:r>
              <a:rPr lang="en-GB" sz="2800" spc="-15" dirty="0">
                <a:latin typeface="Arial MT"/>
                <a:cs typeface="Arial MT"/>
              </a:rPr>
              <a:t> </a:t>
            </a:r>
            <a:r>
              <a:rPr lang="en-GB" sz="2800" dirty="0">
                <a:latin typeface="Arial MT"/>
                <a:cs typeface="Arial MT"/>
              </a:rPr>
              <a:t>the</a:t>
            </a:r>
            <a:r>
              <a:rPr lang="en-GB" sz="2800" spc="-60" dirty="0">
                <a:latin typeface="Arial MT"/>
                <a:cs typeface="Arial MT"/>
              </a:rPr>
              <a:t> </a:t>
            </a:r>
            <a:r>
              <a:rPr lang="en-GB" sz="2800" dirty="0">
                <a:latin typeface="Arial MT"/>
                <a:cs typeface="Arial MT"/>
              </a:rPr>
              <a:t>risks</a:t>
            </a:r>
            <a:r>
              <a:rPr lang="en-GB" sz="2800" spc="-40" dirty="0">
                <a:latin typeface="Arial MT"/>
                <a:cs typeface="Arial MT"/>
              </a:rPr>
              <a:t> </a:t>
            </a:r>
            <a:r>
              <a:rPr lang="en-GB" sz="2800" dirty="0">
                <a:latin typeface="Arial MT"/>
                <a:cs typeface="Arial MT"/>
              </a:rPr>
              <a:t>they</a:t>
            </a:r>
            <a:r>
              <a:rPr lang="en-GB" sz="2800" spc="-60" dirty="0">
                <a:latin typeface="Arial MT"/>
                <a:cs typeface="Arial MT"/>
              </a:rPr>
              <a:t> </a:t>
            </a:r>
            <a:r>
              <a:rPr lang="en-GB" sz="2800" dirty="0">
                <a:latin typeface="Arial MT"/>
                <a:cs typeface="Arial MT"/>
              </a:rPr>
              <a:t>took,</a:t>
            </a:r>
            <a:r>
              <a:rPr lang="en-GB" sz="2800" spc="-55" dirty="0">
                <a:latin typeface="Arial MT"/>
                <a:cs typeface="Arial MT"/>
              </a:rPr>
              <a:t> </a:t>
            </a:r>
            <a:r>
              <a:rPr lang="en-GB" sz="2800" dirty="0">
                <a:latin typeface="Arial MT"/>
                <a:cs typeface="Arial MT"/>
              </a:rPr>
              <a:t>why</a:t>
            </a:r>
            <a:r>
              <a:rPr lang="en-GB" sz="2800" spc="-40" dirty="0">
                <a:latin typeface="Arial MT"/>
                <a:cs typeface="Arial MT"/>
              </a:rPr>
              <a:t> </a:t>
            </a:r>
            <a:r>
              <a:rPr lang="en-GB" sz="2800" spc="-10" dirty="0">
                <a:latin typeface="Arial MT"/>
                <a:cs typeface="Arial MT"/>
              </a:rPr>
              <a:t>should </a:t>
            </a:r>
            <a:r>
              <a:rPr lang="en-GB" sz="2800" dirty="0">
                <a:latin typeface="Arial MT"/>
                <a:cs typeface="Arial MT"/>
              </a:rPr>
              <a:t>anyone</a:t>
            </a:r>
            <a:r>
              <a:rPr lang="en-GB" sz="2800" spc="-40" dirty="0">
                <a:latin typeface="Arial MT"/>
                <a:cs typeface="Arial MT"/>
              </a:rPr>
              <a:t> </a:t>
            </a:r>
            <a:r>
              <a:rPr lang="en-GB" sz="2800" dirty="0">
                <a:latin typeface="Arial MT"/>
                <a:cs typeface="Arial MT"/>
              </a:rPr>
              <a:t>take</a:t>
            </a:r>
            <a:r>
              <a:rPr lang="en-GB" sz="2800" spc="-50" dirty="0">
                <a:latin typeface="Arial MT"/>
                <a:cs typeface="Arial MT"/>
              </a:rPr>
              <a:t> </a:t>
            </a:r>
            <a:r>
              <a:rPr lang="en-GB" sz="2800" dirty="0">
                <a:latin typeface="Arial MT"/>
                <a:cs typeface="Arial MT"/>
              </a:rPr>
              <a:t>their</a:t>
            </a:r>
            <a:r>
              <a:rPr lang="en-GB" sz="2800" spc="-40" dirty="0">
                <a:latin typeface="Arial MT"/>
                <a:cs typeface="Arial MT"/>
              </a:rPr>
              <a:t> </a:t>
            </a:r>
            <a:r>
              <a:rPr lang="en-GB" sz="2800" dirty="0">
                <a:latin typeface="Arial MT"/>
                <a:cs typeface="Arial MT"/>
              </a:rPr>
              <a:t>advice</a:t>
            </a:r>
            <a:r>
              <a:rPr lang="en-GB" sz="2800" spc="-40" dirty="0">
                <a:latin typeface="Arial MT"/>
                <a:cs typeface="Arial MT"/>
              </a:rPr>
              <a:t> </a:t>
            </a:r>
            <a:r>
              <a:rPr lang="en-GB" sz="2800" dirty="0">
                <a:latin typeface="Arial MT"/>
                <a:cs typeface="Arial MT"/>
              </a:rPr>
              <a:t>or</a:t>
            </a:r>
            <a:r>
              <a:rPr lang="en-GB" sz="2800" spc="-50" dirty="0">
                <a:latin typeface="Arial MT"/>
                <a:cs typeface="Arial MT"/>
              </a:rPr>
              <a:t> </a:t>
            </a:r>
            <a:r>
              <a:rPr lang="en-GB" sz="2800" dirty="0">
                <a:latin typeface="Arial MT"/>
                <a:cs typeface="Arial MT"/>
              </a:rPr>
              <a:t>trust</a:t>
            </a:r>
            <a:r>
              <a:rPr lang="en-GB" sz="2800" spc="-60" dirty="0">
                <a:latin typeface="Arial MT"/>
                <a:cs typeface="Arial MT"/>
              </a:rPr>
              <a:t> </a:t>
            </a:r>
            <a:r>
              <a:rPr lang="en-GB" sz="2800" dirty="0">
                <a:latin typeface="Arial MT"/>
                <a:cs typeface="Arial MT"/>
              </a:rPr>
              <a:t>them</a:t>
            </a:r>
            <a:r>
              <a:rPr lang="en-GB" sz="2800" spc="-45" dirty="0">
                <a:latin typeface="Arial MT"/>
                <a:cs typeface="Arial MT"/>
              </a:rPr>
              <a:t> </a:t>
            </a:r>
            <a:r>
              <a:rPr lang="en-GB" sz="2800" dirty="0">
                <a:latin typeface="Arial MT"/>
                <a:cs typeface="Arial MT"/>
              </a:rPr>
              <a:t>with</a:t>
            </a:r>
            <a:r>
              <a:rPr lang="en-GB" sz="2800" spc="-40" dirty="0">
                <a:latin typeface="Arial MT"/>
                <a:cs typeface="Arial MT"/>
              </a:rPr>
              <a:t> </a:t>
            </a:r>
            <a:r>
              <a:rPr lang="en-GB" sz="2800" dirty="0">
                <a:latin typeface="Arial MT"/>
                <a:cs typeface="Arial MT"/>
              </a:rPr>
              <a:t>their</a:t>
            </a:r>
            <a:r>
              <a:rPr lang="en-GB" sz="2800" spc="-45" dirty="0">
                <a:latin typeface="Arial MT"/>
                <a:cs typeface="Arial MT"/>
              </a:rPr>
              <a:t> </a:t>
            </a:r>
            <a:r>
              <a:rPr lang="en-GB" sz="2800" spc="-10" dirty="0">
                <a:latin typeface="Arial MT"/>
                <a:cs typeface="Arial MT"/>
              </a:rPr>
              <a:t>savings?</a:t>
            </a:r>
          </a:p>
          <a:p>
            <a:pPr marL="514350" indent="-514350" algn="just">
              <a:lnSpc>
                <a:spcPct val="200000"/>
              </a:lnSpc>
              <a:buFont typeface="Arial" panose="020B0604020202020204" pitchFamily="34" charset="0"/>
              <a:buChar char="•"/>
            </a:pPr>
            <a:r>
              <a:rPr lang="en-GB" sz="2800" dirty="0">
                <a:latin typeface="Arial MT"/>
                <a:cs typeface="Arial MT"/>
              </a:rPr>
              <a:t>Old</a:t>
            </a:r>
            <a:r>
              <a:rPr lang="en-GB" sz="2800" spc="-40" dirty="0">
                <a:latin typeface="Arial MT"/>
                <a:cs typeface="Arial MT"/>
              </a:rPr>
              <a:t> </a:t>
            </a:r>
            <a:r>
              <a:rPr lang="en-GB" sz="2800" dirty="0">
                <a:latin typeface="Arial MT"/>
                <a:cs typeface="Arial MT"/>
              </a:rPr>
              <a:t>and</a:t>
            </a:r>
            <a:r>
              <a:rPr lang="en-GB" sz="2800" spc="-40" dirty="0">
                <a:latin typeface="Arial MT"/>
                <a:cs typeface="Arial MT"/>
              </a:rPr>
              <a:t> </a:t>
            </a:r>
            <a:r>
              <a:rPr lang="en-GB" sz="2800" spc="-25" dirty="0">
                <a:latin typeface="Arial MT"/>
                <a:cs typeface="Arial MT"/>
              </a:rPr>
              <a:t>new</a:t>
            </a:r>
            <a:r>
              <a:rPr lang="en-GB" sz="2800" dirty="0">
                <a:latin typeface="Arial MT"/>
                <a:cs typeface="Arial MT"/>
              </a:rPr>
              <a:t>	generations</a:t>
            </a:r>
            <a:r>
              <a:rPr lang="en-GB" sz="2800" spc="-40" dirty="0">
                <a:latin typeface="Arial MT"/>
                <a:cs typeface="Arial MT"/>
              </a:rPr>
              <a:t> </a:t>
            </a:r>
            <a:r>
              <a:rPr lang="en-GB" sz="2800" dirty="0">
                <a:latin typeface="Arial MT"/>
                <a:cs typeface="Arial MT"/>
              </a:rPr>
              <a:t>of</a:t>
            </a:r>
            <a:r>
              <a:rPr lang="en-GB" sz="2800" spc="-55" dirty="0">
                <a:latin typeface="Arial MT"/>
                <a:cs typeface="Arial MT"/>
              </a:rPr>
              <a:t> </a:t>
            </a:r>
            <a:r>
              <a:rPr lang="en-GB" sz="2800" dirty="0">
                <a:latin typeface="Arial MT"/>
                <a:cs typeface="Arial MT"/>
              </a:rPr>
              <a:t>customers</a:t>
            </a:r>
            <a:r>
              <a:rPr lang="en-GB" sz="2800" spc="-55" dirty="0">
                <a:latin typeface="Arial MT"/>
                <a:cs typeface="Arial MT"/>
              </a:rPr>
              <a:t> </a:t>
            </a:r>
            <a:r>
              <a:rPr lang="en-GB" sz="2800" dirty="0">
                <a:latin typeface="Arial MT"/>
                <a:cs typeface="Arial MT"/>
              </a:rPr>
              <a:t>are</a:t>
            </a:r>
            <a:r>
              <a:rPr lang="en-GB" sz="2800" spc="-55" dirty="0">
                <a:latin typeface="Arial MT"/>
                <a:cs typeface="Arial MT"/>
              </a:rPr>
              <a:t> </a:t>
            </a:r>
            <a:r>
              <a:rPr lang="en-GB" sz="2800" dirty="0">
                <a:latin typeface="Arial MT"/>
                <a:cs typeface="Arial MT"/>
              </a:rPr>
              <a:t>willing</a:t>
            </a:r>
            <a:r>
              <a:rPr lang="en-GB" sz="2800" spc="-15" dirty="0">
                <a:latin typeface="Arial MT"/>
                <a:cs typeface="Arial MT"/>
              </a:rPr>
              <a:t> </a:t>
            </a:r>
            <a:r>
              <a:rPr lang="en-GB" sz="2800" dirty="0">
                <a:latin typeface="Arial MT"/>
                <a:cs typeface="Arial MT"/>
              </a:rPr>
              <a:t>to</a:t>
            </a:r>
            <a:r>
              <a:rPr lang="en-GB" sz="2800" spc="-55" dirty="0">
                <a:latin typeface="Arial MT"/>
                <a:cs typeface="Arial MT"/>
              </a:rPr>
              <a:t> </a:t>
            </a:r>
            <a:r>
              <a:rPr lang="en-GB" sz="2800" spc="-20" dirty="0">
                <a:latin typeface="Arial MT"/>
                <a:cs typeface="Arial MT"/>
              </a:rPr>
              <a:t>turn </a:t>
            </a:r>
            <a:r>
              <a:rPr lang="en-GB" sz="2800" dirty="0">
                <a:latin typeface="Arial MT"/>
                <a:cs typeface="Arial MT"/>
              </a:rPr>
              <a:t>their</a:t>
            </a:r>
            <a:r>
              <a:rPr lang="en-GB" sz="2800" spc="-40" dirty="0">
                <a:latin typeface="Arial MT"/>
                <a:cs typeface="Arial MT"/>
              </a:rPr>
              <a:t> </a:t>
            </a:r>
            <a:r>
              <a:rPr lang="en-GB" sz="2800" dirty="0">
                <a:latin typeface="Arial MT"/>
                <a:cs typeface="Arial MT"/>
              </a:rPr>
              <a:t>backs</a:t>
            </a:r>
            <a:r>
              <a:rPr lang="en-GB" sz="2800" spc="-40" dirty="0">
                <a:latin typeface="Arial MT"/>
                <a:cs typeface="Arial MT"/>
              </a:rPr>
              <a:t> </a:t>
            </a:r>
            <a:r>
              <a:rPr lang="en-GB" sz="2800" dirty="0">
                <a:latin typeface="Arial MT"/>
                <a:cs typeface="Arial MT"/>
              </a:rPr>
              <a:t>on</a:t>
            </a:r>
            <a:r>
              <a:rPr lang="en-GB" sz="2800" spc="-40" dirty="0">
                <a:latin typeface="Arial MT"/>
                <a:cs typeface="Arial MT"/>
              </a:rPr>
              <a:t> </a:t>
            </a:r>
            <a:r>
              <a:rPr lang="en-GB" sz="2800" dirty="0">
                <a:latin typeface="Arial MT"/>
                <a:cs typeface="Arial MT"/>
              </a:rPr>
              <a:t>the</a:t>
            </a:r>
            <a:r>
              <a:rPr lang="en-GB" sz="2800" spc="-60" dirty="0">
                <a:latin typeface="Arial MT"/>
                <a:cs typeface="Arial MT"/>
              </a:rPr>
              <a:t> </a:t>
            </a:r>
            <a:r>
              <a:rPr lang="en-GB" sz="2800" dirty="0">
                <a:latin typeface="Arial MT"/>
                <a:cs typeface="Arial MT"/>
              </a:rPr>
              <a:t>traditional</a:t>
            </a:r>
            <a:r>
              <a:rPr lang="en-GB" sz="2800" spc="-20" dirty="0">
                <a:latin typeface="Arial MT"/>
                <a:cs typeface="Arial MT"/>
              </a:rPr>
              <a:t> </a:t>
            </a:r>
            <a:r>
              <a:rPr lang="en-GB" sz="2800" dirty="0">
                <a:latin typeface="Arial MT"/>
                <a:cs typeface="Arial MT"/>
              </a:rPr>
              <a:t>players.</a:t>
            </a:r>
            <a:r>
              <a:rPr lang="en-GB" sz="2800" spc="-25" dirty="0">
                <a:latin typeface="Arial MT"/>
                <a:cs typeface="Arial MT"/>
              </a:rPr>
              <a:t> </a:t>
            </a:r>
            <a:r>
              <a:rPr lang="en-GB" sz="2800" dirty="0">
                <a:latin typeface="Arial MT"/>
                <a:cs typeface="Arial MT"/>
              </a:rPr>
              <a:t>They</a:t>
            </a:r>
            <a:r>
              <a:rPr lang="en-GB" sz="2800" spc="-40" dirty="0">
                <a:latin typeface="Arial MT"/>
                <a:cs typeface="Arial MT"/>
              </a:rPr>
              <a:t> </a:t>
            </a:r>
            <a:r>
              <a:rPr lang="en-GB" sz="2800" dirty="0">
                <a:latin typeface="Arial MT"/>
                <a:cs typeface="Arial MT"/>
              </a:rPr>
              <a:t>are</a:t>
            </a:r>
            <a:r>
              <a:rPr lang="en-GB" sz="2800" spc="-50" dirty="0">
                <a:latin typeface="Arial MT"/>
                <a:cs typeface="Arial MT"/>
              </a:rPr>
              <a:t> </a:t>
            </a:r>
            <a:r>
              <a:rPr lang="en-GB" sz="2800" dirty="0">
                <a:latin typeface="Arial MT"/>
                <a:cs typeface="Arial MT"/>
              </a:rPr>
              <a:t>keen</a:t>
            </a:r>
            <a:r>
              <a:rPr lang="en-GB" sz="2800" spc="-35" dirty="0">
                <a:latin typeface="Arial MT"/>
                <a:cs typeface="Arial MT"/>
              </a:rPr>
              <a:t> </a:t>
            </a:r>
            <a:r>
              <a:rPr lang="en-GB" sz="2800" dirty="0">
                <a:latin typeface="Arial MT"/>
                <a:cs typeface="Arial MT"/>
              </a:rPr>
              <a:t>to</a:t>
            </a:r>
            <a:r>
              <a:rPr lang="en-GB" sz="2800" spc="-50" dirty="0">
                <a:latin typeface="Arial MT"/>
                <a:cs typeface="Arial MT"/>
              </a:rPr>
              <a:t> </a:t>
            </a:r>
            <a:r>
              <a:rPr lang="en-GB" sz="2800" spc="-25" dirty="0">
                <a:latin typeface="Arial MT"/>
                <a:cs typeface="Arial MT"/>
              </a:rPr>
              <a:t>see </a:t>
            </a:r>
            <a:r>
              <a:rPr lang="en-GB" sz="2800" dirty="0">
                <a:latin typeface="Arial MT"/>
                <a:cs typeface="Arial MT"/>
              </a:rPr>
              <a:t>new</a:t>
            </a:r>
            <a:r>
              <a:rPr lang="en-GB" sz="2800" spc="-45" dirty="0">
                <a:latin typeface="Arial MT"/>
                <a:cs typeface="Arial MT"/>
              </a:rPr>
              <a:t> </a:t>
            </a:r>
            <a:r>
              <a:rPr lang="en-GB" sz="2800" dirty="0">
                <a:latin typeface="Arial MT"/>
                <a:cs typeface="Arial MT"/>
              </a:rPr>
              <a:t>companies</a:t>
            </a:r>
            <a:r>
              <a:rPr lang="en-GB" sz="2800" spc="-25" dirty="0">
                <a:latin typeface="Arial MT"/>
                <a:cs typeface="Arial MT"/>
              </a:rPr>
              <a:t> </a:t>
            </a:r>
            <a:r>
              <a:rPr lang="en-GB" sz="2800" dirty="0">
                <a:latin typeface="Arial MT"/>
                <a:cs typeface="Arial MT"/>
              </a:rPr>
              <a:t>emerge</a:t>
            </a:r>
            <a:r>
              <a:rPr lang="en-GB" sz="2800" spc="-45" dirty="0">
                <a:latin typeface="Arial MT"/>
                <a:cs typeface="Arial MT"/>
              </a:rPr>
              <a:t> </a:t>
            </a:r>
            <a:r>
              <a:rPr lang="en-GB" sz="2800" dirty="0">
                <a:latin typeface="Arial MT"/>
                <a:cs typeface="Arial MT"/>
              </a:rPr>
              <a:t>that</a:t>
            </a:r>
            <a:r>
              <a:rPr lang="en-GB" sz="2800" spc="-50" dirty="0">
                <a:latin typeface="Arial MT"/>
                <a:cs typeface="Arial MT"/>
              </a:rPr>
              <a:t> </a:t>
            </a:r>
            <a:r>
              <a:rPr lang="en-GB" sz="2800" dirty="0">
                <a:latin typeface="Arial MT"/>
                <a:cs typeface="Arial MT"/>
              </a:rPr>
              <a:t>played</a:t>
            </a:r>
            <a:r>
              <a:rPr lang="en-GB" sz="2800" spc="-35" dirty="0">
                <a:latin typeface="Arial MT"/>
                <a:cs typeface="Arial MT"/>
              </a:rPr>
              <a:t> </a:t>
            </a:r>
            <a:r>
              <a:rPr lang="en-GB" sz="2800" dirty="0">
                <a:latin typeface="Arial MT"/>
                <a:cs typeface="Arial MT"/>
              </a:rPr>
              <a:t>no</a:t>
            </a:r>
            <a:r>
              <a:rPr lang="en-GB" sz="2800" spc="-45" dirty="0">
                <a:latin typeface="Arial MT"/>
                <a:cs typeface="Arial MT"/>
              </a:rPr>
              <a:t> </a:t>
            </a:r>
            <a:r>
              <a:rPr lang="en-GB" sz="2800" dirty="0">
                <a:latin typeface="Arial MT"/>
                <a:cs typeface="Arial MT"/>
              </a:rPr>
              <a:t>part</a:t>
            </a:r>
            <a:r>
              <a:rPr lang="en-GB" sz="2800" spc="-50" dirty="0">
                <a:latin typeface="Arial MT"/>
                <a:cs typeface="Arial MT"/>
              </a:rPr>
              <a:t> </a:t>
            </a:r>
            <a:r>
              <a:rPr lang="en-GB" sz="2800" dirty="0">
                <a:latin typeface="Arial MT"/>
                <a:cs typeface="Arial MT"/>
              </a:rPr>
              <a:t>in</a:t>
            </a:r>
            <a:r>
              <a:rPr lang="en-GB" sz="2800" spc="-55" dirty="0">
                <a:latin typeface="Arial MT"/>
                <a:cs typeface="Arial MT"/>
              </a:rPr>
              <a:t> </a:t>
            </a:r>
            <a:r>
              <a:rPr lang="en-GB" sz="2800" dirty="0">
                <a:latin typeface="Arial MT"/>
                <a:cs typeface="Arial MT"/>
              </a:rPr>
              <a:t>the</a:t>
            </a:r>
            <a:r>
              <a:rPr lang="en-GB" sz="2800" spc="-45" dirty="0">
                <a:latin typeface="Arial MT"/>
                <a:cs typeface="Arial MT"/>
              </a:rPr>
              <a:t> </a:t>
            </a:r>
            <a:r>
              <a:rPr lang="en-GB" sz="2800" spc="-10" dirty="0">
                <a:latin typeface="Arial MT"/>
                <a:cs typeface="Arial MT"/>
              </a:rPr>
              <a:t>recent </a:t>
            </a:r>
            <a:r>
              <a:rPr lang="en-GB" sz="2800" dirty="0">
                <a:latin typeface="Arial MT"/>
                <a:cs typeface="Arial MT"/>
              </a:rPr>
              <a:t>crisis</a:t>
            </a:r>
            <a:r>
              <a:rPr lang="en-GB" sz="2800" spc="-60" dirty="0">
                <a:latin typeface="Arial MT"/>
                <a:cs typeface="Arial MT"/>
              </a:rPr>
              <a:t> </a:t>
            </a:r>
            <a:r>
              <a:rPr lang="en-GB" sz="2800" dirty="0">
                <a:latin typeface="Arial MT"/>
                <a:cs typeface="Arial MT"/>
              </a:rPr>
              <a:t>and</a:t>
            </a:r>
            <a:r>
              <a:rPr lang="en-GB" sz="2800" spc="-55" dirty="0">
                <a:latin typeface="Arial MT"/>
                <a:cs typeface="Arial MT"/>
              </a:rPr>
              <a:t> </a:t>
            </a:r>
            <a:r>
              <a:rPr lang="en-GB" sz="2800" dirty="0">
                <a:latin typeface="Arial MT"/>
                <a:cs typeface="Arial MT"/>
              </a:rPr>
              <a:t>could</a:t>
            </a:r>
            <a:r>
              <a:rPr lang="en-GB" sz="2800" spc="-50" dirty="0">
                <a:latin typeface="Arial MT"/>
                <a:cs typeface="Arial MT"/>
              </a:rPr>
              <a:t> </a:t>
            </a:r>
            <a:r>
              <a:rPr lang="en-GB" sz="2800" dirty="0">
                <a:latin typeface="Arial MT"/>
                <a:cs typeface="Arial MT"/>
              </a:rPr>
              <a:t>offer</a:t>
            </a:r>
            <a:r>
              <a:rPr lang="en-GB" sz="2800" spc="-60" dirty="0">
                <a:latin typeface="Arial MT"/>
                <a:cs typeface="Arial MT"/>
              </a:rPr>
              <a:t> </a:t>
            </a:r>
            <a:r>
              <a:rPr lang="en-GB" sz="2800" dirty="0">
                <a:latin typeface="Arial MT"/>
                <a:cs typeface="Arial MT"/>
              </a:rPr>
              <a:t>innovative</a:t>
            </a:r>
            <a:r>
              <a:rPr lang="en-GB" sz="2800" spc="-40" dirty="0">
                <a:latin typeface="Arial MT"/>
                <a:cs typeface="Arial MT"/>
              </a:rPr>
              <a:t> </a:t>
            </a:r>
            <a:r>
              <a:rPr lang="en-GB" sz="2800" dirty="0">
                <a:latin typeface="Arial MT"/>
                <a:cs typeface="Arial MT"/>
              </a:rPr>
              <a:t>solutions</a:t>
            </a:r>
            <a:r>
              <a:rPr lang="en-GB" sz="2800" spc="-40" dirty="0">
                <a:latin typeface="Arial MT"/>
                <a:cs typeface="Arial MT"/>
              </a:rPr>
              <a:t> </a:t>
            </a:r>
            <a:r>
              <a:rPr lang="en-GB" sz="2800" dirty="0">
                <a:latin typeface="Arial MT"/>
                <a:cs typeface="Arial MT"/>
              </a:rPr>
              <a:t>to</a:t>
            </a:r>
            <a:r>
              <a:rPr lang="en-GB" sz="2800" spc="-60" dirty="0">
                <a:latin typeface="Arial MT"/>
                <a:cs typeface="Arial MT"/>
              </a:rPr>
              <a:t> </a:t>
            </a:r>
            <a:r>
              <a:rPr lang="en-GB" sz="2800" spc="-10" dirty="0">
                <a:latin typeface="Arial MT"/>
                <a:cs typeface="Arial MT"/>
              </a:rPr>
              <a:t>financial services.</a:t>
            </a:r>
            <a:endParaRPr lang="en-GB" sz="2800" dirty="0">
              <a:latin typeface="Arial MT"/>
              <a:cs typeface="Arial MT"/>
            </a:endParaRPr>
          </a:p>
          <a:p>
            <a:pPr marL="514350" indent="-514350" algn="just">
              <a:lnSpc>
                <a:spcPct val="200000"/>
              </a:lnSpc>
              <a:buFont typeface="Arial" panose="020B0604020202020204" pitchFamily="34" charset="0"/>
              <a:buChar char="•"/>
            </a:pPr>
            <a:endParaRPr lang="en-US" sz="2800" dirty="0"/>
          </a:p>
        </p:txBody>
      </p:sp>
    </p:spTree>
    <p:extLst>
      <p:ext uri="{BB962C8B-B14F-4D97-AF65-F5344CB8AC3E}">
        <p14:creationId xmlns:p14="http://schemas.microsoft.com/office/powerpoint/2010/main" val="232328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6DF40-389A-A3A3-767E-43372223449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DCCC182-BEF4-92D7-6C08-F67B66AA914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0C63BB8-4C02-D1D1-4DAC-76B143A5993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EFCC0B09-8E5F-C60C-E9CE-913793E778E0}"/>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Drivers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B7EECE32-A98A-D7C5-44F5-D6679B7E6CB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F9B3C963-3DA3-9808-0F78-B213FF07049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F9587E3-C331-E9E3-6D15-C080FC97572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E1B824C5-B658-8B74-B9A6-F2C14A504905}"/>
              </a:ext>
            </a:extLst>
          </p:cNvPr>
          <p:cNvSpPr txBox="1"/>
          <p:nvPr/>
        </p:nvSpPr>
        <p:spPr>
          <a:xfrm>
            <a:off x="756447" y="2644758"/>
            <a:ext cx="16775106" cy="6865854"/>
          </a:xfrm>
          <a:prstGeom prst="rect">
            <a:avLst/>
          </a:prstGeom>
          <a:noFill/>
        </p:spPr>
        <p:txBody>
          <a:bodyPr wrap="square" rtlCol="0">
            <a:spAutoFit/>
          </a:bodyPr>
          <a:lstStyle/>
          <a:p>
            <a:pPr marL="971550" lvl="1" indent="-514350" algn="just">
              <a:lnSpc>
                <a:spcPct val="200000"/>
              </a:lnSpc>
              <a:buFont typeface="Arial" panose="020B0604020202020204" pitchFamily="34" charset="0"/>
              <a:buChar char="•"/>
            </a:pPr>
            <a:r>
              <a:rPr lang="en-GB" sz="2800" dirty="0"/>
              <a:t>Whatever the positioning of these digital challengers along the value chain, they all share (with different weight) a number of	built on digital technology innovation, avoidance of regulation and a superior understanding of client needs, usually born out of  their	used to gather, mine and interpret “big data”—structured and not, quantitative and  qualitative, formal and social—coming for example from the analysis and monitoring of our reputation in the web, to discriminate on our somehow related creditworthiness; or from the information available from all kind of sources that offers new lead and lag indicators on the state of health of a business</a:t>
            </a:r>
          </a:p>
          <a:p>
            <a:pPr marL="971550" lvl="1" indent="-514350" algn="just">
              <a:lnSpc>
                <a:spcPct val="200000"/>
              </a:lnSpc>
              <a:buFont typeface="Arial" panose="020B0604020202020204" pitchFamily="34" charset="0"/>
              <a:buChar char="•"/>
            </a:pPr>
            <a:endParaRPr lang="en-US" sz="2800" dirty="0"/>
          </a:p>
        </p:txBody>
      </p:sp>
      <p:sp>
        <p:nvSpPr>
          <p:cNvPr id="4" name="TextBox 6">
            <a:extLst>
              <a:ext uri="{FF2B5EF4-FFF2-40B4-BE49-F238E27FC236}">
                <a16:creationId xmlns:a16="http://schemas.microsoft.com/office/drawing/2014/main" id="{4277C9D8-01D6-2AAD-EA43-14A6BFB798D0}"/>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5.1. </a:t>
            </a: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Distinctive Advantages</a:t>
            </a: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77901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57480-E22C-E7DD-3BF1-F1AF26A2F88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CFAA0F2-3413-A4D7-2209-B4E11301E1E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A9E163C-12CF-B529-B02E-F53D4C3E4D5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2AB4B76E-63B6-762B-737F-70D54DF1858D}"/>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FinTech – Drivers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9FC7B8AD-894F-0708-38A1-654212E4D08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E600423-6F37-A43B-5DB2-DE38321BB49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878380C-3D2C-6ED3-D184-2F937079D63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8B2A739-2FD0-AB45-9238-7F65AA8E545A}"/>
              </a:ext>
            </a:extLst>
          </p:cNvPr>
          <p:cNvSpPr txBox="1"/>
          <p:nvPr/>
        </p:nvSpPr>
        <p:spPr>
          <a:xfrm>
            <a:off x="756447" y="2644758"/>
            <a:ext cx="16775106" cy="7727628"/>
          </a:xfrm>
          <a:prstGeom prst="rect">
            <a:avLst/>
          </a:prstGeom>
          <a:noFill/>
        </p:spPr>
        <p:txBody>
          <a:bodyPr wrap="square" rtlCol="0">
            <a:spAutoFit/>
          </a:bodyPr>
          <a:lstStyle/>
          <a:p>
            <a:pPr marL="971550" lvl="1" indent="-514350" algn="just">
              <a:lnSpc>
                <a:spcPct val="200000"/>
              </a:lnSpc>
              <a:buFont typeface="Arial" panose="020B0604020202020204" pitchFamily="34" charset="0"/>
              <a:buChar char="•"/>
            </a:pPr>
            <a:r>
              <a:rPr lang="en-GB" sz="2800" dirty="0">
                <a:latin typeface="Arial MT"/>
              </a:rPr>
              <a:t>Opportunities. Fintech offers wide-ranging opportunities which national authorities are keen to foster. It</a:t>
            </a:r>
            <a:r>
              <a:rPr lang="en-US" sz="2800" dirty="0">
                <a:latin typeface="Arial MT"/>
              </a:rPr>
              <a:t> </a:t>
            </a:r>
            <a:r>
              <a:rPr lang="en-GB" sz="2800" dirty="0">
                <a:latin typeface="Arial MT"/>
              </a:rPr>
              <a:t>holds the promise of reducing costs and frictions, increasing efficiency and competition, narrowing information asymmetry, and broadening access to financial services—especially in low-income countries and for underserved population — although the benefits of technological change may take time to fully materialize. </a:t>
            </a:r>
          </a:p>
          <a:p>
            <a:pPr marL="971550" lvl="1" indent="-514350" algn="just">
              <a:lnSpc>
                <a:spcPct val="200000"/>
              </a:lnSpc>
              <a:buFont typeface="Arial" panose="020B0604020202020204" pitchFamily="34" charset="0"/>
              <a:buChar char="•"/>
            </a:pPr>
            <a:r>
              <a:rPr lang="en-GB" sz="2800" dirty="0">
                <a:latin typeface="Arial MT"/>
              </a:rPr>
              <a:t>Ongoing innovations and technological advances support broader economic development and inclusive growth,  facilitate international payments and remittances, and simplify and strengthen regulatory compliance and supervisory processes.</a:t>
            </a:r>
          </a:p>
          <a:p>
            <a:pPr marL="971550" lvl="1" indent="-514350" algn="just">
              <a:lnSpc>
                <a:spcPct val="200000"/>
              </a:lnSpc>
              <a:buFont typeface="Arial" panose="020B0604020202020204" pitchFamily="34" charset="0"/>
              <a:buChar char="•"/>
            </a:pPr>
            <a:endParaRPr lang="en-GB" sz="2800" dirty="0">
              <a:latin typeface="Arial MT"/>
              <a:cs typeface="Arial MT"/>
            </a:endParaRPr>
          </a:p>
        </p:txBody>
      </p:sp>
      <p:sp>
        <p:nvSpPr>
          <p:cNvPr id="4" name="TextBox 6">
            <a:extLst>
              <a:ext uri="{FF2B5EF4-FFF2-40B4-BE49-F238E27FC236}">
                <a16:creationId xmlns:a16="http://schemas.microsoft.com/office/drawing/2014/main" id="{FA6BE929-D72C-1783-7EB4-3ADAFEDF7B23}"/>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5.1. </a:t>
            </a: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Opportunities</a:t>
            </a: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7161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E07F0-F90F-D8A4-DB52-1C730019D185}"/>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514436F6-BE45-AEB6-2403-D45E8433B7A7}"/>
              </a:ext>
            </a:extLst>
          </p:cNvPr>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08293DAE-7894-EFBE-FB40-312DED29E734}"/>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4D071AE6-147E-92BF-5B73-E506A0E20B2D}"/>
              </a:ext>
            </a:extLst>
          </p:cNvPr>
          <p:cNvSpPr txBox="1"/>
          <p:nvPr/>
        </p:nvSpPr>
        <p:spPr>
          <a:xfrm>
            <a:off x="316056" y="3714615"/>
            <a:ext cx="7098887" cy="2857770"/>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Issues, Threats &amp; Challenges</a:t>
            </a:r>
          </a:p>
        </p:txBody>
      </p:sp>
    </p:spTree>
    <p:extLst>
      <p:ext uri="{BB962C8B-B14F-4D97-AF65-F5344CB8AC3E}">
        <p14:creationId xmlns:p14="http://schemas.microsoft.com/office/powerpoint/2010/main" val="26685256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4D073-1739-A440-81C6-6EDF1F65522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C0C5EEC-C13F-46EF-C3A1-A646723FCFE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0AB0C39-ABEE-3D38-C449-1D10500E662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F9C9029-C2C7-0DD4-2D10-C611911553FE}"/>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EE3FBB5B-C8A7-AD83-814D-A0AC65E6FDA9}"/>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75EEEEF8-40CA-431D-D952-99EA75159A82}"/>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7C1F8D7-8AFB-9E12-B4F3-EC7877136CA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46</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62CE7DCC-66CF-D22E-FD71-B8744B65D55D}"/>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6.1.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Threats Posed by FinTech (faced by incumbents)</a:t>
            </a:r>
          </a:p>
        </p:txBody>
      </p:sp>
      <p:sp>
        <p:nvSpPr>
          <p:cNvPr id="13" name="TextBox 12">
            <a:extLst>
              <a:ext uri="{FF2B5EF4-FFF2-40B4-BE49-F238E27FC236}">
                <a16:creationId xmlns:a16="http://schemas.microsoft.com/office/drawing/2014/main" id="{0EB0AFCA-28C2-7942-9091-D1288FE15779}"/>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MT"/>
              </a:rPr>
              <a:t>Threats posed by FinTechs have the ability to disrupt categories of incumbents’ business…</a:t>
            </a:r>
          </a:p>
          <a:p>
            <a:pPr marL="971550" lvl="1" indent="-514350" algn="just">
              <a:lnSpc>
                <a:spcPct val="200000"/>
              </a:lnSpc>
              <a:buFont typeface="Arial" panose="020B0604020202020204" pitchFamily="34" charset="0"/>
              <a:buChar char="•"/>
            </a:pPr>
            <a:r>
              <a:rPr lang="en-GB" sz="2800" dirty="0">
                <a:latin typeface="Arial MT"/>
                <a:cs typeface="Arial MT"/>
              </a:rPr>
              <a:t>Erode</a:t>
            </a:r>
            <a:r>
              <a:rPr lang="en-GB" sz="2800" spc="-60" dirty="0">
                <a:latin typeface="Arial MT"/>
                <a:cs typeface="Arial MT"/>
              </a:rPr>
              <a:t> </a:t>
            </a:r>
            <a:r>
              <a:rPr lang="en-GB" sz="2800" dirty="0">
                <a:latin typeface="Arial MT"/>
                <a:cs typeface="Arial MT"/>
              </a:rPr>
              <a:t>brand</a:t>
            </a:r>
            <a:r>
              <a:rPr lang="en-GB" sz="2800" spc="-65" dirty="0">
                <a:latin typeface="Arial MT"/>
                <a:cs typeface="Arial MT"/>
              </a:rPr>
              <a:t> </a:t>
            </a:r>
            <a:r>
              <a:rPr lang="en-GB" sz="2800" spc="-10" dirty="0">
                <a:latin typeface="Arial MT"/>
                <a:cs typeface="Arial MT"/>
              </a:rPr>
              <a:t>equity</a:t>
            </a:r>
          </a:p>
          <a:p>
            <a:pPr marL="971550" lvl="1" indent="-514350" algn="just">
              <a:lnSpc>
                <a:spcPct val="200000"/>
              </a:lnSpc>
              <a:buFont typeface="Arial" panose="020B0604020202020204" pitchFamily="34" charset="0"/>
              <a:buChar char="•"/>
            </a:pPr>
            <a:r>
              <a:rPr lang="en-GB" sz="2800" dirty="0">
                <a:latin typeface="Arial MT"/>
                <a:cs typeface="Arial MT"/>
              </a:rPr>
              <a:t>market </a:t>
            </a:r>
            <a:r>
              <a:rPr lang="en-GB" sz="2800" spc="-10" dirty="0">
                <a:latin typeface="Arial MT"/>
                <a:cs typeface="Arial MT"/>
              </a:rPr>
              <a:t>share,</a:t>
            </a:r>
          </a:p>
          <a:p>
            <a:pPr marL="971550" lvl="1" indent="-514350" algn="just">
              <a:lnSpc>
                <a:spcPct val="200000"/>
              </a:lnSpc>
              <a:buFont typeface="Arial" panose="020B0604020202020204" pitchFamily="34" charset="0"/>
              <a:buChar char="•"/>
            </a:pPr>
            <a:r>
              <a:rPr lang="en-GB" sz="2800" spc="-10" dirty="0">
                <a:latin typeface="Arial MT"/>
                <a:cs typeface="Arial MT"/>
              </a:rPr>
              <a:t>margins,</a:t>
            </a:r>
          </a:p>
          <a:p>
            <a:pPr marL="971550" lvl="1" indent="-514350" algn="just">
              <a:lnSpc>
                <a:spcPct val="200000"/>
              </a:lnSpc>
              <a:buFont typeface="Arial" panose="020B0604020202020204" pitchFamily="34" charset="0"/>
              <a:buChar char="•"/>
            </a:pPr>
            <a:r>
              <a:rPr lang="en-GB" sz="2800" dirty="0">
                <a:latin typeface="Arial MT"/>
                <a:cs typeface="Arial MT"/>
              </a:rPr>
              <a:t>information</a:t>
            </a:r>
            <a:r>
              <a:rPr lang="en-GB" sz="2800" spc="-65" dirty="0">
                <a:latin typeface="Arial MT"/>
                <a:cs typeface="Arial MT"/>
              </a:rPr>
              <a:t> </a:t>
            </a:r>
            <a:r>
              <a:rPr lang="en-GB" sz="2800" spc="-10" dirty="0">
                <a:latin typeface="Arial MT"/>
                <a:cs typeface="Arial MT"/>
              </a:rPr>
              <a:t>security/privacy</a:t>
            </a:r>
          </a:p>
          <a:p>
            <a:pPr marL="971550" lvl="1" indent="-514350" algn="just">
              <a:lnSpc>
                <a:spcPct val="200000"/>
              </a:lnSpc>
              <a:buFont typeface="Arial" panose="020B0604020202020204" pitchFamily="34" charset="0"/>
              <a:buChar char="•"/>
            </a:pPr>
            <a:r>
              <a:rPr lang="en-GB" sz="2800" dirty="0">
                <a:latin typeface="Arial MT"/>
                <a:cs typeface="Arial MT"/>
              </a:rPr>
              <a:t>customer</a:t>
            </a:r>
            <a:r>
              <a:rPr lang="en-GB" sz="2800" spc="-95" dirty="0">
                <a:latin typeface="Arial MT"/>
                <a:cs typeface="Arial MT"/>
              </a:rPr>
              <a:t> </a:t>
            </a:r>
            <a:r>
              <a:rPr lang="en-GB" sz="2800" spc="-10" dirty="0">
                <a:latin typeface="Arial MT"/>
                <a:cs typeface="Arial MT"/>
              </a:rPr>
              <a:t>churn</a:t>
            </a:r>
            <a:endParaRPr lang="en-GB" sz="2800" dirty="0">
              <a:latin typeface="Arial MT"/>
              <a:cs typeface="Arial MT"/>
            </a:endParaRPr>
          </a:p>
          <a:p>
            <a:pPr marL="971550" lvl="1" indent="-514350" algn="just">
              <a:lnSpc>
                <a:spcPct val="200000"/>
              </a:lnSpc>
              <a:buFont typeface="Arial" panose="020B0604020202020204" pitchFamily="34" charset="0"/>
              <a:buChar char="•"/>
            </a:pPr>
            <a:endParaRPr lang="en-US" sz="2800" dirty="0">
              <a:latin typeface="Arial MT"/>
              <a:cs typeface="Arial MT"/>
            </a:endParaRPr>
          </a:p>
        </p:txBody>
      </p:sp>
    </p:spTree>
    <p:extLst>
      <p:ext uri="{BB962C8B-B14F-4D97-AF65-F5344CB8AC3E}">
        <p14:creationId xmlns:p14="http://schemas.microsoft.com/office/powerpoint/2010/main" val="408777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fade">
                                      <p:cBhvr>
                                        <p:cTn id="32"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12B77-D1AB-A699-B145-FC6130AD2EB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80C29EC-762C-E4A4-E756-83308294348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F807BAC-2C60-10F3-EFBD-028F821CCCF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14C73D6-8A93-47EF-F963-E34E487555EF}"/>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6CD7D2E5-55B1-37EC-675F-31FD2F204B4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AAEA6E26-ADC2-E16B-8DDF-B38E4056C8F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C7B6FA1-56B9-07FF-9329-583AB4145A62}"/>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47</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414C6D98-3367-06E1-417E-8A80A32FFCE0}"/>
              </a:ext>
            </a:extLst>
          </p:cNvPr>
          <p:cNvSpPr txBox="1"/>
          <p:nvPr/>
        </p:nvSpPr>
        <p:spPr>
          <a:xfrm>
            <a:off x="756447" y="1805216"/>
            <a:ext cx="13979461" cy="634020"/>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6.2.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Challenges (faced by incumbents)</a:t>
            </a:r>
          </a:p>
        </p:txBody>
      </p:sp>
      <p:sp>
        <p:nvSpPr>
          <p:cNvPr id="13" name="TextBox 12">
            <a:extLst>
              <a:ext uri="{FF2B5EF4-FFF2-40B4-BE49-F238E27FC236}">
                <a16:creationId xmlns:a16="http://schemas.microsoft.com/office/drawing/2014/main" id="{DB278448-AB41-D4CD-CCA5-319BC6ABCBEC}"/>
              </a:ext>
            </a:extLst>
          </p:cNvPr>
          <p:cNvSpPr txBox="1"/>
          <p:nvPr/>
        </p:nvSpPr>
        <p:spPr>
          <a:xfrm>
            <a:off x="756447" y="2644758"/>
            <a:ext cx="16775106" cy="8589403"/>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MT"/>
              </a:rPr>
              <a:t>Today, financial institutions face several challenges. They can be summarized as the six C’s:</a:t>
            </a:r>
            <a:endParaRPr lang="en-US" sz="2800" dirty="0">
              <a:latin typeface="Arial MT"/>
            </a:endParaRPr>
          </a:p>
          <a:p>
            <a:pPr marL="514350" indent="-514350" algn="just">
              <a:lnSpc>
                <a:spcPct val="200000"/>
              </a:lnSpc>
              <a:buFont typeface="Wingdings" panose="05000000000000000000" pitchFamily="2" charset="2"/>
              <a:buChar char="§"/>
            </a:pPr>
            <a:r>
              <a:rPr lang="en-GB" sz="2800" dirty="0">
                <a:latin typeface="Arial MT"/>
              </a:rPr>
              <a:t>Culture</a:t>
            </a:r>
          </a:p>
          <a:p>
            <a:pPr marL="971550" lvl="1" indent="-514350" algn="just">
              <a:lnSpc>
                <a:spcPct val="200000"/>
              </a:lnSpc>
              <a:buFont typeface="Wingdings" panose="05000000000000000000" pitchFamily="2" charset="2"/>
              <a:buChar char="§"/>
            </a:pPr>
            <a:r>
              <a:rPr lang="en-GB" sz="2400" dirty="0">
                <a:latin typeface="Arial MT"/>
                <a:cs typeface="Arial MT"/>
              </a:rPr>
              <a:t>acting</a:t>
            </a:r>
            <a:r>
              <a:rPr lang="en-GB" sz="2400" spc="-10" dirty="0">
                <a:latin typeface="Arial MT"/>
                <a:cs typeface="Arial MT"/>
              </a:rPr>
              <a:t> </a:t>
            </a:r>
            <a:r>
              <a:rPr lang="en-GB" sz="2400" dirty="0">
                <a:latin typeface="Arial MT"/>
                <a:cs typeface="Arial MT"/>
              </a:rPr>
              <a:t>customer-</a:t>
            </a:r>
            <a:r>
              <a:rPr lang="en-GB" sz="2400" spc="-10" dirty="0">
                <a:latin typeface="Arial MT"/>
                <a:cs typeface="Arial MT"/>
              </a:rPr>
              <a:t>centric;</a:t>
            </a:r>
          </a:p>
          <a:p>
            <a:pPr marL="971550" lvl="1" indent="-514350" algn="just">
              <a:lnSpc>
                <a:spcPct val="200000"/>
              </a:lnSpc>
              <a:buFont typeface="Wingdings" panose="05000000000000000000" pitchFamily="2" charset="2"/>
              <a:buChar char="§"/>
            </a:pPr>
            <a:r>
              <a:rPr lang="en-GB" sz="2400" spc="-70" dirty="0">
                <a:latin typeface="Arial MT"/>
                <a:cs typeface="Arial MT"/>
              </a:rPr>
              <a:t> </a:t>
            </a:r>
            <a:r>
              <a:rPr lang="en-GB" sz="2400" dirty="0">
                <a:latin typeface="Arial MT"/>
                <a:cs typeface="Arial MT"/>
              </a:rPr>
              <a:t>balancing</a:t>
            </a:r>
            <a:r>
              <a:rPr lang="en-GB" sz="2400" spc="-15" dirty="0">
                <a:latin typeface="Arial MT"/>
                <a:cs typeface="Arial MT"/>
              </a:rPr>
              <a:t> </a:t>
            </a:r>
            <a:r>
              <a:rPr lang="en-GB" sz="2400" dirty="0">
                <a:latin typeface="Arial MT"/>
                <a:cs typeface="Arial MT"/>
              </a:rPr>
              <a:t>the</a:t>
            </a:r>
            <a:r>
              <a:rPr lang="en-GB" sz="2400" spc="-55" dirty="0">
                <a:latin typeface="Arial MT"/>
                <a:cs typeface="Arial MT"/>
              </a:rPr>
              <a:t> </a:t>
            </a:r>
            <a:r>
              <a:rPr lang="en-GB" sz="2400" dirty="0">
                <a:latin typeface="Arial MT"/>
                <a:cs typeface="Arial MT"/>
              </a:rPr>
              <a:t>interests</a:t>
            </a:r>
            <a:r>
              <a:rPr lang="en-GB" sz="2400" spc="-75" dirty="0">
                <a:latin typeface="Arial MT"/>
                <a:cs typeface="Arial MT"/>
              </a:rPr>
              <a:t> </a:t>
            </a:r>
            <a:r>
              <a:rPr lang="en-GB" sz="2400" dirty="0">
                <a:latin typeface="Arial MT"/>
                <a:cs typeface="Arial MT"/>
              </a:rPr>
              <a:t>of</a:t>
            </a:r>
            <a:r>
              <a:rPr lang="en-GB" sz="2400" spc="-60" dirty="0">
                <a:latin typeface="Arial MT"/>
                <a:cs typeface="Arial MT"/>
              </a:rPr>
              <a:t> </a:t>
            </a:r>
            <a:r>
              <a:rPr lang="en-GB" sz="2400" dirty="0">
                <a:latin typeface="Arial MT"/>
                <a:cs typeface="Arial MT"/>
              </a:rPr>
              <a:t>the</a:t>
            </a:r>
            <a:r>
              <a:rPr lang="en-GB" sz="2400" spc="-55" dirty="0">
                <a:latin typeface="Arial MT"/>
                <a:cs typeface="Arial MT"/>
              </a:rPr>
              <a:t> </a:t>
            </a:r>
            <a:r>
              <a:rPr lang="en-GB" sz="2400" spc="-10" dirty="0">
                <a:latin typeface="Arial MT"/>
                <a:cs typeface="Arial MT"/>
              </a:rPr>
              <a:t>shareholders</a:t>
            </a:r>
            <a:r>
              <a:rPr lang="en-GB" sz="2400" spc="-35" dirty="0">
                <a:latin typeface="Arial MT"/>
                <a:cs typeface="Arial MT"/>
              </a:rPr>
              <a:t> </a:t>
            </a:r>
            <a:r>
              <a:rPr lang="en-GB" sz="2400" dirty="0">
                <a:latin typeface="Arial MT"/>
                <a:cs typeface="Arial MT"/>
              </a:rPr>
              <a:t>and</a:t>
            </a:r>
            <a:r>
              <a:rPr lang="en-GB" sz="2400" spc="-55" dirty="0">
                <a:latin typeface="Arial MT"/>
                <a:cs typeface="Arial MT"/>
              </a:rPr>
              <a:t> </a:t>
            </a:r>
            <a:r>
              <a:rPr lang="en-GB" sz="2400" spc="-25" dirty="0">
                <a:latin typeface="Arial MT"/>
                <a:cs typeface="Arial MT"/>
              </a:rPr>
              <a:t>the</a:t>
            </a:r>
            <a:r>
              <a:rPr lang="en-GB" sz="2400" spc="-10" dirty="0">
                <a:latin typeface="Arial MT"/>
                <a:cs typeface="Arial MT"/>
              </a:rPr>
              <a:t> organization;</a:t>
            </a:r>
          </a:p>
          <a:p>
            <a:pPr marL="971550" lvl="1" indent="-514350" algn="just">
              <a:lnSpc>
                <a:spcPct val="200000"/>
              </a:lnSpc>
              <a:buFont typeface="Wingdings" panose="05000000000000000000" pitchFamily="2" charset="2"/>
              <a:buChar char="§"/>
            </a:pPr>
            <a:r>
              <a:rPr lang="en-GB" sz="2400" dirty="0">
                <a:latin typeface="Arial MT"/>
                <a:cs typeface="Arial MT"/>
              </a:rPr>
              <a:t>being</a:t>
            </a:r>
            <a:r>
              <a:rPr lang="en-GB" sz="2400" spc="-30" dirty="0">
                <a:latin typeface="Arial MT"/>
                <a:cs typeface="Arial MT"/>
              </a:rPr>
              <a:t> </a:t>
            </a:r>
            <a:r>
              <a:rPr lang="en-GB" sz="2400" dirty="0">
                <a:latin typeface="Arial MT"/>
                <a:cs typeface="Arial MT"/>
              </a:rPr>
              <a:t>lean,</a:t>
            </a:r>
            <a:r>
              <a:rPr lang="en-GB" sz="2400" spc="-45" dirty="0">
                <a:latin typeface="Arial MT"/>
                <a:cs typeface="Arial MT"/>
              </a:rPr>
              <a:t> </a:t>
            </a:r>
            <a:r>
              <a:rPr lang="en-GB" sz="2400" dirty="0">
                <a:latin typeface="Arial MT"/>
                <a:cs typeface="Arial MT"/>
              </a:rPr>
              <a:t>automated,</a:t>
            </a:r>
            <a:r>
              <a:rPr lang="en-GB" sz="2400" spc="-55" dirty="0">
                <a:latin typeface="Arial MT"/>
                <a:cs typeface="Arial MT"/>
              </a:rPr>
              <a:t> </a:t>
            </a:r>
            <a:r>
              <a:rPr lang="en-GB" sz="2400" dirty="0">
                <a:latin typeface="Arial MT"/>
                <a:cs typeface="Arial MT"/>
              </a:rPr>
              <a:t>and</a:t>
            </a:r>
            <a:r>
              <a:rPr lang="en-GB" sz="2400" spc="-50" dirty="0">
                <a:latin typeface="Arial MT"/>
                <a:cs typeface="Arial MT"/>
              </a:rPr>
              <a:t> </a:t>
            </a:r>
            <a:r>
              <a:rPr lang="en-GB" sz="2400" spc="-10" dirty="0">
                <a:latin typeface="Arial MT"/>
                <a:cs typeface="Arial MT"/>
              </a:rPr>
              <a:t>agile.</a:t>
            </a:r>
            <a:endParaRPr lang="en-GB" sz="2400" dirty="0">
              <a:latin typeface="Arial MT"/>
            </a:endParaRPr>
          </a:p>
          <a:p>
            <a:pPr marL="342900" indent="-342900" algn="just">
              <a:lnSpc>
                <a:spcPct val="200000"/>
              </a:lnSpc>
              <a:buFont typeface="Arial" panose="020B0604020202020204" pitchFamily="34" charset="0"/>
              <a:buChar char="•"/>
            </a:pPr>
            <a:r>
              <a:rPr lang="en-GB" sz="2800" dirty="0">
                <a:latin typeface="Arial MT"/>
              </a:rPr>
              <a:t>Customers</a:t>
            </a:r>
          </a:p>
          <a:p>
            <a:pPr marL="800100" lvl="1" indent="-342900" algn="just">
              <a:lnSpc>
                <a:spcPct val="200000"/>
              </a:lnSpc>
              <a:buFont typeface="Arial" panose="020B0604020202020204" pitchFamily="34" charset="0"/>
              <a:buChar char="•"/>
            </a:pPr>
            <a:r>
              <a:rPr lang="en-GB" sz="2400" dirty="0">
                <a:latin typeface="Arial MT"/>
              </a:rPr>
              <a:t>empowered and demanding;</a:t>
            </a:r>
          </a:p>
          <a:p>
            <a:pPr marL="800100" lvl="1" indent="-342900" algn="just">
              <a:lnSpc>
                <a:spcPct val="200000"/>
              </a:lnSpc>
              <a:buFont typeface="Arial" panose="020B0604020202020204" pitchFamily="34" charset="0"/>
              <a:buChar char="•"/>
            </a:pPr>
            <a:r>
              <a:rPr lang="en-GB" sz="2400" dirty="0">
                <a:latin typeface="Arial MT"/>
              </a:rPr>
              <a:t>complex and confused;</a:t>
            </a:r>
          </a:p>
          <a:p>
            <a:pPr marL="800100" lvl="1" indent="-342900" algn="just">
              <a:lnSpc>
                <a:spcPct val="200000"/>
              </a:lnSpc>
              <a:buFont typeface="Arial" panose="020B0604020202020204" pitchFamily="34" charset="0"/>
              <a:buChar char="•"/>
            </a:pPr>
            <a:r>
              <a:rPr lang="en-GB" sz="2400" dirty="0">
                <a:latin typeface="Arial MT"/>
              </a:rPr>
              <a:t>sometimes malicious.</a:t>
            </a:r>
          </a:p>
          <a:p>
            <a:pPr lvl="1" algn="just">
              <a:lnSpc>
                <a:spcPct val="200000"/>
              </a:lnSpc>
            </a:pPr>
            <a:endParaRPr lang="en-GB" sz="2400" dirty="0">
              <a:latin typeface="Arial MT"/>
              <a:cs typeface="Arial MT"/>
            </a:endParaRPr>
          </a:p>
          <a:p>
            <a:pPr marL="971550" lvl="1" indent="-514350" algn="just">
              <a:lnSpc>
                <a:spcPct val="200000"/>
              </a:lnSpc>
              <a:buFont typeface="Arial" panose="020B0604020202020204" pitchFamily="34" charset="0"/>
              <a:buChar char="•"/>
            </a:pPr>
            <a:endParaRPr lang="en-US" sz="2800" dirty="0">
              <a:latin typeface="Arial MT"/>
              <a:cs typeface="Arial MT"/>
            </a:endParaRPr>
          </a:p>
        </p:txBody>
      </p:sp>
    </p:spTree>
    <p:extLst>
      <p:ext uri="{BB962C8B-B14F-4D97-AF65-F5344CB8AC3E}">
        <p14:creationId xmlns:p14="http://schemas.microsoft.com/office/powerpoint/2010/main" val="2487578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fade">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fade">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fade">
                                      <p:cBhvr>
                                        <p:cTn id="42" dur="500"/>
                                        <p:tgtEl>
                                          <p:spTgt spid="1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3">
                                            <p:txEl>
                                              <p:pRg st="8" end="8"/>
                                            </p:txEl>
                                          </p:spTgt>
                                        </p:tgtEl>
                                        <p:attrNameLst>
                                          <p:attrName>style.visibility</p:attrName>
                                        </p:attrNameLst>
                                      </p:cBhvr>
                                      <p:to>
                                        <p:strVal val="visible"/>
                                      </p:to>
                                    </p:set>
                                    <p:animEffect transition="in" filter="fade">
                                      <p:cBhvr>
                                        <p:cTn id="47" dur="500"/>
                                        <p:tgtEl>
                                          <p:spTgt spid="1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6912F-98A0-C411-03BB-12B59572785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8C6A1BB-DBAC-AA7D-0C5D-A243A87AD5F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31883CB-400A-3E78-8689-FA487181929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0799956-E1F8-E4B0-96DD-4A200E6B6C45}"/>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84624E18-002D-1E22-3878-487AE4A9D2D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3ABAA889-03D6-EA0F-A518-6B14358A806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C779363-1EDD-6C3E-99A6-61FE8EBD4624}"/>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48</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CFD6AA05-D702-CCBD-290F-55C64AC2C618}"/>
              </a:ext>
            </a:extLst>
          </p:cNvPr>
          <p:cNvSpPr txBox="1"/>
          <p:nvPr/>
        </p:nvSpPr>
        <p:spPr>
          <a:xfrm>
            <a:off x="756447" y="1795676"/>
            <a:ext cx="16775106" cy="625030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MT"/>
              </a:rPr>
              <a:t>Competition</a:t>
            </a:r>
          </a:p>
          <a:p>
            <a:pPr marL="971550" lvl="1" indent="-514350" algn="just">
              <a:lnSpc>
                <a:spcPct val="200000"/>
              </a:lnSpc>
              <a:buFont typeface="Wingdings" panose="05000000000000000000" pitchFamily="2" charset="2"/>
              <a:buChar char="§"/>
            </a:pPr>
            <a:r>
              <a:rPr lang="en-GB" sz="2400" spc="-10" dirty="0">
                <a:latin typeface="Arial MT"/>
                <a:cs typeface="Arial MT"/>
              </a:rPr>
              <a:t>More and more aggressive</a:t>
            </a:r>
          </a:p>
          <a:p>
            <a:pPr marL="971550" lvl="1" indent="-514350" algn="just">
              <a:lnSpc>
                <a:spcPct val="200000"/>
              </a:lnSpc>
              <a:buFont typeface="Wingdings" panose="05000000000000000000" pitchFamily="2" charset="2"/>
              <a:buChar char="§"/>
            </a:pPr>
            <a:r>
              <a:rPr lang="en-GB" sz="2400" spc="-10" dirty="0">
                <a:latin typeface="Arial MT"/>
                <a:cs typeface="Arial MT"/>
              </a:rPr>
              <a:t>Global</a:t>
            </a:r>
          </a:p>
          <a:p>
            <a:pPr marL="342900" indent="-342900" algn="just">
              <a:lnSpc>
                <a:spcPct val="200000"/>
              </a:lnSpc>
              <a:buFont typeface="Arial" panose="020B0604020202020204" pitchFamily="34" charset="0"/>
              <a:buChar char="•"/>
            </a:pPr>
            <a:r>
              <a:rPr lang="en-GB" sz="2800" dirty="0">
                <a:latin typeface="Arial MT"/>
              </a:rPr>
              <a:t>Computers</a:t>
            </a:r>
          </a:p>
          <a:p>
            <a:pPr marL="800100" lvl="1" indent="-342900" algn="just">
              <a:lnSpc>
                <a:spcPct val="200000"/>
              </a:lnSpc>
              <a:buFont typeface="Arial" panose="020B0604020202020204" pitchFamily="34" charset="0"/>
              <a:buChar char="•"/>
            </a:pPr>
            <a:r>
              <a:rPr lang="en-GB" sz="2400" dirty="0">
                <a:latin typeface="Arial MT"/>
                <a:cs typeface="Arial MT"/>
              </a:rPr>
              <a:t>Based on new technology</a:t>
            </a:r>
          </a:p>
          <a:p>
            <a:pPr marL="800100" lvl="1" indent="-342900" algn="just">
              <a:lnSpc>
                <a:spcPct val="200000"/>
              </a:lnSpc>
              <a:buFont typeface="Arial" panose="020B0604020202020204" pitchFamily="34" charset="0"/>
              <a:buChar char="•"/>
            </a:pPr>
            <a:r>
              <a:rPr lang="en-GB" sz="2400" dirty="0">
                <a:latin typeface="Arial MT"/>
                <a:cs typeface="Arial MT"/>
              </a:rPr>
              <a:t>Always connected to networks </a:t>
            </a:r>
          </a:p>
          <a:p>
            <a:pPr marL="800100" lvl="1" indent="-342900" algn="just">
              <a:lnSpc>
                <a:spcPct val="200000"/>
              </a:lnSpc>
              <a:buFont typeface="Arial" panose="020B0604020202020204" pitchFamily="34" charset="0"/>
              <a:buChar char="•"/>
            </a:pPr>
            <a:r>
              <a:rPr lang="en-GB" sz="2400" dirty="0">
                <a:latin typeface="Arial MT"/>
                <a:cs typeface="Arial MT"/>
              </a:rPr>
              <a:t>Available through other devices, such as the mobile ones.</a:t>
            </a:r>
          </a:p>
          <a:p>
            <a:pPr marL="971550" lvl="1" indent="-514350" algn="just">
              <a:lnSpc>
                <a:spcPct val="200000"/>
              </a:lnSpc>
              <a:buFont typeface="Arial" panose="020B0604020202020204" pitchFamily="34" charset="0"/>
              <a:buChar char="•"/>
            </a:pPr>
            <a:endParaRPr lang="en-US" sz="2800" dirty="0">
              <a:latin typeface="Arial MT"/>
              <a:cs typeface="Arial MT"/>
            </a:endParaRPr>
          </a:p>
        </p:txBody>
      </p:sp>
    </p:spTree>
    <p:extLst>
      <p:ext uri="{BB962C8B-B14F-4D97-AF65-F5344CB8AC3E}">
        <p14:creationId xmlns:p14="http://schemas.microsoft.com/office/powerpoint/2010/main" val="2330583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fade">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fade">
                                      <p:cBhvr>
                                        <p:cTn id="37" dur="500"/>
                                        <p:tgtEl>
                                          <p:spTgt spid="1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CDE12-3821-B55D-4D63-0F24817C56A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4562836-FA86-86E8-3E47-13717E160E3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2AC6FE1-110A-6CC1-0A39-59833E3EEE3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F96D8B1-32B7-DE57-BB08-DE102172DB5A}"/>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4954D4CF-E7C1-1C1B-BD23-69E93F8A4E9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89CBA49A-192E-A976-0231-B4B62FBD2D8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43C736F7-201E-3477-5BDF-E56AD327E6C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49</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4C2CCFB2-1930-082A-5AD8-74B3BD11CB9C}"/>
              </a:ext>
            </a:extLst>
          </p:cNvPr>
          <p:cNvSpPr txBox="1"/>
          <p:nvPr/>
        </p:nvSpPr>
        <p:spPr>
          <a:xfrm>
            <a:off x="756447" y="1795676"/>
            <a:ext cx="16775106" cy="698896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MT"/>
              </a:rPr>
              <a:t>Compliance</a:t>
            </a:r>
          </a:p>
          <a:p>
            <a:pPr marL="971550" lvl="1" indent="-514350" algn="just">
              <a:lnSpc>
                <a:spcPct val="200000"/>
              </a:lnSpc>
              <a:buFont typeface="Wingdings" panose="05000000000000000000" pitchFamily="2" charset="2"/>
              <a:buChar char="§"/>
            </a:pPr>
            <a:r>
              <a:rPr lang="en-GB" sz="2400" dirty="0">
                <a:latin typeface="Arial MT"/>
                <a:cs typeface="Arial MT"/>
              </a:rPr>
              <a:t>more</a:t>
            </a:r>
            <a:r>
              <a:rPr lang="en-GB" sz="2400" spc="-35" dirty="0">
                <a:latin typeface="Arial MT"/>
                <a:cs typeface="Arial MT"/>
              </a:rPr>
              <a:t> </a:t>
            </a:r>
            <a:r>
              <a:rPr lang="en-GB" sz="2400" spc="-10" dirty="0">
                <a:latin typeface="Arial MT"/>
                <a:cs typeface="Arial MT"/>
              </a:rPr>
              <a:t>fraud;</a:t>
            </a:r>
          </a:p>
          <a:p>
            <a:pPr marL="971550" lvl="1" indent="-514350" algn="just">
              <a:lnSpc>
                <a:spcPct val="200000"/>
              </a:lnSpc>
              <a:buFont typeface="Wingdings" panose="05000000000000000000" pitchFamily="2" charset="2"/>
              <a:buChar char="§"/>
            </a:pPr>
            <a:r>
              <a:rPr lang="en-GB" sz="2400" dirty="0">
                <a:latin typeface="Arial MT"/>
                <a:cs typeface="Arial MT"/>
              </a:rPr>
              <a:t>need</a:t>
            </a:r>
            <a:r>
              <a:rPr lang="en-GB" sz="2400" spc="-15" dirty="0">
                <a:latin typeface="Arial MT"/>
                <a:cs typeface="Arial MT"/>
              </a:rPr>
              <a:t> </a:t>
            </a:r>
            <a:r>
              <a:rPr lang="en-GB" sz="2400" dirty="0">
                <a:latin typeface="Arial MT"/>
                <a:cs typeface="Arial MT"/>
              </a:rPr>
              <a:t>for</a:t>
            </a:r>
            <a:r>
              <a:rPr lang="en-GB" sz="2400" spc="-20" dirty="0">
                <a:latin typeface="Arial MT"/>
                <a:cs typeface="Arial MT"/>
              </a:rPr>
              <a:t> </a:t>
            </a:r>
            <a:r>
              <a:rPr lang="en-GB" sz="2400" spc="-10" dirty="0">
                <a:latin typeface="Arial MT"/>
                <a:cs typeface="Arial MT"/>
              </a:rPr>
              <a:t>security;</a:t>
            </a:r>
          </a:p>
          <a:p>
            <a:pPr marL="971550" lvl="1" indent="-514350" algn="just">
              <a:lnSpc>
                <a:spcPct val="200000"/>
              </a:lnSpc>
              <a:buFont typeface="Wingdings" panose="05000000000000000000" pitchFamily="2" charset="2"/>
              <a:buChar char="§"/>
            </a:pPr>
            <a:r>
              <a:rPr lang="en-GB" sz="2400" dirty="0">
                <a:latin typeface="Arial MT"/>
                <a:cs typeface="Arial MT"/>
              </a:rPr>
              <a:t>increasing</a:t>
            </a:r>
            <a:r>
              <a:rPr lang="en-GB" sz="2400" spc="-70" dirty="0">
                <a:latin typeface="Arial MT"/>
                <a:cs typeface="Arial MT"/>
              </a:rPr>
              <a:t> </a:t>
            </a:r>
            <a:r>
              <a:rPr lang="en-GB" sz="2400" dirty="0">
                <a:latin typeface="Arial MT"/>
                <a:cs typeface="Arial MT"/>
              </a:rPr>
              <a:t>legislation</a:t>
            </a:r>
            <a:r>
              <a:rPr lang="en-GB" sz="2400" spc="-60" dirty="0">
                <a:latin typeface="Arial MT"/>
                <a:cs typeface="Arial MT"/>
              </a:rPr>
              <a:t> </a:t>
            </a:r>
            <a:r>
              <a:rPr lang="en-GB" sz="2400" dirty="0">
                <a:latin typeface="Arial MT"/>
                <a:cs typeface="Arial MT"/>
              </a:rPr>
              <a:t>and</a:t>
            </a:r>
            <a:r>
              <a:rPr lang="en-GB" sz="2400" spc="-100" dirty="0">
                <a:latin typeface="Arial MT"/>
                <a:cs typeface="Arial MT"/>
              </a:rPr>
              <a:t> </a:t>
            </a:r>
            <a:r>
              <a:rPr lang="en-GB" sz="2400" spc="-10" dirty="0">
                <a:latin typeface="Arial MT"/>
                <a:cs typeface="Arial MT"/>
              </a:rPr>
              <a:t>regulation;</a:t>
            </a:r>
          </a:p>
          <a:p>
            <a:pPr marL="971550" lvl="1" indent="-514350" algn="just">
              <a:lnSpc>
                <a:spcPct val="200000"/>
              </a:lnSpc>
              <a:buFont typeface="Wingdings" panose="05000000000000000000" pitchFamily="2" charset="2"/>
              <a:buChar char="§"/>
            </a:pPr>
            <a:r>
              <a:rPr lang="en-GB" sz="2400" dirty="0">
                <a:latin typeface="Arial MT"/>
                <a:cs typeface="Arial MT"/>
              </a:rPr>
              <a:t>governance,</a:t>
            </a:r>
            <a:r>
              <a:rPr lang="en-GB" sz="2400" spc="-70" dirty="0">
                <a:latin typeface="Arial MT"/>
                <a:cs typeface="Arial MT"/>
              </a:rPr>
              <a:t> </a:t>
            </a:r>
            <a:r>
              <a:rPr lang="en-GB" sz="2400" dirty="0">
                <a:latin typeface="Arial MT"/>
                <a:cs typeface="Arial MT"/>
              </a:rPr>
              <a:t>risk,</a:t>
            </a:r>
            <a:r>
              <a:rPr lang="en-GB" sz="2400" spc="-85" dirty="0">
                <a:latin typeface="Arial MT"/>
                <a:cs typeface="Arial MT"/>
              </a:rPr>
              <a:t> </a:t>
            </a:r>
            <a:r>
              <a:rPr lang="en-GB" sz="2400" dirty="0">
                <a:latin typeface="Arial MT"/>
                <a:cs typeface="Arial MT"/>
              </a:rPr>
              <a:t>and</a:t>
            </a:r>
            <a:r>
              <a:rPr lang="en-GB" sz="2400" spc="-85" dirty="0">
                <a:latin typeface="Arial MT"/>
                <a:cs typeface="Arial MT"/>
              </a:rPr>
              <a:t> </a:t>
            </a:r>
            <a:r>
              <a:rPr lang="en-GB" sz="2400" dirty="0">
                <a:latin typeface="Arial MT"/>
                <a:cs typeface="Arial MT"/>
              </a:rPr>
              <a:t>compliance</a:t>
            </a:r>
            <a:r>
              <a:rPr lang="en-GB" sz="2400" spc="-55" dirty="0">
                <a:latin typeface="Arial MT"/>
                <a:cs typeface="Arial MT"/>
              </a:rPr>
              <a:t> </a:t>
            </a:r>
            <a:r>
              <a:rPr lang="en-GB" sz="2400" spc="-10" dirty="0">
                <a:latin typeface="Arial MT"/>
                <a:cs typeface="Arial MT"/>
              </a:rPr>
              <a:t>(GRC) management.</a:t>
            </a:r>
          </a:p>
          <a:p>
            <a:pPr marL="342900" indent="-342900" algn="just">
              <a:lnSpc>
                <a:spcPct val="200000"/>
              </a:lnSpc>
              <a:buFont typeface="Arial" panose="020B0604020202020204" pitchFamily="34" charset="0"/>
              <a:buChar char="•"/>
            </a:pPr>
            <a:r>
              <a:rPr lang="en-GB" sz="2800" dirty="0">
                <a:latin typeface="Arial MT"/>
              </a:rPr>
              <a:t>Costs</a:t>
            </a:r>
          </a:p>
          <a:p>
            <a:pPr marL="800100" lvl="1" indent="-342900" algn="just">
              <a:lnSpc>
                <a:spcPct val="200000"/>
              </a:lnSpc>
              <a:buFont typeface="Arial" panose="020B0604020202020204" pitchFamily="34" charset="0"/>
              <a:buChar char="•"/>
            </a:pPr>
            <a:r>
              <a:rPr lang="en-GB" sz="2400" dirty="0">
                <a:latin typeface="Arial MT"/>
                <a:cs typeface="Arial MT"/>
              </a:rPr>
              <a:t>Hugh push for improving the return on equity;</a:t>
            </a:r>
          </a:p>
          <a:p>
            <a:pPr marL="800100" lvl="1" indent="-342900" algn="just">
              <a:lnSpc>
                <a:spcPct val="200000"/>
              </a:lnSpc>
              <a:buFont typeface="Arial" panose="020B0604020202020204" pitchFamily="34" charset="0"/>
              <a:buChar char="•"/>
            </a:pPr>
            <a:r>
              <a:rPr lang="en-GB" sz="2400" dirty="0">
                <a:latin typeface="Arial MT"/>
                <a:cs typeface="Arial MT"/>
              </a:rPr>
              <a:t>More outsourcing.</a:t>
            </a:r>
          </a:p>
          <a:p>
            <a:pPr marL="971550" lvl="1" indent="-514350" algn="just">
              <a:lnSpc>
                <a:spcPct val="200000"/>
              </a:lnSpc>
              <a:buFont typeface="Arial" panose="020B0604020202020204" pitchFamily="34" charset="0"/>
              <a:buChar char="•"/>
            </a:pPr>
            <a:endParaRPr lang="en-US" sz="2800" dirty="0">
              <a:latin typeface="Arial MT"/>
              <a:cs typeface="Arial MT"/>
            </a:endParaRPr>
          </a:p>
        </p:txBody>
      </p:sp>
    </p:spTree>
    <p:extLst>
      <p:ext uri="{BB962C8B-B14F-4D97-AF65-F5344CB8AC3E}">
        <p14:creationId xmlns:p14="http://schemas.microsoft.com/office/powerpoint/2010/main" val="180075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fade">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fade">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fade">
                                      <p:cBhvr>
                                        <p:cTn id="42" dur="500"/>
                                        <p:tgtEl>
                                          <p:spTgt spid="1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00208-BA76-DCA1-C27B-5511FF2EC41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CC47B45-2CE9-9E8F-E7DB-B873D3BD122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71731FF-7E13-67DF-2B4F-CF4D99D8941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57926DA-E68E-B056-5839-5E03CF93649E}"/>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B26E7663-D142-1081-7A25-E7C6881934D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1CF884CE-945E-536E-C51F-5AA5947C237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EC083630-9DC9-32F1-4D16-89ADE1EF7ABA}"/>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50</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9248F056-A36E-D804-C83F-2C6378860BFC}"/>
              </a:ext>
            </a:extLst>
          </p:cNvPr>
          <p:cNvSpPr txBox="1"/>
          <p:nvPr/>
        </p:nvSpPr>
        <p:spPr>
          <a:xfrm>
            <a:off x="756447" y="1795676"/>
            <a:ext cx="16775106" cy="7481407"/>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MT"/>
                <a:cs typeface="Arial MT"/>
              </a:rPr>
              <a:t>A</a:t>
            </a:r>
            <a:r>
              <a:rPr lang="en-GB" sz="2800" spc="-75" dirty="0">
                <a:latin typeface="Arial MT"/>
                <a:cs typeface="Arial MT"/>
              </a:rPr>
              <a:t> </a:t>
            </a:r>
            <a:r>
              <a:rPr lang="en-GB" sz="2800" dirty="0">
                <a:latin typeface="Arial MT"/>
              </a:rPr>
              <a:t>common challenge FinTech companies and incumbents face is regulatory uncertainty . FinTech represents a challenge to regulators, as there may be a risk of an uneven playing field between the FS and FinTech companies. In fact, 86% of FS CEOs are concerned about the impact of overregulation on their prospects for growth, making this the biggest threat to growth they face.</a:t>
            </a:r>
          </a:p>
          <a:p>
            <a:pPr marL="514350" indent="-514350" algn="just">
              <a:lnSpc>
                <a:spcPct val="200000"/>
              </a:lnSpc>
              <a:buFont typeface="Wingdings" panose="05000000000000000000" pitchFamily="2" charset="2"/>
              <a:buChar char="§"/>
            </a:pPr>
            <a:endParaRPr lang="en-GB" sz="2800" dirty="0">
              <a:latin typeface="Arial MT"/>
            </a:endParaRPr>
          </a:p>
          <a:p>
            <a:pPr marL="514350" indent="-514350" algn="just">
              <a:lnSpc>
                <a:spcPct val="200000"/>
              </a:lnSpc>
              <a:buFont typeface="Wingdings" panose="05000000000000000000" pitchFamily="2" charset="2"/>
              <a:buChar char="§"/>
            </a:pPr>
            <a:r>
              <a:rPr lang="en-GB" sz="2800" dirty="0">
                <a:latin typeface="Arial MT"/>
              </a:rPr>
              <a:t>However, the problems do not correspond to specific regulations, but rather to ambiguity and confusion.</a:t>
            </a:r>
          </a:p>
          <a:p>
            <a:pPr marL="514350" indent="-514350" algn="just">
              <a:lnSpc>
                <a:spcPct val="200000"/>
              </a:lnSpc>
              <a:buFont typeface="Wingdings" panose="05000000000000000000" pitchFamily="2" charset="2"/>
              <a:buChar char="§"/>
            </a:pPr>
            <a:endParaRPr lang="en-GB" sz="2400" dirty="0">
              <a:latin typeface="Arial MT"/>
              <a:cs typeface="Arial MT"/>
            </a:endParaRPr>
          </a:p>
          <a:p>
            <a:pPr marL="514350" indent="-514350" algn="just">
              <a:lnSpc>
                <a:spcPct val="200000"/>
              </a:lnSpc>
              <a:buFont typeface="Wingdings" panose="05000000000000000000" pitchFamily="2" charset="2"/>
              <a:buChar char="§"/>
            </a:pPr>
            <a:endParaRPr lang="en-GB" sz="2400" dirty="0">
              <a:latin typeface="Arial MT"/>
              <a:cs typeface="Arial MT"/>
            </a:endParaRPr>
          </a:p>
          <a:p>
            <a:pPr marL="971550" lvl="1" indent="-514350" algn="just">
              <a:lnSpc>
                <a:spcPct val="200000"/>
              </a:lnSpc>
              <a:buFont typeface="Arial" panose="020B0604020202020204" pitchFamily="34" charset="0"/>
              <a:buChar char="•"/>
            </a:pPr>
            <a:endParaRPr lang="en-US" sz="2800" dirty="0">
              <a:latin typeface="Arial MT"/>
              <a:cs typeface="Arial MT"/>
            </a:endParaRPr>
          </a:p>
        </p:txBody>
      </p:sp>
    </p:spTree>
    <p:extLst>
      <p:ext uri="{BB962C8B-B14F-4D97-AF65-F5344CB8AC3E}">
        <p14:creationId xmlns:p14="http://schemas.microsoft.com/office/powerpoint/2010/main" val="155413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2" end="2"/>
                                            </p:txEl>
                                          </p:spTgt>
                                        </p:tgtEl>
                                        <p:attrNameLst>
                                          <p:attrName>style.visibility</p:attrName>
                                        </p:attrNameLst>
                                      </p:cBhvr>
                                      <p:to>
                                        <p:strVal val="visible"/>
                                      </p:to>
                                    </p:set>
                                    <p:animEffect transition="in" filter="fade">
                                      <p:cBhvr>
                                        <p:cTn id="12"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0BC50-A6C1-9350-DE09-7845A78D49A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AEA8A52-66E4-FF48-AB38-9BB8C8A916C9}"/>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E8A7CAC6-ECD6-5EE8-DE4C-EC8D3FA55A7A}"/>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6CACFCC-7059-6EEA-AAB7-87A6C1880C1C}"/>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8DA961F0-334C-6BB6-72A5-0F92D910E79C}"/>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63AE077D-1CA1-3897-2AB4-B4FA0BF0D51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380C61C-BA6D-5EC9-51ED-2455880835B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51</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371CA1EA-95DD-3606-16D2-C4FBC49EA3E5}"/>
              </a:ext>
            </a:extLst>
          </p:cNvPr>
          <p:cNvSpPr txBox="1"/>
          <p:nvPr/>
        </p:nvSpPr>
        <p:spPr>
          <a:xfrm>
            <a:off x="756447" y="1795676"/>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latin typeface="Arial"/>
                <a:cs typeface="Arial"/>
              </a:rPr>
              <a:t>Regulatory</a:t>
            </a:r>
            <a:r>
              <a:rPr lang="en-GB" sz="2800" b="1" spc="-45" dirty="0">
                <a:latin typeface="Arial"/>
                <a:cs typeface="Arial"/>
              </a:rPr>
              <a:t> </a:t>
            </a:r>
            <a:r>
              <a:rPr lang="en-GB" sz="2800" b="1" spc="-10" dirty="0">
                <a:latin typeface="Arial"/>
                <a:cs typeface="Arial"/>
              </a:rPr>
              <a:t>Compliance</a:t>
            </a:r>
            <a:endParaRPr lang="en-GB" sz="2800" dirty="0">
              <a:latin typeface="Arial MT"/>
            </a:endParaRPr>
          </a:p>
          <a:p>
            <a:pPr marL="514350" indent="-514350" algn="just">
              <a:lnSpc>
                <a:spcPct val="200000"/>
              </a:lnSpc>
              <a:buFont typeface="Wingdings" panose="05000000000000000000" pitchFamily="2" charset="2"/>
              <a:buChar char="§"/>
            </a:pPr>
            <a:r>
              <a:rPr lang="en-GB" sz="2800" dirty="0">
                <a:latin typeface="Arial MT"/>
              </a:rPr>
              <a:t>Regulatory regimes in many jurisdictions have become 	markedly more open to, and in some cases even supportive of, fintech innovators.</a:t>
            </a:r>
          </a:p>
          <a:p>
            <a:pPr marL="514350" indent="-514350" algn="just">
              <a:lnSpc>
                <a:spcPct val="200000"/>
              </a:lnSpc>
              <a:buFont typeface="Wingdings" panose="05000000000000000000" pitchFamily="2" charset="2"/>
              <a:buChar char="§"/>
            </a:pPr>
            <a:r>
              <a:rPr lang="en-GB" sz="2800" dirty="0">
                <a:latin typeface="Arial MT"/>
                <a:cs typeface="Arial MT"/>
              </a:rPr>
              <a:t>Despite</a:t>
            </a:r>
            <a:r>
              <a:rPr lang="en-GB" sz="2800" spc="-55" dirty="0">
                <a:latin typeface="Arial MT"/>
                <a:cs typeface="Arial MT"/>
              </a:rPr>
              <a:t> </a:t>
            </a:r>
            <a:r>
              <a:rPr lang="en-GB" sz="2800" dirty="0">
                <a:latin typeface="Arial MT"/>
                <a:cs typeface="Arial MT"/>
              </a:rPr>
              <a:t>these</a:t>
            </a:r>
            <a:r>
              <a:rPr lang="en-GB" sz="2800" spc="-60" dirty="0">
                <a:latin typeface="Arial MT"/>
                <a:cs typeface="Arial MT"/>
              </a:rPr>
              <a:t> </a:t>
            </a:r>
            <a:r>
              <a:rPr lang="en-GB" sz="2800" dirty="0">
                <a:latin typeface="Arial MT"/>
                <a:cs typeface="Arial MT"/>
              </a:rPr>
              <a:t>changes,</a:t>
            </a:r>
            <a:r>
              <a:rPr lang="en-GB" sz="2800" spc="-45" dirty="0">
                <a:latin typeface="Arial MT"/>
                <a:cs typeface="Arial MT"/>
              </a:rPr>
              <a:t> </a:t>
            </a:r>
            <a:r>
              <a:rPr lang="en-GB" sz="2800" dirty="0">
                <a:latin typeface="Arial MT"/>
                <a:cs typeface="Arial MT"/>
              </a:rPr>
              <a:t>the</a:t>
            </a:r>
            <a:r>
              <a:rPr lang="en-GB" sz="2800" spc="-60" dirty="0">
                <a:latin typeface="Arial MT"/>
                <a:cs typeface="Arial MT"/>
              </a:rPr>
              <a:t> </a:t>
            </a:r>
            <a:r>
              <a:rPr lang="en-GB" sz="2800" dirty="0">
                <a:latin typeface="Arial MT"/>
                <a:cs typeface="Arial MT"/>
              </a:rPr>
              <a:t>regulatory</a:t>
            </a:r>
            <a:r>
              <a:rPr lang="en-GB" sz="2800" spc="-55" dirty="0">
                <a:latin typeface="Arial MT"/>
                <a:cs typeface="Arial MT"/>
              </a:rPr>
              <a:t> </a:t>
            </a:r>
            <a:r>
              <a:rPr lang="en-GB" sz="2800" dirty="0">
                <a:latin typeface="Arial MT"/>
                <a:cs typeface="Arial MT"/>
              </a:rPr>
              <a:t>barriers</a:t>
            </a:r>
            <a:r>
              <a:rPr lang="en-GB" sz="2800" spc="-55" dirty="0">
                <a:latin typeface="Arial MT"/>
                <a:cs typeface="Arial MT"/>
              </a:rPr>
              <a:t> </a:t>
            </a:r>
            <a:r>
              <a:rPr lang="en-GB" sz="2800" dirty="0">
                <a:latin typeface="Arial MT"/>
                <a:cs typeface="Arial MT"/>
              </a:rPr>
              <a:t>to</a:t>
            </a:r>
            <a:r>
              <a:rPr lang="en-GB" sz="2800" spc="-60" dirty="0">
                <a:latin typeface="Arial MT"/>
                <a:cs typeface="Arial MT"/>
              </a:rPr>
              <a:t> </a:t>
            </a:r>
            <a:r>
              <a:rPr lang="en-GB" sz="2800" spc="-10" dirty="0">
                <a:latin typeface="Arial MT"/>
                <a:cs typeface="Arial MT"/>
              </a:rPr>
              <a:t>entry 	</a:t>
            </a:r>
            <a:r>
              <a:rPr lang="en-GB" sz="2800" dirty="0">
                <a:latin typeface="Arial MT"/>
                <a:cs typeface="Arial MT"/>
              </a:rPr>
              <a:t>remain</a:t>
            </a:r>
            <a:r>
              <a:rPr lang="en-GB" sz="2800" spc="-60" dirty="0">
                <a:latin typeface="Arial MT"/>
                <a:cs typeface="Arial MT"/>
              </a:rPr>
              <a:t> </a:t>
            </a:r>
            <a:r>
              <a:rPr lang="en-GB" sz="2800" dirty="0">
                <a:latin typeface="Arial MT"/>
                <a:cs typeface="Arial MT"/>
              </a:rPr>
              <a:t>particularly</a:t>
            </a:r>
            <a:r>
              <a:rPr lang="en-GB" sz="2800" spc="-45" dirty="0">
                <a:latin typeface="Arial MT"/>
                <a:cs typeface="Arial MT"/>
              </a:rPr>
              <a:t> </a:t>
            </a:r>
            <a:r>
              <a:rPr lang="en-GB" sz="2800" dirty="0">
                <a:latin typeface="Arial MT"/>
                <a:cs typeface="Arial MT"/>
              </a:rPr>
              <a:t>high,</a:t>
            </a:r>
            <a:r>
              <a:rPr lang="en-GB" sz="2800" spc="-70" dirty="0">
                <a:latin typeface="Arial MT"/>
                <a:cs typeface="Arial MT"/>
              </a:rPr>
              <a:t> </a:t>
            </a:r>
            <a:r>
              <a:rPr lang="en-GB" sz="2800" dirty="0">
                <a:latin typeface="Arial MT"/>
                <a:cs typeface="Arial MT"/>
              </a:rPr>
              <a:t>and</a:t>
            </a:r>
            <a:r>
              <a:rPr lang="en-GB" sz="2800" spc="-60" dirty="0">
                <a:latin typeface="Arial MT"/>
                <a:cs typeface="Arial MT"/>
              </a:rPr>
              <a:t> </a:t>
            </a:r>
            <a:r>
              <a:rPr lang="en-GB" sz="2800" dirty="0">
                <a:latin typeface="Arial MT"/>
                <a:cs typeface="Arial MT"/>
              </a:rPr>
              <a:t>while</a:t>
            </a:r>
            <a:r>
              <a:rPr lang="en-GB" sz="2800" spc="-50" dirty="0">
                <a:latin typeface="Arial MT"/>
                <a:cs typeface="Arial MT"/>
              </a:rPr>
              <a:t> </a:t>
            </a:r>
            <a:r>
              <a:rPr lang="en-GB" sz="2800" dirty="0">
                <a:latin typeface="Arial MT"/>
                <a:cs typeface="Arial MT"/>
              </a:rPr>
              <a:t>a</a:t>
            </a:r>
            <a:r>
              <a:rPr lang="en-GB" sz="2800" spc="-70" dirty="0">
                <a:latin typeface="Arial MT"/>
                <a:cs typeface="Arial MT"/>
              </a:rPr>
              <a:t> </a:t>
            </a:r>
            <a:r>
              <a:rPr lang="en-GB" sz="2800" dirty="0">
                <a:latin typeface="Arial MT"/>
                <a:cs typeface="Arial MT"/>
              </a:rPr>
              <a:t>growing</a:t>
            </a:r>
            <a:r>
              <a:rPr lang="en-GB" sz="2800" spc="-55" dirty="0">
                <a:latin typeface="Arial MT"/>
                <a:cs typeface="Arial MT"/>
              </a:rPr>
              <a:t> </a:t>
            </a:r>
            <a:r>
              <a:rPr lang="en-GB" sz="2800" dirty="0">
                <a:latin typeface="Arial MT"/>
                <a:cs typeface="Arial MT"/>
              </a:rPr>
              <a:t>number</a:t>
            </a:r>
            <a:r>
              <a:rPr lang="en-GB" sz="2800" spc="-55" dirty="0">
                <a:latin typeface="Arial MT"/>
                <a:cs typeface="Arial MT"/>
              </a:rPr>
              <a:t> </a:t>
            </a:r>
            <a:r>
              <a:rPr lang="en-GB" sz="2800" spc="-25" dirty="0">
                <a:latin typeface="Arial MT"/>
                <a:cs typeface="Arial MT"/>
              </a:rPr>
              <a:t>of 	</a:t>
            </a:r>
            <a:r>
              <a:rPr lang="en-GB" sz="2800" dirty="0">
                <a:latin typeface="Arial MT"/>
                <a:cs typeface="Arial MT"/>
              </a:rPr>
              <a:t>regulators</a:t>
            </a:r>
            <a:r>
              <a:rPr lang="en-GB" sz="2800" spc="-55" dirty="0">
                <a:latin typeface="Arial MT"/>
                <a:cs typeface="Arial MT"/>
              </a:rPr>
              <a:t> </a:t>
            </a:r>
            <a:r>
              <a:rPr lang="en-GB" sz="2800" dirty="0">
                <a:latin typeface="Arial MT"/>
                <a:cs typeface="Arial MT"/>
              </a:rPr>
              <a:t>are</a:t>
            </a:r>
            <a:r>
              <a:rPr lang="en-GB" sz="2800" spc="-70" dirty="0">
                <a:latin typeface="Arial MT"/>
                <a:cs typeface="Arial MT"/>
              </a:rPr>
              <a:t> </a:t>
            </a:r>
            <a:r>
              <a:rPr lang="en-GB" sz="2800" dirty="0">
                <a:latin typeface="Arial MT"/>
                <a:cs typeface="Arial MT"/>
              </a:rPr>
              <a:t>providing</a:t>
            </a:r>
            <a:r>
              <a:rPr lang="en-GB" sz="2800" spc="-45" dirty="0">
                <a:latin typeface="Arial MT"/>
                <a:cs typeface="Arial MT"/>
              </a:rPr>
              <a:t> </a:t>
            </a:r>
            <a:r>
              <a:rPr lang="en-GB" sz="2800" dirty="0">
                <a:latin typeface="Arial MT"/>
                <a:cs typeface="Arial MT"/>
              </a:rPr>
              <a:t>guidance</a:t>
            </a:r>
            <a:r>
              <a:rPr lang="en-GB" sz="2800" spc="-35" dirty="0">
                <a:latin typeface="Arial MT"/>
                <a:cs typeface="Arial MT"/>
              </a:rPr>
              <a:t> </a:t>
            </a:r>
            <a:r>
              <a:rPr lang="en-GB" sz="2800" dirty="0">
                <a:latin typeface="Arial MT"/>
                <a:cs typeface="Arial MT"/>
              </a:rPr>
              <a:t>to</a:t>
            </a:r>
            <a:r>
              <a:rPr lang="en-GB" sz="2800" spc="-70" dirty="0">
                <a:latin typeface="Arial MT"/>
                <a:cs typeface="Arial MT"/>
              </a:rPr>
              <a:t> </a:t>
            </a:r>
            <a:r>
              <a:rPr lang="en-GB" sz="2800" dirty="0">
                <a:latin typeface="Arial MT"/>
                <a:cs typeface="Arial MT"/>
              </a:rPr>
              <a:t>fintech</a:t>
            </a:r>
            <a:r>
              <a:rPr lang="en-GB" sz="2800" spc="-65" dirty="0">
                <a:latin typeface="Arial MT"/>
                <a:cs typeface="Arial MT"/>
              </a:rPr>
              <a:t> </a:t>
            </a:r>
            <a:r>
              <a:rPr lang="en-GB" sz="2800" dirty="0">
                <a:latin typeface="Arial MT"/>
                <a:cs typeface="Arial MT"/>
              </a:rPr>
              <a:t>firms,</a:t>
            </a:r>
            <a:r>
              <a:rPr lang="en-GB" sz="2800" spc="-80" dirty="0">
                <a:latin typeface="Arial MT"/>
                <a:cs typeface="Arial MT"/>
              </a:rPr>
              <a:t> </a:t>
            </a:r>
            <a:r>
              <a:rPr lang="en-GB" sz="2800" dirty="0">
                <a:latin typeface="Arial MT"/>
                <a:cs typeface="Arial MT"/>
              </a:rPr>
              <a:t>they</a:t>
            </a:r>
            <a:r>
              <a:rPr lang="en-GB" sz="2800" spc="-70" dirty="0">
                <a:latin typeface="Arial MT"/>
                <a:cs typeface="Arial MT"/>
              </a:rPr>
              <a:t> </a:t>
            </a:r>
            <a:r>
              <a:rPr lang="en-GB" sz="2800" spc="-25" dirty="0">
                <a:latin typeface="Arial MT"/>
                <a:cs typeface="Arial MT"/>
              </a:rPr>
              <a:t>do 	</a:t>
            </a:r>
            <a:r>
              <a:rPr lang="en-GB" sz="2800" dirty="0">
                <a:latin typeface="Arial MT"/>
                <a:cs typeface="Arial MT"/>
              </a:rPr>
              <a:t>not</a:t>
            </a:r>
            <a:r>
              <a:rPr lang="en-GB" sz="2800" spc="-65" dirty="0">
                <a:latin typeface="Arial MT"/>
                <a:cs typeface="Arial MT"/>
              </a:rPr>
              <a:t> </a:t>
            </a:r>
            <a:r>
              <a:rPr lang="en-GB" sz="2800" dirty="0">
                <a:latin typeface="Arial MT"/>
                <a:cs typeface="Arial MT"/>
              </a:rPr>
              <a:t>look</a:t>
            </a:r>
            <a:r>
              <a:rPr lang="en-GB" sz="2800" spc="-55" dirty="0">
                <a:latin typeface="Arial MT"/>
                <a:cs typeface="Arial MT"/>
              </a:rPr>
              <a:t> </a:t>
            </a:r>
            <a:r>
              <a:rPr lang="en-GB" sz="2800" dirty="0">
                <a:latin typeface="Arial MT"/>
                <a:cs typeface="Arial MT"/>
              </a:rPr>
              <a:t>kindly</a:t>
            </a:r>
            <a:r>
              <a:rPr lang="en-GB" sz="2800" spc="-40" dirty="0">
                <a:latin typeface="Arial MT"/>
                <a:cs typeface="Arial MT"/>
              </a:rPr>
              <a:t> </a:t>
            </a:r>
            <a:r>
              <a:rPr lang="en-GB" sz="2800" dirty="0">
                <a:latin typeface="Arial MT"/>
                <a:cs typeface="Arial MT"/>
              </a:rPr>
              <a:t>on</a:t>
            </a:r>
            <a:r>
              <a:rPr lang="en-GB" sz="2800" spc="-75" dirty="0">
                <a:latin typeface="Arial MT"/>
                <a:cs typeface="Arial MT"/>
              </a:rPr>
              <a:t> </a:t>
            </a:r>
            <a:r>
              <a:rPr lang="en-GB" sz="2800" dirty="0">
                <a:latin typeface="Arial MT"/>
                <a:cs typeface="Arial MT"/>
              </a:rPr>
              <a:t>firms</a:t>
            </a:r>
            <a:r>
              <a:rPr lang="en-GB" sz="2800" spc="-65" dirty="0">
                <a:latin typeface="Arial MT"/>
                <a:cs typeface="Arial MT"/>
              </a:rPr>
              <a:t> </a:t>
            </a:r>
            <a:r>
              <a:rPr lang="en-GB" sz="2800" dirty="0">
                <a:latin typeface="Arial MT"/>
                <a:cs typeface="Arial MT"/>
              </a:rPr>
              <a:t>who</a:t>
            </a:r>
            <a:r>
              <a:rPr lang="en-GB" sz="2800" spc="-55" dirty="0">
                <a:latin typeface="Arial MT"/>
                <a:cs typeface="Arial MT"/>
              </a:rPr>
              <a:t> </a:t>
            </a:r>
            <a:r>
              <a:rPr lang="en-GB" sz="2800" dirty="0">
                <a:latin typeface="Arial MT"/>
                <a:cs typeface="Arial MT"/>
              </a:rPr>
              <a:t>are</a:t>
            </a:r>
            <a:r>
              <a:rPr lang="en-GB" sz="2800" spc="-80" dirty="0">
                <a:latin typeface="Arial MT"/>
                <a:cs typeface="Arial MT"/>
              </a:rPr>
              <a:t> </a:t>
            </a:r>
            <a:r>
              <a:rPr lang="en-GB" sz="2800" dirty="0">
                <a:latin typeface="Arial MT"/>
                <a:cs typeface="Arial MT"/>
              </a:rPr>
              <a:t>lackadaisical</a:t>
            </a:r>
            <a:r>
              <a:rPr lang="en-GB" sz="2800" spc="-25" dirty="0">
                <a:latin typeface="Arial MT"/>
                <a:cs typeface="Arial MT"/>
              </a:rPr>
              <a:t> </a:t>
            </a:r>
            <a:r>
              <a:rPr lang="en-GB" sz="2800" dirty="0">
                <a:latin typeface="Arial MT"/>
                <a:cs typeface="Arial MT"/>
              </a:rPr>
              <a:t>toward</a:t>
            </a:r>
            <a:r>
              <a:rPr lang="en-GB" sz="2800" spc="-65" dirty="0">
                <a:latin typeface="Arial MT"/>
                <a:cs typeface="Arial MT"/>
              </a:rPr>
              <a:t> </a:t>
            </a:r>
            <a:r>
              <a:rPr lang="en-GB" sz="2800" spc="-10" dirty="0">
                <a:latin typeface="Arial MT"/>
                <a:cs typeface="Arial MT"/>
              </a:rPr>
              <a:t>their </a:t>
            </a:r>
            <a:r>
              <a:rPr lang="en-GB" sz="2800" dirty="0">
                <a:latin typeface="Arial MT"/>
                <a:cs typeface="Arial MT"/>
              </a:rPr>
              <a:t>compliance</a:t>
            </a:r>
            <a:r>
              <a:rPr lang="en-GB" sz="2800" spc="-105" dirty="0">
                <a:latin typeface="Arial MT"/>
                <a:cs typeface="Arial MT"/>
              </a:rPr>
              <a:t> </a:t>
            </a:r>
            <a:r>
              <a:rPr lang="en-GB" sz="2800" spc="-10" dirty="0">
                <a:latin typeface="Arial MT"/>
                <a:cs typeface="Arial MT"/>
              </a:rPr>
              <a:t>responsibilities.</a:t>
            </a:r>
          </a:p>
          <a:p>
            <a:pPr marL="514350" indent="-514350" algn="just">
              <a:lnSpc>
                <a:spcPct val="200000"/>
              </a:lnSpc>
              <a:buFont typeface="Wingdings" panose="05000000000000000000" pitchFamily="2" charset="2"/>
              <a:buChar char="§"/>
            </a:pPr>
            <a:r>
              <a:rPr lang="en-GB" sz="2800" dirty="0">
                <a:latin typeface="Arial MT"/>
                <a:cs typeface="Arial MT"/>
              </a:rPr>
              <a:t>Further</a:t>
            </a:r>
            <a:r>
              <a:rPr lang="en-GB" sz="2800" spc="-40" dirty="0">
                <a:latin typeface="Arial MT"/>
                <a:cs typeface="Arial MT"/>
              </a:rPr>
              <a:t> </a:t>
            </a:r>
            <a:r>
              <a:rPr lang="en-GB" sz="2800" dirty="0">
                <a:latin typeface="Arial MT"/>
                <a:cs typeface="Arial MT"/>
              </a:rPr>
              <a:t>complicating</a:t>
            </a:r>
            <a:r>
              <a:rPr lang="en-GB" sz="2800" spc="-15" dirty="0">
                <a:latin typeface="Arial MT"/>
                <a:cs typeface="Arial MT"/>
              </a:rPr>
              <a:t> </a:t>
            </a:r>
            <a:r>
              <a:rPr lang="en-GB" sz="2800" dirty="0">
                <a:latin typeface="Arial MT"/>
                <a:cs typeface="Arial MT"/>
              </a:rPr>
              <a:t>this</a:t>
            </a:r>
            <a:r>
              <a:rPr lang="en-GB" sz="2800" spc="-45" dirty="0">
                <a:latin typeface="Arial MT"/>
                <a:cs typeface="Arial MT"/>
              </a:rPr>
              <a:t> </a:t>
            </a:r>
            <a:r>
              <a:rPr lang="en-GB" sz="2800" dirty="0">
                <a:latin typeface="Arial MT"/>
                <a:cs typeface="Arial MT"/>
              </a:rPr>
              <a:t>issue</a:t>
            </a:r>
            <a:r>
              <a:rPr lang="en-GB" sz="2800" spc="-35" dirty="0">
                <a:latin typeface="Arial MT"/>
                <a:cs typeface="Arial MT"/>
              </a:rPr>
              <a:t> </a:t>
            </a:r>
            <a:r>
              <a:rPr lang="en-GB" sz="2800" dirty="0">
                <a:latin typeface="Arial MT"/>
                <a:cs typeface="Arial MT"/>
              </a:rPr>
              <a:t>is</a:t>
            </a:r>
            <a:r>
              <a:rPr lang="en-GB" sz="2800" spc="-40" dirty="0">
                <a:latin typeface="Arial MT"/>
                <a:cs typeface="Arial MT"/>
              </a:rPr>
              <a:t> </a:t>
            </a:r>
            <a:r>
              <a:rPr lang="en-GB" sz="2800" dirty="0">
                <a:latin typeface="Arial MT"/>
                <a:cs typeface="Arial MT"/>
              </a:rPr>
              <a:t>the</a:t>
            </a:r>
            <a:r>
              <a:rPr lang="en-GB" sz="2800" spc="-40" dirty="0">
                <a:latin typeface="Arial MT"/>
                <a:cs typeface="Arial MT"/>
              </a:rPr>
              <a:t> </a:t>
            </a:r>
            <a:r>
              <a:rPr lang="en-GB" sz="2800" dirty="0">
                <a:latin typeface="Arial MT"/>
                <a:cs typeface="Arial MT"/>
              </a:rPr>
              <a:t>fact</a:t>
            </a:r>
            <a:r>
              <a:rPr lang="en-GB" sz="2800" spc="-60" dirty="0">
                <a:latin typeface="Arial MT"/>
                <a:cs typeface="Arial MT"/>
              </a:rPr>
              <a:t> </a:t>
            </a:r>
            <a:r>
              <a:rPr lang="en-GB" sz="2800" dirty="0">
                <a:latin typeface="Arial MT"/>
                <a:cs typeface="Arial MT"/>
              </a:rPr>
              <a:t>that</a:t>
            </a:r>
            <a:r>
              <a:rPr lang="en-GB" sz="2800" spc="-55" dirty="0">
                <a:latin typeface="Arial MT"/>
                <a:cs typeface="Arial MT"/>
              </a:rPr>
              <a:t> </a:t>
            </a:r>
            <a:r>
              <a:rPr lang="en-GB" sz="2800" spc="-10" dirty="0">
                <a:latin typeface="Arial MT"/>
                <a:cs typeface="Arial MT"/>
              </a:rPr>
              <a:t>regulations 	</a:t>
            </a:r>
            <a:r>
              <a:rPr lang="en-GB" sz="2800" dirty="0">
                <a:latin typeface="Arial MT"/>
                <a:cs typeface="Arial MT"/>
              </a:rPr>
              <a:t>and</a:t>
            </a:r>
            <a:r>
              <a:rPr lang="en-GB" sz="2800" spc="-65" dirty="0">
                <a:latin typeface="Arial MT"/>
                <a:cs typeface="Arial MT"/>
              </a:rPr>
              <a:t> </a:t>
            </a:r>
            <a:r>
              <a:rPr lang="en-GB" sz="2800" dirty="0">
                <a:latin typeface="Arial MT"/>
                <a:cs typeface="Arial MT"/>
              </a:rPr>
              <a:t>licensing</a:t>
            </a:r>
            <a:r>
              <a:rPr lang="en-GB" sz="2800" spc="-45" dirty="0">
                <a:latin typeface="Arial MT"/>
                <a:cs typeface="Arial MT"/>
              </a:rPr>
              <a:t> </a:t>
            </a:r>
            <a:r>
              <a:rPr lang="en-GB" sz="2800" dirty="0">
                <a:latin typeface="Arial MT"/>
                <a:cs typeface="Arial MT"/>
              </a:rPr>
              <a:t>requirements</a:t>
            </a:r>
            <a:r>
              <a:rPr lang="en-GB" sz="2800" spc="-55" dirty="0">
                <a:latin typeface="Arial MT"/>
                <a:cs typeface="Arial MT"/>
              </a:rPr>
              <a:t> </a:t>
            </a:r>
            <a:r>
              <a:rPr lang="en-GB" sz="2800" dirty="0">
                <a:latin typeface="Arial MT"/>
                <a:cs typeface="Arial MT"/>
              </a:rPr>
              <a:t>differ</a:t>
            </a:r>
            <a:r>
              <a:rPr lang="en-GB" sz="2800" spc="-80" dirty="0">
                <a:latin typeface="Arial MT"/>
                <a:cs typeface="Arial MT"/>
              </a:rPr>
              <a:t> </a:t>
            </a:r>
            <a:r>
              <a:rPr lang="en-GB" sz="2800" dirty="0">
                <a:latin typeface="Arial MT"/>
                <a:cs typeface="Arial MT"/>
              </a:rPr>
              <a:t>across</a:t>
            </a:r>
            <a:r>
              <a:rPr lang="en-GB" sz="2800" spc="-70" dirty="0">
                <a:latin typeface="Arial MT"/>
                <a:cs typeface="Arial MT"/>
              </a:rPr>
              <a:t> </a:t>
            </a:r>
            <a:r>
              <a:rPr lang="en-GB" sz="2800" dirty="0">
                <a:latin typeface="Arial MT"/>
                <a:cs typeface="Arial MT"/>
              </a:rPr>
              <a:t>jurisdictions,</a:t>
            </a:r>
            <a:r>
              <a:rPr lang="en-GB" sz="2800" spc="-60" dirty="0">
                <a:latin typeface="Arial MT"/>
                <a:cs typeface="Arial MT"/>
              </a:rPr>
              <a:t> </a:t>
            </a:r>
            <a:r>
              <a:rPr lang="en-GB" sz="2800" spc="-25" dirty="0">
                <a:latin typeface="Arial MT"/>
                <a:cs typeface="Arial MT"/>
              </a:rPr>
              <a:t>and 	</a:t>
            </a:r>
            <a:r>
              <a:rPr lang="en-GB" sz="2800" dirty="0">
                <a:latin typeface="Arial MT"/>
                <a:cs typeface="Arial MT"/>
              </a:rPr>
              <a:t>sometimes</a:t>
            </a:r>
            <a:r>
              <a:rPr lang="en-GB" sz="2800" spc="-80" dirty="0">
                <a:latin typeface="Arial MT"/>
                <a:cs typeface="Arial MT"/>
              </a:rPr>
              <a:t> </a:t>
            </a:r>
            <a:r>
              <a:rPr lang="en-GB" sz="2800" dirty="0">
                <a:latin typeface="Arial MT"/>
                <a:cs typeface="Arial MT"/>
              </a:rPr>
              <a:t>even</a:t>
            </a:r>
            <a:r>
              <a:rPr lang="en-GB" sz="2800" spc="-70" dirty="0">
                <a:latin typeface="Arial MT"/>
                <a:cs typeface="Arial MT"/>
              </a:rPr>
              <a:t> </a:t>
            </a:r>
            <a:r>
              <a:rPr lang="en-GB" sz="2800" dirty="0">
                <a:latin typeface="Arial MT"/>
                <a:cs typeface="Arial MT"/>
              </a:rPr>
              <a:t>within</a:t>
            </a:r>
            <a:r>
              <a:rPr lang="en-GB" sz="2800" spc="-70" dirty="0">
                <a:latin typeface="Arial MT"/>
                <a:cs typeface="Arial MT"/>
              </a:rPr>
              <a:t> </a:t>
            </a:r>
            <a:r>
              <a:rPr lang="en-GB" sz="2800" spc="-10" dirty="0">
                <a:latin typeface="Arial MT"/>
                <a:cs typeface="Arial MT"/>
              </a:rPr>
              <a:t>countries.</a:t>
            </a:r>
            <a:endParaRPr lang="en-US" sz="2800" dirty="0">
              <a:latin typeface="Arial MT"/>
              <a:cs typeface="Arial MT"/>
            </a:endParaRPr>
          </a:p>
        </p:txBody>
      </p:sp>
    </p:spTree>
    <p:extLst>
      <p:ext uri="{BB962C8B-B14F-4D97-AF65-F5344CB8AC3E}">
        <p14:creationId xmlns:p14="http://schemas.microsoft.com/office/powerpoint/2010/main" val="13330117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836BC-1AF9-5415-9174-A8D9A2B89FB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24A56C8-AB6D-FEC4-666F-59B06FAD91D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8B404B4-3661-92EB-026F-296EC1835A6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B7E08BD5-8947-C002-0065-3024B75C6851}"/>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DA3A96D2-2DD3-6D49-6A3C-5AD07E0BC43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CBF371D0-2C2B-0DA8-112D-50A609D6D62D}"/>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F647515-FAC6-9E2C-A294-FDFA5CB24CE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52</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2BA3311F-4D11-E2AF-B427-11ECB0EC207D}"/>
              </a:ext>
            </a:extLst>
          </p:cNvPr>
          <p:cNvSpPr txBox="1"/>
          <p:nvPr/>
        </p:nvSpPr>
        <p:spPr>
          <a:xfrm>
            <a:off x="756447" y="1795676"/>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MT"/>
              </a:rPr>
              <a:t>Industry players are asking, which regulatory agencies govern FinTech companies? Which rules do FinTech companies have to abide by? And specifically, which FinTech companies have to adhere to which regulations?</a:t>
            </a:r>
          </a:p>
          <a:p>
            <a:pPr marL="514350" indent="-514350" algn="just">
              <a:lnSpc>
                <a:spcPct val="200000"/>
              </a:lnSpc>
              <a:buFont typeface="Wingdings" panose="05000000000000000000" pitchFamily="2" charset="2"/>
              <a:buChar char="§"/>
            </a:pPr>
            <a:endParaRPr lang="en-GB" sz="2800" dirty="0">
              <a:latin typeface="Arial MT"/>
            </a:endParaRPr>
          </a:p>
          <a:p>
            <a:pPr marL="514350" indent="-514350" algn="just">
              <a:lnSpc>
                <a:spcPct val="200000"/>
              </a:lnSpc>
              <a:buFont typeface="Wingdings" panose="05000000000000000000" pitchFamily="2" charset="2"/>
              <a:buChar char="§"/>
            </a:pPr>
            <a:r>
              <a:rPr lang="en-GB" sz="2800" dirty="0"/>
              <a:t>In</a:t>
            </a:r>
            <a:r>
              <a:rPr lang="en-GB" sz="2800" spc="-70" dirty="0"/>
              <a:t> </a:t>
            </a:r>
            <a:r>
              <a:rPr lang="en-GB" sz="2800" dirty="0"/>
              <a:t>particular,</a:t>
            </a:r>
            <a:r>
              <a:rPr lang="en-GB" sz="2800" spc="-45" dirty="0"/>
              <a:t> </a:t>
            </a:r>
            <a:r>
              <a:rPr lang="en-GB" sz="2800" u="heavy" dirty="0">
                <a:uFill>
                  <a:solidFill>
                    <a:srgbClr val="000000"/>
                  </a:solidFill>
                </a:uFill>
              </a:rPr>
              <a:t>small</a:t>
            </a:r>
            <a:r>
              <a:rPr lang="en-GB" sz="2800" u="heavy" spc="-50" dirty="0">
                <a:uFill>
                  <a:solidFill>
                    <a:srgbClr val="000000"/>
                  </a:solidFill>
                </a:uFill>
              </a:rPr>
              <a:t> </a:t>
            </a:r>
            <a:r>
              <a:rPr lang="en-GB" sz="2800" u="heavy" dirty="0">
                <a:uFill>
                  <a:solidFill>
                    <a:srgbClr val="000000"/>
                  </a:solidFill>
                </a:uFill>
              </a:rPr>
              <a:t>players</a:t>
            </a:r>
            <a:r>
              <a:rPr lang="en-GB" sz="2800" u="heavy" spc="-45" dirty="0">
                <a:uFill>
                  <a:solidFill>
                    <a:srgbClr val="000000"/>
                  </a:solidFill>
                </a:uFill>
              </a:rPr>
              <a:t> </a:t>
            </a:r>
            <a:r>
              <a:rPr lang="en-GB" sz="2800" u="heavy" dirty="0">
                <a:uFill>
                  <a:solidFill>
                    <a:srgbClr val="000000"/>
                  </a:solidFill>
                </a:uFill>
              </a:rPr>
              <a:t>struggle</a:t>
            </a:r>
            <a:r>
              <a:rPr lang="en-GB" sz="2800" u="heavy" spc="-50" dirty="0">
                <a:uFill>
                  <a:solidFill>
                    <a:srgbClr val="000000"/>
                  </a:solidFill>
                </a:uFill>
              </a:rPr>
              <a:t> </a:t>
            </a:r>
            <a:r>
              <a:rPr lang="en-GB" sz="2800" u="heavy" dirty="0">
                <a:uFill>
                  <a:solidFill>
                    <a:srgbClr val="000000"/>
                  </a:solidFill>
                </a:uFill>
              </a:rPr>
              <a:t>to</a:t>
            </a:r>
            <a:r>
              <a:rPr lang="en-GB" sz="2800" u="heavy" spc="-65" dirty="0">
                <a:uFill>
                  <a:solidFill>
                    <a:srgbClr val="000000"/>
                  </a:solidFill>
                </a:uFill>
              </a:rPr>
              <a:t> </a:t>
            </a:r>
            <a:r>
              <a:rPr lang="en-GB" sz="2800" u="heavy" dirty="0">
                <a:uFill>
                  <a:solidFill>
                    <a:srgbClr val="000000"/>
                  </a:solidFill>
                </a:uFill>
              </a:rPr>
              <a:t>navigate</a:t>
            </a:r>
            <a:r>
              <a:rPr lang="en-GB" sz="2800" u="heavy" spc="-50" dirty="0">
                <a:uFill>
                  <a:solidFill>
                    <a:srgbClr val="000000"/>
                  </a:solidFill>
                </a:uFill>
              </a:rPr>
              <a:t> </a:t>
            </a:r>
            <a:r>
              <a:rPr lang="en-GB" sz="2800" u="heavy" dirty="0">
                <a:uFill>
                  <a:solidFill>
                    <a:srgbClr val="000000"/>
                  </a:solidFill>
                </a:uFill>
              </a:rPr>
              <a:t>a</a:t>
            </a:r>
            <a:r>
              <a:rPr lang="en-GB" sz="2800" u="heavy" spc="-55" dirty="0">
                <a:uFill>
                  <a:solidFill>
                    <a:srgbClr val="000000"/>
                  </a:solidFill>
                </a:uFill>
              </a:rPr>
              <a:t> </a:t>
            </a:r>
            <a:r>
              <a:rPr lang="en-GB" sz="2800" u="heavy" spc="-10" dirty="0">
                <a:uFill>
                  <a:solidFill>
                    <a:srgbClr val="000000"/>
                  </a:solidFill>
                </a:uFill>
              </a:rPr>
              <a:t>complex,</a:t>
            </a:r>
            <a:r>
              <a:rPr lang="en-GB" sz="2800" spc="-10" dirty="0"/>
              <a:t> 	</a:t>
            </a:r>
            <a:r>
              <a:rPr lang="en-GB" sz="2800" u="heavy" spc="-20" dirty="0">
                <a:uFill>
                  <a:solidFill>
                    <a:srgbClr val="000000"/>
                  </a:solidFill>
                </a:uFill>
              </a:rPr>
              <a:t>ever-</a:t>
            </a:r>
            <a:r>
              <a:rPr lang="en-GB" sz="2800" u="heavy" dirty="0">
                <a:uFill>
                  <a:solidFill>
                    <a:srgbClr val="000000"/>
                  </a:solidFill>
                </a:uFill>
              </a:rPr>
              <a:t>increasing</a:t>
            </a:r>
            <a:r>
              <a:rPr lang="en-GB" sz="2800" u="heavy" spc="-70" dirty="0">
                <a:uFill>
                  <a:solidFill>
                    <a:srgbClr val="000000"/>
                  </a:solidFill>
                </a:uFill>
              </a:rPr>
              <a:t> </a:t>
            </a:r>
            <a:r>
              <a:rPr lang="en-GB" sz="2800" u="heavy" dirty="0">
                <a:uFill>
                  <a:solidFill>
                    <a:srgbClr val="000000"/>
                  </a:solidFill>
                </a:uFill>
              </a:rPr>
              <a:t>regulatory</a:t>
            </a:r>
            <a:r>
              <a:rPr lang="en-GB" sz="2800" u="heavy" spc="-75" dirty="0">
                <a:uFill>
                  <a:solidFill>
                    <a:srgbClr val="000000"/>
                  </a:solidFill>
                </a:uFill>
              </a:rPr>
              <a:t> </a:t>
            </a:r>
            <a:r>
              <a:rPr lang="en-GB" sz="2800" u="heavy" dirty="0">
                <a:uFill>
                  <a:solidFill>
                    <a:srgbClr val="000000"/>
                  </a:solidFill>
                </a:uFill>
              </a:rPr>
              <a:t>compliance</a:t>
            </a:r>
            <a:r>
              <a:rPr lang="en-GB" sz="2800" u="heavy" spc="-65" dirty="0">
                <a:uFill>
                  <a:solidFill>
                    <a:srgbClr val="000000"/>
                  </a:solidFill>
                </a:uFill>
              </a:rPr>
              <a:t> </a:t>
            </a:r>
            <a:r>
              <a:rPr lang="en-GB" sz="2800" u="heavy" dirty="0">
                <a:uFill>
                  <a:solidFill>
                    <a:srgbClr val="000000"/>
                  </a:solidFill>
                </a:uFill>
              </a:rPr>
              <a:t>environment</a:t>
            </a:r>
            <a:r>
              <a:rPr lang="en-GB" sz="2800" u="heavy" spc="-80" dirty="0">
                <a:uFill>
                  <a:solidFill>
                    <a:srgbClr val="000000"/>
                  </a:solidFill>
                </a:uFill>
              </a:rPr>
              <a:t> </a:t>
            </a:r>
            <a:r>
              <a:rPr lang="en-GB" sz="2800" u="heavy" dirty="0">
                <a:uFill>
                  <a:solidFill>
                    <a:srgbClr val="000000"/>
                  </a:solidFill>
                </a:uFill>
              </a:rPr>
              <a:t>as</a:t>
            </a:r>
            <a:r>
              <a:rPr lang="en-GB" sz="2800" u="heavy" spc="-85" dirty="0">
                <a:uFill>
                  <a:solidFill>
                    <a:srgbClr val="000000"/>
                  </a:solidFill>
                </a:uFill>
              </a:rPr>
              <a:t> </a:t>
            </a:r>
            <a:r>
              <a:rPr lang="en-GB" sz="2800" u="heavy" spc="-20" dirty="0">
                <a:uFill>
                  <a:solidFill>
                    <a:srgbClr val="000000"/>
                  </a:solidFill>
                </a:uFill>
              </a:rPr>
              <a:t>they</a:t>
            </a:r>
            <a:r>
              <a:rPr lang="en-GB" sz="2800" spc="-20" dirty="0"/>
              <a:t> 	</a:t>
            </a:r>
            <a:r>
              <a:rPr lang="en-GB" sz="2800" u="heavy" dirty="0">
                <a:uFill>
                  <a:solidFill>
                    <a:srgbClr val="000000"/>
                  </a:solidFill>
                </a:uFill>
              </a:rPr>
              <a:t>strive</a:t>
            </a:r>
            <a:r>
              <a:rPr lang="en-GB" sz="2800" u="heavy" spc="-75" dirty="0">
                <a:uFill>
                  <a:solidFill>
                    <a:srgbClr val="000000"/>
                  </a:solidFill>
                </a:uFill>
              </a:rPr>
              <a:t> </a:t>
            </a:r>
            <a:r>
              <a:rPr lang="en-GB" sz="2800" u="heavy" dirty="0">
                <a:uFill>
                  <a:solidFill>
                    <a:srgbClr val="000000"/>
                  </a:solidFill>
                </a:uFill>
              </a:rPr>
              <a:t>to</a:t>
            </a:r>
            <a:r>
              <a:rPr lang="en-GB" sz="2800" u="heavy" spc="-80" dirty="0">
                <a:uFill>
                  <a:solidFill>
                    <a:srgbClr val="000000"/>
                  </a:solidFill>
                </a:uFill>
              </a:rPr>
              <a:t> </a:t>
            </a:r>
            <a:r>
              <a:rPr lang="en-GB" sz="2800" u="heavy" dirty="0">
                <a:uFill>
                  <a:solidFill>
                    <a:srgbClr val="000000"/>
                  </a:solidFill>
                </a:uFill>
              </a:rPr>
              <a:t>define</a:t>
            </a:r>
            <a:r>
              <a:rPr lang="en-GB" sz="2800" u="heavy" spc="-50" dirty="0">
                <a:uFill>
                  <a:solidFill>
                    <a:srgbClr val="000000"/>
                  </a:solidFill>
                </a:uFill>
              </a:rPr>
              <a:t> </a:t>
            </a:r>
            <a:r>
              <a:rPr lang="en-GB" sz="2800" u="heavy" dirty="0">
                <a:uFill>
                  <a:solidFill>
                    <a:srgbClr val="000000"/>
                  </a:solidFill>
                </a:uFill>
              </a:rPr>
              <a:t>their</a:t>
            </a:r>
            <a:r>
              <a:rPr lang="en-GB" sz="2800" u="heavy" spc="-65" dirty="0">
                <a:uFill>
                  <a:solidFill>
                    <a:srgbClr val="000000"/>
                  </a:solidFill>
                </a:uFill>
              </a:rPr>
              <a:t> </a:t>
            </a:r>
            <a:r>
              <a:rPr lang="en-GB" sz="2800" u="heavy" dirty="0">
                <a:uFill>
                  <a:solidFill>
                    <a:srgbClr val="000000"/>
                  </a:solidFill>
                </a:uFill>
              </a:rPr>
              <a:t>compliance</a:t>
            </a:r>
            <a:r>
              <a:rPr lang="en-GB" sz="2800" u="heavy" spc="-40" dirty="0">
                <a:uFill>
                  <a:solidFill>
                    <a:srgbClr val="000000"/>
                  </a:solidFill>
                </a:uFill>
              </a:rPr>
              <a:t> </a:t>
            </a:r>
            <a:r>
              <a:rPr lang="en-GB" sz="2800" u="heavy" dirty="0">
                <a:uFill>
                  <a:solidFill>
                    <a:srgbClr val="000000"/>
                  </a:solidFill>
                </a:uFill>
              </a:rPr>
              <a:t>model</a:t>
            </a:r>
            <a:r>
              <a:rPr lang="en-GB" sz="2800" dirty="0"/>
              <a:t>.</a:t>
            </a:r>
            <a:r>
              <a:rPr lang="en-GB" sz="2800" spc="-55" dirty="0"/>
              <a:t> </a:t>
            </a:r>
            <a:r>
              <a:rPr lang="en-GB" sz="2800" dirty="0"/>
              <a:t>Recent</a:t>
            </a:r>
            <a:r>
              <a:rPr lang="en-GB" sz="2800" spc="-55" dirty="0"/>
              <a:t> </a:t>
            </a:r>
            <a:r>
              <a:rPr lang="en-GB" sz="2800" dirty="0"/>
              <a:t>years</a:t>
            </a:r>
            <a:r>
              <a:rPr lang="en-GB" sz="2800" spc="-65" dirty="0"/>
              <a:t> </a:t>
            </a:r>
            <a:r>
              <a:rPr lang="en-GB" sz="2800" spc="-20" dirty="0"/>
              <a:t>have 	</a:t>
            </a:r>
            <a:r>
              <a:rPr lang="en-GB" sz="2800" dirty="0"/>
              <a:t>brought</a:t>
            </a:r>
            <a:r>
              <a:rPr lang="en-GB" sz="2800" spc="-50" dirty="0"/>
              <a:t> </a:t>
            </a:r>
            <a:r>
              <a:rPr lang="en-GB" sz="2800" dirty="0"/>
              <a:t>an</a:t>
            </a:r>
            <a:r>
              <a:rPr lang="en-GB" sz="2800" spc="-45" dirty="0"/>
              <a:t> </a:t>
            </a:r>
            <a:r>
              <a:rPr lang="en-GB" sz="2800" dirty="0"/>
              <a:t>increase</a:t>
            </a:r>
            <a:r>
              <a:rPr lang="en-GB" sz="2800" spc="-30" dirty="0"/>
              <a:t> </a:t>
            </a:r>
            <a:r>
              <a:rPr lang="en-GB" sz="2800" dirty="0"/>
              <a:t>of</a:t>
            </a:r>
            <a:r>
              <a:rPr lang="en-GB" sz="2800" spc="-55" dirty="0"/>
              <a:t> </a:t>
            </a:r>
            <a:r>
              <a:rPr lang="en-GB" sz="2800" dirty="0"/>
              <a:t>regulations</a:t>
            </a:r>
            <a:r>
              <a:rPr lang="en-GB" sz="2800" spc="-25" dirty="0"/>
              <a:t> </a:t>
            </a:r>
            <a:r>
              <a:rPr lang="en-GB" sz="2800" dirty="0"/>
              <a:t>in</a:t>
            </a:r>
            <a:r>
              <a:rPr lang="en-GB" sz="2800" spc="-45" dirty="0"/>
              <a:t> </a:t>
            </a:r>
            <a:r>
              <a:rPr lang="en-GB" sz="2800" dirty="0"/>
              <a:t>the</a:t>
            </a:r>
            <a:r>
              <a:rPr lang="en-GB" sz="2800" spc="-55" dirty="0"/>
              <a:t> </a:t>
            </a:r>
            <a:r>
              <a:rPr lang="en-GB" sz="2800" dirty="0"/>
              <a:t>FS</a:t>
            </a:r>
            <a:r>
              <a:rPr lang="en-GB" sz="2800" spc="-50" dirty="0"/>
              <a:t> </a:t>
            </a:r>
            <a:r>
              <a:rPr lang="en-GB" sz="2800" spc="-10" dirty="0"/>
              <a:t>industry,</a:t>
            </a:r>
            <a:r>
              <a:rPr lang="en-GB" sz="2800" spc="600" dirty="0"/>
              <a:t> 	</a:t>
            </a:r>
            <a:r>
              <a:rPr lang="en-GB" sz="2800" dirty="0"/>
              <a:t>where</a:t>
            </a:r>
            <a:r>
              <a:rPr lang="en-GB" sz="2800" spc="-50" dirty="0"/>
              <a:t> </a:t>
            </a:r>
            <a:r>
              <a:rPr lang="en-GB" sz="2800" dirty="0"/>
              <a:t>even</a:t>
            </a:r>
            <a:r>
              <a:rPr lang="en-GB" sz="2800" spc="-55" dirty="0"/>
              <a:t> </a:t>
            </a:r>
            <a:r>
              <a:rPr lang="en-GB" sz="2800" spc="-20" dirty="0"/>
              <a:t>long-</a:t>
            </a:r>
            <a:r>
              <a:rPr lang="en-GB" sz="2800" dirty="0"/>
              <a:t>standing</a:t>
            </a:r>
            <a:r>
              <a:rPr lang="en-GB" sz="2800" spc="-25" dirty="0"/>
              <a:t> </a:t>
            </a:r>
            <a:r>
              <a:rPr lang="en-GB" sz="2800" dirty="0"/>
              <a:t>players</a:t>
            </a:r>
            <a:r>
              <a:rPr lang="en-GB" sz="2800" spc="-50" dirty="0"/>
              <a:t> </a:t>
            </a:r>
            <a:r>
              <a:rPr lang="en-GB" sz="2800" dirty="0"/>
              <a:t>are</a:t>
            </a:r>
            <a:r>
              <a:rPr lang="en-GB" sz="2800" spc="-55" dirty="0"/>
              <a:t> </a:t>
            </a:r>
            <a:r>
              <a:rPr lang="en-GB" sz="2800" dirty="0"/>
              <a:t>struggling</a:t>
            </a:r>
            <a:r>
              <a:rPr lang="en-GB" sz="2800" spc="-40" dirty="0"/>
              <a:t> </a:t>
            </a:r>
            <a:r>
              <a:rPr lang="en-GB" sz="2800" dirty="0"/>
              <a:t>to</a:t>
            </a:r>
            <a:r>
              <a:rPr lang="en-GB" sz="2800" spc="-55" dirty="0"/>
              <a:t> </a:t>
            </a:r>
            <a:r>
              <a:rPr lang="en-GB" sz="2800" spc="-20" dirty="0"/>
              <a:t>keep</a:t>
            </a:r>
            <a:r>
              <a:rPr lang="en-GB" sz="2800" spc="600" dirty="0"/>
              <a:t> 	</a:t>
            </a:r>
            <a:r>
              <a:rPr lang="en-GB" sz="2800" spc="-25" dirty="0"/>
              <a:t>up.</a:t>
            </a:r>
          </a:p>
          <a:p>
            <a:pPr marL="514350" indent="-514350" algn="just">
              <a:lnSpc>
                <a:spcPct val="200000"/>
              </a:lnSpc>
              <a:buFont typeface="Wingdings" panose="05000000000000000000" pitchFamily="2" charset="2"/>
              <a:buChar char="§"/>
            </a:pPr>
            <a:endParaRPr lang="en-US" sz="2800" dirty="0">
              <a:latin typeface="Arial MT"/>
              <a:cs typeface="Arial MT"/>
            </a:endParaRPr>
          </a:p>
        </p:txBody>
      </p:sp>
    </p:spTree>
    <p:extLst>
      <p:ext uri="{BB962C8B-B14F-4D97-AF65-F5344CB8AC3E}">
        <p14:creationId xmlns:p14="http://schemas.microsoft.com/office/powerpoint/2010/main" val="15117644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53AD2-4042-179E-D609-06A6852FECE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6C1CDE1-744F-494C-DEAF-2F1222C483E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A678EB5-C01C-56E0-B194-D1D3663FC9E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53C7718-837D-3C7C-EB1B-FAA479163013}"/>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3E19476E-AA79-06D8-9BAC-BAD943E5F3C3}"/>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7C8D46A3-EA66-949B-57CE-3E3227C8A77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F44AFFC-64B4-E276-EE4D-3C7D760E5C9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53</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3794D2BE-B168-288B-8A58-94C153C6FA26}"/>
              </a:ext>
            </a:extLst>
          </p:cNvPr>
          <p:cNvSpPr txBox="1"/>
          <p:nvPr/>
        </p:nvSpPr>
        <p:spPr>
          <a:xfrm>
            <a:off x="756447" y="1795676"/>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latin typeface="Arial"/>
                <a:cs typeface="Arial"/>
              </a:rPr>
              <a:t>Access</a:t>
            </a:r>
            <a:r>
              <a:rPr lang="en-GB" sz="2800" b="1" spc="-35" dirty="0">
                <a:latin typeface="Arial"/>
                <a:cs typeface="Arial"/>
              </a:rPr>
              <a:t> </a:t>
            </a:r>
            <a:r>
              <a:rPr lang="en-GB" sz="2800" b="1" dirty="0">
                <a:latin typeface="Arial"/>
                <a:cs typeface="Arial"/>
              </a:rPr>
              <a:t>to</a:t>
            </a:r>
            <a:r>
              <a:rPr lang="en-GB" sz="2800" b="1" spc="-50" dirty="0">
                <a:latin typeface="Arial"/>
                <a:cs typeface="Arial"/>
              </a:rPr>
              <a:t> </a:t>
            </a:r>
            <a:r>
              <a:rPr lang="en-GB" sz="2800" b="1" spc="-10" dirty="0">
                <a:latin typeface="Arial"/>
                <a:cs typeface="Arial"/>
              </a:rPr>
              <a:t>Talent</a:t>
            </a:r>
            <a:endParaRPr lang="en-GB" sz="2800" dirty="0">
              <a:latin typeface="Arial MT"/>
            </a:endParaRPr>
          </a:p>
          <a:p>
            <a:pPr marL="514350" indent="-514350" algn="just">
              <a:lnSpc>
                <a:spcPct val="200000"/>
              </a:lnSpc>
              <a:buFont typeface="Wingdings" panose="05000000000000000000" pitchFamily="2" charset="2"/>
              <a:buChar char="§"/>
            </a:pPr>
            <a:r>
              <a:rPr lang="en-GB" sz="2800" dirty="0">
                <a:latin typeface="Arial MT"/>
                <a:cs typeface="Arial MT"/>
              </a:rPr>
              <a:t>All</a:t>
            </a:r>
            <a:r>
              <a:rPr lang="en-GB" sz="2800" spc="-50" dirty="0">
                <a:latin typeface="Arial MT"/>
                <a:cs typeface="Arial MT"/>
              </a:rPr>
              <a:t> </a:t>
            </a:r>
            <a:r>
              <a:rPr lang="en-GB" sz="2800" dirty="0">
                <a:latin typeface="Arial MT"/>
                <a:cs typeface="Arial MT"/>
              </a:rPr>
              <a:t>fintechs</a:t>
            </a:r>
            <a:r>
              <a:rPr lang="en-GB" sz="2800" spc="-60" dirty="0">
                <a:latin typeface="Arial MT"/>
                <a:cs typeface="Arial MT"/>
              </a:rPr>
              <a:t> </a:t>
            </a:r>
            <a:r>
              <a:rPr lang="en-GB" sz="2800" dirty="0">
                <a:latin typeface="Arial MT"/>
                <a:cs typeface="Arial MT"/>
              </a:rPr>
              <a:t>seek</a:t>
            </a:r>
            <a:r>
              <a:rPr lang="en-GB" sz="2800" spc="-55" dirty="0">
                <a:latin typeface="Arial MT"/>
                <a:cs typeface="Arial MT"/>
              </a:rPr>
              <a:t> </a:t>
            </a:r>
            <a:r>
              <a:rPr lang="en-GB" sz="2800" dirty="0">
                <a:latin typeface="Arial MT"/>
                <a:cs typeface="Arial MT"/>
              </a:rPr>
              <a:t>to</a:t>
            </a:r>
            <a:r>
              <a:rPr lang="en-GB" sz="2800" spc="-70" dirty="0">
                <a:latin typeface="Arial MT"/>
                <a:cs typeface="Arial MT"/>
              </a:rPr>
              <a:t> </a:t>
            </a:r>
            <a:r>
              <a:rPr lang="en-GB" sz="2800" dirty="0">
                <a:latin typeface="Arial MT"/>
                <a:cs typeface="Arial MT"/>
              </a:rPr>
              <a:t>use</a:t>
            </a:r>
            <a:r>
              <a:rPr lang="en-GB" sz="2800" spc="-55" dirty="0">
                <a:latin typeface="Arial MT"/>
                <a:cs typeface="Arial MT"/>
              </a:rPr>
              <a:t> </a:t>
            </a:r>
            <a:r>
              <a:rPr lang="en-GB" sz="2800" dirty="0">
                <a:latin typeface="Arial MT"/>
                <a:cs typeface="Arial MT"/>
              </a:rPr>
              <a:t>agile</a:t>
            </a:r>
            <a:r>
              <a:rPr lang="en-GB" sz="2800" spc="-45" dirty="0">
                <a:latin typeface="Arial MT"/>
                <a:cs typeface="Arial MT"/>
              </a:rPr>
              <a:t> </a:t>
            </a:r>
            <a:r>
              <a:rPr lang="en-GB" sz="2800" dirty="0">
                <a:latin typeface="Arial MT"/>
                <a:cs typeface="Arial MT"/>
              </a:rPr>
              <a:t>operating</a:t>
            </a:r>
            <a:r>
              <a:rPr lang="en-GB" sz="2800" spc="-40" dirty="0">
                <a:latin typeface="Arial MT"/>
                <a:cs typeface="Arial MT"/>
              </a:rPr>
              <a:t> </a:t>
            </a:r>
            <a:r>
              <a:rPr lang="en-GB" sz="2800" dirty="0">
                <a:latin typeface="Arial MT"/>
                <a:cs typeface="Arial MT"/>
              </a:rPr>
              <a:t>models</a:t>
            </a:r>
            <a:r>
              <a:rPr lang="en-GB" sz="2800" spc="-45" dirty="0">
                <a:latin typeface="Arial MT"/>
                <a:cs typeface="Arial MT"/>
              </a:rPr>
              <a:t> </a:t>
            </a:r>
            <a:r>
              <a:rPr lang="en-GB" sz="2800" dirty="0">
                <a:latin typeface="Arial MT"/>
                <a:cs typeface="Arial MT"/>
              </a:rPr>
              <a:t>and</a:t>
            </a:r>
            <a:r>
              <a:rPr lang="en-GB" sz="2800" spc="-70" dirty="0">
                <a:latin typeface="Arial MT"/>
                <a:cs typeface="Arial MT"/>
              </a:rPr>
              <a:t> </a:t>
            </a:r>
            <a:r>
              <a:rPr lang="en-GB" sz="2800" spc="-10" dirty="0">
                <a:latin typeface="Arial MT"/>
                <a:cs typeface="Arial MT"/>
              </a:rPr>
              <a:t>unique 	</a:t>
            </a:r>
            <a:r>
              <a:rPr lang="en-GB" sz="2800" dirty="0">
                <a:latin typeface="Arial MT"/>
                <a:cs typeface="Arial MT"/>
              </a:rPr>
              <a:t>technologies</a:t>
            </a:r>
            <a:r>
              <a:rPr lang="en-GB" sz="2800" spc="-45" dirty="0">
                <a:latin typeface="Arial MT"/>
                <a:cs typeface="Arial MT"/>
              </a:rPr>
              <a:t> </a:t>
            </a:r>
            <a:r>
              <a:rPr lang="en-GB" sz="2800" dirty="0">
                <a:latin typeface="Arial MT"/>
                <a:cs typeface="Arial MT"/>
              </a:rPr>
              <a:t>to</a:t>
            </a:r>
            <a:r>
              <a:rPr lang="en-GB" sz="2800" spc="-75" dirty="0">
                <a:latin typeface="Arial MT"/>
                <a:cs typeface="Arial MT"/>
              </a:rPr>
              <a:t> </a:t>
            </a:r>
            <a:r>
              <a:rPr lang="en-GB" sz="2800" dirty="0">
                <a:latin typeface="Arial MT"/>
                <a:cs typeface="Arial MT"/>
              </a:rPr>
              <a:t>gain</a:t>
            </a:r>
            <a:r>
              <a:rPr lang="en-GB" sz="2800" spc="-70" dirty="0">
                <a:latin typeface="Arial MT"/>
                <a:cs typeface="Arial MT"/>
              </a:rPr>
              <a:t> </a:t>
            </a:r>
            <a:r>
              <a:rPr lang="en-GB" sz="2800" dirty="0">
                <a:latin typeface="Arial MT"/>
                <a:cs typeface="Arial MT"/>
              </a:rPr>
              <a:t>a</a:t>
            </a:r>
            <a:r>
              <a:rPr lang="en-GB" sz="2800" spc="-75" dirty="0">
                <a:latin typeface="Arial MT"/>
                <a:cs typeface="Arial MT"/>
              </a:rPr>
              <a:t> </a:t>
            </a:r>
            <a:r>
              <a:rPr lang="en-GB" sz="2800" dirty="0">
                <a:latin typeface="Arial MT"/>
                <a:cs typeface="Arial MT"/>
              </a:rPr>
              <a:t>competitive</a:t>
            </a:r>
            <a:r>
              <a:rPr lang="en-GB" sz="2800" spc="-70" dirty="0">
                <a:latin typeface="Arial MT"/>
                <a:cs typeface="Arial MT"/>
              </a:rPr>
              <a:t> </a:t>
            </a:r>
            <a:r>
              <a:rPr lang="en-GB" sz="2800" dirty="0">
                <a:latin typeface="Arial MT"/>
                <a:cs typeface="Arial MT"/>
              </a:rPr>
              <a:t>edge.</a:t>
            </a:r>
            <a:r>
              <a:rPr lang="en-GB" sz="2800" spc="-60" dirty="0">
                <a:latin typeface="Arial MT"/>
                <a:cs typeface="Arial MT"/>
              </a:rPr>
              <a:t> </a:t>
            </a:r>
            <a:r>
              <a:rPr lang="en-GB" sz="2800" u="heavy" dirty="0">
                <a:uFill>
                  <a:solidFill>
                    <a:srgbClr val="000000"/>
                  </a:solidFill>
                </a:uFill>
                <a:latin typeface="Arial MT"/>
                <a:cs typeface="Arial MT"/>
              </a:rPr>
              <a:t>Achieving</a:t>
            </a:r>
            <a:r>
              <a:rPr lang="en-GB" sz="2800" u="heavy" spc="-40" dirty="0">
                <a:uFill>
                  <a:solidFill>
                    <a:srgbClr val="000000"/>
                  </a:solidFill>
                </a:uFill>
                <a:latin typeface="Arial MT"/>
                <a:cs typeface="Arial MT"/>
              </a:rPr>
              <a:t> </a:t>
            </a:r>
            <a:r>
              <a:rPr lang="en-GB" sz="2800" u="heavy" spc="-20" dirty="0">
                <a:uFill>
                  <a:solidFill>
                    <a:srgbClr val="000000"/>
                  </a:solidFill>
                </a:uFill>
                <a:latin typeface="Arial MT"/>
                <a:cs typeface="Arial MT"/>
              </a:rPr>
              <a:t>this</a:t>
            </a:r>
            <a:r>
              <a:rPr lang="en-GB" sz="2800" spc="-20" dirty="0">
                <a:latin typeface="Arial MT"/>
                <a:cs typeface="Arial MT"/>
              </a:rPr>
              <a:t> 	</a:t>
            </a:r>
            <a:r>
              <a:rPr lang="en-GB" sz="2800" u="sng" dirty="0">
                <a:uFill>
                  <a:solidFill>
                    <a:srgbClr val="000000"/>
                  </a:solidFill>
                </a:uFill>
                <a:latin typeface="Arial MT"/>
                <a:cs typeface="Arial MT"/>
              </a:rPr>
              <a:t>‘edge’</a:t>
            </a:r>
            <a:r>
              <a:rPr lang="en-GB" sz="2800" u="sng" spc="-55" dirty="0">
                <a:uFill>
                  <a:solidFill>
                    <a:srgbClr val="000000"/>
                  </a:solidFill>
                </a:uFill>
                <a:latin typeface="Arial MT"/>
                <a:cs typeface="Arial MT"/>
              </a:rPr>
              <a:t> </a:t>
            </a:r>
            <a:r>
              <a:rPr lang="en-GB" sz="2800" u="sng" dirty="0">
                <a:uFill>
                  <a:solidFill>
                    <a:srgbClr val="000000"/>
                  </a:solidFill>
                </a:uFill>
                <a:latin typeface="Arial MT"/>
                <a:cs typeface="Arial MT"/>
              </a:rPr>
              <a:t>requires</a:t>
            </a:r>
            <a:r>
              <a:rPr lang="en-GB" sz="2800" u="sng" spc="-60" dirty="0">
                <a:uFill>
                  <a:solidFill>
                    <a:srgbClr val="000000"/>
                  </a:solidFill>
                </a:uFill>
                <a:latin typeface="Arial MT"/>
                <a:cs typeface="Arial MT"/>
              </a:rPr>
              <a:t> </a:t>
            </a:r>
            <a:r>
              <a:rPr lang="en-GB" sz="2800" u="sng" dirty="0">
                <a:uFill>
                  <a:solidFill>
                    <a:srgbClr val="000000"/>
                  </a:solidFill>
                </a:uFill>
                <a:latin typeface="Arial MT"/>
                <a:cs typeface="Arial MT"/>
              </a:rPr>
              <a:t>the</a:t>
            </a:r>
            <a:r>
              <a:rPr lang="en-GB" sz="2800" u="sng" spc="-80" dirty="0">
                <a:uFill>
                  <a:solidFill>
                    <a:srgbClr val="000000"/>
                  </a:solidFill>
                </a:uFill>
                <a:latin typeface="Arial MT"/>
                <a:cs typeface="Arial MT"/>
              </a:rPr>
              <a:t> </a:t>
            </a:r>
            <a:r>
              <a:rPr lang="en-GB" sz="2800" u="sng" dirty="0">
                <a:uFill>
                  <a:solidFill>
                    <a:srgbClr val="000000"/>
                  </a:solidFill>
                </a:uFill>
                <a:latin typeface="Arial MT"/>
                <a:cs typeface="Arial MT"/>
              </a:rPr>
              <a:t>right</a:t>
            </a:r>
            <a:r>
              <a:rPr lang="en-GB" sz="2800" u="sng" spc="-75" dirty="0">
                <a:uFill>
                  <a:solidFill>
                    <a:srgbClr val="000000"/>
                  </a:solidFill>
                </a:uFill>
                <a:latin typeface="Arial MT"/>
                <a:cs typeface="Arial MT"/>
              </a:rPr>
              <a:t> </a:t>
            </a:r>
            <a:r>
              <a:rPr lang="en-GB" sz="2800" u="sng" dirty="0">
                <a:uFill>
                  <a:solidFill>
                    <a:srgbClr val="000000"/>
                  </a:solidFill>
                </a:uFill>
                <a:latin typeface="Arial MT"/>
                <a:cs typeface="Arial MT"/>
              </a:rPr>
              <a:t>people</a:t>
            </a:r>
            <a:r>
              <a:rPr lang="en-GB" sz="2800" u="sng" spc="-60" dirty="0">
                <a:uFill>
                  <a:solidFill>
                    <a:srgbClr val="000000"/>
                  </a:solidFill>
                </a:uFill>
                <a:latin typeface="Arial MT"/>
                <a:cs typeface="Arial MT"/>
              </a:rPr>
              <a:t> </a:t>
            </a:r>
            <a:r>
              <a:rPr lang="en-GB" sz="2800" u="sng" dirty="0">
                <a:uFill>
                  <a:solidFill>
                    <a:srgbClr val="000000"/>
                  </a:solidFill>
                </a:uFill>
                <a:latin typeface="Arial MT"/>
                <a:cs typeface="Arial MT"/>
              </a:rPr>
              <a:t>with</a:t>
            </a:r>
            <a:r>
              <a:rPr lang="en-GB" sz="2800" u="sng" spc="-65" dirty="0">
                <a:uFill>
                  <a:solidFill>
                    <a:srgbClr val="000000"/>
                  </a:solidFill>
                </a:uFill>
                <a:latin typeface="Arial MT"/>
                <a:cs typeface="Arial MT"/>
              </a:rPr>
              <a:t> </a:t>
            </a:r>
            <a:r>
              <a:rPr lang="en-GB" sz="2800" u="sng" dirty="0">
                <a:uFill>
                  <a:solidFill>
                    <a:srgbClr val="000000"/>
                  </a:solidFill>
                </a:uFill>
                <a:latin typeface="Arial MT"/>
                <a:cs typeface="Arial MT"/>
              </a:rPr>
              <a:t>necessary</a:t>
            </a:r>
            <a:r>
              <a:rPr lang="en-GB" sz="2800" u="sng" spc="-70" dirty="0">
                <a:uFill>
                  <a:solidFill>
                    <a:srgbClr val="000000"/>
                  </a:solidFill>
                </a:uFill>
                <a:latin typeface="Arial MT"/>
                <a:cs typeface="Arial MT"/>
              </a:rPr>
              <a:t> </a:t>
            </a:r>
            <a:r>
              <a:rPr lang="en-GB" sz="2800" u="sng" dirty="0">
                <a:uFill>
                  <a:solidFill>
                    <a:srgbClr val="000000"/>
                  </a:solidFill>
                </a:uFill>
                <a:latin typeface="Arial MT"/>
                <a:cs typeface="Arial MT"/>
              </a:rPr>
              <a:t>skills</a:t>
            </a:r>
            <a:r>
              <a:rPr lang="en-GB" sz="2800" u="sng" spc="-60" dirty="0">
                <a:uFill>
                  <a:solidFill>
                    <a:srgbClr val="000000"/>
                  </a:solidFill>
                </a:uFill>
                <a:latin typeface="Arial MT"/>
                <a:cs typeface="Arial MT"/>
              </a:rPr>
              <a:t> </a:t>
            </a:r>
            <a:r>
              <a:rPr lang="en-GB" sz="2800" u="sng" spc="-25" dirty="0">
                <a:uFill>
                  <a:solidFill>
                    <a:srgbClr val="000000"/>
                  </a:solidFill>
                </a:uFill>
                <a:latin typeface="Arial MT"/>
                <a:cs typeface="Arial MT"/>
              </a:rPr>
              <a:t>to</a:t>
            </a:r>
            <a:r>
              <a:rPr lang="en-GB" sz="2800" spc="-25" dirty="0">
                <a:latin typeface="Arial MT"/>
                <a:cs typeface="Arial MT"/>
              </a:rPr>
              <a:t> 	</a:t>
            </a:r>
            <a:r>
              <a:rPr lang="en-GB" sz="2800" u="sng" dirty="0">
                <a:uFill>
                  <a:solidFill>
                    <a:srgbClr val="000000"/>
                  </a:solidFill>
                </a:uFill>
                <a:latin typeface="Arial MT"/>
                <a:cs typeface="Arial MT"/>
              </a:rPr>
              <a:t>make</a:t>
            </a:r>
            <a:r>
              <a:rPr lang="en-GB" sz="2800" u="sng" spc="-55" dirty="0">
                <a:uFill>
                  <a:solidFill>
                    <a:srgbClr val="000000"/>
                  </a:solidFill>
                </a:uFill>
                <a:latin typeface="Arial MT"/>
                <a:cs typeface="Arial MT"/>
              </a:rPr>
              <a:t> </a:t>
            </a:r>
            <a:r>
              <a:rPr lang="en-GB" sz="2800" u="sng" dirty="0">
                <a:uFill>
                  <a:solidFill>
                    <a:srgbClr val="000000"/>
                  </a:solidFill>
                </a:uFill>
                <a:latin typeface="Arial MT"/>
                <a:cs typeface="Arial MT"/>
              </a:rPr>
              <a:t>a</a:t>
            </a:r>
            <a:r>
              <a:rPr lang="en-GB" sz="2800" u="sng" spc="-70" dirty="0">
                <a:uFill>
                  <a:solidFill>
                    <a:srgbClr val="000000"/>
                  </a:solidFill>
                </a:uFill>
                <a:latin typeface="Arial MT"/>
                <a:cs typeface="Arial MT"/>
              </a:rPr>
              <a:t> </a:t>
            </a:r>
            <a:r>
              <a:rPr lang="en-GB" sz="2800" u="sng" dirty="0">
                <a:uFill>
                  <a:solidFill>
                    <a:srgbClr val="000000"/>
                  </a:solidFill>
                </a:uFill>
                <a:latin typeface="Arial MT"/>
                <a:cs typeface="Arial MT"/>
              </a:rPr>
              <a:t>founder’s</a:t>
            </a:r>
            <a:r>
              <a:rPr lang="en-GB" sz="2800" u="sng" spc="-35" dirty="0">
                <a:uFill>
                  <a:solidFill>
                    <a:srgbClr val="000000"/>
                  </a:solidFill>
                </a:uFill>
                <a:latin typeface="Arial MT"/>
                <a:cs typeface="Arial MT"/>
              </a:rPr>
              <a:t> </a:t>
            </a:r>
            <a:r>
              <a:rPr lang="en-GB" sz="2800" u="sng" dirty="0">
                <a:uFill>
                  <a:solidFill>
                    <a:srgbClr val="000000"/>
                  </a:solidFill>
                </a:uFill>
                <a:latin typeface="Arial MT"/>
                <a:cs typeface="Arial MT"/>
              </a:rPr>
              <a:t>vision</a:t>
            </a:r>
            <a:r>
              <a:rPr lang="en-GB" sz="2800" u="sng" spc="-45" dirty="0">
                <a:uFill>
                  <a:solidFill>
                    <a:srgbClr val="000000"/>
                  </a:solidFill>
                </a:uFill>
                <a:latin typeface="Arial MT"/>
                <a:cs typeface="Arial MT"/>
              </a:rPr>
              <a:t> </a:t>
            </a:r>
            <a:r>
              <a:rPr lang="en-GB" sz="2800" u="sng" dirty="0">
                <a:uFill>
                  <a:solidFill>
                    <a:srgbClr val="000000"/>
                  </a:solidFill>
                </a:uFill>
                <a:latin typeface="Arial MT"/>
                <a:cs typeface="Arial MT"/>
              </a:rPr>
              <a:t>a</a:t>
            </a:r>
            <a:r>
              <a:rPr lang="en-GB" sz="2800" u="sng" spc="-55" dirty="0">
                <a:uFill>
                  <a:solidFill>
                    <a:srgbClr val="000000"/>
                  </a:solidFill>
                </a:uFill>
                <a:latin typeface="Arial MT"/>
                <a:cs typeface="Arial MT"/>
              </a:rPr>
              <a:t> </a:t>
            </a:r>
            <a:r>
              <a:rPr lang="en-GB" sz="2800" u="sng" dirty="0">
                <a:uFill>
                  <a:solidFill>
                    <a:srgbClr val="000000"/>
                  </a:solidFill>
                </a:uFill>
                <a:latin typeface="Arial MT"/>
                <a:cs typeface="Arial MT"/>
              </a:rPr>
              <a:t>reality,</a:t>
            </a:r>
            <a:r>
              <a:rPr lang="en-GB" sz="2800" u="sng" spc="-55" dirty="0">
                <a:uFill>
                  <a:solidFill>
                    <a:srgbClr val="000000"/>
                  </a:solidFill>
                </a:uFill>
                <a:latin typeface="Arial MT"/>
                <a:cs typeface="Arial MT"/>
              </a:rPr>
              <a:t> </a:t>
            </a:r>
            <a:r>
              <a:rPr lang="en-GB" sz="2800" u="sng" dirty="0">
                <a:uFill>
                  <a:solidFill>
                    <a:srgbClr val="000000"/>
                  </a:solidFill>
                </a:uFill>
                <a:latin typeface="Arial MT"/>
                <a:cs typeface="Arial MT"/>
              </a:rPr>
              <a:t>whether</a:t>
            </a:r>
            <a:r>
              <a:rPr lang="en-GB" sz="2800" u="sng" spc="-40" dirty="0">
                <a:uFill>
                  <a:solidFill>
                    <a:srgbClr val="000000"/>
                  </a:solidFill>
                </a:uFill>
                <a:latin typeface="Arial MT"/>
                <a:cs typeface="Arial MT"/>
              </a:rPr>
              <a:t> </a:t>
            </a:r>
            <a:r>
              <a:rPr lang="en-GB" sz="2800" u="sng" dirty="0">
                <a:uFill>
                  <a:solidFill>
                    <a:srgbClr val="000000"/>
                  </a:solidFill>
                </a:uFill>
                <a:latin typeface="Arial MT"/>
                <a:cs typeface="Arial MT"/>
              </a:rPr>
              <a:t>that</a:t>
            </a:r>
            <a:r>
              <a:rPr lang="en-GB" sz="2800" u="sng" spc="-75" dirty="0">
                <a:uFill>
                  <a:solidFill>
                    <a:srgbClr val="000000"/>
                  </a:solidFill>
                </a:uFill>
                <a:latin typeface="Arial MT"/>
                <a:cs typeface="Arial MT"/>
              </a:rPr>
              <a:t> </a:t>
            </a:r>
            <a:r>
              <a:rPr lang="en-GB" sz="2800" u="sng" spc="-10" dirty="0">
                <a:uFill>
                  <a:solidFill>
                    <a:srgbClr val="000000"/>
                  </a:solidFill>
                </a:uFill>
                <a:latin typeface="Arial MT"/>
                <a:cs typeface="Arial MT"/>
              </a:rPr>
              <a:t>entails</a:t>
            </a:r>
            <a:r>
              <a:rPr lang="en-GB" sz="2800" spc="-10" dirty="0">
                <a:latin typeface="Arial MT"/>
                <a:cs typeface="Arial MT"/>
              </a:rPr>
              <a:t> 	</a:t>
            </a:r>
            <a:r>
              <a:rPr lang="en-GB" sz="2800" u="heavy" dirty="0">
                <a:uFill>
                  <a:solidFill>
                    <a:srgbClr val="000000"/>
                  </a:solidFill>
                </a:uFill>
                <a:latin typeface="Arial MT"/>
                <a:cs typeface="Arial MT"/>
              </a:rPr>
              <a:t>designing</a:t>
            </a:r>
            <a:r>
              <a:rPr lang="en-GB" sz="2800" u="heavy" spc="-30" dirty="0">
                <a:uFill>
                  <a:solidFill>
                    <a:srgbClr val="000000"/>
                  </a:solidFill>
                </a:uFill>
                <a:latin typeface="Arial MT"/>
                <a:cs typeface="Arial MT"/>
              </a:rPr>
              <a:t> </a:t>
            </a:r>
            <a:r>
              <a:rPr lang="en-GB" sz="2800" u="heavy" dirty="0">
                <a:uFill>
                  <a:solidFill>
                    <a:srgbClr val="000000"/>
                  </a:solidFill>
                </a:uFill>
                <a:latin typeface="Arial MT"/>
                <a:cs typeface="Arial MT"/>
              </a:rPr>
              <a:t>a</a:t>
            </a:r>
            <a:r>
              <a:rPr lang="en-GB" sz="2800" u="heavy" spc="-70" dirty="0">
                <a:uFill>
                  <a:solidFill>
                    <a:srgbClr val="000000"/>
                  </a:solidFill>
                </a:uFill>
                <a:latin typeface="Arial MT"/>
                <a:cs typeface="Arial MT"/>
              </a:rPr>
              <a:t> </a:t>
            </a:r>
            <a:r>
              <a:rPr lang="en-GB" sz="2800" u="heavy" dirty="0">
                <a:uFill>
                  <a:solidFill>
                    <a:srgbClr val="000000"/>
                  </a:solidFill>
                </a:uFill>
                <a:latin typeface="Arial MT"/>
                <a:cs typeface="Arial MT"/>
              </a:rPr>
              <a:t>new</a:t>
            </a:r>
            <a:r>
              <a:rPr lang="en-GB" sz="2800" u="heavy" spc="-65" dirty="0">
                <a:uFill>
                  <a:solidFill>
                    <a:srgbClr val="000000"/>
                  </a:solidFill>
                </a:uFill>
                <a:latin typeface="Arial MT"/>
                <a:cs typeface="Arial MT"/>
              </a:rPr>
              <a:t> </a:t>
            </a:r>
            <a:r>
              <a:rPr lang="en-GB" sz="2800" u="heavy" dirty="0">
                <a:uFill>
                  <a:solidFill>
                    <a:srgbClr val="000000"/>
                  </a:solidFill>
                </a:uFill>
                <a:latin typeface="Arial MT"/>
                <a:cs typeface="Arial MT"/>
              </a:rPr>
              <a:t>and</a:t>
            </a:r>
            <a:r>
              <a:rPr lang="en-GB" sz="2800" u="heavy" spc="-60" dirty="0">
                <a:uFill>
                  <a:solidFill>
                    <a:srgbClr val="000000"/>
                  </a:solidFill>
                </a:uFill>
                <a:latin typeface="Arial MT"/>
                <a:cs typeface="Arial MT"/>
              </a:rPr>
              <a:t> </a:t>
            </a:r>
            <a:r>
              <a:rPr lang="en-GB" sz="2800" u="heavy" dirty="0">
                <a:uFill>
                  <a:solidFill>
                    <a:srgbClr val="000000"/>
                  </a:solidFill>
                </a:uFill>
                <a:latin typeface="Arial MT"/>
                <a:cs typeface="Arial MT"/>
              </a:rPr>
              <a:t>more</a:t>
            </a:r>
            <a:r>
              <a:rPr lang="en-GB" sz="2800" u="heavy" spc="-75" dirty="0">
                <a:uFill>
                  <a:solidFill>
                    <a:srgbClr val="000000"/>
                  </a:solidFill>
                </a:uFill>
                <a:latin typeface="Arial MT"/>
                <a:cs typeface="Arial MT"/>
              </a:rPr>
              <a:t> </a:t>
            </a:r>
            <a:r>
              <a:rPr lang="en-GB" sz="2800" u="heavy" dirty="0">
                <a:uFill>
                  <a:solidFill>
                    <a:srgbClr val="000000"/>
                  </a:solidFill>
                </a:uFill>
                <a:latin typeface="Arial MT"/>
                <a:cs typeface="Arial MT"/>
              </a:rPr>
              <a:t>intuitive</a:t>
            </a:r>
            <a:r>
              <a:rPr lang="en-GB" sz="2800" u="heavy" spc="-45" dirty="0">
                <a:uFill>
                  <a:solidFill>
                    <a:srgbClr val="000000"/>
                  </a:solidFill>
                </a:uFill>
                <a:latin typeface="Arial MT"/>
                <a:cs typeface="Arial MT"/>
              </a:rPr>
              <a:t> </a:t>
            </a:r>
            <a:r>
              <a:rPr lang="en-GB" sz="2800" u="heavy" dirty="0">
                <a:uFill>
                  <a:solidFill>
                    <a:srgbClr val="000000"/>
                  </a:solidFill>
                </a:uFill>
                <a:latin typeface="Arial MT"/>
                <a:cs typeface="Arial MT"/>
              </a:rPr>
              <a:t>customer</a:t>
            </a:r>
            <a:r>
              <a:rPr lang="en-GB" sz="2800" u="heavy" spc="-70" dirty="0">
                <a:uFill>
                  <a:solidFill>
                    <a:srgbClr val="000000"/>
                  </a:solidFill>
                </a:uFill>
                <a:latin typeface="Arial MT"/>
                <a:cs typeface="Arial MT"/>
              </a:rPr>
              <a:t> </a:t>
            </a:r>
            <a:r>
              <a:rPr lang="en-GB" sz="2800" u="heavy" spc="-10" dirty="0">
                <a:uFill>
                  <a:solidFill>
                    <a:srgbClr val="000000"/>
                  </a:solidFill>
                </a:uFill>
                <a:latin typeface="Arial MT"/>
                <a:cs typeface="Arial MT"/>
              </a:rPr>
              <a:t>experience,</a:t>
            </a:r>
            <a:r>
              <a:rPr lang="en-GB" sz="2800" spc="-10" dirty="0">
                <a:latin typeface="Arial MT"/>
                <a:cs typeface="Arial MT"/>
              </a:rPr>
              <a:t> 	</a:t>
            </a:r>
            <a:r>
              <a:rPr lang="en-GB" sz="2800" dirty="0">
                <a:latin typeface="Arial MT"/>
                <a:cs typeface="Arial MT"/>
              </a:rPr>
              <a:t>or</a:t>
            </a:r>
            <a:r>
              <a:rPr lang="en-GB" sz="2800" spc="-60" dirty="0">
                <a:latin typeface="Arial MT"/>
                <a:cs typeface="Arial MT"/>
              </a:rPr>
              <a:t> </a:t>
            </a:r>
            <a:r>
              <a:rPr lang="en-GB" sz="2800" dirty="0">
                <a:latin typeface="Arial MT"/>
                <a:cs typeface="Arial MT"/>
              </a:rPr>
              <a:t>designing</a:t>
            </a:r>
            <a:r>
              <a:rPr lang="en-GB" sz="2800" spc="-20" dirty="0">
                <a:latin typeface="Arial MT"/>
                <a:cs typeface="Arial MT"/>
              </a:rPr>
              <a:t> </a:t>
            </a:r>
            <a:r>
              <a:rPr lang="en-GB" sz="2800" dirty="0">
                <a:latin typeface="Arial MT"/>
                <a:cs typeface="Arial MT"/>
              </a:rPr>
              <a:t>a</a:t>
            </a:r>
            <a:r>
              <a:rPr lang="en-GB" sz="2800" spc="-60" dirty="0">
                <a:latin typeface="Arial MT"/>
                <a:cs typeface="Arial MT"/>
              </a:rPr>
              <a:t> </a:t>
            </a:r>
            <a:r>
              <a:rPr lang="en-GB" sz="2800" dirty="0">
                <a:latin typeface="Arial MT"/>
                <a:cs typeface="Arial MT"/>
              </a:rPr>
              <a:t>machine</a:t>
            </a:r>
            <a:r>
              <a:rPr lang="en-GB" sz="2800" spc="-50" dirty="0">
                <a:latin typeface="Arial MT"/>
                <a:cs typeface="Arial MT"/>
              </a:rPr>
              <a:t> </a:t>
            </a:r>
            <a:r>
              <a:rPr lang="en-GB" sz="2800" spc="-20" dirty="0">
                <a:latin typeface="Arial MT"/>
                <a:cs typeface="Arial MT"/>
              </a:rPr>
              <a:t>learning-</a:t>
            </a:r>
            <a:r>
              <a:rPr lang="en-GB" sz="2800" dirty="0">
                <a:latin typeface="Arial MT"/>
                <a:cs typeface="Arial MT"/>
              </a:rPr>
              <a:t>enabled</a:t>
            </a:r>
            <a:r>
              <a:rPr lang="en-GB" sz="2800" spc="-10" dirty="0">
                <a:latin typeface="Arial MT"/>
                <a:cs typeface="Arial MT"/>
              </a:rPr>
              <a:t> </a:t>
            </a:r>
            <a:r>
              <a:rPr lang="en-GB" sz="2800" dirty="0" err="1">
                <a:latin typeface="Arial MT"/>
                <a:cs typeface="Arial MT"/>
              </a:rPr>
              <a:t>regtech</a:t>
            </a:r>
            <a:r>
              <a:rPr lang="en-GB" sz="2800" spc="-60" dirty="0">
                <a:latin typeface="Arial MT"/>
                <a:cs typeface="Arial MT"/>
              </a:rPr>
              <a:t> </a:t>
            </a:r>
            <a:r>
              <a:rPr lang="en-GB" sz="2800" spc="-10" dirty="0">
                <a:latin typeface="Arial MT"/>
                <a:cs typeface="Arial MT"/>
              </a:rPr>
              <a:t>system.</a:t>
            </a:r>
          </a:p>
          <a:p>
            <a:pPr marL="514350" indent="-514350" algn="just">
              <a:lnSpc>
                <a:spcPct val="200000"/>
              </a:lnSpc>
              <a:buFont typeface="Wingdings" panose="05000000000000000000" pitchFamily="2" charset="2"/>
              <a:buChar char="§"/>
            </a:pPr>
            <a:endParaRPr lang="en-GB" sz="2800" dirty="0">
              <a:latin typeface="Arial MT"/>
            </a:endParaRPr>
          </a:p>
          <a:p>
            <a:pPr marL="514350" indent="-514350" algn="just">
              <a:lnSpc>
                <a:spcPct val="200000"/>
              </a:lnSpc>
              <a:buFont typeface="Wingdings" panose="05000000000000000000" pitchFamily="2" charset="2"/>
              <a:buChar char="§"/>
            </a:pPr>
            <a:r>
              <a:rPr lang="en-GB" sz="2800" dirty="0">
                <a:latin typeface="Arial MT"/>
                <a:cs typeface="Arial MT"/>
              </a:rPr>
              <a:t>Even</a:t>
            </a:r>
            <a:r>
              <a:rPr lang="en-GB" sz="2800" spc="-55" dirty="0">
                <a:latin typeface="Arial MT"/>
                <a:cs typeface="Arial MT"/>
              </a:rPr>
              <a:t> </a:t>
            </a:r>
            <a:r>
              <a:rPr lang="en-GB" sz="2800" dirty="0">
                <a:latin typeface="Arial MT"/>
                <a:cs typeface="Arial MT"/>
              </a:rPr>
              <a:t>when</a:t>
            </a:r>
            <a:r>
              <a:rPr lang="en-GB" sz="2800" spc="-40" dirty="0">
                <a:latin typeface="Arial MT"/>
                <a:cs typeface="Arial MT"/>
              </a:rPr>
              <a:t> </a:t>
            </a:r>
            <a:r>
              <a:rPr lang="en-GB" sz="2800" dirty="0">
                <a:latin typeface="Arial MT"/>
                <a:cs typeface="Arial MT"/>
              </a:rPr>
              <a:t>individuals with</a:t>
            </a:r>
            <a:r>
              <a:rPr lang="en-GB" sz="2800" spc="-55" dirty="0">
                <a:latin typeface="Arial MT"/>
                <a:cs typeface="Arial MT"/>
              </a:rPr>
              <a:t> </a:t>
            </a:r>
            <a:r>
              <a:rPr lang="en-GB" sz="2800" dirty="0">
                <a:latin typeface="Arial MT"/>
                <a:cs typeface="Arial MT"/>
              </a:rPr>
              <a:t>the</a:t>
            </a:r>
            <a:r>
              <a:rPr lang="en-GB" sz="2800" spc="-70" dirty="0">
                <a:latin typeface="Arial MT"/>
                <a:cs typeface="Arial MT"/>
              </a:rPr>
              <a:t> </a:t>
            </a:r>
            <a:r>
              <a:rPr lang="en-GB" sz="2800" dirty="0">
                <a:latin typeface="Arial MT"/>
                <a:cs typeface="Arial MT"/>
              </a:rPr>
              <a:t>right</a:t>
            </a:r>
            <a:r>
              <a:rPr lang="en-GB" sz="2800" spc="-50" dirty="0">
                <a:latin typeface="Arial MT"/>
                <a:cs typeface="Arial MT"/>
              </a:rPr>
              <a:t> </a:t>
            </a:r>
            <a:r>
              <a:rPr lang="en-GB" sz="2800" dirty="0">
                <a:latin typeface="Arial MT"/>
                <a:cs typeface="Arial MT"/>
              </a:rPr>
              <a:t>skills</a:t>
            </a:r>
            <a:r>
              <a:rPr lang="en-GB" sz="2800" spc="-30" dirty="0">
                <a:latin typeface="Arial MT"/>
                <a:cs typeface="Arial MT"/>
              </a:rPr>
              <a:t> </a:t>
            </a:r>
            <a:r>
              <a:rPr lang="en-GB" sz="2800" dirty="0">
                <a:latin typeface="Arial MT"/>
                <a:cs typeface="Arial MT"/>
              </a:rPr>
              <a:t>are</a:t>
            </a:r>
            <a:r>
              <a:rPr lang="en-GB" sz="2800" spc="-70" dirty="0">
                <a:latin typeface="Arial MT"/>
                <a:cs typeface="Arial MT"/>
              </a:rPr>
              <a:t> </a:t>
            </a:r>
            <a:r>
              <a:rPr lang="en-GB" sz="2800" spc="-10" dirty="0">
                <a:latin typeface="Arial MT"/>
                <a:cs typeface="Arial MT"/>
              </a:rPr>
              <a:t>available, 	</a:t>
            </a:r>
            <a:r>
              <a:rPr lang="en-GB" sz="2800" u="heavy" dirty="0">
                <a:uFill>
                  <a:solidFill>
                    <a:srgbClr val="000000"/>
                  </a:solidFill>
                </a:uFill>
                <a:latin typeface="Arial MT"/>
                <a:cs typeface="Arial MT"/>
              </a:rPr>
              <a:t>fintechs</a:t>
            </a:r>
            <a:r>
              <a:rPr lang="en-GB" sz="2800" u="heavy" spc="-80" dirty="0">
                <a:uFill>
                  <a:solidFill>
                    <a:srgbClr val="000000"/>
                  </a:solidFill>
                </a:uFill>
                <a:latin typeface="Arial MT"/>
                <a:cs typeface="Arial MT"/>
              </a:rPr>
              <a:t> </a:t>
            </a:r>
            <a:r>
              <a:rPr lang="en-GB" sz="2800" u="heavy" dirty="0">
                <a:uFill>
                  <a:solidFill>
                    <a:srgbClr val="000000"/>
                  </a:solidFill>
                </a:uFill>
                <a:latin typeface="Arial MT"/>
                <a:cs typeface="Arial MT"/>
              </a:rPr>
              <a:t>must</a:t>
            </a:r>
            <a:r>
              <a:rPr lang="en-GB" sz="2800" u="heavy" spc="-95" dirty="0">
                <a:uFill>
                  <a:solidFill>
                    <a:srgbClr val="000000"/>
                  </a:solidFill>
                </a:uFill>
                <a:latin typeface="Arial MT"/>
                <a:cs typeface="Arial MT"/>
              </a:rPr>
              <a:t> </a:t>
            </a:r>
            <a:r>
              <a:rPr lang="en-GB" sz="2800" u="heavy" dirty="0">
                <a:uFill>
                  <a:solidFill>
                    <a:srgbClr val="000000"/>
                  </a:solidFill>
                </a:uFill>
                <a:latin typeface="Arial MT"/>
                <a:cs typeface="Arial MT"/>
              </a:rPr>
              <a:t>overcome</a:t>
            </a:r>
            <a:r>
              <a:rPr lang="en-GB" sz="2800" u="heavy" spc="-65" dirty="0">
                <a:uFill>
                  <a:solidFill>
                    <a:srgbClr val="000000"/>
                  </a:solidFill>
                </a:uFill>
                <a:latin typeface="Arial MT"/>
                <a:cs typeface="Arial MT"/>
              </a:rPr>
              <a:t> </a:t>
            </a:r>
            <a:r>
              <a:rPr lang="en-GB" sz="2800" u="heavy" dirty="0">
                <a:uFill>
                  <a:solidFill>
                    <a:srgbClr val="000000"/>
                  </a:solidFill>
                </a:uFill>
                <a:latin typeface="Arial MT"/>
                <a:cs typeface="Arial MT"/>
              </a:rPr>
              <a:t>significant</a:t>
            </a:r>
            <a:r>
              <a:rPr lang="en-GB" sz="2800" u="heavy" spc="-60" dirty="0">
                <a:uFill>
                  <a:solidFill>
                    <a:srgbClr val="000000"/>
                  </a:solidFill>
                </a:uFill>
                <a:latin typeface="Arial MT"/>
                <a:cs typeface="Arial MT"/>
              </a:rPr>
              <a:t> </a:t>
            </a:r>
            <a:r>
              <a:rPr lang="en-GB" sz="2800" u="heavy" dirty="0">
                <a:uFill>
                  <a:solidFill>
                    <a:srgbClr val="000000"/>
                  </a:solidFill>
                </a:uFill>
                <a:latin typeface="Arial MT"/>
                <a:cs typeface="Arial MT"/>
              </a:rPr>
              <a:t>competition</a:t>
            </a:r>
            <a:r>
              <a:rPr lang="en-GB" sz="2800" u="heavy" spc="-65" dirty="0">
                <a:uFill>
                  <a:solidFill>
                    <a:srgbClr val="000000"/>
                  </a:solidFill>
                </a:uFill>
                <a:latin typeface="Arial MT"/>
                <a:cs typeface="Arial MT"/>
              </a:rPr>
              <a:t> </a:t>
            </a:r>
            <a:r>
              <a:rPr lang="en-GB" sz="2800" u="heavy" dirty="0">
                <a:uFill>
                  <a:solidFill>
                    <a:srgbClr val="000000"/>
                  </a:solidFill>
                </a:uFill>
                <a:latin typeface="Arial MT"/>
                <a:cs typeface="Arial MT"/>
              </a:rPr>
              <a:t>to</a:t>
            </a:r>
            <a:r>
              <a:rPr lang="en-GB" sz="2800" u="heavy" spc="-80" dirty="0">
                <a:uFill>
                  <a:solidFill>
                    <a:srgbClr val="000000"/>
                  </a:solidFill>
                </a:uFill>
                <a:latin typeface="Arial MT"/>
                <a:cs typeface="Arial MT"/>
              </a:rPr>
              <a:t> </a:t>
            </a:r>
            <a:r>
              <a:rPr lang="en-GB" sz="2800" u="heavy" spc="-20" dirty="0">
                <a:uFill>
                  <a:solidFill>
                    <a:srgbClr val="000000"/>
                  </a:solidFill>
                </a:uFill>
                <a:latin typeface="Arial MT"/>
                <a:cs typeface="Arial MT"/>
              </a:rPr>
              <a:t>hire </a:t>
            </a:r>
            <a:r>
              <a:rPr lang="en-GB" sz="2800" u="heavy" dirty="0">
                <a:uFill>
                  <a:solidFill>
                    <a:srgbClr val="000000"/>
                  </a:solidFill>
                </a:uFill>
                <a:latin typeface="Arial MT"/>
                <a:cs typeface="Arial MT"/>
              </a:rPr>
              <a:t>these</a:t>
            </a:r>
            <a:r>
              <a:rPr lang="en-GB" sz="2800" u="heavy" spc="-60" dirty="0">
                <a:uFill>
                  <a:solidFill>
                    <a:srgbClr val="000000"/>
                  </a:solidFill>
                </a:uFill>
                <a:latin typeface="Arial MT"/>
                <a:cs typeface="Arial MT"/>
              </a:rPr>
              <a:t> </a:t>
            </a:r>
            <a:r>
              <a:rPr lang="en-GB" sz="2800" u="heavy" spc="-10" dirty="0">
                <a:uFill>
                  <a:solidFill>
                    <a:srgbClr val="000000"/>
                  </a:solidFill>
                </a:uFill>
                <a:latin typeface="Arial MT"/>
                <a:cs typeface="Arial MT"/>
              </a:rPr>
              <a:t>individuals.</a:t>
            </a:r>
            <a:endParaRPr lang="en-GB" sz="2800" dirty="0">
              <a:latin typeface="Arial MT"/>
              <a:cs typeface="Arial MT"/>
            </a:endParaRPr>
          </a:p>
          <a:p>
            <a:pPr marL="514350" indent="-514350" algn="just">
              <a:lnSpc>
                <a:spcPct val="200000"/>
              </a:lnSpc>
              <a:buFont typeface="Wingdings" panose="05000000000000000000" pitchFamily="2" charset="2"/>
              <a:buChar char="§"/>
            </a:pPr>
            <a:endParaRPr lang="en-US" sz="2800" dirty="0">
              <a:latin typeface="Arial MT"/>
              <a:cs typeface="Arial MT"/>
            </a:endParaRPr>
          </a:p>
        </p:txBody>
      </p:sp>
    </p:spTree>
    <p:extLst>
      <p:ext uri="{BB962C8B-B14F-4D97-AF65-F5344CB8AC3E}">
        <p14:creationId xmlns:p14="http://schemas.microsoft.com/office/powerpoint/2010/main" val="9253972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BA3B1-6759-A3F7-E88C-D17EFF69B1A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057B646-1ADF-C6B6-7F59-6E09BC182F47}"/>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B30D8A2-612C-5662-DD02-757BD079936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A587FEB-2941-C45A-CAC7-08BCE2923B6D}"/>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3342584C-657A-9544-7DAE-62D328CEA70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465FEFFC-0CEC-753C-036E-782FB7960EA9}"/>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ED16E9C-50D0-98A3-9955-095C4FFE5A8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54</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A12CD329-F073-7ADF-4634-BAA5642A4B86}"/>
              </a:ext>
            </a:extLst>
          </p:cNvPr>
          <p:cNvSpPr txBox="1"/>
          <p:nvPr/>
        </p:nvSpPr>
        <p:spPr>
          <a:xfrm>
            <a:off x="756447" y="1795676"/>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latin typeface="Arial"/>
                <a:cs typeface="Arial"/>
              </a:rPr>
              <a:t>Scaling</a:t>
            </a:r>
            <a:r>
              <a:rPr lang="en-GB" sz="2800" b="1" spc="-30" dirty="0">
                <a:latin typeface="Arial"/>
                <a:cs typeface="Arial"/>
              </a:rPr>
              <a:t> </a:t>
            </a:r>
            <a:r>
              <a:rPr lang="en-GB" sz="2800" b="1" dirty="0">
                <a:latin typeface="Arial"/>
                <a:cs typeface="Arial"/>
              </a:rPr>
              <a:t>the</a:t>
            </a:r>
            <a:r>
              <a:rPr lang="en-GB" sz="2800" b="1" spc="-45" dirty="0">
                <a:latin typeface="Arial"/>
                <a:cs typeface="Arial"/>
              </a:rPr>
              <a:t> </a:t>
            </a:r>
            <a:r>
              <a:rPr lang="en-GB" sz="2800" b="1" dirty="0">
                <a:latin typeface="Arial"/>
                <a:cs typeface="Arial"/>
              </a:rPr>
              <a:t>Customer</a:t>
            </a:r>
            <a:r>
              <a:rPr lang="en-GB" sz="2800" b="1" spc="-30" dirty="0">
                <a:latin typeface="Arial"/>
                <a:cs typeface="Arial"/>
              </a:rPr>
              <a:t> </a:t>
            </a:r>
            <a:r>
              <a:rPr lang="en-GB" sz="2800" b="1" spc="-20" dirty="0">
                <a:latin typeface="Arial"/>
                <a:cs typeface="Arial"/>
              </a:rPr>
              <a:t>Base</a:t>
            </a:r>
            <a:endParaRPr lang="en-GB" sz="2800" dirty="0">
              <a:latin typeface="Arial MT"/>
            </a:endParaRPr>
          </a:p>
          <a:p>
            <a:pPr marL="514350" indent="-514350" algn="just">
              <a:lnSpc>
                <a:spcPct val="200000"/>
              </a:lnSpc>
              <a:buFont typeface="Wingdings" panose="05000000000000000000" pitchFamily="2" charset="2"/>
              <a:buChar char="§"/>
            </a:pPr>
            <a:r>
              <a:rPr lang="en-GB" sz="2800" dirty="0">
                <a:latin typeface="Arial MT"/>
                <a:cs typeface="Arial MT"/>
              </a:rPr>
              <a:t>While</a:t>
            </a:r>
            <a:r>
              <a:rPr lang="en-GB" sz="2800" spc="-60" dirty="0">
                <a:latin typeface="Arial MT"/>
                <a:cs typeface="Arial MT"/>
              </a:rPr>
              <a:t> </a:t>
            </a:r>
            <a:r>
              <a:rPr lang="en-GB" sz="2800" dirty="0">
                <a:latin typeface="Arial MT"/>
                <a:cs typeface="Arial MT"/>
              </a:rPr>
              <a:t>a</a:t>
            </a:r>
            <a:r>
              <a:rPr lang="en-GB" sz="2800" spc="-65" dirty="0">
                <a:latin typeface="Arial MT"/>
                <a:cs typeface="Arial MT"/>
              </a:rPr>
              <a:t> </a:t>
            </a:r>
            <a:r>
              <a:rPr lang="en-GB" sz="2800" dirty="0">
                <a:latin typeface="Arial MT"/>
                <a:cs typeface="Arial MT"/>
              </a:rPr>
              <a:t>number</a:t>
            </a:r>
            <a:r>
              <a:rPr lang="en-GB" sz="2800" spc="-60" dirty="0">
                <a:latin typeface="Arial MT"/>
                <a:cs typeface="Arial MT"/>
              </a:rPr>
              <a:t> </a:t>
            </a:r>
            <a:r>
              <a:rPr lang="en-GB" sz="2800" dirty="0">
                <a:latin typeface="Arial MT"/>
                <a:cs typeface="Arial MT"/>
              </a:rPr>
              <a:t>of</a:t>
            </a:r>
            <a:r>
              <a:rPr lang="en-GB" sz="2800" spc="-60" dirty="0">
                <a:latin typeface="Arial MT"/>
                <a:cs typeface="Arial MT"/>
              </a:rPr>
              <a:t> </a:t>
            </a:r>
            <a:r>
              <a:rPr lang="en-GB" sz="2800" dirty="0">
                <a:latin typeface="Arial MT"/>
                <a:cs typeface="Arial MT"/>
              </a:rPr>
              <a:t>celebrated</a:t>
            </a:r>
            <a:r>
              <a:rPr lang="en-GB" sz="2800" spc="-40" dirty="0">
                <a:latin typeface="Arial MT"/>
                <a:cs typeface="Arial MT"/>
              </a:rPr>
              <a:t> </a:t>
            </a:r>
            <a:r>
              <a:rPr lang="en-GB" sz="2800" dirty="0">
                <a:latin typeface="Arial MT"/>
                <a:cs typeface="Arial MT"/>
              </a:rPr>
              <a:t>fintech</a:t>
            </a:r>
            <a:r>
              <a:rPr lang="en-GB" sz="2800" spc="-65" dirty="0">
                <a:latin typeface="Arial MT"/>
                <a:cs typeface="Arial MT"/>
              </a:rPr>
              <a:t> </a:t>
            </a:r>
            <a:r>
              <a:rPr lang="en-GB" sz="2800" dirty="0">
                <a:latin typeface="Arial MT"/>
                <a:cs typeface="Arial MT"/>
              </a:rPr>
              <a:t>unicorns</a:t>
            </a:r>
            <a:r>
              <a:rPr lang="en-GB" sz="2800" spc="-55" dirty="0">
                <a:latin typeface="Arial MT"/>
                <a:cs typeface="Arial MT"/>
              </a:rPr>
              <a:t> </a:t>
            </a:r>
            <a:r>
              <a:rPr lang="en-GB" sz="2800" dirty="0">
                <a:latin typeface="Arial MT"/>
                <a:cs typeface="Arial MT"/>
              </a:rPr>
              <a:t>have</a:t>
            </a:r>
            <a:r>
              <a:rPr lang="en-GB" sz="2800" spc="-60" dirty="0">
                <a:latin typeface="Arial MT"/>
                <a:cs typeface="Arial MT"/>
              </a:rPr>
              <a:t> </a:t>
            </a:r>
            <a:r>
              <a:rPr lang="en-GB" sz="2800" spc="-20" dirty="0">
                <a:latin typeface="Arial MT"/>
                <a:cs typeface="Arial MT"/>
              </a:rPr>
              <a:t>been 	</a:t>
            </a:r>
            <a:r>
              <a:rPr lang="en-GB" sz="2800" dirty="0">
                <a:latin typeface="Arial MT"/>
                <a:cs typeface="Arial MT"/>
              </a:rPr>
              <a:t>able</a:t>
            </a:r>
            <a:r>
              <a:rPr lang="en-GB" sz="2800" spc="-50" dirty="0">
                <a:latin typeface="Arial MT"/>
                <a:cs typeface="Arial MT"/>
              </a:rPr>
              <a:t> </a:t>
            </a:r>
            <a:r>
              <a:rPr lang="en-GB" sz="2800" dirty="0">
                <a:latin typeface="Arial MT"/>
                <a:cs typeface="Arial MT"/>
              </a:rPr>
              <a:t>to</a:t>
            </a:r>
            <a:r>
              <a:rPr lang="en-GB" sz="2800" spc="-55" dirty="0">
                <a:latin typeface="Arial MT"/>
                <a:cs typeface="Arial MT"/>
              </a:rPr>
              <a:t> </a:t>
            </a:r>
            <a:r>
              <a:rPr lang="en-GB" sz="2800" dirty="0">
                <a:latin typeface="Arial MT"/>
                <a:cs typeface="Arial MT"/>
              </a:rPr>
              <a:t>rapidly</a:t>
            </a:r>
            <a:r>
              <a:rPr lang="en-GB" sz="2800" spc="-30" dirty="0">
                <a:latin typeface="Arial MT"/>
                <a:cs typeface="Arial MT"/>
              </a:rPr>
              <a:t> </a:t>
            </a:r>
            <a:r>
              <a:rPr lang="en-GB" sz="2800" dirty="0">
                <a:latin typeface="Arial MT"/>
                <a:cs typeface="Arial MT"/>
              </a:rPr>
              <a:t>acquire</a:t>
            </a:r>
            <a:r>
              <a:rPr lang="en-GB" sz="2800" spc="-35" dirty="0">
                <a:latin typeface="Arial MT"/>
                <a:cs typeface="Arial MT"/>
              </a:rPr>
              <a:t> </a:t>
            </a:r>
            <a:r>
              <a:rPr lang="en-GB" sz="2800" dirty="0">
                <a:latin typeface="Arial MT"/>
                <a:cs typeface="Arial MT"/>
              </a:rPr>
              <a:t>a</a:t>
            </a:r>
            <a:r>
              <a:rPr lang="en-GB" sz="2800" spc="-65" dirty="0">
                <a:latin typeface="Arial MT"/>
                <a:cs typeface="Arial MT"/>
              </a:rPr>
              <a:t> </a:t>
            </a:r>
            <a:r>
              <a:rPr lang="en-GB" sz="2800" dirty="0">
                <a:latin typeface="Arial MT"/>
                <a:cs typeface="Arial MT"/>
              </a:rPr>
              <a:t>significant</a:t>
            </a:r>
            <a:r>
              <a:rPr lang="en-GB" sz="2800" spc="-30" dirty="0">
                <a:latin typeface="Arial MT"/>
                <a:cs typeface="Arial MT"/>
              </a:rPr>
              <a:t> </a:t>
            </a:r>
            <a:r>
              <a:rPr lang="en-GB" sz="2800" dirty="0">
                <a:latin typeface="Arial MT"/>
                <a:cs typeface="Arial MT"/>
              </a:rPr>
              <a:t>user</a:t>
            </a:r>
            <a:r>
              <a:rPr lang="en-GB" sz="2800" spc="-60" dirty="0">
                <a:latin typeface="Arial MT"/>
                <a:cs typeface="Arial MT"/>
              </a:rPr>
              <a:t> </a:t>
            </a:r>
            <a:r>
              <a:rPr lang="en-GB" sz="2800" dirty="0">
                <a:latin typeface="Arial MT"/>
                <a:cs typeface="Arial MT"/>
              </a:rPr>
              <a:t>base</a:t>
            </a:r>
            <a:r>
              <a:rPr lang="en-GB" sz="2800" spc="-55" dirty="0">
                <a:latin typeface="Arial MT"/>
                <a:cs typeface="Arial MT"/>
              </a:rPr>
              <a:t> </a:t>
            </a:r>
            <a:r>
              <a:rPr lang="en-GB" sz="2800" dirty="0">
                <a:latin typeface="Arial MT"/>
                <a:cs typeface="Arial MT"/>
              </a:rPr>
              <a:t>and</a:t>
            </a:r>
            <a:r>
              <a:rPr lang="en-GB" sz="2800" spc="-45" dirty="0">
                <a:latin typeface="Arial MT"/>
                <a:cs typeface="Arial MT"/>
              </a:rPr>
              <a:t> </a:t>
            </a:r>
            <a:r>
              <a:rPr lang="en-GB" sz="2800" spc="-10" dirty="0">
                <a:latin typeface="Arial MT"/>
                <a:cs typeface="Arial MT"/>
              </a:rPr>
              <a:t>broad 	</a:t>
            </a:r>
            <a:r>
              <a:rPr lang="en-GB" sz="2800" dirty="0">
                <a:latin typeface="Arial MT"/>
                <a:cs typeface="Arial MT"/>
              </a:rPr>
              <a:t>geographic</a:t>
            </a:r>
            <a:r>
              <a:rPr lang="en-GB" sz="2800" spc="-20" dirty="0">
                <a:latin typeface="Arial MT"/>
                <a:cs typeface="Arial MT"/>
              </a:rPr>
              <a:t> </a:t>
            </a:r>
            <a:r>
              <a:rPr lang="en-GB" sz="2800" dirty="0">
                <a:latin typeface="Arial MT"/>
                <a:cs typeface="Arial MT"/>
              </a:rPr>
              <a:t>penetration</a:t>
            </a:r>
            <a:r>
              <a:rPr lang="en-GB" sz="2800" spc="-45" dirty="0">
                <a:latin typeface="Arial MT"/>
                <a:cs typeface="Arial MT"/>
              </a:rPr>
              <a:t> </a:t>
            </a:r>
            <a:r>
              <a:rPr lang="en-GB" sz="2800" dirty="0">
                <a:latin typeface="Arial MT"/>
                <a:cs typeface="Arial MT"/>
              </a:rPr>
              <a:t>in</a:t>
            </a:r>
            <a:r>
              <a:rPr lang="en-GB" sz="2800" spc="-45" dirty="0">
                <a:latin typeface="Arial MT"/>
                <a:cs typeface="Arial MT"/>
              </a:rPr>
              <a:t> </a:t>
            </a:r>
            <a:r>
              <a:rPr lang="en-GB" sz="2800" dirty="0">
                <a:latin typeface="Arial MT"/>
                <a:cs typeface="Arial MT"/>
              </a:rPr>
              <a:t>just</a:t>
            </a:r>
            <a:r>
              <a:rPr lang="en-GB" sz="2800" spc="-70" dirty="0">
                <a:latin typeface="Arial MT"/>
                <a:cs typeface="Arial MT"/>
              </a:rPr>
              <a:t> </a:t>
            </a:r>
            <a:r>
              <a:rPr lang="en-GB" sz="2800" dirty="0">
                <a:latin typeface="Arial MT"/>
                <a:cs typeface="Arial MT"/>
              </a:rPr>
              <a:t>a</a:t>
            </a:r>
            <a:r>
              <a:rPr lang="en-GB" sz="2800" spc="-50" dirty="0">
                <a:latin typeface="Arial MT"/>
                <a:cs typeface="Arial MT"/>
              </a:rPr>
              <a:t> </a:t>
            </a:r>
            <a:r>
              <a:rPr lang="en-GB" sz="2800" dirty="0">
                <a:latin typeface="Arial MT"/>
                <a:cs typeface="Arial MT"/>
              </a:rPr>
              <a:t>few</a:t>
            </a:r>
            <a:r>
              <a:rPr lang="en-GB" sz="2800" spc="-50" dirty="0">
                <a:latin typeface="Arial MT"/>
                <a:cs typeface="Arial MT"/>
              </a:rPr>
              <a:t> </a:t>
            </a:r>
            <a:r>
              <a:rPr lang="en-GB" sz="2800" dirty="0">
                <a:latin typeface="Arial MT"/>
                <a:cs typeface="Arial MT"/>
              </a:rPr>
              <a:t>years,</a:t>
            </a:r>
            <a:r>
              <a:rPr lang="en-GB" sz="2800" spc="-50" dirty="0">
                <a:latin typeface="Arial MT"/>
                <a:cs typeface="Arial MT"/>
              </a:rPr>
              <a:t> </a:t>
            </a:r>
            <a:r>
              <a:rPr lang="en-GB" sz="2800" dirty="0">
                <a:latin typeface="Arial MT"/>
                <a:cs typeface="Arial MT"/>
              </a:rPr>
              <a:t>this</a:t>
            </a:r>
            <a:r>
              <a:rPr lang="en-GB" sz="2800" spc="-60" dirty="0">
                <a:latin typeface="Arial MT"/>
                <a:cs typeface="Arial MT"/>
              </a:rPr>
              <a:t> </a:t>
            </a:r>
            <a:r>
              <a:rPr lang="en-GB" sz="2800" dirty="0">
                <a:latin typeface="Arial MT"/>
                <a:cs typeface="Arial MT"/>
              </a:rPr>
              <a:t>does</a:t>
            </a:r>
            <a:r>
              <a:rPr lang="en-GB" sz="2800" spc="-45" dirty="0">
                <a:latin typeface="Arial MT"/>
                <a:cs typeface="Arial MT"/>
              </a:rPr>
              <a:t> </a:t>
            </a:r>
            <a:r>
              <a:rPr lang="en-GB" sz="2800" spc="-25" dirty="0">
                <a:latin typeface="Arial MT"/>
                <a:cs typeface="Arial MT"/>
              </a:rPr>
              <a:t>not 	</a:t>
            </a:r>
            <a:r>
              <a:rPr lang="en-GB" sz="2800" dirty="0">
                <a:latin typeface="Arial MT"/>
                <a:cs typeface="Arial MT"/>
              </a:rPr>
              <a:t>mean</a:t>
            </a:r>
            <a:r>
              <a:rPr lang="en-GB" sz="2800" spc="-45" dirty="0">
                <a:latin typeface="Arial MT"/>
                <a:cs typeface="Arial MT"/>
              </a:rPr>
              <a:t> </a:t>
            </a:r>
            <a:r>
              <a:rPr lang="en-GB" sz="2800" dirty="0">
                <a:latin typeface="Arial MT"/>
                <a:cs typeface="Arial MT"/>
              </a:rPr>
              <a:t>starting</a:t>
            </a:r>
            <a:r>
              <a:rPr lang="en-GB" sz="2800" spc="-55" dirty="0">
                <a:latin typeface="Arial MT"/>
                <a:cs typeface="Arial MT"/>
              </a:rPr>
              <a:t> </a:t>
            </a:r>
            <a:r>
              <a:rPr lang="en-GB" sz="2800" dirty="0">
                <a:latin typeface="Arial MT"/>
                <a:cs typeface="Arial MT"/>
              </a:rPr>
              <a:t>such</a:t>
            </a:r>
            <a:r>
              <a:rPr lang="en-GB" sz="2800" spc="-40" dirty="0">
                <a:latin typeface="Arial MT"/>
                <a:cs typeface="Arial MT"/>
              </a:rPr>
              <a:t> </a:t>
            </a:r>
            <a:r>
              <a:rPr lang="en-GB" sz="2800" dirty="0">
                <a:latin typeface="Arial MT"/>
                <a:cs typeface="Arial MT"/>
              </a:rPr>
              <a:t>fintech</a:t>
            </a:r>
            <a:r>
              <a:rPr lang="en-GB" sz="2800" spc="-45" dirty="0">
                <a:latin typeface="Arial MT"/>
                <a:cs typeface="Arial MT"/>
              </a:rPr>
              <a:t> </a:t>
            </a:r>
            <a:r>
              <a:rPr lang="en-GB" sz="2800" dirty="0">
                <a:latin typeface="Arial MT"/>
                <a:cs typeface="Arial MT"/>
              </a:rPr>
              <a:t>businesses</a:t>
            </a:r>
            <a:r>
              <a:rPr lang="en-GB" sz="2800" spc="-20" dirty="0">
                <a:latin typeface="Arial MT"/>
                <a:cs typeface="Arial MT"/>
              </a:rPr>
              <a:t> </a:t>
            </a:r>
            <a:r>
              <a:rPr lang="en-GB" sz="2800" dirty="0">
                <a:latin typeface="Arial MT"/>
                <a:cs typeface="Arial MT"/>
              </a:rPr>
              <a:t>is</a:t>
            </a:r>
            <a:r>
              <a:rPr lang="en-GB" sz="2800" spc="-45" dirty="0">
                <a:latin typeface="Arial MT"/>
                <a:cs typeface="Arial MT"/>
              </a:rPr>
              <a:t> </a:t>
            </a:r>
            <a:r>
              <a:rPr lang="en-GB" sz="2800" dirty="0">
                <a:latin typeface="Arial MT"/>
                <a:cs typeface="Arial MT"/>
              </a:rPr>
              <a:t>easy,</a:t>
            </a:r>
            <a:r>
              <a:rPr lang="en-GB" sz="2800" spc="-40" dirty="0">
                <a:latin typeface="Arial MT"/>
                <a:cs typeface="Arial MT"/>
              </a:rPr>
              <a:t> </a:t>
            </a:r>
            <a:r>
              <a:rPr lang="en-GB" sz="2800" dirty="0">
                <a:latin typeface="Arial MT"/>
                <a:cs typeface="Arial MT"/>
              </a:rPr>
              <a:t>let</a:t>
            </a:r>
            <a:r>
              <a:rPr lang="en-GB" sz="2800" spc="-45" dirty="0">
                <a:latin typeface="Arial MT"/>
                <a:cs typeface="Arial MT"/>
              </a:rPr>
              <a:t> </a:t>
            </a:r>
            <a:r>
              <a:rPr lang="en-GB" sz="2800" spc="-10" dirty="0">
                <a:latin typeface="Arial MT"/>
                <a:cs typeface="Arial MT"/>
              </a:rPr>
              <a:t>alone 	</a:t>
            </a:r>
            <a:r>
              <a:rPr lang="en-GB" sz="2800" dirty="0">
                <a:latin typeface="Arial MT"/>
                <a:cs typeface="Arial MT"/>
              </a:rPr>
              <a:t>scaling</a:t>
            </a:r>
            <a:r>
              <a:rPr lang="en-GB" sz="2800" spc="-50" dirty="0">
                <a:latin typeface="Arial MT"/>
                <a:cs typeface="Arial MT"/>
              </a:rPr>
              <a:t> </a:t>
            </a:r>
            <a:r>
              <a:rPr lang="en-GB" sz="2800" dirty="0">
                <a:latin typeface="Arial MT"/>
                <a:cs typeface="Arial MT"/>
              </a:rPr>
              <a:t>them.</a:t>
            </a:r>
            <a:r>
              <a:rPr lang="en-GB" sz="2800" spc="-75" dirty="0">
                <a:latin typeface="Arial MT"/>
                <a:cs typeface="Arial MT"/>
              </a:rPr>
              <a:t> </a:t>
            </a:r>
            <a:r>
              <a:rPr lang="en-GB" sz="2800" dirty="0">
                <a:latin typeface="Arial MT"/>
                <a:cs typeface="Arial MT"/>
              </a:rPr>
              <a:t>However,</a:t>
            </a:r>
            <a:r>
              <a:rPr lang="en-GB" sz="2800" spc="-50" dirty="0">
                <a:latin typeface="Arial MT"/>
                <a:cs typeface="Arial MT"/>
              </a:rPr>
              <a:t> </a:t>
            </a:r>
            <a:r>
              <a:rPr lang="en-GB" sz="2800" dirty="0">
                <a:latin typeface="Arial MT"/>
                <a:cs typeface="Arial MT"/>
              </a:rPr>
              <a:t>the</a:t>
            </a:r>
            <a:r>
              <a:rPr lang="en-GB" sz="2800" spc="-65" dirty="0">
                <a:latin typeface="Arial MT"/>
                <a:cs typeface="Arial MT"/>
              </a:rPr>
              <a:t> </a:t>
            </a:r>
            <a:r>
              <a:rPr lang="en-GB" sz="2800" dirty="0">
                <a:latin typeface="Arial MT"/>
                <a:cs typeface="Arial MT"/>
              </a:rPr>
              <a:t>nature</a:t>
            </a:r>
            <a:r>
              <a:rPr lang="en-GB" sz="2800" spc="-65" dirty="0">
                <a:latin typeface="Arial MT"/>
                <a:cs typeface="Arial MT"/>
              </a:rPr>
              <a:t> </a:t>
            </a:r>
            <a:r>
              <a:rPr lang="en-GB" sz="2800" dirty="0">
                <a:latin typeface="Arial MT"/>
                <a:cs typeface="Arial MT"/>
              </a:rPr>
              <a:t>of</a:t>
            </a:r>
            <a:r>
              <a:rPr lang="en-GB" sz="2800" spc="-65" dirty="0">
                <a:latin typeface="Arial MT"/>
                <a:cs typeface="Arial MT"/>
              </a:rPr>
              <a:t> </a:t>
            </a:r>
            <a:r>
              <a:rPr lang="en-GB" sz="2800" dirty="0">
                <a:latin typeface="Arial MT"/>
                <a:cs typeface="Arial MT"/>
              </a:rPr>
              <a:t>this</a:t>
            </a:r>
            <a:r>
              <a:rPr lang="en-GB" sz="2800" spc="-75" dirty="0">
                <a:latin typeface="Arial MT"/>
                <a:cs typeface="Arial MT"/>
              </a:rPr>
              <a:t> </a:t>
            </a:r>
            <a:r>
              <a:rPr lang="en-GB" sz="2800" dirty="0">
                <a:latin typeface="Arial MT"/>
                <a:cs typeface="Arial MT"/>
              </a:rPr>
              <a:t>challenge</a:t>
            </a:r>
            <a:r>
              <a:rPr lang="en-GB" sz="2800" spc="-30" dirty="0">
                <a:latin typeface="Arial MT"/>
                <a:cs typeface="Arial MT"/>
              </a:rPr>
              <a:t> </a:t>
            </a:r>
            <a:r>
              <a:rPr lang="en-GB" sz="2800" spc="-10" dirty="0">
                <a:latin typeface="Arial MT"/>
                <a:cs typeface="Arial MT"/>
              </a:rPr>
              <a:t>differs 	</a:t>
            </a:r>
            <a:r>
              <a:rPr lang="en-GB" sz="2800" dirty="0">
                <a:latin typeface="Arial MT"/>
                <a:cs typeface="Arial MT"/>
              </a:rPr>
              <a:t>significantly</a:t>
            </a:r>
            <a:r>
              <a:rPr lang="en-GB" sz="2800" spc="-40" dirty="0">
                <a:latin typeface="Arial MT"/>
                <a:cs typeface="Arial MT"/>
              </a:rPr>
              <a:t> </a:t>
            </a:r>
            <a:r>
              <a:rPr lang="en-GB" sz="2800" dirty="0">
                <a:latin typeface="Arial MT"/>
                <a:cs typeface="Arial MT"/>
              </a:rPr>
              <a:t>depending</a:t>
            </a:r>
            <a:r>
              <a:rPr lang="en-GB" sz="2800" spc="-35" dirty="0">
                <a:latin typeface="Arial MT"/>
                <a:cs typeface="Arial MT"/>
              </a:rPr>
              <a:t> </a:t>
            </a:r>
            <a:r>
              <a:rPr lang="en-GB" sz="2800" dirty="0">
                <a:latin typeface="Arial MT"/>
                <a:cs typeface="Arial MT"/>
              </a:rPr>
              <a:t>on</a:t>
            </a:r>
            <a:r>
              <a:rPr lang="en-GB" sz="2800" spc="-65" dirty="0">
                <a:latin typeface="Arial MT"/>
                <a:cs typeface="Arial MT"/>
              </a:rPr>
              <a:t> </a:t>
            </a:r>
            <a:r>
              <a:rPr lang="en-GB" sz="2800" dirty="0">
                <a:latin typeface="Arial MT"/>
                <a:cs typeface="Arial MT"/>
              </a:rPr>
              <a:t>if</a:t>
            </a:r>
            <a:r>
              <a:rPr lang="en-GB" sz="2800" spc="-65" dirty="0">
                <a:latin typeface="Arial MT"/>
                <a:cs typeface="Arial MT"/>
              </a:rPr>
              <a:t> </a:t>
            </a:r>
            <a:r>
              <a:rPr lang="en-GB" sz="2800" dirty="0">
                <a:latin typeface="Arial MT"/>
                <a:cs typeface="Arial MT"/>
              </a:rPr>
              <a:t>the</a:t>
            </a:r>
            <a:r>
              <a:rPr lang="en-GB" sz="2800" spc="-75" dirty="0">
                <a:latin typeface="Arial MT"/>
                <a:cs typeface="Arial MT"/>
              </a:rPr>
              <a:t> </a:t>
            </a:r>
            <a:r>
              <a:rPr lang="en-GB" sz="2800" dirty="0">
                <a:latin typeface="Arial MT"/>
                <a:cs typeface="Arial MT"/>
              </a:rPr>
              <a:t>target</a:t>
            </a:r>
            <a:r>
              <a:rPr lang="en-GB" sz="2800" spc="-75" dirty="0">
                <a:latin typeface="Arial MT"/>
                <a:cs typeface="Arial MT"/>
              </a:rPr>
              <a:t> </a:t>
            </a:r>
            <a:r>
              <a:rPr lang="en-GB" sz="2800" dirty="0">
                <a:latin typeface="Arial MT"/>
                <a:cs typeface="Arial MT"/>
              </a:rPr>
              <a:t>customers</a:t>
            </a:r>
            <a:r>
              <a:rPr lang="en-GB" sz="2800" spc="-65" dirty="0">
                <a:latin typeface="Arial MT"/>
                <a:cs typeface="Arial MT"/>
              </a:rPr>
              <a:t> </a:t>
            </a:r>
            <a:r>
              <a:rPr lang="en-GB" sz="2800" dirty="0">
                <a:latin typeface="Arial MT"/>
                <a:cs typeface="Arial MT"/>
              </a:rPr>
              <a:t>are</a:t>
            </a:r>
            <a:r>
              <a:rPr lang="en-GB" sz="2800" spc="-65" dirty="0">
                <a:latin typeface="Arial MT"/>
                <a:cs typeface="Arial MT"/>
              </a:rPr>
              <a:t> </a:t>
            </a:r>
            <a:r>
              <a:rPr lang="en-GB" sz="2800" spc="-25" dirty="0">
                <a:latin typeface="Arial MT"/>
                <a:cs typeface="Arial MT"/>
              </a:rPr>
              <a:t>end 	</a:t>
            </a:r>
            <a:r>
              <a:rPr lang="en-GB" sz="2800" dirty="0">
                <a:latin typeface="Arial MT"/>
                <a:cs typeface="Arial MT"/>
              </a:rPr>
              <a:t>consumers</a:t>
            </a:r>
            <a:r>
              <a:rPr lang="en-GB" sz="2800" spc="-45" dirty="0">
                <a:latin typeface="Arial MT"/>
                <a:cs typeface="Arial MT"/>
              </a:rPr>
              <a:t> </a:t>
            </a:r>
            <a:r>
              <a:rPr lang="en-GB" sz="2800" dirty="0">
                <a:latin typeface="Arial MT"/>
                <a:cs typeface="Arial MT"/>
              </a:rPr>
              <a:t>(B2C)</a:t>
            </a:r>
            <a:r>
              <a:rPr lang="en-GB" sz="2800" spc="-25" dirty="0">
                <a:latin typeface="Arial MT"/>
                <a:cs typeface="Arial MT"/>
              </a:rPr>
              <a:t> </a:t>
            </a:r>
            <a:r>
              <a:rPr lang="en-GB" sz="2800" dirty="0">
                <a:latin typeface="Arial MT"/>
                <a:cs typeface="Arial MT"/>
              </a:rPr>
              <a:t>or</a:t>
            </a:r>
            <a:r>
              <a:rPr lang="en-GB" sz="2800" spc="-50" dirty="0">
                <a:latin typeface="Arial MT"/>
                <a:cs typeface="Arial MT"/>
              </a:rPr>
              <a:t> </a:t>
            </a:r>
            <a:r>
              <a:rPr lang="en-GB" sz="2800" dirty="0">
                <a:latin typeface="Arial MT"/>
                <a:cs typeface="Arial MT"/>
              </a:rPr>
              <a:t>large</a:t>
            </a:r>
            <a:r>
              <a:rPr lang="en-GB" sz="2800" spc="-35" dirty="0">
                <a:latin typeface="Arial MT"/>
                <a:cs typeface="Arial MT"/>
              </a:rPr>
              <a:t> </a:t>
            </a:r>
            <a:r>
              <a:rPr lang="en-GB" sz="2800" dirty="0">
                <a:latin typeface="Arial MT"/>
                <a:cs typeface="Arial MT"/>
              </a:rPr>
              <a:t>institutions</a:t>
            </a:r>
            <a:r>
              <a:rPr lang="en-GB" sz="2800" spc="-30" dirty="0">
                <a:latin typeface="Arial MT"/>
                <a:cs typeface="Arial MT"/>
              </a:rPr>
              <a:t> </a:t>
            </a:r>
            <a:r>
              <a:rPr lang="en-GB" sz="2800" spc="-10" dirty="0">
                <a:latin typeface="Arial MT"/>
                <a:cs typeface="Arial MT"/>
              </a:rPr>
              <a:t>(B2B).</a:t>
            </a:r>
            <a:endParaRPr lang="en-GB" sz="2800" dirty="0">
              <a:latin typeface="Arial MT"/>
            </a:endParaRPr>
          </a:p>
          <a:p>
            <a:pPr marL="514350" indent="-514350" algn="just">
              <a:lnSpc>
                <a:spcPct val="200000"/>
              </a:lnSpc>
              <a:buFont typeface="Wingdings" panose="05000000000000000000" pitchFamily="2" charset="2"/>
              <a:buChar char="§"/>
            </a:pPr>
            <a:r>
              <a:rPr lang="en-GB" sz="2800" u="heavy" dirty="0">
                <a:uFill>
                  <a:solidFill>
                    <a:srgbClr val="000000"/>
                  </a:solidFill>
                </a:uFill>
                <a:latin typeface="Arial MT"/>
                <a:cs typeface="Arial MT"/>
              </a:rPr>
              <a:t>The</a:t>
            </a:r>
            <a:r>
              <a:rPr lang="en-GB" sz="2800" u="heavy" spc="-55" dirty="0">
                <a:uFill>
                  <a:solidFill>
                    <a:srgbClr val="000000"/>
                  </a:solidFill>
                </a:uFill>
                <a:latin typeface="Arial MT"/>
                <a:cs typeface="Arial MT"/>
              </a:rPr>
              <a:t> </a:t>
            </a:r>
            <a:r>
              <a:rPr lang="en-GB" sz="2800" u="heavy" dirty="0">
                <a:uFill>
                  <a:solidFill>
                    <a:srgbClr val="000000"/>
                  </a:solidFill>
                </a:uFill>
                <a:latin typeface="Arial MT"/>
                <a:cs typeface="Arial MT"/>
              </a:rPr>
              <a:t>business</a:t>
            </a:r>
            <a:r>
              <a:rPr lang="en-GB" sz="2800" u="heavy" spc="-30" dirty="0">
                <a:uFill>
                  <a:solidFill>
                    <a:srgbClr val="000000"/>
                  </a:solidFill>
                </a:uFill>
                <a:latin typeface="Arial MT"/>
                <a:cs typeface="Arial MT"/>
              </a:rPr>
              <a:t> </a:t>
            </a:r>
            <a:r>
              <a:rPr lang="en-GB" sz="2800" u="heavy" dirty="0">
                <a:uFill>
                  <a:solidFill>
                    <a:srgbClr val="000000"/>
                  </a:solidFill>
                </a:uFill>
                <a:latin typeface="Arial MT"/>
                <a:cs typeface="Arial MT"/>
              </a:rPr>
              <a:t>model</a:t>
            </a:r>
            <a:r>
              <a:rPr lang="en-GB" sz="2800" u="heavy" spc="-45" dirty="0">
                <a:uFill>
                  <a:solidFill>
                    <a:srgbClr val="000000"/>
                  </a:solidFill>
                </a:uFill>
                <a:latin typeface="Arial MT"/>
                <a:cs typeface="Arial MT"/>
              </a:rPr>
              <a:t> </a:t>
            </a:r>
            <a:r>
              <a:rPr lang="en-GB" sz="2800" u="heavy" dirty="0">
                <a:uFill>
                  <a:solidFill>
                    <a:srgbClr val="000000"/>
                  </a:solidFill>
                </a:uFill>
                <a:latin typeface="Arial MT"/>
                <a:cs typeface="Arial MT"/>
              </a:rPr>
              <a:t>of</a:t>
            </a:r>
            <a:r>
              <a:rPr lang="en-GB" sz="2800" u="heavy" spc="-50" dirty="0">
                <a:uFill>
                  <a:solidFill>
                    <a:srgbClr val="000000"/>
                  </a:solidFill>
                </a:uFill>
                <a:latin typeface="Arial MT"/>
                <a:cs typeface="Arial MT"/>
              </a:rPr>
              <a:t> </a:t>
            </a:r>
            <a:r>
              <a:rPr lang="en-GB" sz="2800" u="heavy" dirty="0">
                <a:uFill>
                  <a:solidFill>
                    <a:srgbClr val="000000"/>
                  </a:solidFill>
                </a:uFill>
                <a:latin typeface="Arial MT"/>
                <a:cs typeface="Arial MT"/>
              </a:rPr>
              <a:t>many</a:t>
            </a:r>
            <a:r>
              <a:rPr lang="en-GB" sz="2800" u="heavy" spc="-50" dirty="0">
                <a:uFill>
                  <a:solidFill>
                    <a:srgbClr val="000000"/>
                  </a:solidFill>
                </a:uFill>
                <a:latin typeface="Arial MT"/>
                <a:cs typeface="Arial MT"/>
              </a:rPr>
              <a:t> </a:t>
            </a:r>
            <a:r>
              <a:rPr lang="en-GB" sz="2800" u="heavy" dirty="0">
                <a:uFill>
                  <a:solidFill>
                    <a:srgbClr val="000000"/>
                  </a:solidFill>
                </a:uFill>
                <a:latin typeface="Arial MT"/>
                <a:cs typeface="Arial MT"/>
              </a:rPr>
              <a:t>B2C</a:t>
            </a:r>
            <a:r>
              <a:rPr lang="en-GB" sz="2800" u="heavy" spc="-55" dirty="0">
                <a:uFill>
                  <a:solidFill>
                    <a:srgbClr val="000000"/>
                  </a:solidFill>
                </a:uFill>
                <a:latin typeface="Arial MT"/>
                <a:cs typeface="Arial MT"/>
              </a:rPr>
              <a:t> </a:t>
            </a:r>
            <a:r>
              <a:rPr lang="en-GB" sz="2800" u="heavy" dirty="0">
                <a:uFill>
                  <a:solidFill>
                    <a:srgbClr val="000000"/>
                  </a:solidFill>
                </a:uFill>
                <a:latin typeface="Arial MT"/>
                <a:cs typeface="Arial MT"/>
              </a:rPr>
              <a:t>fintech</a:t>
            </a:r>
            <a:r>
              <a:rPr lang="en-GB" sz="2800" u="heavy" spc="-50" dirty="0">
                <a:uFill>
                  <a:solidFill>
                    <a:srgbClr val="000000"/>
                  </a:solidFill>
                </a:uFill>
                <a:latin typeface="Arial MT"/>
                <a:cs typeface="Arial MT"/>
              </a:rPr>
              <a:t> </a:t>
            </a:r>
            <a:r>
              <a:rPr lang="en-GB" sz="2800" u="heavy" dirty="0">
                <a:uFill>
                  <a:solidFill>
                    <a:srgbClr val="000000"/>
                  </a:solidFill>
                </a:uFill>
                <a:latin typeface="Arial MT"/>
                <a:cs typeface="Arial MT"/>
              </a:rPr>
              <a:t>startups</a:t>
            </a:r>
            <a:r>
              <a:rPr lang="en-GB" sz="2800" u="heavy" spc="-50" dirty="0">
                <a:uFill>
                  <a:solidFill>
                    <a:srgbClr val="000000"/>
                  </a:solidFill>
                </a:uFill>
                <a:latin typeface="Arial MT"/>
                <a:cs typeface="Arial MT"/>
              </a:rPr>
              <a:t> </a:t>
            </a:r>
            <a:r>
              <a:rPr lang="en-GB" sz="2800" u="heavy" spc="-10" dirty="0">
                <a:uFill>
                  <a:solidFill>
                    <a:srgbClr val="000000"/>
                  </a:solidFill>
                </a:uFill>
                <a:latin typeface="Arial MT"/>
                <a:cs typeface="Arial MT"/>
              </a:rPr>
              <a:t>requires</a:t>
            </a:r>
            <a:r>
              <a:rPr lang="en-GB" sz="2800" spc="-10" dirty="0">
                <a:latin typeface="Arial MT"/>
                <a:cs typeface="Arial MT"/>
              </a:rPr>
              <a:t> 	</a:t>
            </a:r>
            <a:r>
              <a:rPr lang="en-GB" sz="2800" u="heavy" dirty="0">
                <a:uFill>
                  <a:solidFill>
                    <a:srgbClr val="000000"/>
                  </a:solidFill>
                </a:uFill>
                <a:latin typeface="Arial MT"/>
                <a:cs typeface="Arial MT"/>
              </a:rPr>
              <a:t>them</a:t>
            </a:r>
            <a:r>
              <a:rPr lang="en-GB" sz="2800" u="heavy" spc="-50" dirty="0">
                <a:uFill>
                  <a:solidFill>
                    <a:srgbClr val="000000"/>
                  </a:solidFill>
                </a:uFill>
                <a:latin typeface="Arial MT"/>
                <a:cs typeface="Arial MT"/>
              </a:rPr>
              <a:t> </a:t>
            </a:r>
            <a:r>
              <a:rPr lang="en-GB" sz="2800" u="heavy" dirty="0">
                <a:uFill>
                  <a:solidFill>
                    <a:srgbClr val="000000"/>
                  </a:solidFill>
                </a:uFill>
                <a:latin typeface="Arial MT"/>
                <a:cs typeface="Arial MT"/>
              </a:rPr>
              <a:t>to</a:t>
            </a:r>
            <a:r>
              <a:rPr lang="en-GB" sz="2800" u="heavy" spc="-65" dirty="0">
                <a:uFill>
                  <a:solidFill>
                    <a:srgbClr val="000000"/>
                  </a:solidFill>
                </a:uFill>
                <a:latin typeface="Arial MT"/>
                <a:cs typeface="Arial MT"/>
              </a:rPr>
              <a:t> </a:t>
            </a:r>
            <a:r>
              <a:rPr lang="en-GB" sz="2800" u="heavy" dirty="0">
                <a:uFill>
                  <a:solidFill>
                    <a:srgbClr val="000000"/>
                  </a:solidFill>
                </a:uFill>
                <a:latin typeface="Arial MT"/>
                <a:cs typeface="Arial MT"/>
              </a:rPr>
              <a:t>build</a:t>
            </a:r>
            <a:r>
              <a:rPr lang="en-GB" sz="2800" u="heavy" spc="-40" dirty="0">
                <a:uFill>
                  <a:solidFill>
                    <a:srgbClr val="000000"/>
                  </a:solidFill>
                </a:uFill>
                <a:latin typeface="Arial MT"/>
                <a:cs typeface="Arial MT"/>
              </a:rPr>
              <a:t> </a:t>
            </a:r>
            <a:r>
              <a:rPr lang="en-GB" sz="2800" u="heavy" dirty="0">
                <a:uFill>
                  <a:solidFill>
                    <a:srgbClr val="000000"/>
                  </a:solidFill>
                </a:uFill>
                <a:latin typeface="Arial MT"/>
                <a:cs typeface="Arial MT"/>
              </a:rPr>
              <a:t>an</a:t>
            </a:r>
            <a:r>
              <a:rPr lang="en-GB" sz="2800" u="heavy" spc="-55" dirty="0">
                <a:uFill>
                  <a:solidFill>
                    <a:srgbClr val="000000"/>
                  </a:solidFill>
                </a:uFill>
                <a:latin typeface="Arial MT"/>
                <a:cs typeface="Arial MT"/>
              </a:rPr>
              <a:t> </a:t>
            </a:r>
            <a:r>
              <a:rPr lang="en-GB" sz="2800" u="heavy" dirty="0">
                <a:uFill>
                  <a:solidFill>
                    <a:srgbClr val="000000"/>
                  </a:solidFill>
                </a:uFill>
                <a:latin typeface="Arial MT"/>
                <a:cs typeface="Arial MT"/>
              </a:rPr>
              <a:t>enormous</a:t>
            </a:r>
            <a:r>
              <a:rPr lang="en-GB" sz="2800" u="heavy" spc="-40" dirty="0">
                <a:uFill>
                  <a:solidFill>
                    <a:srgbClr val="000000"/>
                  </a:solidFill>
                </a:uFill>
                <a:latin typeface="Arial MT"/>
                <a:cs typeface="Arial MT"/>
              </a:rPr>
              <a:t> </a:t>
            </a:r>
            <a:r>
              <a:rPr lang="en-GB" sz="2800" u="heavy" dirty="0">
                <a:uFill>
                  <a:solidFill>
                    <a:srgbClr val="000000"/>
                  </a:solidFill>
                </a:uFill>
                <a:latin typeface="Arial MT"/>
                <a:cs typeface="Arial MT"/>
              </a:rPr>
              <a:t>customer</a:t>
            </a:r>
            <a:r>
              <a:rPr lang="en-GB" sz="2800" u="heavy" spc="-55" dirty="0">
                <a:uFill>
                  <a:solidFill>
                    <a:srgbClr val="000000"/>
                  </a:solidFill>
                </a:uFill>
                <a:latin typeface="Arial MT"/>
                <a:cs typeface="Arial MT"/>
              </a:rPr>
              <a:t> </a:t>
            </a:r>
            <a:r>
              <a:rPr lang="en-GB" sz="2800" u="heavy" dirty="0">
                <a:uFill>
                  <a:solidFill>
                    <a:srgbClr val="000000"/>
                  </a:solidFill>
                </a:uFill>
                <a:latin typeface="Arial MT"/>
                <a:cs typeface="Arial MT"/>
              </a:rPr>
              <a:t>base</a:t>
            </a:r>
            <a:r>
              <a:rPr lang="en-GB" sz="2800" u="heavy" spc="-45" dirty="0">
                <a:uFill>
                  <a:solidFill>
                    <a:srgbClr val="000000"/>
                  </a:solidFill>
                </a:uFill>
                <a:latin typeface="Arial MT"/>
                <a:cs typeface="Arial MT"/>
              </a:rPr>
              <a:t> </a:t>
            </a:r>
            <a:r>
              <a:rPr lang="en-GB" sz="2800" u="heavy" dirty="0">
                <a:uFill>
                  <a:solidFill>
                    <a:srgbClr val="000000"/>
                  </a:solidFill>
                </a:uFill>
                <a:latin typeface="Arial MT"/>
                <a:cs typeface="Arial MT"/>
              </a:rPr>
              <a:t>to</a:t>
            </a:r>
            <a:r>
              <a:rPr lang="en-GB" sz="2800" u="heavy" spc="-50" dirty="0">
                <a:uFill>
                  <a:solidFill>
                    <a:srgbClr val="000000"/>
                  </a:solidFill>
                </a:uFill>
                <a:latin typeface="Arial MT"/>
                <a:cs typeface="Arial MT"/>
              </a:rPr>
              <a:t> </a:t>
            </a:r>
            <a:r>
              <a:rPr lang="en-GB" sz="2800" u="heavy" spc="-10" dirty="0">
                <a:uFill>
                  <a:solidFill>
                    <a:srgbClr val="000000"/>
                  </a:solidFill>
                </a:uFill>
                <a:latin typeface="Arial MT"/>
                <a:cs typeface="Arial MT"/>
              </a:rPr>
              <a:t>achieve</a:t>
            </a:r>
            <a:r>
              <a:rPr lang="en-GB" sz="2800" spc="-10" dirty="0">
                <a:latin typeface="Arial MT"/>
                <a:cs typeface="Arial MT"/>
              </a:rPr>
              <a:t> 	</a:t>
            </a:r>
            <a:r>
              <a:rPr lang="en-GB" sz="2800" u="heavy" spc="-10" dirty="0">
                <a:uFill>
                  <a:solidFill>
                    <a:srgbClr val="000000"/>
                  </a:solidFill>
                </a:uFill>
                <a:latin typeface="Arial MT"/>
                <a:cs typeface="Arial MT"/>
              </a:rPr>
              <a:t>profitability.</a:t>
            </a:r>
            <a:endParaRPr lang="en-GB" sz="2800" dirty="0">
              <a:latin typeface="Arial MT"/>
              <a:cs typeface="Arial MT"/>
            </a:endParaRPr>
          </a:p>
          <a:p>
            <a:pPr marL="514350" indent="-514350" algn="just">
              <a:lnSpc>
                <a:spcPct val="200000"/>
              </a:lnSpc>
              <a:buFont typeface="Wingdings" panose="05000000000000000000" pitchFamily="2" charset="2"/>
              <a:buChar char="§"/>
            </a:pPr>
            <a:endParaRPr lang="en-GB" sz="2800" dirty="0">
              <a:latin typeface="Arial MT"/>
              <a:cs typeface="Arial MT"/>
            </a:endParaRPr>
          </a:p>
          <a:p>
            <a:pPr marL="514350" indent="-514350" algn="just">
              <a:lnSpc>
                <a:spcPct val="200000"/>
              </a:lnSpc>
              <a:buFont typeface="Wingdings" panose="05000000000000000000" pitchFamily="2" charset="2"/>
              <a:buChar char="§"/>
            </a:pPr>
            <a:endParaRPr lang="en-US" sz="2800" dirty="0">
              <a:latin typeface="Arial MT"/>
              <a:cs typeface="Arial MT"/>
            </a:endParaRPr>
          </a:p>
        </p:txBody>
      </p:sp>
    </p:spTree>
    <p:extLst>
      <p:ext uri="{BB962C8B-B14F-4D97-AF65-F5344CB8AC3E}">
        <p14:creationId xmlns:p14="http://schemas.microsoft.com/office/powerpoint/2010/main" val="180944944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9481C-D3E0-5E2C-0264-91E41D0E4F1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F216A0A-8093-0187-C6A6-3780CFE442D8}"/>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DC30D7C-A215-D25E-4413-B403C64CE7D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820C20E-F14A-B434-27D4-05F6699CB425}"/>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432B3C0C-5983-1594-3C38-92504E34D184}"/>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6544C269-BE03-236B-3DD4-9F80F3A076A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869353D-556E-6E54-1FEE-6FDD32BC4F4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55</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805757CD-E081-34ED-7DF9-38BA9EE37852}"/>
              </a:ext>
            </a:extLst>
          </p:cNvPr>
          <p:cNvSpPr txBox="1"/>
          <p:nvPr/>
        </p:nvSpPr>
        <p:spPr>
          <a:xfrm>
            <a:off x="756447" y="1795676"/>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Take</a:t>
            </a:r>
            <a:r>
              <a:rPr lang="en-GB" sz="2800" spc="-55" dirty="0"/>
              <a:t> </a:t>
            </a:r>
            <a:r>
              <a:rPr lang="en-GB" sz="2800" dirty="0"/>
              <a:t>digital</a:t>
            </a:r>
            <a:r>
              <a:rPr lang="en-GB" sz="2800" spc="-30" dirty="0"/>
              <a:t> </a:t>
            </a:r>
            <a:r>
              <a:rPr lang="en-GB" sz="2800" dirty="0"/>
              <a:t>bank</a:t>
            </a:r>
            <a:r>
              <a:rPr lang="en-GB" sz="2800" spc="-35" dirty="0"/>
              <a:t> </a:t>
            </a:r>
            <a:r>
              <a:rPr lang="en-GB" sz="2800" dirty="0"/>
              <a:t>Revolut</a:t>
            </a:r>
            <a:r>
              <a:rPr lang="en-GB" sz="2800" spc="-25" dirty="0"/>
              <a:t> </a:t>
            </a:r>
            <a:r>
              <a:rPr lang="en-GB" sz="2800" dirty="0"/>
              <a:t>as</a:t>
            </a:r>
            <a:r>
              <a:rPr lang="en-GB" sz="2800" spc="-45" dirty="0"/>
              <a:t> </a:t>
            </a:r>
            <a:r>
              <a:rPr lang="en-GB" sz="2800" dirty="0"/>
              <a:t>an</a:t>
            </a:r>
            <a:r>
              <a:rPr lang="en-GB" sz="2800" spc="-55" dirty="0"/>
              <a:t> </a:t>
            </a:r>
            <a:r>
              <a:rPr lang="en-GB" sz="2800" dirty="0"/>
              <a:t>example.</a:t>
            </a:r>
            <a:r>
              <a:rPr lang="en-GB" sz="2800" spc="-15" dirty="0"/>
              <a:t> </a:t>
            </a:r>
            <a:r>
              <a:rPr lang="en-GB" sz="2800" u="heavy" dirty="0">
                <a:uFill>
                  <a:solidFill>
                    <a:srgbClr val="000000"/>
                  </a:solidFill>
                </a:uFill>
              </a:rPr>
              <a:t>To</a:t>
            </a:r>
            <a:r>
              <a:rPr lang="en-GB" sz="2800" u="heavy" spc="-55" dirty="0">
                <a:uFill>
                  <a:solidFill>
                    <a:srgbClr val="000000"/>
                  </a:solidFill>
                </a:uFill>
              </a:rPr>
              <a:t> </a:t>
            </a:r>
            <a:r>
              <a:rPr lang="en-GB" sz="2800" u="heavy" dirty="0">
                <a:uFill>
                  <a:solidFill>
                    <a:srgbClr val="000000"/>
                  </a:solidFill>
                </a:uFill>
              </a:rPr>
              <a:t>fuel</a:t>
            </a:r>
            <a:r>
              <a:rPr lang="en-GB" sz="2800" u="heavy" spc="-50" dirty="0">
                <a:uFill>
                  <a:solidFill>
                    <a:srgbClr val="000000"/>
                  </a:solidFill>
                </a:uFill>
              </a:rPr>
              <a:t> </a:t>
            </a:r>
            <a:r>
              <a:rPr lang="en-GB" sz="2800" u="heavy" spc="-25" dirty="0">
                <a:uFill>
                  <a:solidFill>
                    <a:srgbClr val="000000"/>
                  </a:solidFill>
                </a:uFill>
              </a:rPr>
              <a:t>its </a:t>
            </a:r>
            <a:r>
              <a:rPr lang="en-GB" sz="2800" u="heavy" dirty="0">
                <a:uFill>
                  <a:solidFill>
                    <a:srgbClr val="000000"/>
                  </a:solidFill>
                </a:uFill>
              </a:rPr>
              <a:t>growth,</a:t>
            </a:r>
            <a:r>
              <a:rPr lang="en-GB" sz="2800" u="heavy" spc="-55" dirty="0">
                <a:uFill>
                  <a:solidFill>
                    <a:srgbClr val="000000"/>
                  </a:solidFill>
                </a:uFill>
              </a:rPr>
              <a:t> </a:t>
            </a:r>
            <a:r>
              <a:rPr lang="en-GB" sz="2800" u="heavy" dirty="0">
                <a:uFill>
                  <a:solidFill>
                    <a:srgbClr val="000000"/>
                  </a:solidFill>
                </a:uFill>
              </a:rPr>
              <a:t>acquire</a:t>
            </a:r>
            <a:r>
              <a:rPr lang="en-GB" sz="2800" u="heavy" spc="-40" dirty="0">
                <a:uFill>
                  <a:solidFill>
                    <a:srgbClr val="000000"/>
                  </a:solidFill>
                </a:uFill>
              </a:rPr>
              <a:t> </a:t>
            </a:r>
            <a:r>
              <a:rPr lang="en-GB" sz="2800" u="heavy" dirty="0">
                <a:uFill>
                  <a:solidFill>
                    <a:srgbClr val="000000"/>
                  </a:solidFill>
                </a:uFill>
              </a:rPr>
              <a:t>clients,</a:t>
            </a:r>
            <a:r>
              <a:rPr lang="en-GB" sz="2800" u="heavy" spc="-50" dirty="0">
                <a:uFill>
                  <a:solidFill>
                    <a:srgbClr val="000000"/>
                  </a:solidFill>
                </a:uFill>
              </a:rPr>
              <a:t> </a:t>
            </a:r>
            <a:r>
              <a:rPr lang="en-GB" sz="2800" u="heavy" dirty="0">
                <a:uFill>
                  <a:solidFill>
                    <a:srgbClr val="000000"/>
                  </a:solidFill>
                </a:uFill>
              </a:rPr>
              <a:t>and</a:t>
            </a:r>
            <a:r>
              <a:rPr lang="en-GB" sz="2800" u="heavy" spc="-50" dirty="0">
                <a:uFill>
                  <a:solidFill>
                    <a:srgbClr val="000000"/>
                  </a:solidFill>
                </a:uFill>
              </a:rPr>
              <a:t> </a:t>
            </a:r>
            <a:r>
              <a:rPr lang="en-GB" sz="2800" u="heavy" dirty="0">
                <a:uFill>
                  <a:solidFill>
                    <a:srgbClr val="000000"/>
                  </a:solidFill>
                </a:uFill>
              </a:rPr>
              <a:t>be</a:t>
            </a:r>
            <a:r>
              <a:rPr lang="en-GB" sz="2800" u="heavy" spc="-55" dirty="0">
                <a:uFill>
                  <a:solidFill>
                    <a:srgbClr val="000000"/>
                  </a:solidFill>
                </a:uFill>
              </a:rPr>
              <a:t> </a:t>
            </a:r>
            <a:r>
              <a:rPr lang="en-GB" sz="2800" u="heavy" dirty="0">
                <a:uFill>
                  <a:solidFill>
                    <a:srgbClr val="000000"/>
                  </a:solidFill>
                </a:uFill>
              </a:rPr>
              <a:t>able</a:t>
            </a:r>
            <a:r>
              <a:rPr lang="en-GB" sz="2800" u="heavy" spc="-45" dirty="0">
                <a:uFill>
                  <a:solidFill>
                    <a:srgbClr val="000000"/>
                  </a:solidFill>
                </a:uFill>
              </a:rPr>
              <a:t> </a:t>
            </a:r>
            <a:r>
              <a:rPr lang="en-GB" sz="2800" u="heavy" dirty="0">
                <a:uFill>
                  <a:solidFill>
                    <a:srgbClr val="000000"/>
                  </a:solidFill>
                </a:uFill>
              </a:rPr>
              <a:t>to</a:t>
            </a:r>
            <a:r>
              <a:rPr lang="en-GB" sz="2800" u="heavy" spc="-55" dirty="0">
                <a:uFill>
                  <a:solidFill>
                    <a:srgbClr val="000000"/>
                  </a:solidFill>
                </a:uFill>
              </a:rPr>
              <a:t> </a:t>
            </a:r>
            <a:r>
              <a:rPr lang="en-GB" sz="2800" u="heavy" dirty="0">
                <a:uFill>
                  <a:solidFill>
                    <a:srgbClr val="000000"/>
                  </a:solidFill>
                </a:uFill>
              </a:rPr>
              <a:t>offer</a:t>
            </a:r>
            <a:r>
              <a:rPr lang="en-GB" sz="2800" u="heavy" spc="-70" dirty="0">
                <a:uFill>
                  <a:solidFill>
                    <a:srgbClr val="000000"/>
                  </a:solidFill>
                </a:uFill>
              </a:rPr>
              <a:t> </a:t>
            </a:r>
            <a:r>
              <a:rPr lang="en-GB" sz="2800" u="heavy" dirty="0">
                <a:uFill>
                  <a:solidFill>
                    <a:srgbClr val="000000"/>
                  </a:solidFill>
                </a:uFill>
              </a:rPr>
              <a:t>products</a:t>
            </a:r>
            <a:r>
              <a:rPr lang="en-GB" sz="2800" u="heavy" spc="-55" dirty="0">
                <a:uFill>
                  <a:solidFill>
                    <a:srgbClr val="000000"/>
                  </a:solidFill>
                </a:uFill>
              </a:rPr>
              <a:t> </a:t>
            </a:r>
            <a:r>
              <a:rPr lang="en-GB" sz="2800" u="heavy" spc="-25" dirty="0">
                <a:uFill>
                  <a:solidFill>
                    <a:srgbClr val="000000"/>
                  </a:solidFill>
                </a:uFill>
              </a:rPr>
              <a:t>at</a:t>
            </a:r>
            <a:r>
              <a:rPr lang="en-GB" sz="2800" spc="-25" dirty="0"/>
              <a:t> </a:t>
            </a:r>
            <a:r>
              <a:rPr lang="en-GB" sz="2800" u="heavy" dirty="0">
                <a:uFill>
                  <a:solidFill>
                    <a:srgbClr val="000000"/>
                  </a:solidFill>
                </a:uFill>
              </a:rPr>
              <a:t>highly</a:t>
            </a:r>
            <a:r>
              <a:rPr lang="en-GB" sz="2800" u="heavy" spc="-30" dirty="0">
                <a:uFill>
                  <a:solidFill>
                    <a:srgbClr val="000000"/>
                  </a:solidFill>
                </a:uFill>
              </a:rPr>
              <a:t> </a:t>
            </a:r>
            <a:r>
              <a:rPr lang="en-GB" sz="2800" u="heavy" dirty="0">
                <a:uFill>
                  <a:solidFill>
                    <a:srgbClr val="000000"/>
                  </a:solidFill>
                </a:uFill>
              </a:rPr>
              <a:t>competitive</a:t>
            </a:r>
            <a:r>
              <a:rPr lang="en-GB" sz="2800" u="heavy" spc="-45" dirty="0">
                <a:uFill>
                  <a:solidFill>
                    <a:srgbClr val="000000"/>
                  </a:solidFill>
                </a:uFill>
              </a:rPr>
              <a:t> </a:t>
            </a:r>
            <a:r>
              <a:rPr lang="en-GB" sz="2800" u="heavy" dirty="0">
                <a:uFill>
                  <a:solidFill>
                    <a:srgbClr val="000000"/>
                  </a:solidFill>
                </a:uFill>
              </a:rPr>
              <a:t>fees,</a:t>
            </a:r>
            <a:r>
              <a:rPr lang="en-GB" sz="2800" u="heavy" spc="-65" dirty="0">
                <a:uFill>
                  <a:solidFill>
                    <a:srgbClr val="000000"/>
                  </a:solidFill>
                </a:uFill>
              </a:rPr>
              <a:t> </a:t>
            </a:r>
            <a:r>
              <a:rPr lang="en-GB" sz="2800" u="heavy" dirty="0">
                <a:uFill>
                  <a:solidFill>
                    <a:srgbClr val="000000"/>
                  </a:solidFill>
                </a:uFill>
              </a:rPr>
              <a:t>the</a:t>
            </a:r>
            <a:r>
              <a:rPr lang="en-GB" sz="2800" u="heavy" spc="-50" dirty="0">
                <a:uFill>
                  <a:solidFill>
                    <a:srgbClr val="000000"/>
                  </a:solidFill>
                </a:uFill>
              </a:rPr>
              <a:t> </a:t>
            </a:r>
            <a:r>
              <a:rPr lang="en-GB" sz="2800" u="heavy" dirty="0">
                <a:uFill>
                  <a:solidFill>
                    <a:srgbClr val="000000"/>
                  </a:solidFill>
                </a:uFill>
              </a:rPr>
              <a:t>company</a:t>
            </a:r>
            <a:r>
              <a:rPr lang="en-GB" sz="2800" u="heavy" spc="-55" dirty="0">
                <a:uFill>
                  <a:solidFill>
                    <a:srgbClr val="000000"/>
                  </a:solidFill>
                </a:uFill>
              </a:rPr>
              <a:t> </a:t>
            </a:r>
            <a:r>
              <a:rPr lang="en-GB" sz="2800" u="heavy" dirty="0">
                <a:uFill>
                  <a:solidFill>
                    <a:srgbClr val="000000"/>
                  </a:solidFill>
                </a:uFill>
              </a:rPr>
              <a:t>has</a:t>
            </a:r>
            <a:r>
              <a:rPr lang="en-GB" sz="2800" u="heavy" spc="-40" dirty="0">
                <a:uFill>
                  <a:solidFill>
                    <a:srgbClr val="000000"/>
                  </a:solidFill>
                </a:uFill>
              </a:rPr>
              <a:t> </a:t>
            </a:r>
            <a:r>
              <a:rPr lang="en-GB" sz="2800" u="heavy" dirty="0">
                <a:uFill>
                  <a:solidFill>
                    <a:srgbClr val="000000"/>
                  </a:solidFill>
                </a:uFill>
              </a:rPr>
              <a:t>had</a:t>
            </a:r>
            <a:r>
              <a:rPr lang="en-GB" sz="2800" u="heavy" spc="-65" dirty="0">
                <a:uFill>
                  <a:solidFill>
                    <a:srgbClr val="000000"/>
                  </a:solidFill>
                </a:uFill>
              </a:rPr>
              <a:t> </a:t>
            </a:r>
            <a:r>
              <a:rPr lang="en-GB" sz="2800" u="heavy" dirty="0">
                <a:uFill>
                  <a:solidFill>
                    <a:srgbClr val="000000"/>
                  </a:solidFill>
                </a:uFill>
              </a:rPr>
              <a:t>to</a:t>
            </a:r>
            <a:r>
              <a:rPr lang="en-GB" sz="2800" u="heavy" spc="-60" dirty="0">
                <a:uFill>
                  <a:solidFill>
                    <a:srgbClr val="000000"/>
                  </a:solidFill>
                </a:uFill>
              </a:rPr>
              <a:t> </a:t>
            </a:r>
            <a:r>
              <a:rPr lang="en-GB" sz="2800" u="heavy" spc="-10" dirty="0">
                <a:uFill>
                  <a:solidFill>
                    <a:srgbClr val="000000"/>
                  </a:solidFill>
                </a:uFill>
              </a:rPr>
              <a:t>spend</a:t>
            </a:r>
            <a:r>
              <a:rPr lang="en-GB" sz="2800" spc="-10" dirty="0"/>
              <a:t> </a:t>
            </a:r>
            <a:r>
              <a:rPr lang="en-GB" sz="2800" u="heavy" dirty="0">
                <a:uFill>
                  <a:solidFill>
                    <a:srgbClr val="000000"/>
                  </a:solidFill>
                </a:uFill>
              </a:rPr>
              <a:t>millions</a:t>
            </a:r>
            <a:r>
              <a:rPr lang="en-GB" sz="2800" u="heavy" spc="-45" dirty="0">
                <a:uFill>
                  <a:solidFill>
                    <a:srgbClr val="000000"/>
                  </a:solidFill>
                </a:uFill>
              </a:rPr>
              <a:t> </a:t>
            </a:r>
            <a:r>
              <a:rPr lang="en-GB" sz="2800" u="heavy" dirty="0">
                <a:uFill>
                  <a:solidFill>
                    <a:srgbClr val="000000"/>
                  </a:solidFill>
                </a:uFill>
              </a:rPr>
              <a:t>(around</a:t>
            </a:r>
            <a:r>
              <a:rPr lang="en-GB" sz="2800" u="heavy" spc="-60" dirty="0">
                <a:uFill>
                  <a:solidFill>
                    <a:srgbClr val="000000"/>
                  </a:solidFill>
                </a:uFill>
              </a:rPr>
              <a:t> </a:t>
            </a:r>
            <a:r>
              <a:rPr lang="en-GB" sz="2800" u="heavy" dirty="0">
                <a:uFill>
                  <a:solidFill>
                    <a:srgbClr val="000000"/>
                  </a:solidFill>
                </a:uFill>
              </a:rPr>
              <a:t>£8</a:t>
            </a:r>
            <a:r>
              <a:rPr lang="en-GB" sz="2800" u="heavy" spc="-65" dirty="0">
                <a:uFill>
                  <a:solidFill>
                    <a:srgbClr val="000000"/>
                  </a:solidFill>
                </a:uFill>
              </a:rPr>
              <a:t> </a:t>
            </a:r>
            <a:r>
              <a:rPr lang="en-GB" sz="2800" u="heavy" dirty="0">
                <a:uFill>
                  <a:solidFill>
                    <a:srgbClr val="000000"/>
                  </a:solidFill>
                </a:uFill>
              </a:rPr>
              <a:t>million</a:t>
            </a:r>
            <a:r>
              <a:rPr lang="en-GB" sz="2800" u="heavy" spc="-45" dirty="0">
                <a:uFill>
                  <a:solidFill>
                    <a:srgbClr val="000000"/>
                  </a:solidFill>
                </a:uFill>
              </a:rPr>
              <a:t> </a:t>
            </a:r>
            <a:r>
              <a:rPr lang="en-GB" sz="2800" u="heavy" dirty="0">
                <a:uFill>
                  <a:solidFill>
                    <a:srgbClr val="000000"/>
                  </a:solidFill>
                </a:uFill>
              </a:rPr>
              <a:t>according</a:t>
            </a:r>
            <a:r>
              <a:rPr lang="en-GB" sz="2800" u="heavy" spc="-50" dirty="0">
                <a:uFill>
                  <a:solidFill>
                    <a:srgbClr val="000000"/>
                  </a:solidFill>
                </a:uFill>
              </a:rPr>
              <a:t> </a:t>
            </a:r>
            <a:r>
              <a:rPr lang="en-GB" sz="2800" u="heavy" dirty="0">
                <a:uFill>
                  <a:solidFill>
                    <a:srgbClr val="000000"/>
                  </a:solidFill>
                </a:uFill>
              </a:rPr>
              <a:t>to</a:t>
            </a:r>
            <a:r>
              <a:rPr lang="en-GB" sz="2800" u="heavy" spc="-65" dirty="0">
                <a:uFill>
                  <a:solidFill>
                    <a:srgbClr val="000000"/>
                  </a:solidFill>
                </a:uFill>
              </a:rPr>
              <a:t> </a:t>
            </a:r>
            <a:r>
              <a:rPr lang="en-GB" sz="2800" u="heavy" dirty="0">
                <a:uFill>
                  <a:solidFill>
                    <a:srgbClr val="000000"/>
                  </a:solidFill>
                </a:uFill>
              </a:rPr>
              <a:t>some</a:t>
            </a:r>
            <a:r>
              <a:rPr lang="en-GB" sz="2800" u="heavy" spc="-70" dirty="0">
                <a:uFill>
                  <a:solidFill>
                    <a:srgbClr val="000000"/>
                  </a:solidFill>
                </a:uFill>
              </a:rPr>
              <a:t> </a:t>
            </a:r>
            <a:r>
              <a:rPr lang="en-GB" sz="2800" u="heavy" dirty="0">
                <a:uFill>
                  <a:solidFill>
                    <a:srgbClr val="000000"/>
                  </a:solidFill>
                </a:uFill>
              </a:rPr>
              <a:t>reports)</a:t>
            </a:r>
            <a:r>
              <a:rPr lang="en-GB" sz="2800" u="heavy" spc="-80" dirty="0">
                <a:uFill>
                  <a:solidFill>
                    <a:srgbClr val="000000"/>
                  </a:solidFill>
                </a:uFill>
              </a:rPr>
              <a:t> </a:t>
            </a:r>
            <a:r>
              <a:rPr lang="en-GB" sz="2800" u="heavy" spc="-25" dirty="0">
                <a:uFill>
                  <a:solidFill>
                    <a:srgbClr val="000000"/>
                  </a:solidFill>
                </a:uFill>
              </a:rPr>
              <a:t>and</a:t>
            </a:r>
            <a:r>
              <a:rPr lang="en-GB" sz="2800" spc="-25" dirty="0"/>
              <a:t> </a:t>
            </a:r>
            <a:r>
              <a:rPr lang="en-GB" sz="2800" u="heavy" dirty="0">
                <a:uFill>
                  <a:solidFill>
                    <a:srgbClr val="000000"/>
                  </a:solidFill>
                </a:uFill>
              </a:rPr>
              <a:t>has</a:t>
            </a:r>
            <a:r>
              <a:rPr lang="en-GB" sz="2800" u="heavy" spc="-45" dirty="0">
                <a:uFill>
                  <a:solidFill>
                    <a:srgbClr val="000000"/>
                  </a:solidFill>
                </a:uFill>
              </a:rPr>
              <a:t> </a:t>
            </a:r>
            <a:r>
              <a:rPr lang="en-GB" sz="2800" u="heavy" dirty="0">
                <a:uFill>
                  <a:solidFill>
                    <a:srgbClr val="000000"/>
                  </a:solidFill>
                </a:uFill>
              </a:rPr>
              <a:t>not</a:t>
            </a:r>
            <a:r>
              <a:rPr lang="en-GB" sz="2800" u="heavy" spc="-55" dirty="0">
                <a:uFill>
                  <a:solidFill>
                    <a:srgbClr val="000000"/>
                  </a:solidFill>
                </a:uFill>
              </a:rPr>
              <a:t> </a:t>
            </a:r>
            <a:r>
              <a:rPr lang="en-GB" sz="2800" u="heavy" dirty="0">
                <a:uFill>
                  <a:solidFill>
                    <a:srgbClr val="000000"/>
                  </a:solidFill>
                </a:uFill>
              </a:rPr>
              <a:t>yet</a:t>
            </a:r>
            <a:r>
              <a:rPr lang="en-GB" sz="2800" u="heavy" spc="-55" dirty="0">
                <a:uFill>
                  <a:solidFill>
                    <a:srgbClr val="000000"/>
                  </a:solidFill>
                </a:uFill>
              </a:rPr>
              <a:t> </a:t>
            </a:r>
            <a:r>
              <a:rPr lang="en-GB" sz="2800" u="heavy" dirty="0">
                <a:uFill>
                  <a:solidFill>
                    <a:srgbClr val="000000"/>
                  </a:solidFill>
                </a:uFill>
              </a:rPr>
              <a:t>achieved</a:t>
            </a:r>
            <a:r>
              <a:rPr lang="en-GB" sz="2800" u="heavy" spc="-20" dirty="0">
                <a:uFill>
                  <a:solidFill>
                    <a:srgbClr val="000000"/>
                  </a:solidFill>
                </a:uFill>
              </a:rPr>
              <a:t> </a:t>
            </a:r>
            <a:r>
              <a:rPr lang="en-GB" sz="2800" u="heavy" dirty="0">
                <a:uFill>
                  <a:solidFill>
                    <a:srgbClr val="000000"/>
                  </a:solidFill>
                </a:uFill>
              </a:rPr>
              <a:t>profitability</a:t>
            </a:r>
            <a:r>
              <a:rPr lang="en-GB" sz="2800" dirty="0"/>
              <a:t>.</a:t>
            </a:r>
            <a:r>
              <a:rPr lang="en-GB" sz="2800" spc="-40" dirty="0"/>
              <a:t> </a:t>
            </a:r>
            <a:r>
              <a:rPr lang="en-GB" sz="2800" dirty="0"/>
              <a:t>This</a:t>
            </a:r>
            <a:r>
              <a:rPr lang="en-GB" sz="2800" spc="-40" dirty="0"/>
              <a:t> </a:t>
            </a:r>
            <a:r>
              <a:rPr lang="en-GB" sz="2800" dirty="0"/>
              <a:t>is</a:t>
            </a:r>
            <a:r>
              <a:rPr lang="en-GB" sz="2800" spc="-45" dirty="0"/>
              <a:t> </a:t>
            </a:r>
            <a:r>
              <a:rPr lang="en-GB" sz="2800" dirty="0"/>
              <a:t>only</a:t>
            </a:r>
            <a:r>
              <a:rPr lang="en-GB" sz="2800" spc="-40" dirty="0"/>
              <a:t> </a:t>
            </a:r>
            <a:r>
              <a:rPr lang="en-GB" sz="2800" dirty="0"/>
              <a:t>possible</a:t>
            </a:r>
            <a:r>
              <a:rPr lang="en-GB" sz="2800" spc="-25" dirty="0"/>
              <a:t> </a:t>
            </a:r>
            <a:r>
              <a:rPr lang="en-GB" sz="2800" dirty="0"/>
              <a:t>if</a:t>
            </a:r>
            <a:r>
              <a:rPr lang="en-GB" sz="2800" spc="-55" dirty="0"/>
              <a:t> </a:t>
            </a:r>
            <a:r>
              <a:rPr lang="en-GB" sz="2800" spc="-25" dirty="0"/>
              <a:t>the </a:t>
            </a:r>
            <a:r>
              <a:rPr lang="en-GB" sz="2800" dirty="0"/>
              <a:t>company</a:t>
            </a:r>
            <a:r>
              <a:rPr lang="en-GB" sz="2800" spc="-40" dirty="0"/>
              <a:t> </a:t>
            </a:r>
            <a:r>
              <a:rPr lang="en-GB" sz="2800" dirty="0"/>
              <a:t>has</a:t>
            </a:r>
            <a:r>
              <a:rPr lang="en-GB" sz="2800" spc="-50" dirty="0"/>
              <a:t> </a:t>
            </a:r>
            <a:r>
              <a:rPr lang="en-GB" sz="2800" dirty="0"/>
              <a:t>a</a:t>
            </a:r>
            <a:r>
              <a:rPr lang="en-GB" sz="2800" spc="-45" dirty="0"/>
              <a:t> </a:t>
            </a:r>
            <a:r>
              <a:rPr lang="en-GB" sz="2800" dirty="0"/>
              <a:t>lot</a:t>
            </a:r>
            <a:r>
              <a:rPr lang="en-GB" sz="2800" spc="-60" dirty="0"/>
              <a:t> </a:t>
            </a:r>
            <a:r>
              <a:rPr lang="en-GB" sz="2800" dirty="0"/>
              <a:t>of</a:t>
            </a:r>
            <a:r>
              <a:rPr lang="en-GB" sz="2800" spc="-45" dirty="0"/>
              <a:t> </a:t>
            </a:r>
            <a:r>
              <a:rPr lang="en-GB" sz="2800" dirty="0"/>
              <a:t>funding</a:t>
            </a:r>
            <a:r>
              <a:rPr lang="en-GB" sz="2800" spc="-30" dirty="0"/>
              <a:t> </a:t>
            </a:r>
            <a:r>
              <a:rPr lang="en-GB" sz="2800" dirty="0"/>
              <a:t>and</a:t>
            </a:r>
            <a:r>
              <a:rPr lang="en-GB" sz="2800" spc="-55" dirty="0"/>
              <a:t> </a:t>
            </a:r>
            <a:r>
              <a:rPr lang="en-GB" sz="2800" dirty="0"/>
              <a:t>patient</a:t>
            </a:r>
            <a:r>
              <a:rPr lang="en-GB" sz="2800" spc="-50" dirty="0"/>
              <a:t> </a:t>
            </a:r>
            <a:r>
              <a:rPr lang="en-GB" sz="2800" spc="-10" dirty="0"/>
              <a:t>investors.</a:t>
            </a:r>
          </a:p>
          <a:p>
            <a:pPr marL="514350" indent="-514350" algn="just">
              <a:lnSpc>
                <a:spcPct val="200000"/>
              </a:lnSpc>
              <a:buFont typeface="Wingdings" panose="05000000000000000000" pitchFamily="2" charset="2"/>
              <a:buChar char="§"/>
            </a:pPr>
            <a:endParaRPr lang="en-GB" sz="2800" dirty="0">
              <a:latin typeface="Arial MT"/>
            </a:endParaRPr>
          </a:p>
          <a:p>
            <a:pPr marL="514350" indent="-514350" algn="just">
              <a:lnSpc>
                <a:spcPct val="200000"/>
              </a:lnSpc>
              <a:buFont typeface="Wingdings" panose="05000000000000000000" pitchFamily="2" charset="2"/>
              <a:buChar char="§"/>
            </a:pPr>
            <a:r>
              <a:rPr lang="en-GB" sz="2800" u="heavy" dirty="0">
                <a:uFill>
                  <a:solidFill>
                    <a:srgbClr val="000000"/>
                  </a:solidFill>
                </a:uFill>
              </a:rPr>
              <a:t>For</a:t>
            </a:r>
            <a:r>
              <a:rPr lang="en-GB" sz="2800" u="heavy" spc="-50" dirty="0">
                <a:uFill>
                  <a:solidFill>
                    <a:srgbClr val="000000"/>
                  </a:solidFill>
                </a:uFill>
              </a:rPr>
              <a:t> </a:t>
            </a:r>
            <a:r>
              <a:rPr lang="en-GB" sz="2800" u="heavy" spc="-20" dirty="0" err="1">
                <a:uFill>
                  <a:solidFill>
                    <a:srgbClr val="000000"/>
                  </a:solidFill>
                </a:uFill>
              </a:rPr>
              <a:t>robo</a:t>
            </a:r>
            <a:r>
              <a:rPr lang="en-GB" sz="2800" u="heavy" spc="-20" dirty="0">
                <a:uFill>
                  <a:solidFill>
                    <a:srgbClr val="000000"/>
                  </a:solidFill>
                </a:uFill>
              </a:rPr>
              <a:t>-</a:t>
            </a:r>
            <a:r>
              <a:rPr lang="en-GB" sz="2800" u="heavy" dirty="0">
                <a:uFill>
                  <a:solidFill>
                    <a:srgbClr val="000000"/>
                  </a:solidFill>
                </a:uFill>
              </a:rPr>
              <a:t>advisory</a:t>
            </a:r>
            <a:r>
              <a:rPr lang="en-GB" sz="2800" u="heavy" spc="-30" dirty="0">
                <a:uFill>
                  <a:solidFill>
                    <a:srgbClr val="000000"/>
                  </a:solidFill>
                </a:uFill>
              </a:rPr>
              <a:t> </a:t>
            </a:r>
            <a:r>
              <a:rPr lang="en-GB" sz="2800" u="heavy" dirty="0">
                <a:uFill>
                  <a:solidFill>
                    <a:srgbClr val="000000"/>
                  </a:solidFill>
                </a:uFill>
              </a:rPr>
              <a:t>firms,</a:t>
            </a:r>
            <a:r>
              <a:rPr lang="en-GB" sz="2800" u="heavy" spc="-60" dirty="0">
                <a:uFill>
                  <a:solidFill>
                    <a:srgbClr val="000000"/>
                  </a:solidFill>
                </a:uFill>
              </a:rPr>
              <a:t> </a:t>
            </a:r>
            <a:r>
              <a:rPr lang="en-GB" sz="2800" u="heavy" dirty="0">
                <a:uFill>
                  <a:solidFill>
                    <a:srgbClr val="000000"/>
                  </a:solidFill>
                </a:uFill>
              </a:rPr>
              <a:t>the</a:t>
            </a:r>
            <a:r>
              <a:rPr lang="en-GB" sz="2800" u="heavy" spc="-50" dirty="0">
                <a:uFill>
                  <a:solidFill>
                    <a:srgbClr val="000000"/>
                  </a:solidFill>
                </a:uFill>
              </a:rPr>
              <a:t> </a:t>
            </a:r>
            <a:r>
              <a:rPr lang="en-GB" sz="2800" u="heavy" dirty="0">
                <a:uFill>
                  <a:solidFill>
                    <a:srgbClr val="000000"/>
                  </a:solidFill>
                </a:uFill>
              </a:rPr>
              <a:t>cost</a:t>
            </a:r>
            <a:r>
              <a:rPr lang="en-GB" sz="2800" u="heavy" spc="-50" dirty="0">
                <a:uFill>
                  <a:solidFill>
                    <a:srgbClr val="000000"/>
                  </a:solidFill>
                </a:uFill>
              </a:rPr>
              <a:t> </a:t>
            </a:r>
            <a:r>
              <a:rPr lang="en-GB" sz="2800" u="heavy" dirty="0">
                <a:uFill>
                  <a:solidFill>
                    <a:srgbClr val="000000"/>
                  </a:solidFill>
                </a:uFill>
              </a:rPr>
              <a:t>of</a:t>
            </a:r>
            <a:r>
              <a:rPr lang="en-GB" sz="2800" u="heavy" spc="-50" dirty="0">
                <a:uFill>
                  <a:solidFill>
                    <a:srgbClr val="000000"/>
                  </a:solidFill>
                </a:uFill>
              </a:rPr>
              <a:t> </a:t>
            </a:r>
            <a:r>
              <a:rPr lang="en-GB" sz="2800" u="heavy" dirty="0">
                <a:uFill>
                  <a:solidFill>
                    <a:srgbClr val="000000"/>
                  </a:solidFill>
                </a:uFill>
              </a:rPr>
              <a:t>customer</a:t>
            </a:r>
            <a:r>
              <a:rPr lang="en-GB" sz="2800" u="heavy" spc="-50" dirty="0">
                <a:uFill>
                  <a:solidFill>
                    <a:srgbClr val="000000"/>
                  </a:solidFill>
                </a:uFill>
              </a:rPr>
              <a:t> </a:t>
            </a:r>
            <a:r>
              <a:rPr lang="en-GB" sz="2800" u="heavy" dirty="0">
                <a:uFill>
                  <a:solidFill>
                    <a:srgbClr val="000000"/>
                  </a:solidFill>
                </a:uFill>
              </a:rPr>
              <a:t>acquisition</a:t>
            </a:r>
            <a:r>
              <a:rPr lang="en-GB" sz="2800" u="heavy" spc="-25" dirty="0">
                <a:uFill>
                  <a:solidFill>
                    <a:srgbClr val="000000"/>
                  </a:solidFill>
                </a:uFill>
              </a:rPr>
              <a:t> for</a:t>
            </a:r>
            <a:r>
              <a:rPr lang="en-GB" sz="2800" spc="-25" dirty="0"/>
              <a:t> 	</a:t>
            </a:r>
            <a:r>
              <a:rPr lang="en-GB" sz="2800" u="heavy" dirty="0">
                <a:uFill>
                  <a:solidFill>
                    <a:srgbClr val="000000"/>
                  </a:solidFill>
                </a:uFill>
              </a:rPr>
              <a:t>a</a:t>
            </a:r>
            <a:r>
              <a:rPr lang="en-GB" sz="2800" u="heavy" spc="-40" dirty="0">
                <a:uFill>
                  <a:solidFill>
                    <a:srgbClr val="000000"/>
                  </a:solidFill>
                </a:uFill>
              </a:rPr>
              <a:t> </a:t>
            </a:r>
            <a:r>
              <a:rPr lang="en-GB" sz="2800" u="heavy" dirty="0">
                <a:uFill>
                  <a:solidFill>
                    <a:srgbClr val="000000"/>
                  </a:solidFill>
                </a:uFill>
              </a:rPr>
              <a:t>very</a:t>
            </a:r>
            <a:r>
              <a:rPr lang="en-GB" sz="2800" u="heavy" spc="-50" dirty="0">
                <a:uFill>
                  <a:solidFill>
                    <a:srgbClr val="000000"/>
                  </a:solidFill>
                </a:uFill>
              </a:rPr>
              <a:t> </a:t>
            </a:r>
            <a:r>
              <a:rPr lang="en-GB" sz="2800" u="heavy" spc="-20" dirty="0">
                <a:uFill>
                  <a:solidFill>
                    <a:srgbClr val="000000"/>
                  </a:solidFill>
                </a:uFill>
              </a:rPr>
              <a:t>low-</a:t>
            </a:r>
            <a:r>
              <a:rPr lang="en-GB" sz="2800" u="heavy" dirty="0">
                <a:uFill>
                  <a:solidFill>
                    <a:srgbClr val="000000"/>
                  </a:solidFill>
                </a:uFill>
              </a:rPr>
              <a:t>margin</a:t>
            </a:r>
            <a:r>
              <a:rPr lang="en-GB" sz="2800" u="heavy" spc="-25" dirty="0">
                <a:uFill>
                  <a:solidFill>
                    <a:srgbClr val="000000"/>
                  </a:solidFill>
                </a:uFill>
              </a:rPr>
              <a:t> </a:t>
            </a:r>
            <a:r>
              <a:rPr lang="en-GB" sz="2800" u="heavy" dirty="0">
                <a:uFill>
                  <a:solidFill>
                    <a:srgbClr val="000000"/>
                  </a:solidFill>
                </a:uFill>
              </a:rPr>
              <a:t>product</a:t>
            </a:r>
            <a:r>
              <a:rPr lang="en-GB" sz="2800" u="heavy" spc="-35" dirty="0">
                <a:uFill>
                  <a:solidFill>
                    <a:srgbClr val="000000"/>
                  </a:solidFill>
                </a:uFill>
              </a:rPr>
              <a:t> </a:t>
            </a:r>
            <a:r>
              <a:rPr lang="en-GB" sz="2800" u="heavy" dirty="0">
                <a:uFill>
                  <a:solidFill>
                    <a:srgbClr val="000000"/>
                  </a:solidFill>
                </a:uFill>
              </a:rPr>
              <a:t>has</a:t>
            </a:r>
            <a:r>
              <a:rPr lang="en-GB" sz="2800" u="heavy" spc="-40" dirty="0">
                <a:uFill>
                  <a:solidFill>
                    <a:srgbClr val="000000"/>
                  </a:solidFill>
                </a:uFill>
              </a:rPr>
              <a:t> </a:t>
            </a:r>
            <a:r>
              <a:rPr lang="en-GB" sz="2800" u="heavy" dirty="0">
                <a:uFill>
                  <a:solidFill>
                    <a:srgbClr val="000000"/>
                  </a:solidFill>
                </a:uFill>
              </a:rPr>
              <a:t>proved</a:t>
            </a:r>
            <a:r>
              <a:rPr lang="en-GB" sz="2800" u="heavy" spc="-35" dirty="0">
                <a:uFill>
                  <a:solidFill>
                    <a:srgbClr val="000000"/>
                  </a:solidFill>
                </a:uFill>
              </a:rPr>
              <a:t> </a:t>
            </a:r>
            <a:r>
              <a:rPr lang="en-GB" sz="2800" u="heavy" dirty="0">
                <a:uFill>
                  <a:solidFill>
                    <a:srgbClr val="000000"/>
                  </a:solidFill>
                </a:uFill>
              </a:rPr>
              <a:t>to</a:t>
            </a:r>
            <a:r>
              <a:rPr lang="en-GB" sz="2800" u="heavy" spc="-50" dirty="0">
                <a:uFill>
                  <a:solidFill>
                    <a:srgbClr val="000000"/>
                  </a:solidFill>
                </a:uFill>
              </a:rPr>
              <a:t> </a:t>
            </a:r>
            <a:r>
              <a:rPr lang="en-GB" sz="2800" u="heavy" dirty="0">
                <a:uFill>
                  <a:solidFill>
                    <a:srgbClr val="000000"/>
                  </a:solidFill>
                </a:uFill>
              </a:rPr>
              <a:t>be</a:t>
            </a:r>
            <a:r>
              <a:rPr lang="en-GB" sz="2800" u="heavy" spc="-45" dirty="0">
                <a:uFill>
                  <a:solidFill>
                    <a:srgbClr val="000000"/>
                  </a:solidFill>
                </a:uFill>
              </a:rPr>
              <a:t> </a:t>
            </a:r>
            <a:r>
              <a:rPr lang="en-GB" sz="2800" u="heavy" spc="-10" dirty="0">
                <a:uFill>
                  <a:solidFill>
                    <a:srgbClr val="000000"/>
                  </a:solidFill>
                </a:uFill>
              </a:rPr>
              <a:t>particularly</a:t>
            </a:r>
            <a:r>
              <a:rPr lang="en-GB" sz="2800" spc="-10" dirty="0"/>
              <a:t> 	</a:t>
            </a:r>
            <a:r>
              <a:rPr lang="en-GB" sz="2800" u="heavy" dirty="0">
                <a:uFill>
                  <a:solidFill>
                    <a:srgbClr val="000000"/>
                  </a:solidFill>
                </a:uFill>
              </a:rPr>
              <a:t>high</a:t>
            </a:r>
            <a:r>
              <a:rPr lang="en-GB" sz="2800" dirty="0"/>
              <a:t>,</a:t>
            </a:r>
            <a:r>
              <a:rPr lang="en-GB" sz="2800" spc="-55" dirty="0"/>
              <a:t> </a:t>
            </a:r>
            <a:r>
              <a:rPr lang="en-GB" sz="2800" dirty="0"/>
              <a:t>with</a:t>
            </a:r>
            <a:r>
              <a:rPr lang="en-GB" sz="2800" spc="-60" dirty="0"/>
              <a:t> </a:t>
            </a:r>
            <a:r>
              <a:rPr lang="en-GB" sz="2800" dirty="0"/>
              <a:t>Morningstar</a:t>
            </a:r>
            <a:r>
              <a:rPr lang="en-GB" sz="2800" spc="-50" dirty="0"/>
              <a:t> </a:t>
            </a:r>
            <a:r>
              <a:rPr lang="en-GB" sz="2800" dirty="0"/>
              <a:t>estimating</a:t>
            </a:r>
            <a:r>
              <a:rPr lang="en-GB" sz="2800" spc="-65" dirty="0"/>
              <a:t> </a:t>
            </a:r>
            <a:r>
              <a:rPr lang="en-GB" sz="2800" dirty="0"/>
              <a:t>a</a:t>
            </a:r>
            <a:r>
              <a:rPr lang="en-GB" sz="2800" spc="-60" dirty="0"/>
              <a:t> </a:t>
            </a:r>
            <a:r>
              <a:rPr lang="en-GB" sz="2800" dirty="0"/>
              <a:t>cost</a:t>
            </a:r>
            <a:r>
              <a:rPr lang="en-GB" sz="2800" spc="-65" dirty="0"/>
              <a:t> </a:t>
            </a:r>
            <a:r>
              <a:rPr lang="en-GB" sz="2800" dirty="0"/>
              <a:t>between</a:t>
            </a:r>
            <a:r>
              <a:rPr lang="en-GB" sz="2800" spc="-55" dirty="0"/>
              <a:t> </a:t>
            </a:r>
            <a:r>
              <a:rPr lang="en-GB" sz="2800" spc="-10" dirty="0"/>
              <a:t>US$300 	</a:t>
            </a:r>
            <a:r>
              <a:rPr lang="en-GB" sz="2800" dirty="0"/>
              <a:t>and</a:t>
            </a:r>
            <a:r>
              <a:rPr lang="en-GB" sz="2800" spc="-55" dirty="0"/>
              <a:t> </a:t>
            </a:r>
            <a:r>
              <a:rPr lang="en-GB" sz="2800" dirty="0"/>
              <a:t>US$1000</a:t>
            </a:r>
            <a:r>
              <a:rPr lang="en-GB" sz="2800" spc="-45" dirty="0"/>
              <a:t> </a:t>
            </a:r>
            <a:r>
              <a:rPr lang="en-GB" sz="2800" dirty="0"/>
              <a:t>to</a:t>
            </a:r>
            <a:r>
              <a:rPr lang="en-GB" sz="2800" spc="-55" dirty="0"/>
              <a:t> </a:t>
            </a:r>
            <a:r>
              <a:rPr lang="en-GB" sz="2800" dirty="0"/>
              <a:t>acquire</a:t>
            </a:r>
            <a:r>
              <a:rPr lang="en-GB" sz="2800" spc="-35" dirty="0"/>
              <a:t> </a:t>
            </a:r>
            <a:r>
              <a:rPr lang="en-GB" sz="2800" dirty="0"/>
              <a:t>each</a:t>
            </a:r>
            <a:r>
              <a:rPr lang="en-GB" sz="2800" spc="-65" dirty="0"/>
              <a:t> </a:t>
            </a:r>
            <a:r>
              <a:rPr lang="en-GB" sz="2800" dirty="0"/>
              <a:t>new</a:t>
            </a:r>
            <a:r>
              <a:rPr lang="en-GB" sz="2800" spc="-50" dirty="0"/>
              <a:t> </a:t>
            </a:r>
            <a:r>
              <a:rPr lang="en-GB" sz="2800" spc="-10" dirty="0"/>
              <a:t>client.</a:t>
            </a:r>
          </a:p>
          <a:p>
            <a:pPr marL="514350" indent="-514350" algn="just">
              <a:lnSpc>
                <a:spcPct val="200000"/>
              </a:lnSpc>
              <a:buFont typeface="Wingdings" panose="05000000000000000000" pitchFamily="2" charset="2"/>
              <a:buChar char="§"/>
            </a:pPr>
            <a:endParaRPr lang="en-US" sz="2800" dirty="0">
              <a:latin typeface="Arial MT"/>
              <a:cs typeface="Arial MT"/>
            </a:endParaRPr>
          </a:p>
        </p:txBody>
      </p:sp>
    </p:spTree>
    <p:extLst>
      <p:ext uri="{BB962C8B-B14F-4D97-AF65-F5344CB8AC3E}">
        <p14:creationId xmlns:p14="http://schemas.microsoft.com/office/powerpoint/2010/main" val="11398178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0D2BC-284D-3DFF-43D8-B8D93DEF1B7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73ACE98-3670-CA9D-AE29-2D0A83E9630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401FAC9-A974-1EE0-CEA1-9F53502A6CB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0CF80EAA-7065-214D-16F9-CC6186576DFA}"/>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5D3CB0D4-FBD2-A1CD-2CEC-48AB33FF9326}"/>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072C643B-E2D7-C0DA-8312-2D682C6BE5D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64A9297-B1C4-3A25-CCB3-8E9630E6DBFE}"/>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56</a:t>
            </a:fld>
            <a:endParaRPr lang="en-US">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636500BC-5E04-97DB-391A-8887E97A0E9F}"/>
              </a:ext>
            </a:extLst>
          </p:cNvPr>
          <p:cNvSpPr txBox="1"/>
          <p:nvPr/>
        </p:nvSpPr>
        <p:spPr>
          <a:xfrm>
            <a:off x="756447" y="1795676"/>
            <a:ext cx="16775106" cy="9451177"/>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b="1" dirty="0">
                <a:latin typeface="Arial"/>
                <a:cs typeface="Arial"/>
              </a:rPr>
              <a:t>Raising</a:t>
            </a:r>
            <a:r>
              <a:rPr lang="en-GB" sz="2800" b="1" spc="-45" dirty="0">
                <a:latin typeface="Arial"/>
                <a:cs typeface="Arial"/>
              </a:rPr>
              <a:t> </a:t>
            </a:r>
            <a:r>
              <a:rPr lang="en-GB" sz="2800" b="1" spc="-10" dirty="0">
                <a:latin typeface="Arial"/>
                <a:cs typeface="Arial"/>
              </a:rPr>
              <a:t>Capital</a:t>
            </a:r>
            <a:endParaRPr lang="en-GB" sz="2800" dirty="0">
              <a:latin typeface="Arial MT"/>
            </a:endParaRPr>
          </a:p>
          <a:p>
            <a:pPr marL="514350" indent="-514350" algn="just">
              <a:lnSpc>
                <a:spcPct val="200000"/>
              </a:lnSpc>
              <a:buFont typeface="Wingdings" panose="05000000000000000000" pitchFamily="2" charset="2"/>
              <a:buChar char="§"/>
            </a:pPr>
            <a:r>
              <a:rPr lang="en-GB" sz="2800" dirty="0">
                <a:latin typeface="Arial MT"/>
                <a:cs typeface="Arial MT"/>
              </a:rPr>
              <a:t>While the</a:t>
            </a:r>
            <a:r>
              <a:rPr lang="en-GB" sz="2800" spc="-60" dirty="0">
                <a:latin typeface="Arial MT"/>
                <a:cs typeface="Arial MT"/>
              </a:rPr>
              <a:t> </a:t>
            </a:r>
            <a:r>
              <a:rPr lang="en-GB" sz="2800" dirty="0">
                <a:latin typeface="Arial MT"/>
                <a:cs typeface="Arial MT"/>
              </a:rPr>
              <a:t>global</a:t>
            </a:r>
            <a:r>
              <a:rPr lang="en-GB" sz="2800" spc="-45" dirty="0">
                <a:latin typeface="Arial MT"/>
                <a:cs typeface="Arial MT"/>
              </a:rPr>
              <a:t> </a:t>
            </a:r>
            <a:r>
              <a:rPr lang="en-GB" sz="2800" dirty="0">
                <a:latin typeface="Arial MT"/>
                <a:cs typeface="Arial MT"/>
              </a:rPr>
              <a:t>pool</a:t>
            </a:r>
            <a:r>
              <a:rPr lang="en-GB" sz="2800" spc="-40" dirty="0">
                <a:latin typeface="Arial MT"/>
                <a:cs typeface="Arial MT"/>
              </a:rPr>
              <a:t> </a:t>
            </a:r>
            <a:r>
              <a:rPr lang="en-GB" sz="2800" dirty="0">
                <a:latin typeface="Arial MT"/>
                <a:cs typeface="Arial MT"/>
              </a:rPr>
              <a:t>of</a:t>
            </a:r>
            <a:r>
              <a:rPr lang="en-GB" sz="2800" spc="-80" dirty="0">
                <a:latin typeface="Arial MT"/>
                <a:cs typeface="Arial MT"/>
              </a:rPr>
              <a:t> </a:t>
            </a:r>
            <a:r>
              <a:rPr lang="en-GB" sz="2800" dirty="0">
                <a:latin typeface="Arial MT"/>
                <a:cs typeface="Arial MT"/>
              </a:rPr>
              <a:t>available</a:t>
            </a:r>
            <a:r>
              <a:rPr lang="en-GB" sz="2800" spc="-20" dirty="0">
                <a:latin typeface="Arial MT"/>
                <a:cs typeface="Arial MT"/>
              </a:rPr>
              <a:t> </a:t>
            </a:r>
            <a:r>
              <a:rPr lang="en-GB" sz="2800" dirty="0">
                <a:latin typeface="Arial MT"/>
                <a:cs typeface="Arial MT"/>
              </a:rPr>
              <a:t>venture</a:t>
            </a:r>
            <a:r>
              <a:rPr lang="en-GB" sz="2800" spc="-65" dirty="0">
                <a:latin typeface="Arial MT"/>
                <a:cs typeface="Arial MT"/>
              </a:rPr>
              <a:t> </a:t>
            </a:r>
            <a:r>
              <a:rPr lang="en-GB" sz="2800" dirty="0">
                <a:latin typeface="Arial MT"/>
                <a:cs typeface="Arial MT"/>
              </a:rPr>
              <a:t>capital</a:t>
            </a:r>
            <a:r>
              <a:rPr lang="en-GB" sz="2800" spc="-45" dirty="0">
                <a:latin typeface="Arial MT"/>
                <a:cs typeface="Arial MT"/>
              </a:rPr>
              <a:t> </a:t>
            </a:r>
            <a:r>
              <a:rPr lang="en-GB" sz="2800" spc="-25" dirty="0">
                <a:latin typeface="Arial MT"/>
                <a:cs typeface="Arial MT"/>
              </a:rPr>
              <a:t>has 	</a:t>
            </a:r>
            <a:r>
              <a:rPr lang="en-GB" sz="2800" dirty="0">
                <a:latin typeface="Arial MT"/>
                <a:cs typeface="Arial MT"/>
              </a:rPr>
              <a:t>grown</a:t>
            </a:r>
            <a:r>
              <a:rPr lang="en-GB" sz="2800" spc="-60" dirty="0">
                <a:latin typeface="Arial MT"/>
                <a:cs typeface="Arial MT"/>
              </a:rPr>
              <a:t> </a:t>
            </a:r>
            <a:r>
              <a:rPr lang="en-GB" sz="2800" dirty="0">
                <a:latin typeface="Arial MT"/>
                <a:cs typeface="Arial MT"/>
              </a:rPr>
              <a:t>in</a:t>
            </a:r>
            <a:r>
              <a:rPr lang="en-GB" sz="2800" spc="-75" dirty="0">
                <a:latin typeface="Arial MT"/>
                <a:cs typeface="Arial MT"/>
              </a:rPr>
              <a:t> </a:t>
            </a:r>
            <a:r>
              <a:rPr lang="en-GB" sz="2800" dirty="0">
                <a:latin typeface="Arial MT"/>
                <a:cs typeface="Arial MT"/>
              </a:rPr>
              <a:t>recent</a:t>
            </a:r>
            <a:r>
              <a:rPr lang="en-GB" sz="2800" spc="-65" dirty="0">
                <a:latin typeface="Arial MT"/>
                <a:cs typeface="Arial MT"/>
              </a:rPr>
              <a:t> </a:t>
            </a:r>
            <a:r>
              <a:rPr lang="en-GB" sz="2800" dirty="0">
                <a:latin typeface="Arial MT"/>
                <a:cs typeface="Arial MT"/>
              </a:rPr>
              <a:t>years,</a:t>
            </a:r>
            <a:r>
              <a:rPr lang="en-GB" sz="2800" spc="-65" dirty="0">
                <a:latin typeface="Arial MT"/>
                <a:cs typeface="Arial MT"/>
              </a:rPr>
              <a:t> </a:t>
            </a:r>
            <a:r>
              <a:rPr lang="en-GB" sz="2800" u="heavy" dirty="0">
                <a:uFill>
                  <a:solidFill>
                    <a:srgbClr val="000000"/>
                  </a:solidFill>
                </a:uFill>
                <a:latin typeface="Arial MT"/>
                <a:cs typeface="Arial MT"/>
              </a:rPr>
              <a:t>competition</a:t>
            </a:r>
            <a:r>
              <a:rPr lang="en-GB" sz="2800" u="heavy" spc="-60" dirty="0">
                <a:uFill>
                  <a:solidFill>
                    <a:srgbClr val="000000"/>
                  </a:solidFill>
                </a:uFill>
                <a:latin typeface="Arial MT"/>
                <a:cs typeface="Arial MT"/>
              </a:rPr>
              <a:t> </a:t>
            </a:r>
            <a:r>
              <a:rPr lang="en-GB" sz="2800" u="heavy" dirty="0">
                <a:uFill>
                  <a:solidFill>
                    <a:srgbClr val="000000"/>
                  </a:solidFill>
                </a:uFill>
                <a:latin typeface="Arial MT"/>
                <a:cs typeface="Arial MT"/>
              </a:rPr>
              <a:t>for</a:t>
            </a:r>
            <a:r>
              <a:rPr lang="en-GB" sz="2800" u="heavy" spc="-60" dirty="0">
                <a:uFill>
                  <a:solidFill>
                    <a:srgbClr val="000000"/>
                  </a:solidFill>
                </a:uFill>
                <a:latin typeface="Arial MT"/>
                <a:cs typeface="Arial MT"/>
              </a:rPr>
              <a:t> </a:t>
            </a:r>
            <a:r>
              <a:rPr lang="en-GB" sz="2800" u="heavy" dirty="0">
                <a:uFill>
                  <a:solidFill>
                    <a:srgbClr val="000000"/>
                  </a:solidFill>
                </a:uFill>
                <a:latin typeface="Arial MT"/>
                <a:cs typeface="Arial MT"/>
              </a:rPr>
              <a:t>investment</a:t>
            </a:r>
            <a:r>
              <a:rPr lang="en-GB" sz="2800" u="heavy" spc="-65" dirty="0">
                <a:uFill>
                  <a:solidFill>
                    <a:srgbClr val="000000"/>
                  </a:solidFill>
                </a:uFill>
                <a:latin typeface="Arial MT"/>
                <a:cs typeface="Arial MT"/>
              </a:rPr>
              <a:t> </a:t>
            </a:r>
            <a:r>
              <a:rPr lang="en-GB" sz="2800" u="heavy" spc="-10" dirty="0">
                <a:uFill>
                  <a:solidFill>
                    <a:srgbClr val="000000"/>
                  </a:solidFill>
                </a:uFill>
                <a:latin typeface="Arial MT"/>
                <a:cs typeface="Arial MT"/>
              </a:rPr>
              <a:t>remains </a:t>
            </a:r>
            <a:r>
              <a:rPr lang="en-GB" sz="2800" u="heavy" dirty="0">
                <a:uFill>
                  <a:solidFill>
                    <a:srgbClr val="000000"/>
                  </a:solidFill>
                </a:uFill>
                <a:latin typeface="Arial MT"/>
                <a:cs typeface="Arial MT"/>
              </a:rPr>
              <a:t>fierce</a:t>
            </a:r>
            <a:r>
              <a:rPr lang="en-GB" sz="2800" u="heavy" spc="-40" dirty="0">
                <a:uFill>
                  <a:solidFill>
                    <a:srgbClr val="000000"/>
                  </a:solidFill>
                </a:uFill>
                <a:latin typeface="Arial MT"/>
                <a:cs typeface="Arial MT"/>
              </a:rPr>
              <a:t> </a:t>
            </a:r>
            <a:r>
              <a:rPr lang="en-GB" sz="2800" u="heavy" dirty="0">
                <a:uFill>
                  <a:solidFill>
                    <a:srgbClr val="000000"/>
                  </a:solidFill>
                </a:uFill>
                <a:latin typeface="Arial MT"/>
                <a:cs typeface="Arial MT"/>
              </a:rPr>
              <a:t>for</a:t>
            </a:r>
            <a:r>
              <a:rPr lang="en-GB" sz="2800" u="heavy" spc="-55" dirty="0">
                <a:uFill>
                  <a:solidFill>
                    <a:srgbClr val="000000"/>
                  </a:solidFill>
                </a:uFill>
                <a:latin typeface="Arial MT"/>
                <a:cs typeface="Arial MT"/>
              </a:rPr>
              <a:t> </a:t>
            </a:r>
            <a:r>
              <a:rPr lang="en-GB" sz="2800" u="heavy" dirty="0">
                <a:uFill>
                  <a:solidFill>
                    <a:srgbClr val="000000"/>
                  </a:solidFill>
                </a:uFill>
                <a:latin typeface="Arial MT"/>
                <a:cs typeface="Arial MT"/>
              </a:rPr>
              <a:t>any</a:t>
            </a:r>
            <a:r>
              <a:rPr lang="en-GB" sz="2800" u="heavy" spc="-35" dirty="0">
                <a:uFill>
                  <a:solidFill>
                    <a:srgbClr val="000000"/>
                  </a:solidFill>
                </a:uFill>
                <a:latin typeface="Arial MT"/>
                <a:cs typeface="Arial MT"/>
              </a:rPr>
              <a:t> </a:t>
            </a:r>
            <a:r>
              <a:rPr lang="en-GB" sz="2800" u="heavy" dirty="0">
                <a:uFill>
                  <a:solidFill>
                    <a:srgbClr val="000000"/>
                  </a:solidFill>
                </a:uFill>
                <a:latin typeface="Arial MT"/>
                <a:cs typeface="Arial MT"/>
              </a:rPr>
              <a:t>startup,</a:t>
            </a:r>
            <a:r>
              <a:rPr lang="en-GB" sz="2800" spc="-40" dirty="0">
                <a:latin typeface="Arial MT"/>
                <a:cs typeface="Arial MT"/>
              </a:rPr>
              <a:t> </a:t>
            </a:r>
            <a:r>
              <a:rPr lang="en-GB" sz="2800" dirty="0">
                <a:latin typeface="Arial MT"/>
                <a:cs typeface="Arial MT"/>
              </a:rPr>
              <a:t>and</a:t>
            </a:r>
            <a:r>
              <a:rPr lang="en-GB" sz="2800" spc="-30" dirty="0">
                <a:latin typeface="Arial MT"/>
                <a:cs typeface="Arial MT"/>
              </a:rPr>
              <a:t> </a:t>
            </a:r>
            <a:r>
              <a:rPr lang="en-GB" sz="2800" dirty="0">
                <a:latin typeface="Arial MT"/>
                <a:cs typeface="Arial MT"/>
              </a:rPr>
              <a:t>fintechs</a:t>
            </a:r>
            <a:r>
              <a:rPr lang="en-GB" sz="2800" spc="-35" dirty="0">
                <a:latin typeface="Arial MT"/>
                <a:cs typeface="Arial MT"/>
              </a:rPr>
              <a:t> </a:t>
            </a:r>
            <a:r>
              <a:rPr lang="en-GB" sz="2800" dirty="0">
                <a:latin typeface="Arial MT"/>
                <a:cs typeface="Arial MT"/>
              </a:rPr>
              <a:t>are</a:t>
            </a:r>
            <a:r>
              <a:rPr lang="en-GB" sz="2800" spc="-35" dirty="0">
                <a:latin typeface="Arial MT"/>
                <a:cs typeface="Arial MT"/>
              </a:rPr>
              <a:t> </a:t>
            </a:r>
            <a:r>
              <a:rPr lang="en-GB" sz="2800" dirty="0">
                <a:latin typeface="Arial MT"/>
                <a:cs typeface="Arial MT"/>
              </a:rPr>
              <a:t>no</a:t>
            </a:r>
            <a:r>
              <a:rPr lang="en-GB" sz="2800" spc="-35" dirty="0">
                <a:latin typeface="Arial MT"/>
                <a:cs typeface="Arial MT"/>
              </a:rPr>
              <a:t> </a:t>
            </a:r>
            <a:r>
              <a:rPr lang="en-GB" sz="2800" spc="-10" dirty="0">
                <a:latin typeface="Arial MT"/>
                <a:cs typeface="Arial MT"/>
              </a:rPr>
              <a:t>exception.</a:t>
            </a:r>
          </a:p>
          <a:p>
            <a:pPr marL="514350" indent="-514350" algn="just">
              <a:lnSpc>
                <a:spcPct val="200000"/>
              </a:lnSpc>
              <a:buFont typeface="Wingdings" panose="05000000000000000000" pitchFamily="2" charset="2"/>
              <a:buChar char="§"/>
            </a:pPr>
            <a:r>
              <a:rPr lang="en-GB" sz="2800" dirty="0">
                <a:latin typeface="Arial MT"/>
                <a:cs typeface="Arial MT"/>
              </a:rPr>
              <a:t>Adding</a:t>
            </a:r>
            <a:r>
              <a:rPr lang="en-GB" sz="2800" spc="-75" dirty="0">
                <a:latin typeface="Arial MT"/>
                <a:cs typeface="Arial MT"/>
              </a:rPr>
              <a:t> </a:t>
            </a:r>
            <a:r>
              <a:rPr lang="en-GB" sz="2800" dirty="0">
                <a:latin typeface="Arial MT"/>
                <a:cs typeface="Arial MT"/>
              </a:rPr>
              <a:t>further</a:t>
            </a:r>
            <a:r>
              <a:rPr lang="en-GB" sz="2800" spc="-90" dirty="0">
                <a:latin typeface="Arial MT"/>
                <a:cs typeface="Arial MT"/>
              </a:rPr>
              <a:t> </a:t>
            </a:r>
            <a:r>
              <a:rPr lang="en-GB" sz="2800" dirty="0">
                <a:latin typeface="Arial MT"/>
                <a:cs typeface="Arial MT"/>
              </a:rPr>
              <a:t>complexity,</a:t>
            </a:r>
            <a:r>
              <a:rPr lang="en-GB" sz="2800" spc="-80" dirty="0">
                <a:latin typeface="Arial MT"/>
                <a:cs typeface="Arial MT"/>
              </a:rPr>
              <a:t> </a:t>
            </a:r>
            <a:r>
              <a:rPr lang="en-GB" sz="2800" dirty="0">
                <a:latin typeface="Arial MT"/>
                <a:cs typeface="Arial MT"/>
              </a:rPr>
              <a:t>high</a:t>
            </a:r>
            <a:r>
              <a:rPr lang="en-GB" sz="2800" spc="-85" dirty="0">
                <a:latin typeface="Arial MT"/>
                <a:cs typeface="Arial MT"/>
              </a:rPr>
              <a:t> </a:t>
            </a:r>
            <a:r>
              <a:rPr lang="en-GB" sz="2800" dirty="0">
                <a:latin typeface="Arial MT"/>
                <a:cs typeface="Arial MT"/>
              </a:rPr>
              <a:t>regulatory</a:t>
            </a:r>
            <a:r>
              <a:rPr lang="en-GB" sz="2800" spc="-75" dirty="0">
                <a:latin typeface="Arial MT"/>
                <a:cs typeface="Arial MT"/>
              </a:rPr>
              <a:t> </a:t>
            </a:r>
            <a:r>
              <a:rPr lang="en-GB" sz="2800" dirty="0">
                <a:latin typeface="Arial MT"/>
                <a:cs typeface="Arial MT"/>
              </a:rPr>
              <a:t>requirements</a:t>
            </a:r>
            <a:r>
              <a:rPr lang="en-GB" sz="2800" spc="-85" dirty="0">
                <a:latin typeface="Arial MT"/>
                <a:cs typeface="Arial MT"/>
              </a:rPr>
              <a:t> </a:t>
            </a:r>
            <a:r>
              <a:rPr lang="en-GB" sz="2800" spc="-25" dirty="0">
                <a:latin typeface="Arial MT"/>
                <a:cs typeface="Arial MT"/>
              </a:rPr>
              <a:t>of 	</a:t>
            </a:r>
            <a:r>
              <a:rPr lang="en-GB" sz="2800" dirty="0">
                <a:latin typeface="Arial MT"/>
                <a:cs typeface="Arial MT"/>
              </a:rPr>
              <a:t>the</a:t>
            </a:r>
            <a:r>
              <a:rPr lang="en-GB" sz="2800" spc="-65" dirty="0">
                <a:latin typeface="Arial MT"/>
                <a:cs typeface="Arial MT"/>
              </a:rPr>
              <a:t> </a:t>
            </a:r>
            <a:r>
              <a:rPr lang="en-GB" sz="2800" dirty="0">
                <a:latin typeface="Arial MT"/>
                <a:cs typeface="Arial MT"/>
              </a:rPr>
              <a:t>sector</a:t>
            </a:r>
            <a:r>
              <a:rPr lang="en-GB" sz="2800" spc="-60" dirty="0">
                <a:latin typeface="Arial MT"/>
                <a:cs typeface="Arial MT"/>
              </a:rPr>
              <a:t> </a:t>
            </a:r>
            <a:r>
              <a:rPr lang="en-GB" sz="2800" dirty="0">
                <a:latin typeface="Arial MT"/>
                <a:cs typeface="Arial MT"/>
              </a:rPr>
              <a:t>increase</a:t>
            </a:r>
            <a:r>
              <a:rPr lang="en-GB" sz="2800" spc="-40" dirty="0">
                <a:latin typeface="Arial MT"/>
                <a:cs typeface="Arial MT"/>
              </a:rPr>
              <a:t> </a:t>
            </a:r>
            <a:r>
              <a:rPr lang="en-GB" sz="2800" dirty="0">
                <a:latin typeface="Arial MT"/>
                <a:cs typeface="Arial MT"/>
              </a:rPr>
              <a:t>the</a:t>
            </a:r>
            <a:r>
              <a:rPr lang="en-GB" sz="2800" spc="-60" dirty="0">
                <a:latin typeface="Arial MT"/>
                <a:cs typeface="Arial MT"/>
              </a:rPr>
              <a:t> </a:t>
            </a:r>
            <a:r>
              <a:rPr lang="en-GB" sz="2800" dirty="0">
                <a:latin typeface="Arial MT"/>
                <a:cs typeface="Arial MT"/>
              </a:rPr>
              <a:t>complexity</a:t>
            </a:r>
            <a:r>
              <a:rPr lang="en-GB" sz="2800" spc="-40" dirty="0">
                <a:latin typeface="Arial MT"/>
                <a:cs typeface="Arial MT"/>
              </a:rPr>
              <a:t> </a:t>
            </a:r>
            <a:r>
              <a:rPr lang="en-GB" sz="2800" dirty="0">
                <a:latin typeface="Arial MT"/>
                <a:cs typeface="Arial MT"/>
              </a:rPr>
              <a:t>of</a:t>
            </a:r>
            <a:r>
              <a:rPr lang="en-GB" sz="2800" spc="-60" dirty="0">
                <a:latin typeface="Arial MT"/>
                <a:cs typeface="Arial MT"/>
              </a:rPr>
              <a:t> </a:t>
            </a:r>
            <a:r>
              <a:rPr lang="en-GB" sz="2800" dirty="0">
                <a:latin typeface="Arial MT"/>
                <a:cs typeface="Arial MT"/>
              </a:rPr>
              <a:t>product</a:t>
            </a:r>
            <a:r>
              <a:rPr lang="en-GB" sz="2800" spc="-55" dirty="0">
                <a:latin typeface="Arial MT"/>
                <a:cs typeface="Arial MT"/>
              </a:rPr>
              <a:t> </a:t>
            </a:r>
            <a:r>
              <a:rPr lang="en-GB" sz="2800" spc="-10" dirty="0">
                <a:latin typeface="Arial MT"/>
                <a:cs typeface="Arial MT"/>
              </a:rPr>
              <a:t>launch.</a:t>
            </a:r>
            <a:endParaRPr lang="en-GB" sz="2800" spc="-10" dirty="0">
              <a:latin typeface="Arial MT"/>
            </a:endParaRPr>
          </a:p>
          <a:p>
            <a:pPr marL="514350" indent="-514350" algn="just">
              <a:lnSpc>
                <a:spcPct val="200000"/>
              </a:lnSpc>
              <a:buFont typeface="Wingdings" panose="05000000000000000000" pitchFamily="2" charset="2"/>
              <a:buChar char="§"/>
            </a:pPr>
            <a:r>
              <a:rPr lang="en-GB" sz="2800" b="1" spc="-10" dirty="0">
                <a:latin typeface="Arial"/>
                <a:cs typeface="Arial"/>
              </a:rPr>
              <a:t>Cybersecurity</a:t>
            </a:r>
            <a:endParaRPr lang="en-GB" sz="2800" dirty="0">
              <a:latin typeface="Arial MT"/>
            </a:endParaRPr>
          </a:p>
          <a:p>
            <a:pPr marL="514350" indent="-514350" algn="just">
              <a:lnSpc>
                <a:spcPct val="200000"/>
              </a:lnSpc>
              <a:buFont typeface="Wingdings" panose="05000000000000000000" pitchFamily="2" charset="2"/>
              <a:buChar char="§"/>
            </a:pPr>
            <a:r>
              <a:rPr lang="en-GB" sz="2800" dirty="0">
                <a:latin typeface="Arial MT"/>
              </a:rPr>
              <a:t>Hacks, security breaches. As the technologies advance, so too do hackers’ abilities and resources. The nature of attackers has grown. They are highly organized. In some 	cases, they might even be nation-states. There are substantial risks for the industry. Fintech initiatives might 	suffer from the risks involved with them.</a:t>
            </a:r>
          </a:p>
          <a:p>
            <a:pPr marL="514350" indent="-514350" algn="just">
              <a:lnSpc>
                <a:spcPct val="200000"/>
              </a:lnSpc>
              <a:buFont typeface="Wingdings" panose="05000000000000000000" pitchFamily="2" charset="2"/>
              <a:buChar char="§"/>
            </a:pPr>
            <a:endParaRPr lang="en-GB" sz="2800" dirty="0">
              <a:latin typeface="Arial MT"/>
            </a:endParaRPr>
          </a:p>
          <a:p>
            <a:pPr marL="514350" indent="-514350" algn="just">
              <a:lnSpc>
                <a:spcPct val="200000"/>
              </a:lnSpc>
              <a:buFont typeface="Wingdings" panose="05000000000000000000" pitchFamily="2" charset="2"/>
              <a:buChar char="§"/>
            </a:pPr>
            <a:endParaRPr lang="en-US" sz="2800" dirty="0">
              <a:latin typeface="Arial MT"/>
              <a:cs typeface="Arial MT"/>
            </a:endParaRPr>
          </a:p>
        </p:txBody>
      </p:sp>
    </p:spTree>
    <p:extLst>
      <p:ext uri="{BB962C8B-B14F-4D97-AF65-F5344CB8AC3E}">
        <p14:creationId xmlns:p14="http://schemas.microsoft.com/office/powerpoint/2010/main" val="9587595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5A391-7D6F-F685-F4EF-BCA5E3124D0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9CE4C2E-1261-881F-1F1D-F5FAAFC5757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80E864F-16AA-6047-6F22-C311FFEBCDA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6B56136A-1216-D9DF-1F2A-82FFCAA9C8B3}"/>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CE5AF165-0395-A9B5-9F5B-99AF26FF48F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64B3FC8F-F2C9-0690-94E2-426255DAB00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AF7303F-255A-6374-DEF4-459123C75EE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57</a:t>
            </a:fld>
            <a:endParaRPr lang="en-US">
              <a:latin typeface="Segoe UI" panose="020B0502040204020203" pitchFamily="34" charset="0"/>
              <a:cs typeface="Segoe UI" panose="020B0502040204020203" pitchFamily="34" charset="0"/>
            </a:endParaRPr>
          </a:p>
        </p:txBody>
      </p:sp>
      <p:sp>
        <p:nvSpPr>
          <p:cNvPr id="4" name="TextBox 6">
            <a:extLst>
              <a:ext uri="{FF2B5EF4-FFF2-40B4-BE49-F238E27FC236}">
                <a16:creationId xmlns:a16="http://schemas.microsoft.com/office/drawing/2014/main" id="{0C47A535-5588-112B-168F-3DE0F3331DED}"/>
              </a:ext>
            </a:extLst>
          </p:cNvPr>
          <p:cNvSpPr txBox="1"/>
          <p:nvPr/>
        </p:nvSpPr>
        <p:spPr>
          <a:xfrm>
            <a:off x="756447" y="1805216"/>
            <a:ext cx="13979461" cy="621902"/>
          </a:xfrm>
          <a:prstGeom prst="rect">
            <a:avLst/>
          </a:prstGeom>
        </p:spPr>
        <p:txBody>
          <a:bodyPr wrap="square"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6.1.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Challenges (Cultural)</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1DE052F7-3FD5-2432-592B-F7FDAEFC0461}"/>
              </a:ext>
            </a:extLst>
          </p:cNvPr>
          <p:cNvSpPr txBox="1"/>
          <p:nvPr/>
        </p:nvSpPr>
        <p:spPr>
          <a:xfrm>
            <a:off x="756447" y="2644758"/>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latin typeface="Arial MT"/>
                <a:cs typeface="Arial MT"/>
              </a:rPr>
              <a:t>There</a:t>
            </a:r>
            <a:r>
              <a:rPr lang="en-GB" sz="2800" spc="-60" dirty="0">
                <a:latin typeface="Arial MT"/>
                <a:cs typeface="Arial MT"/>
              </a:rPr>
              <a:t> </a:t>
            </a:r>
            <a:r>
              <a:rPr lang="en-GB" sz="2800" dirty="0">
                <a:latin typeface="Arial MT"/>
                <a:cs typeface="Arial MT"/>
              </a:rPr>
              <a:t>is</a:t>
            </a:r>
            <a:r>
              <a:rPr lang="en-GB" sz="2800" spc="-55" dirty="0">
                <a:latin typeface="Arial MT"/>
                <a:cs typeface="Arial MT"/>
              </a:rPr>
              <a:t> </a:t>
            </a:r>
            <a:r>
              <a:rPr lang="en-GB" sz="2800" dirty="0">
                <a:latin typeface="Arial MT"/>
                <a:cs typeface="Arial MT"/>
              </a:rPr>
              <a:t>a</a:t>
            </a:r>
            <a:r>
              <a:rPr lang="en-GB" sz="2800" spc="-55" dirty="0">
                <a:latin typeface="Arial MT"/>
                <a:cs typeface="Arial MT"/>
              </a:rPr>
              <a:t> </a:t>
            </a:r>
            <a:r>
              <a:rPr lang="en-GB" sz="2800" u="heavy" dirty="0">
                <a:uFill>
                  <a:solidFill>
                    <a:srgbClr val="000000"/>
                  </a:solidFill>
                </a:uFill>
                <a:latin typeface="Arial MT"/>
                <a:cs typeface="Arial MT"/>
              </a:rPr>
              <a:t>cultural</a:t>
            </a:r>
            <a:r>
              <a:rPr lang="en-GB" sz="2800" u="heavy" spc="-45" dirty="0">
                <a:uFill>
                  <a:solidFill>
                    <a:srgbClr val="000000"/>
                  </a:solidFill>
                </a:uFill>
                <a:latin typeface="Arial MT"/>
                <a:cs typeface="Arial MT"/>
              </a:rPr>
              <a:t> </a:t>
            </a:r>
            <a:r>
              <a:rPr lang="en-GB" sz="2800" u="heavy" dirty="0">
                <a:uFill>
                  <a:solidFill>
                    <a:srgbClr val="000000"/>
                  </a:solidFill>
                </a:uFill>
                <a:latin typeface="Arial MT"/>
                <a:cs typeface="Arial MT"/>
              </a:rPr>
              <a:t>challenge</a:t>
            </a:r>
            <a:r>
              <a:rPr lang="en-GB" sz="2800" u="heavy" spc="-25" dirty="0">
                <a:uFill>
                  <a:solidFill>
                    <a:srgbClr val="000000"/>
                  </a:solidFill>
                </a:uFill>
                <a:latin typeface="Arial MT"/>
                <a:cs typeface="Arial MT"/>
              </a:rPr>
              <a:t> </a:t>
            </a:r>
            <a:r>
              <a:rPr lang="en-GB" sz="2800" u="heavy" dirty="0">
                <a:uFill>
                  <a:solidFill>
                    <a:srgbClr val="000000"/>
                  </a:solidFill>
                </a:uFill>
                <a:latin typeface="Arial MT"/>
                <a:cs typeface="Arial MT"/>
              </a:rPr>
              <a:t>on</a:t>
            </a:r>
            <a:r>
              <a:rPr lang="en-GB" sz="2800" u="heavy" spc="-50" dirty="0">
                <a:uFill>
                  <a:solidFill>
                    <a:srgbClr val="000000"/>
                  </a:solidFill>
                </a:uFill>
                <a:latin typeface="Arial MT"/>
                <a:cs typeface="Arial MT"/>
              </a:rPr>
              <a:t> </a:t>
            </a:r>
            <a:r>
              <a:rPr lang="en-GB" sz="2800" u="heavy" dirty="0">
                <a:uFill>
                  <a:solidFill>
                    <a:srgbClr val="000000"/>
                  </a:solidFill>
                </a:uFill>
                <a:latin typeface="Arial MT"/>
                <a:cs typeface="Arial MT"/>
              </a:rPr>
              <a:t>how</a:t>
            </a:r>
            <a:r>
              <a:rPr lang="en-GB" sz="2800" u="heavy" spc="-55" dirty="0">
                <a:uFill>
                  <a:solidFill>
                    <a:srgbClr val="000000"/>
                  </a:solidFill>
                </a:uFill>
                <a:latin typeface="Arial MT"/>
                <a:cs typeface="Arial MT"/>
              </a:rPr>
              <a:t> </a:t>
            </a:r>
            <a:r>
              <a:rPr lang="en-GB" sz="2800" u="heavy" dirty="0">
                <a:uFill>
                  <a:solidFill>
                    <a:srgbClr val="000000"/>
                  </a:solidFill>
                </a:uFill>
                <a:latin typeface="Arial MT"/>
                <a:cs typeface="Arial MT"/>
              </a:rPr>
              <a:t>traditional</a:t>
            </a:r>
            <a:r>
              <a:rPr lang="en-GB" sz="2800" u="heavy" spc="-45" dirty="0">
                <a:uFill>
                  <a:solidFill>
                    <a:srgbClr val="000000"/>
                  </a:solidFill>
                </a:uFill>
                <a:latin typeface="Arial MT"/>
                <a:cs typeface="Arial MT"/>
              </a:rPr>
              <a:t> </a:t>
            </a:r>
            <a:r>
              <a:rPr lang="en-GB" sz="2800" u="heavy" spc="-10" dirty="0">
                <a:uFill>
                  <a:solidFill>
                    <a:srgbClr val="000000"/>
                  </a:solidFill>
                </a:uFill>
                <a:latin typeface="Arial MT"/>
                <a:cs typeface="Arial MT"/>
              </a:rPr>
              <a:t>financial </a:t>
            </a:r>
            <a:r>
              <a:rPr lang="en-GB" sz="2800" u="heavy" dirty="0">
                <a:uFill>
                  <a:solidFill>
                    <a:srgbClr val="000000"/>
                  </a:solidFill>
                </a:uFill>
                <a:latin typeface="Arial MT"/>
                <a:cs typeface="Arial MT"/>
              </a:rPr>
              <a:t>institutions</a:t>
            </a:r>
            <a:r>
              <a:rPr lang="en-GB" sz="2800" u="heavy" spc="-70" dirty="0">
                <a:uFill>
                  <a:solidFill>
                    <a:srgbClr val="000000"/>
                  </a:solidFill>
                </a:uFill>
                <a:latin typeface="Arial MT"/>
                <a:cs typeface="Arial MT"/>
              </a:rPr>
              <a:t> </a:t>
            </a:r>
            <a:r>
              <a:rPr lang="en-GB" sz="2800" u="heavy" dirty="0">
                <a:uFill>
                  <a:solidFill>
                    <a:srgbClr val="000000"/>
                  </a:solidFill>
                </a:uFill>
                <a:latin typeface="Arial MT"/>
                <a:cs typeface="Arial MT"/>
              </a:rPr>
              <a:t>accept</a:t>
            </a:r>
            <a:r>
              <a:rPr lang="en-GB" sz="2800" u="heavy" spc="-75" dirty="0">
                <a:uFill>
                  <a:solidFill>
                    <a:srgbClr val="000000"/>
                  </a:solidFill>
                </a:uFill>
                <a:latin typeface="Arial MT"/>
                <a:cs typeface="Arial MT"/>
              </a:rPr>
              <a:t> </a:t>
            </a:r>
            <a:r>
              <a:rPr lang="en-GB" sz="2800" u="heavy" dirty="0">
                <a:uFill>
                  <a:solidFill>
                    <a:srgbClr val="000000"/>
                  </a:solidFill>
                </a:uFill>
                <a:latin typeface="Arial MT"/>
                <a:cs typeface="Arial MT"/>
              </a:rPr>
              <a:t>technology</a:t>
            </a:r>
            <a:r>
              <a:rPr lang="en-GB" sz="2800" dirty="0">
                <a:latin typeface="Arial MT"/>
                <a:cs typeface="Arial MT"/>
              </a:rPr>
              <a:t>.</a:t>
            </a:r>
            <a:r>
              <a:rPr lang="en-GB" sz="2800" spc="-55" dirty="0">
                <a:latin typeface="Arial MT"/>
                <a:cs typeface="Arial MT"/>
              </a:rPr>
              <a:t> </a:t>
            </a:r>
            <a:r>
              <a:rPr lang="en-GB" sz="2800" u="heavy" dirty="0">
                <a:uFill>
                  <a:solidFill>
                    <a:srgbClr val="000000"/>
                  </a:solidFill>
                </a:uFill>
                <a:latin typeface="Arial MT"/>
                <a:cs typeface="Arial MT"/>
              </a:rPr>
              <a:t>Without</a:t>
            </a:r>
            <a:r>
              <a:rPr lang="en-GB" sz="2800" u="heavy" spc="-75" dirty="0">
                <a:uFill>
                  <a:solidFill>
                    <a:srgbClr val="000000"/>
                  </a:solidFill>
                </a:uFill>
                <a:latin typeface="Arial MT"/>
                <a:cs typeface="Arial MT"/>
              </a:rPr>
              <a:t> </a:t>
            </a:r>
            <a:r>
              <a:rPr lang="en-GB" sz="2800" u="heavy" dirty="0">
                <a:uFill>
                  <a:solidFill>
                    <a:srgbClr val="000000"/>
                  </a:solidFill>
                </a:uFill>
                <a:latin typeface="Arial MT"/>
                <a:cs typeface="Arial MT"/>
              </a:rPr>
              <a:t>fintech</a:t>
            </a:r>
            <a:r>
              <a:rPr lang="en-GB" sz="2800" u="heavy" spc="-75" dirty="0">
                <a:uFill>
                  <a:solidFill>
                    <a:srgbClr val="000000"/>
                  </a:solidFill>
                </a:uFill>
                <a:latin typeface="Arial MT"/>
                <a:cs typeface="Arial MT"/>
              </a:rPr>
              <a:t> </a:t>
            </a:r>
            <a:r>
              <a:rPr lang="en-GB" sz="2800" u="heavy" spc="-10" dirty="0">
                <a:uFill>
                  <a:solidFill>
                    <a:srgbClr val="000000"/>
                  </a:solidFill>
                </a:uFill>
                <a:latin typeface="Arial MT"/>
                <a:cs typeface="Arial MT"/>
              </a:rPr>
              <a:t>innovation,</a:t>
            </a:r>
            <a:r>
              <a:rPr lang="en-GB" sz="2800" spc="-10" dirty="0">
                <a:latin typeface="Arial MT"/>
                <a:cs typeface="Arial MT"/>
              </a:rPr>
              <a:t> </a:t>
            </a:r>
            <a:r>
              <a:rPr lang="en-GB" sz="2800" u="heavy" dirty="0">
                <a:uFill>
                  <a:solidFill>
                    <a:srgbClr val="000000"/>
                  </a:solidFill>
                </a:uFill>
                <a:latin typeface="Arial MT"/>
                <a:cs typeface="Arial MT"/>
              </a:rPr>
              <a:t>there</a:t>
            </a:r>
            <a:r>
              <a:rPr lang="en-GB" sz="2800" u="heavy" spc="-55" dirty="0">
                <a:uFill>
                  <a:solidFill>
                    <a:srgbClr val="000000"/>
                  </a:solidFill>
                </a:uFill>
                <a:latin typeface="Arial MT"/>
                <a:cs typeface="Arial MT"/>
              </a:rPr>
              <a:t> </a:t>
            </a:r>
            <a:r>
              <a:rPr lang="en-GB" sz="2800" u="heavy" dirty="0">
                <a:uFill>
                  <a:solidFill>
                    <a:srgbClr val="000000"/>
                  </a:solidFill>
                </a:uFill>
                <a:latin typeface="Arial MT"/>
                <a:cs typeface="Arial MT"/>
              </a:rPr>
              <a:t>is</a:t>
            </a:r>
            <a:r>
              <a:rPr lang="en-GB" sz="2800" u="heavy" spc="-50" dirty="0">
                <a:uFill>
                  <a:solidFill>
                    <a:srgbClr val="000000"/>
                  </a:solidFill>
                </a:uFill>
                <a:latin typeface="Arial MT"/>
                <a:cs typeface="Arial MT"/>
              </a:rPr>
              <a:t> </a:t>
            </a:r>
            <a:r>
              <a:rPr lang="en-GB" sz="2800" u="heavy" dirty="0">
                <a:uFill>
                  <a:solidFill>
                    <a:srgbClr val="000000"/>
                  </a:solidFill>
                </a:uFill>
                <a:latin typeface="Arial MT"/>
                <a:cs typeface="Arial MT"/>
              </a:rPr>
              <a:t>a</a:t>
            </a:r>
            <a:r>
              <a:rPr lang="en-GB" sz="2800" u="heavy" spc="-45" dirty="0">
                <a:uFill>
                  <a:solidFill>
                    <a:srgbClr val="000000"/>
                  </a:solidFill>
                </a:uFill>
                <a:latin typeface="Arial MT"/>
                <a:cs typeface="Arial MT"/>
              </a:rPr>
              <a:t> </a:t>
            </a:r>
            <a:r>
              <a:rPr lang="en-GB" sz="2800" u="heavy" dirty="0">
                <a:uFill>
                  <a:solidFill>
                    <a:srgbClr val="000000"/>
                  </a:solidFill>
                </a:uFill>
                <a:latin typeface="Arial MT"/>
                <a:cs typeface="Arial MT"/>
              </a:rPr>
              <a:t>risk</a:t>
            </a:r>
            <a:r>
              <a:rPr lang="en-GB" sz="2800" u="heavy" spc="-55" dirty="0">
                <a:uFill>
                  <a:solidFill>
                    <a:srgbClr val="000000"/>
                  </a:solidFill>
                </a:uFill>
                <a:latin typeface="Arial MT"/>
                <a:cs typeface="Arial MT"/>
              </a:rPr>
              <a:t> </a:t>
            </a:r>
            <a:r>
              <a:rPr lang="en-GB" sz="2800" u="heavy" dirty="0">
                <a:uFill>
                  <a:solidFill>
                    <a:srgbClr val="000000"/>
                  </a:solidFill>
                </a:uFill>
                <a:latin typeface="Arial MT"/>
                <a:cs typeface="Arial MT"/>
              </a:rPr>
              <a:t>of</a:t>
            </a:r>
            <a:r>
              <a:rPr lang="en-GB" sz="2800" u="heavy" spc="-45" dirty="0">
                <a:uFill>
                  <a:solidFill>
                    <a:srgbClr val="000000"/>
                  </a:solidFill>
                </a:uFill>
                <a:latin typeface="Arial MT"/>
                <a:cs typeface="Arial MT"/>
              </a:rPr>
              <a:t> </a:t>
            </a:r>
            <a:r>
              <a:rPr lang="en-GB" sz="2800" u="heavy" dirty="0">
                <a:uFill>
                  <a:solidFill>
                    <a:srgbClr val="000000"/>
                  </a:solidFill>
                </a:uFill>
                <a:latin typeface="Arial MT"/>
                <a:cs typeface="Arial MT"/>
              </a:rPr>
              <a:t>technology</a:t>
            </a:r>
            <a:r>
              <a:rPr lang="en-GB" sz="2800" u="heavy" spc="-30" dirty="0">
                <a:uFill>
                  <a:solidFill>
                    <a:srgbClr val="000000"/>
                  </a:solidFill>
                </a:uFill>
                <a:latin typeface="Arial MT"/>
                <a:cs typeface="Arial MT"/>
              </a:rPr>
              <a:t> </a:t>
            </a:r>
            <a:r>
              <a:rPr lang="en-GB" sz="2800" u="heavy" dirty="0">
                <a:uFill>
                  <a:solidFill>
                    <a:srgbClr val="000000"/>
                  </a:solidFill>
                </a:uFill>
                <a:latin typeface="Arial MT"/>
                <a:cs typeface="Arial MT"/>
              </a:rPr>
              <a:t>complacency</a:t>
            </a:r>
            <a:r>
              <a:rPr lang="en-GB" sz="2800" u="heavy" spc="-30" dirty="0">
                <a:uFill>
                  <a:solidFill>
                    <a:srgbClr val="000000"/>
                  </a:solidFill>
                </a:uFill>
                <a:latin typeface="Arial MT"/>
                <a:cs typeface="Arial MT"/>
              </a:rPr>
              <a:t> </a:t>
            </a:r>
            <a:r>
              <a:rPr lang="en-GB" sz="2800" u="heavy" dirty="0">
                <a:uFill>
                  <a:solidFill>
                    <a:srgbClr val="000000"/>
                  </a:solidFill>
                </a:uFill>
                <a:latin typeface="Arial MT"/>
                <a:cs typeface="Arial MT"/>
              </a:rPr>
              <a:t>and</a:t>
            </a:r>
            <a:r>
              <a:rPr lang="en-GB" sz="2800" u="heavy" spc="-60" dirty="0">
                <a:uFill>
                  <a:solidFill>
                    <a:srgbClr val="000000"/>
                  </a:solidFill>
                </a:uFill>
                <a:latin typeface="Arial MT"/>
                <a:cs typeface="Arial MT"/>
              </a:rPr>
              <a:t> </a:t>
            </a:r>
            <a:r>
              <a:rPr lang="en-GB" sz="2800" u="heavy" spc="-10" dirty="0">
                <a:uFill>
                  <a:solidFill>
                    <a:srgbClr val="000000"/>
                  </a:solidFill>
                </a:uFill>
                <a:latin typeface="Arial MT"/>
                <a:cs typeface="Arial MT"/>
              </a:rPr>
              <a:t>eventual</a:t>
            </a:r>
            <a:r>
              <a:rPr lang="en-GB" sz="2800" spc="-10" dirty="0">
                <a:latin typeface="Arial MT"/>
                <a:cs typeface="Arial MT"/>
              </a:rPr>
              <a:t> </a:t>
            </a:r>
            <a:r>
              <a:rPr lang="en-GB" sz="2800" u="heavy" dirty="0">
                <a:uFill>
                  <a:solidFill>
                    <a:srgbClr val="000000"/>
                  </a:solidFill>
                </a:uFill>
                <a:latin typeface="Arial MT"/>
                <a:cs typeface="Arial MT"/>
              </a:rPr>
              <a:t>obsolescence</a:t>
            </a:r>
            <a:r>
              <a:rPr lang="en-GB" sz="2800" u="heavy" spc="-60" dirty="0">
                <a:uFill>
                  <a:solidFill>
                    <a:srgbClr val="000000"/>
                  </a:solidFill>
                </a:uFill>
                <a:latin typeface="Arial MT"/>
                <a:cs typeface="Arial MT"/>
              </a:rPr>
              <a:t> </a:t>
            </a:r>
            <a:r>
              <a:rPr lang="en-GB" sz="2800" u="heavy" dirty="0">
                <a:uFill>
                  <a:solidFill>
                    <a:srgbClr val="000000"/>
                  </a:solidFill>
                </a:uFill>
                <a:latin typeface="Arial MT"/>
                <a:cs typeface="Arial MT"/>
              </a:rPr>
              <a:t>relative</a:t>
            </a:r>
            <a:r>
              <a:rPr lang="en-GB" sz="2800" u="heavy" spc="-75" dirty="0">
                <a:uFill>
                  <a:solidFill>
                    <a:srgbClr val="000000"/>
                  </a:solidFill>
                </a:uFill>
                <a:latin typeface="Arial MT"/>
                <a:cs typeface="Arial MT"/>
              </a:rPr>
              <a:t> </a:t>
            </a:r>
            <a:r>
              <a:rPr lang="en-GB" sz="2800" u="heavy" dirty="0">
                <a:uFill>
                  <a:solidFill>
                    <a:srgbClr val="000000"/>
                  </a:solidFill>
                </a:uFill>
                <a:latin typeface="Arial MT"/>
                <a:cs typeface="Arial MT"/>
              </a:rPr>
              <a:t>to</a:t>
            </a:r>
            <a:r>
              <a:rPr lang="en-GB" sz="2800" u="heavy" spc="-85" dirty="0">
                <a:uFill>
                  <a:solidFill>
                    <a:srgbClr val="000000"/>
                  </a:solidFill>
                </a:uFill>
                <a:latin typeface="Arial MT"/>
                <a:cs typeface="Arial MT"/>
              </a:rPr>
              <a:t> </a:t>
            </a:r>
            <a:r>
              <a:rPr lang="en-GB" sz="2800" u="heavy" dirty="0">
                <a:uFill>
                  <a:solidFill>
                    <a:srgbClr val="000000"/>
                  </a:solidFill>
                </a:uFill>
                <a:latin typeface="Arial MT"/>
                <a:cs typeface="Arial MT"/>
              </a:rPr>
              <a:t>other</a:t>
            </a:r>
            <a:r>
              <a:rPr lang="en-GB" sz="2800" u="heavy" spc="-80" dirty="0">
                <a:uFill>
                  <a:solidFill>
                    <a:srgbClr val="000000"/>
                  </a:solidFill>
                </a:uFill>
                <a:latin typeface="Arial MT"/>
                <a:cs typeface="Arial MT"/>
              </a:rPr>
              <a:t> </a:t>
            </a:r>
            <a:r>
              <a:rPr lang="en-GB" sz="2800" u="heavy" dirty="0">
                <a:uFill>
                  <a:solidFill>
                    <a:srgbClr val="000000"/>
                  </a:solidFill>
                </a:uFill>
                <a:latin typeface="Arial MT"/>
                <a:cs typeface="Arial MT"/>
              </a:rPr>
              <a:t>countries.</a:t>
            </a:r>
            <a:r>
              <a:rPr lang="en-GB" sz="2800" u="heavy" spc="-70" dirty="0">
                <a:uFill>
                  <a:solidFill>
                    <a:srgbClr val="000000"/>
                  </a:solidFill>
                </a:uFill>
                <a:latin typeface="Arial MT"/>
                <a:cs typeface="Arial MT"/>
              </a:rPr>
              <a:t> </a:t>
            </a:r>
            <a:r>
              <a:rPr lang="en-GB" sz="2800" dirty="0">
                <a:latin typeface="Arial MT"/>
                <a:cs typeface="Arial MT"/>
              </a:rPr>
              <a:t>Without</a:t>
            </a:r>
            <a:r>
              <a:rPr lang="en-GB" sz="2800" spc="-85" dirty="0">
                <a:latin typeface="Arial MT"/>
                <a:cs typeface="Arial MT"/>
              </a:rPr>
              <a:t> </a:t>
            </a:r>
            <a:r>
              <a:rPr lang="en-GB" sz="2800" spc="-10" dirty="0">
                <a:latin typeface="Arial MT"/>
                <a:cs typeface="Arial MT"/>
              </a:rPr>
              <a:t>taking </a:t>
            </a:r>
            <a:r>
              <a:rPr lang="en-GB" sz="2800" dirty="0">
                <a:latin typeface="Arial MT"/>
                <a:cs typeface="Arial MT"/>
              </a:rPr>
              <a:t>some</a:t>
            </a:r>
            <a:r>
              <a:rPr lang="en-GB" sz="2800" spc="-60" dirty="0">
                <a:latin typeface="Arial MT"/>
                <a:cs typeface="Arial MT"/>
              </a:rPr>
              <a:t> </a:t>
            </a:r>
            <a:r>
              <a:rPr lang="en-GB" sz="2800" dirty="0">
                <a:latin typeface="Arial MT"/>
                <a:cs typeface="Arial MT"/>
              </a:rPr>
              <a:t>steps</a:t>
            </a:r>
            <a:r>
              <a:rPr lang="en-GB" sz="2800" spc="-70" dirty="0">
                <a:latin typeface="Arial MT"/>
                <a:cs typeface="Arial MT"/>
              </a:rPr>
              <a:t> </a:t>
            </a:r>
            <a:r>
              <a:rPr lang="en-GB" sz="2800" dirty="0">
                <a:latin typeface="Arial MT"/>
                <a:cs typeface="Arial MT"/>
              </a:rPr>
              <a:t>to</a:t>
            </a:r>
            <a:r>
              <a:rPr lang="en-GB" sz="2800" spc="-65" dirty="0">
                <a:latin typeface="Arial MT"/>
                <a:cs typeface="Arial MT"/>
              </a:rPr>
              <a:t> </a:t>
            </a:r>
            <a:r>
              <a:rPr lang="en-GB" sz="2800" dirty="0">
                <a:latin typeface="Arial MT"/>
                <a:cs typeface="Arial MT"/>
              </a:rPr>
              <a:t>advance</a:t>
            </a:r>
            <a:r>
              <a:rPr lang="en-GB" sz="2800" spc="-35" dirty="0">
                <a:latin typeface="Arial MT"/>
                <a:cs typeface="Arial MT"/>
              </a:rPr>
              <a:t> </a:t>
            </a:r>
            <a:r>
              <a:rPr lang="en-GB" sz="2800" dirty="0">
                <a:latin typeface="Arial MT"/>
                <a:cs typeface="Arial MT"/>
              </a:rPr>
              <a:t>their</a:t>
            </a:r>
            <a:r>
              <a:rPr lang="en-GB" sz="2800" spc="-55" dirty="0">
                <a:latin typeface="Arial MT"/>
                <a:cs typeface="Arial MT"/>
              </a:rPr>
              <a:t> </a:t>
            </a:r>
            <a:r>
              <a:rPr lang="en-GB" sz="2800" dirty="0">
                <a:latin typeface="Arial MT"/>
                <a:cs typeface="Arial MT"/>
              </a:rPr>
              <a:t>financial</a:t>
            </a:r>
            <a:r>
              <a:rPr lang="en-GB" sz="2800" spc="-30" dirty="0">
                <a:latin typeface="Arial MT"/>
                <a:cs typeface="Arial MT"/>
              </a:rPr>
              <a:t> </a:t>
            </a:r>
            <a:r>
              <a:rPr lang="en-GB" sz="2800" spc="-10" dirty="0">
                <a:latin typeface="Arial MT"/>
                <a:cs typeface="Arial MT"/>
              </a:rPr>
              <a:t>technologies, </a:t>
            </a:r>
            <a:r>
              <a:rPr lang="en-GB" sz="2800" dirty="0">
                <a:latin typeface="Arial MT"/>
                <a:cs typeface="Arial MT"/>
              </a:rPr>
              <a:t>financial</a:t>
            </a:r>
            <a:r>
              <a:rPr lang="en-GB" sz="2800" spc="-40" dirty="0">
                <a:latin typeface="Arial MT"/>
                <a:cs typeface="Arial MT"/>
              </a:rPr>
              <a:t> </a:t>
            </a:r>
            <a:r>
              <a:rPr lang="en-GB" sz="2800" dirty="0">
                <a:latin typeface="Arial MT"/>
                <a:cs typeface="Arial MT"/>
              </a:rPr>
              <a:t>institutions</a:t>
            </a:r>
            <a:r>
              <a:rPr lang="en-GB" sz="2800" spc="-50" dirty="0">
                <a:latin typeface="Arial MT"/>
                <a:cs typeface="Arial MT"/>
              </a:rPr>
              <a:t> </a:t>
            </a:r>
            <a:r>
              <a:rPr lang="en-GB" sz="2800" dirty="0">
                <a:latin typeface="Arial MT"/>
                <a:cs typeface="Arial MT"/>
              </a:rPr>
              <a:t>in</a:t>
            </a:r>
            <a:r>
              <a:rPr lang="en-GB" sz="2800" spc="-75" dirty="0">
                <a:latin typeface="Arial MT"/>
                <a:cs typeface="Arial MT"/>
              </a:rPr>
              <a:t> </a:t>
            </a:r>
            <a:r>
              <a:rPr lang="en-GB" sz="2800" dirty="0">
                <a:latin typeface="Arial MT"/>
                <a:cs typeface="Arial MT"/>
              </a:rPr>
              <a:t>some</a:t>
            </a:r>
            <a:r>
              <a:rPr lang="en-GB" sz="2800" spc="-60" dirty="0">
                <a:latin typeface="Arial MT"/>
                <a:cs typeface="Arial MT"/>
              </a:rPr>
              <a:t> </a:t>
            </a:r>
            <a:r>
              <a:rPr lang="en-GB" sz="2800" dirty="0">
                <a:latin typeface="Arial MT"/>
                <a:cs typeface="Arial MT"/>
              </a:rPr>
              <a:t>countries</a:t>
            </a:r>
            <a:r>
              <a:rPr lang="en-GB" sz="2800" spc="-40" dirty="0">
                <a:latin typeface="Arial MT"/>
                <a:cs typeface="Arial MT"/>
              </a:rPr>
              <a:t> </a:t>
            </a:r>
            <a:r>
              <a:rPr lang="en-GB" sz="2800" u="heavy" dirty="0">
                <a:uFill>
                  <a:solidFill>
                    <a:srgbClr val="000000"/>
                  </a:solidFill>
                </a:uFill>
                <a:latin typeface="Arial MT"/>
                <a:cs typeface="Arial MT"/>
              </a:rPr>
              <a:t>risk</a:t>
            </a:r>
            <a:r>
              <a:rPr lang="en-GB" sz="2800" u="heavy" spc="-75" dirty="0">
                <a:uFill>
                  <a:solidFill>
                    <a:srgbClr val="000000"/>
                  </a:solidFill>
                </a:uFill>
                <a:latin typeface="Arial MT"/>
                <a:cs typeface="Arial MT"/>
              </a:rPr>
              <a:t> </a:t>
            </a:r>
            <a:r>
              <a:rPr lang="en-GB" sz="2800" u="heavy" spc="-10" dirty="0">
                <a:uFill>
                  <a:solidFill>
                    <a:srgbClr val="000000"/>
                  </a:solidFill>
                </a:uFill>
                <a:latin typeface="Arial MT"/>
                <a:cs typeface="Arial MT"/>
              </a:rPr>
              <a:t>losing</a:t>
            </a:r>
            <a:r>
              <a:rPr lang="en-GB" sz="2800" spc="-10" dirty="0">
                <a:latin typeface="Arial MT"/>
                <a:cs typeface="Arial MT"/>
              </a:rPr>
              <a:t> </a:t>
            </a:r>
            <a:r>
              <a:rPr lang="en-GB" sz="2800" u="heavy" dirty="0">
                <a:uFill>
                  <a:solidFill>
                    <a:srgbClr val="000000"/>
                  </a:solidFill>
                </a:uFill>
                <a:latin typeface="Arial MT"/>
                <a:cs typeface="Arial MT"/>
              </a:rPr>
              <a:t>competitive</a:t>
            </a:r>
            <a:r>
              <a:rPr lang="en-GB" sz="2800" u="heavy" spc="-75" dirty="0">
                <a:uFill>
                  <a:solidFill>
                    <a:srgbClr val="000000"/>
                  </a:solidFill>
                </a:uFill>
                <a:latin typeface="Arial MT"/>
                <a:cs typeface="Arial MT"/>
              </a:rPr>
              <a:t> </a:t>
            </a:r>
            <a:r>
              <a:rPr lang="en-GB" sz="2800" u="heavy" dirty="0">
                <a:uFill>
                  <a:solidFill>
                    <a:srgbClr val="000000"/>
                  </a:solidFill>
                </a:uFill>
                <a:latin typeface="Arial MT"/>
                <a:cs typeface="Arial MT"/>
              </a:rPr>
              <a:t>advantage</a:t>
            </a:r>
            <a:r>
              <a:rPr lang="en-GB" sz="2800" u="heavy" spc="-70" dirty="0">
                <a:uFill>
                  <a:solidFill>
                    <a:srgbClr val="000000"/>
                  </a:solidFill>
                </a:uFill>
                <a:latin typeface="Arial MT"/>
                <a:cs typeface="Arial MT"/>
              </a:rPr>
              <a:t> </a:t>
            </a:r>
            <a:r>
              <a:rPr lang="en-GB" sz="2800" u="heavy" dirty="0">
                <a:uFill>
                  <a:solidFill>
                    <a:srgbClr val="000000"/>
                  </a:solidFill>
                </a:uFill>
                <a:latin typeface="Arial MT"/>
                <a:cs typeface="Arial MT"/>
              </a:rPr>
              <a:t>by</a:t>
            </a:r>
            <a:r>
              <a:rPr lang="en-GB" sz="2800" u="heavy" spc="-80" dirty="0">
                <a:uFill>
                  <a:solidFill>
                    <a:srgbClr val="000000"/>
                  </a:solidFill>
                </a:uFill>
                <a:latin typeface="Arial MT"/>
                <a:cs typeface="Arial MT"/>
              </a:rPr>
              <a:t> </a:t>
            </a:r>
            <a:r>
              <a:rPr lang="en-GB" sz="2800" u="heavy" dirty="0">
                <a:uFill>
                  <a:solidFill>
                    <a:srgbClr val="000000"/>
                  </a:solidFill>
                </a:uFill>
                <a:latin typeface="Arial MT"/>
                <a:cs typeface="Arial MT"/>
              </a:rPr>
              <a:t>allowing</a:t>
            </a:r>
            <a:r>
              <a:rPr lang="en-GB" sz="2800" u="heavy" spc="-45" dirty="0">
                <a:uFill>
                  <a:solidFill>
                    <a:srgbClr val="000000"/>
                  </a:solidFill>
                </a:uFill>
                <a:latin typeface="Arial MT"/>
                <a:cs typeface="Arial MT"/>
              </a:rPr>
              <a:t> </a:t>
            </a:r>
            <a:r>
              <a:rPr lang="en-GB" sz="2800" u="heavy" dirty="0">
                <a:uFill>
                  <a:solidFill>
                    <a:srgbClr val="000000"/>
                  </a:solidFill>
                </a:uFill>
                <a:latin typeface="Arial MT"/>
                <a:cs typeface="Arial MT"/>
              </a:rPr>
              <a:t>their</a:t>
            </a:r>
            <a:r>
              <a:rPr lang="en-GB" sz="2800" u="heavy" spc="-80" dirty="0">
                <a:uFill>
                  <a:solidFill>
                    <a:srgbClr val="000000"/>
                  </a:solidFill>
                </a:uFill>
                <a:latin typeface="Arial MT"/>
                <a:cs typeface="Arial MT"/>
              </a:rPr>
              <a:t> </a:t>
            </a:r>
            <a:r>
              <a:rPr lang="en-GB" sz="2800" u="heavy" spc="-10" dirty="0">
                <a:uFill>
                  <a:solidFill>
                    <a:srgbClr val="000000"/>
                  </a:solidFill>
                </a:uFill>
                <a:latin typeface="Arial MT"/>
                <a:cs typeface="Arial MT"/>
              </a:rPr>
              <a:t>financial</a:t>
            </a:r>
            <a:r>
              <a:rPr lang="en-GB" sz="2800" spc="-10" dirty="0">
                <a:latin typeface="Arial MT"/>
                <a:cs typeface="Arial MT"/>
              </a:rPr>
              <a:t> </a:t>
            </a:r>
            <a:r>
              <a:rPr lang="en-GB" sz="2800" u="heavy" dirty="0">
                <a:uFill>
                  <a:solidFill>
                    <a:srgbClr val="000000"/>
                  </a:solidFill>
                </a:uFill>
                <a:latin typeface="Arial MT"/>
                <a:cs typeface="Arial MT"/>
              </a:rPr>
              <a:t>environment</a:t>
            </a:r>
            <a:r>
              <a:rPr lang="en-GB" sz="2800" u="heavy" spc="-30" dirty="0">
                <a:uFill>
                  <a:solidFill>
                    <a:srgbClr val="000000"/>
                  </a:solidFill>
                </a:uFill>
                <a:latin typeface="Arial MT"/>
                <a:cs typeface="Arial MT"/>
              </a:rPr>
              <a:t> </a:t>
            </a:r>
            <a:r>
              <a:rPr lang="en-GB" sz="2800" u="heavy" dirty="0">
                <a:uFill>
                  <a:solidFill>
                    <a:srgbClr val="000000"/>
                  </a:solidFill>
                </a:uFill>
                <a:latin typeface="Arial MT"/>
                <a:cs typeface="Arial MT"/>
              </a:rPr>
              <a:t>to</a:t>
            </a:r>
            <a:r>
              <a:rPr lang="en-GB" sz="2800" u="heavy" spc="-55" dirty="0">
                <a:uFill>
                  <a:solidFill>
                    <a:srgbClr val="000000"/>
                  </a:solidFill>
                </a:uFill>
                <a:latin typeface="Arial MT"/>
                <a:cs typeface="Arial MT"/>
              </a:rPr>
              <a:t> </a:t>
            </a:r>
            <a:r>
              <a:rPr lang="en-GB" sz="2800" u="heavy" dirty="0">
                <a:uFill>
                  <a:solidFill>
                    <a:srgbClr val="000000"/>
                  </a:solidFill>
                </a:uFill>
                <a:latin typeface="Arial MT"/>
                <a:cs typeface="Arial MT"/>
              </a:rPr>
              <a:t>become</a:t>
            </a:r>
            <a:r>
              <a:rPr lang="en-GB" sz="2800" u="heavy" spc="-35" dirty="0">
                <a:uFill>
                  <a:solidFill>
                    <a:srgbClr val="000000"/>
                  </a:solidFill>
                </a:uFill>
                <a:latin typeface="Arial MT"/>
                <a:cs typeface="Arial MT"/>
              </a:rPr>
              <a:t> </a:t>
            </a:r>
            <a:r>
              <a:rPr lang="en-GB" sz="2800" u="heavy" spc="-20" dirty="0">
                <a:uFill>
                  <a:solidFill>
                    <a:srgbClr val="000000"/>
                  </a:solidFill>
                </a:uFill>
                <a:latin typeface="Arial MT"/>
                <a:cs typeface="Arial MT"/>
              </a:rPr>
              <a:t>non-</a:t>
            </a:r>
            <a:r>
              <a:rPr lang="en-GB" sz="2800" u="heavy" dirty="0">
                <a:uFill>
                  <a:solidFill>
                    <a:srgbClr val="000000"/>
                  </a:solidFill>
                </a:uFill>
                <a:latin typeface="Arial MT"/>
                <a:cs typeface="Arial MT"/>
              </a:rPr>
              <a:t>competitive</a:t>
            </a:r>
            <a:r>
              <a:rPr lang="en-GB" sz="2800" u="heavy" spc="-45" dirty="0">
                <a:uFill>
                  <a:solidFill>
                    <a:srgbClr val="000000"/>
                  </a:solidFill>
                </a:uFill>
                <a:latin typeface="Arial MT"/>
                <a:cs typeface="Arial MT"/>
              </a:rPr>
              <a:t> </a:t>
            </a:r>
            <a:r>
              <a:rPr lang="en-GB" sz="2800" dirty="0">
                <a:latin typeface="Arial MT"/>
                <a:cs typeface="Arial MT"/>
              </a:rPr>
              <a:t>in</a:t>
            </a:r>
            <a:r>
              <a:rPr lang="en-GB" sz="2800" spc="-50" dirty="0">
                <a:latin typeface="Arial MT"/>
                <a:cs typeface="Arial MT"/>
              </a:rPr>
              <a:t> </a:t>
            </a:r>
            <a:r>
              <a:rPr lang="en-GB" sz="2800" dirty="0">
                <a:latin typeface="Arial MT"/>
                <a:cs typeface="Arial MT"/>
              </a:rPr>
              <a:t>the</a:t>
            </a:r>
            <a:r>
              <a:rPr lang="en-GB" sz="2800" spc="-60" dirty="0">
                <a:latin typeface="Arial MT"/>
                <a:cs typeface="Arial MT"/>
              </a:rPr>
              <a:t> </a:t>
            </a:r>
            <a:r>
              <a:rPr lang="en-GB" sz="2800" spc="-10" dirty="0">
                <a:latin typeface="Arial MT"/>
                <a:cs typeface="Arial MT"/>
              </a:rPr>
              <a:t>global marketplace.</a:t>
            </a:r>
            <a:endParaRPr lang="en-US" sz="2800" spc="-10" dirty="0">
              <a:latin typeface="Arial MT"/>
              <a:cs typeface="Arial MT"/>
            </a:endParaRPr>
          </a:p>
          <a:p>
            <a:pPr marL="514350" indent="-514350" algn="just">
              <a:lnSpc>
                <a:spcPct val="200000"/>
              </a:lnSpc>
              <a:buFont typeface="Wingdings" panose="05000000000000000000" pitchFamily="2" charset="2"/>
              <a:buChar char="§"/>
            </a:pPr>
            <a:r>
              <a:rPr lang="en-GB" sz="2800" dirty="0">
                <a:latin typeface="Arial MT"/>
                <a:cs typeface="Arial MT"/>
              </a:rPr>
              <a:t>For</a:t>
            </a:r>
            <a:r>
              <a:rPr lang="en-GB" sz="2800" spc="-75" dirty="0">
                <a:latin typeface="Arial MT"/>
                <a:cs typeface="Arial MT"/>
              </a:rPr>
              <a:t> </a:t>
            </a:r>
            <a:r>
              <a:rPr lang="en-GB" sz="2800" dirty="0">
                <a:latin typeface="Arial MT"/>
                <a:cs typeface="Arial MT"/>
              </a:rPr>
              <a:t>example,</a:t>
            </a:r>
            <a:r>
              <a:rPr lang="en-GB" sz="2800" spc="-55" dirty="0">
                <a:latin typeface="Arial MT"/>
                <a:cs typeface="Arial MT"/>
              </a:rPr>
              <a:t> </a:t>
            </a:r>
            <a:r>
              <a:rPr lang="en-GB" sz="2800" dirty="0">
                <a:latin typeface="Arial MT"/>
                <a:cs typeface="Arial MT"/>
              </a:rPr>
              <a:t>the</a:t>
            </a:r>
            <a:r>
              <a:rPr lang="en-GB" sz="2800" spc="-75" dirty="0">
                <a:latin typeface="Arial MT"/>
                <a:cs typeface="Arial MT"/>
              </a:rPr>
              <a:t> </a:t>
            </a:r>
            <a:r>
              <a:rPr lang="en-GB" sz="2800" dirty="0">
                <a:solidFill>
                  <a:srgbClr val="051DC7"/>
                </a:solidFill>
                <a:latin typeface="Arial MT"/>
                <a:cs typeface="Arial MT"/>
              </a:rPr>
              <a:t>South</a:t>
            </a:r>
            <a:r>
              <a:rPr lang="en-GB" sz="2800" spc="-75" dirty="0">
                <a:solidFill>
                  <a:srgbClr val="051DC7"/>
                </a:solidFill>
                <a:latin typeface="Arial MT"/>
                <a:cs typeface="Arial MT"/>
              </a:rPr>
              <a:t> </a:t>
            </a:r>
            <a:r>
              <a:rPr lang="en-GB" sz="2800" dirty="0">
                <a:solidFill>
                  <a:srgbClr val="051DC7"/>
                </a:solidFill>
                <a:latin typeface="Arial MT"/>
                <a:cs typeface="Arial MT"/>
              </a:rPr>
              <a:t>Korean</a:t>
            </a:r>
            <a:r>
              <a:rPr lang="en-GB" sz="2800" spc="-65" dirty="0">
                <a:solidFill>
                  <a:srgbClr val="051DC7"/>
                </a:solidFill>
                <a:latin typeface="Arial MT"/>
                <a:cs typeface="Arial MT"/>
              </a:rPr>
              <a:t> </a:t>
            </a:r>
            <a:r>
              <a:rPr lang="en-GB" sz="2800" dirty="0">
                <a:solidFill>
                  <a:srgbClr val="051DC7"/>
                </a:solidFill>
                <a:latin typeface="Arial MT"/>
                <a:cs typeface="Arial MT"/>
              </a:rPr>
              <a:t>government</a:t>
            </a:r>
            <a:r>
              <a:rPr lang="en-GB" sz="2800" spc="-50" dirty="0">
                <a:solidFill>
                  <a:srgbClr val="051DC7"/>
                </a:solidFill>
                <a:latin typeface="Arial MT"/>
                <a:cs typeface="Arial MT"/>
              </a:rPr>
              <a:t> </a:t>
            </a:r>
            <a:r>
              <a:rPr lang="en-GB" sz="2800" dirty="0">
                <a:latin typeface="Arial MT"/>
                <a:cs typeface="Arial MT"/>
              </a:rPr>
              <a:t>realizes</a:t>
            </a:r>
            <a:r>
              <a:rPr lang="en-GB" sz="2800" spc="-55" dirty="0">
                <a:latin typeface="Arial MT"/>
                <a:cs typeface="Arial MT"/>
              </a:rPr>
              <a:t> </a:t>
            </a:r>
            <a:r>
              <a:rPr lang="en-GB" sz="2800" spc="-20" dirty="0">
                <a:latin typeface="Arial MT"/>
                <a:cs typeface="Arial MT"/>
              </a:rPr>
              <a:t>that 	</a:t>
            </a:r>
            <a:r>
              <a:rPr lang="en-GB" sz="2800" dirty="0">
                <a:latin typeface="Arial MT"/>
                <a:cs typeface="Arial MT"/>
              </a:rPr>
              <a:t>fintech</a:t>
            </a:r>
            <a:r>
              <a:rPr lang="en-GB" sz="2800" spc="-65" dirty="0">
                <a:latin typeface="Arial MT"/>
                <a:cs typeface="Arial MT"/>
              </a:rPr>
              <a:t> </a:t>
            </a:r>
            <a:r>
              <a:rPr lang="en-GB" sz="2800" dirty="0">
                <a:latin typeface="Arial MT"/>
                <a:cs typeface="Arial MT"/>
              </a:rPr>
              <a:t>initiatives</a:t>
            </a:r>
            <a:r>
              <a:rPr lang="en-GB" sz="2800" spc="-40" dirty="0">
                <a:latin typeface="Arial MT"/>
                <a:cs typeface="Arial MT"/>
              </a:rPr>
              <a:t> </a:t>
            </a:r>
            <a:r>
              <a:rPr lang="en-GB" sz="2800" dirty="0">
                <a:latin typeface="Arial MT"/>
                <a:cs typeface="Arial MT"/>
              </a:rPr>
              <a:t>are</a:t>
            </a:r>
            <a:r>
              <a:rPr lang="en-GB" sz="2800" spc="-65" dirty="0">
                <a:latin typeface="Arial MT"/>
                <a:cs typeface="Arial MT"/>
              </a:rPr>
              <a:t> </a:t>
            </a:r>
            <a:r>
              <a:rPr lang="en-GB" sz="2800" dirty="0">
                <a:latin typeface="Arial MT"/>
                <a:cs typeface="Arial MT"/>
              </a:rPr>
              <a:t>changing</a:t>
            </a:r>
            <a:r>
              <a:rPr lang="en-GB" sz="2800" spc="-30" dirty="0">
                <a:latin typeface="Arial MT"/>
                <a:cs typeface="Arial MT"/>
              </a:rPr>
              <a:t> </a:t>
            </a:r>
            <a:r>
              <a:rPr lang="en-GB" sz="2800" dirty="0">
                <a:latin typeface="Arial MT"/>
                <a:cs typeface="Arial MT"/>
              </a:rPr>
              <a:t>the</a:t>
            </a:r>
            <a:r>
              <a:rPr lang="en-GB" sz="2800" spc="-65" dirty="0">
                <a:latin typeface="Arial MT"/>
                <a:cs typeface="Arial MT"/>
              </a:rPr>
              <a:t> </a:t>
            </a:r>
            <a:r>
              <a:rPr lang="en-GB" sz="2800" dirty="0">
                <a:latin typeface="Arial MT"/>
                <a:cs typeface="Arial MT"/>
              </a:rPr>
              <a:t>nature</a:t>
            </a:r>
            <a:r>
              <a:rPr lang="en-GB" sz="2800" spc="-55" dirty="0">
                <a:latin typeface="Arial MT"/>
                <a:cs typeface="Arial MT"/>
              </a:rPr>
              <a:t> </a:t>
            </a:r>
            <a:r>
              <a:rPr lang="en-GB" sz="2800" dirty="0">
                <a:latin typeface="Arial MT"/>
                <a:cs typeface="Arial MT"/>
              </a:rPr>
              <a:t>of</a:t>
            </a:r>
            <a:r>
              <a:rPr lang="en-GB" sz="2800" spc="-60" dirty="0">
                <a:latin typeface="Arial MT"/>
                <a:cs typeface="Arial MT"/>
              </a:rPr>
              <a:t> </a:t>
            </a:r>
            <a:r>
              <a:rPr lang="en-GB" sz="2800" spc="-10" dirty="0">
                <a:latin typeface="Arial MT"/>
                <a:cs typeface="Arial MT"/>
              </a:rPr>
              <a:t>financial </a:t>
            </a:r>
            <a:r>
              <a:rPr lang="en-GB" sz="2800" dirty="0">
                <a:latin typeface="Arial MT"/>
                <a:cs typeface="Arial MT"/>
              </a:rPr>
              <a:t>services.</a:t>
            </a:r>
            <a:r>
              <a:rPr lang="en-GB" sz="2800" spc="-50" dirty="0">
                <a:latin typeface="Arial MT"/>
                <a:cs typeface="Arial MT"/>
              </a:rPr>
              <a:t> </a:t>
            </a:r>
            <a:r>
              <a:rPr lang="en-GB" sz="2800" dirty="0">
                <a:latin typeface="Arial MT"/>
                <a:cs typeface="Arial MT"/>
              </a:rPr>
              <a:t>The</a:t>
            </a:r>
            <a:r>
              <a:rPr lang="en-GB" sz="2800" spc="-45" dirty="0">
                <a:latin typeface="Arial MT"/>
                <a:cs typeface="Arial MT"/>
              </a:rPr>
              <a:t> </a:t>
            </a:r>
            <a:r>
              <a:rPr lang="en-GB" sz="2800" dirty="0">
                <a:latin typeface="Arial MT"/>
                <a:cs typeface="Arial MT"/>
              </a:rPr>
              <a:t>industry</a:t>
            </a:r>
            <a:r>
              <a:rPr lang="en-GB" sz="2800" spc="-45" dirty="0">
                <a:latin typeface="Arial MT"/>
                <a:cs typeface="Arial MT"/>
              </a:rPr>
              <a:t> </a:t>
            </a:r>
            <a:r>
              <a:rPr lang="en-GB" sz="2800" dirty="0">
                <a:latin typeface="Arial MT"/>
                <a:cs typeface="Arial MT"/>
              </a:rPr>
              <a:t>there</a:t>
            </a:r>
            <a:r>
              <a:rPr lang="en-GB" sz="2800" spc="-50" dirty="0">
                <a:latin typeface="Arial MT"/>
                <a:cs typeface="Arial MT"/>
              </a:rPr>
              <a:t> </a:t>
            </a:r>
            <a:r>
              <a:rPr lang="en-GB" sz="2800" dirty="0">
                <a:latin typeface="Arial MT"/>
                <a:cs typeface="Arial MT"/>
              </a:rPr>
              <a:t>is</a:t>
            </a:r>
            <a:r>
              <a:rPr lang="en-GB" sz="2800" spc="-45" dirty="0">
                <a:latin typeface="Arial MT"/>
                <a:cs typeface="Arial MT"/>
              </a:rPr>
              <a:t> </a:t>
            </a:r>
            <a:r>
              <a:rPr lang="en-GB" sz="2800" dirty="0">
                <a:latin typeface="Arial MT"/>
                <a:cs typeface="Arial MT"/>
              </a:rPr>
              <a:t>highly</a:t>
            </a:r>
            <a:r>
              <a:rPr lang="en-GB" sz="2800" spc="-20" dirty="0">
                <a:latin typeface="Arial MT"/>
                <a:cs typeface="Arial MT"/>
              </a:rPr>
              <a:t> </a:t>
            </a:r>
            <a:r>
              <a:rPr lang="en-GB" sz="2800" dirty="0">
                <a:latin typeface="Arial MT"/>
                <a:cs typeface="Arial MT"/>
              </a:rPr>
              <a:t>regulated,</a:t>
            </a:r>
            <a:r>
              <a:rPr lang="en-GB" sz="2800" spc="-40" dirty="0">
                <a:latin typeface="Arial MT"/>
                <a:cs typeface="Arial MT"/>
              </a:rPr>
              <a:t> </a:t>
            </a:r>
            <a:r>
              <a:rPr lang="en-GB" sz="2800" dirty="0">
                <a:latin typeface="Arial MT"/>
                <a:cs typeface="Arial MT"/>
              </a:rPr>
              <a:t>and</a:t>
            </a:r>
            <a:r>
              <a:rPr lang="en-GB" sz="2800" spc="-45" dirty="0">
                <a:latin typeface="Arial MT"/>
                <a:cs typeface="Arial MT"/>
              </a:rPr>
              <a:t> </a:t>
            </a:r>
            <a:r>
              <a:rPr lang="en-GB" sz="2800" spc="-25" dirty="0">
                <a:latin typeface="Arial MT"/>
                <a:cs typeface="Arial MT"/>
              </a:rPr>
              <a:t>the 	</a:t>
            </a:r>
            <a:r>
              <a:rPr lang="en-GB" sz="2800" dirty="0">
                <a:latin typeface="Arial MT"/>
                <a:cs typeface="Arial MT"/>
              </a:rPr>
              <a:t>government</a:t>
            </a:r>
            <a:r>
              <a:rPr lang="en-GB" sz="2800" spc="-50" dirty="0">
                <a:latin typeface="Arial MT"/>
                <a:cs typeface="Arial MT"/>
              </a:rPr>
              <a:t> </a:t>
            </a:r>
            <a:r>
              <a:rPr lang="en-GB" sz="2800" dirty="0">
                <a:latin typeface="Arial MT"/>
                <a:cs typeface="Arial MT"/>
              </a:rPr>
              <a:t>worries</a:t>
            </a:r>
            <a:r>
              <a:rPr lang="en-GB" sz="2800" spc="-45" dirty="0">
                <a:latin typeface="Arial MT"/>
                <a:cs typeface="Arial MT"/>
              </a:rPr>
              <a:t> </a:t>
            </a:r>
            <a:r>
              <a:rPr lang="en-GB" sz="2800" dirty="0">
                <a:latin typeface="Arial MT"/>
                <a:cs typeface="Arial MT"/>
              </a:rPr>
              <a:t>about</a:t>
            </a:r>
            <a:r>
              <a:rPr lang="en-GB" sz="2800" spc="-50" dirty="0">
                <a:latin typeface="Arial MT"/>
                <a:cs typeface="Arial MT"/>
              </a:rPr>
              <a:t> </a:t>
            </a:r>
            <a:r>
              <a:rPr lang="en-GB" sz="2800" dirty="0">
                <a:latin typeface="Arial MT"/>
                <a:cs typeface="Arial MT"/>
              </a:rPr>
              <a:t>the</a:t>
            </a:r>
            <a:r>
              <a:rPr lang="en-GB" sz="2800" spc="-60" dirty="0">
                <a:latin typeface="Arial MT"/>
                <a:cs typeface="Arial MT"/>
              </a:rPr>
              <a:t> </a:t>
            </a:r>
            <a:r>
              <a:rPr lang="en-GB" sz="2800" dirty="0">
                <a:latin typeface="Arial MT"/>
                <a:cs typeface="Arial MT"/>
              </a:rPr>
              <a:t>viability</a:t>
            </a:r>
            <a:r>
              <a:rPr lang="en-GB" sz="2800" spc="-15" dirty="0">
                <a:latin typeface="Arial MT"/>
                <a:cs typeface="Arial MT"/>
              </a:rPr>
              <a:t> </a:t>
            </a:r>
            <a:r>
              <a:rPr lang="en-GB" sz="2800" dirty="0">
                <a:latin typeface="Arial MT"/>
                <a:cs typeface="Arial MT"/>
              </a:rPr>
              <a:t>of</a:t>
            </a:r>
            <a:r>
              <a:rPr lang="en-GB" sz="2800" spc="-60" dirty="0">
                <a:latin typeface="Arial MT"/>
                <a:cs typeface="Arial MT"/>
              </a:rPr>
              <a:t> </a:t>
            </a:r>
            <a:r>
              <a:rPr lang="en-GB" sz="2800" dirty="0">
                <a:latin typeface="Arial MT"/>
                <a:cs typeface="Arial MT"/>
              </a:rPr>
              <a:t>its</a:t>
            </a:r>
            <a:r>
              <a:rPr lang="en-GB" sz="2800" spc="-55" dirty="0">
                <a:latin typeface="Arial MT"/>
                <a:cs typeface="Arial MT"/>
              </a:rPr>
              <a:t> </a:t>
            </a:r>
            <a:r>
              <a:rPr lang="en-GB" sz="2800" spc="-10" dirty="0">
                <a:latin typeface="Arial MT"/>
                <a:cs typeface="Arial MT"/>
              </a:rPr>
              <a:t>existing </a:t>
            </a:r>
            <a:r>
              <a:rPr lang="en-GB" sz="2800" dirty="0">
                <a:latin typeface="Arial MT"/>
                <a:cs typeface="Arial MT"/>
              </a:rPr>
              <a:t>banking</a:t>
            </a:r>
            <a:r>
              <a:rPr lang="en-GB" sz="2800" spc="-75" dirty="0">
                <a:latin typeface="Arial MT"/>
                <a:cs typeface="Arial MT"/>
              </a:rPr>
              <a:t> </a:t>
            </a:r>
            <a:r>
              <a:rPr lang="en-GB" sz="2800" dirty="0">
                <a:latin typeface="Arial MT"/>
                <a:cs typeface="Arial MT"/>
              </a:rPr>
              <a:t>infrastructure</a:t>
            </a:r>
            <a:r>
              <a:rPr lang="en-GB" sz="2800" spc="-90" dirty="0">
                <a:latin typeface="Arial MT"/>
                <a:cs typeface="Arial MT"/>
              </a:rPr>
              <a:t> </a:t>
            </a:r>
            <a:r>
              <a:rPr lang="en-GB" sz="2800" dirty="0">
                <a:latin typeface="Arial MT"/>
                <a:cs typeface="Arial MT"/>
              </a:rPr>
              <a:t>going</a:t>
            </a:r>
            <a:r>
              <a:rPr lang="en-GB" sz="2800" spc="-70" dirty="0">
                <a:latin typeface="Arial MT"/>
                <a:cs typeface="Arial MT"/>
              </a:rPr>
              <a:t> </a:t>
            </a:r>
            <a:r>
              <a:rPr lang="en-GB" sz="2800" spc="-10" dirty="0">
                <a:latin typeface="Arial MT"/>
                <a:cs typeface="Arial MT"/>
              </a:rPr>
              <a:t>forward.</a:t>
            </a:r>
            <a:endParaRPr lang="en-GB" sz="2800" dirty="0">
              <a:latin typeface="Arial MT"/>
              <a:cs typeface="Arial MT"/>
            </a:endParaRPr>
          </a:p>
          <a:p>
            <a:pPr marL="514350" indent="-514350" algn="just">
              <a:lnSpc>
                <a:spcPct val="200000"/>
              </a:lnSpc>
              <a:buFont typeface="Wingdings" panose="05000000000000000000" pitchFamily="2" charset="2"/>
              <a:buChar char="§"/>
            </a:pPr>
            <a:endParaRPr lang="en-GB" sz="2800" dirty="0">
              <a:latin typeface="Arial MT"/>
            </a:endParaRPr>
          </a:p>
        </p:txBody>
      </p:sp>
    </p:spTree>
    <p:extLst>
      <p:ext uri="{BB962C8B-B14F-4D97-AF65-F5344CB8AC3E}">
        <p14:creationId xmlns:p14="http://schemas.microsoft.com/office/powerpoint/2010/main" val="1765943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FD9CC-FEFA-8999-236F-B9688515F82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169EB76-DDFE-AB2C-4315-B26BD12C1A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B4AC481B-DE24-0EFF-C11A-184D38C43E9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87CCF7E5-86CF-605F-FD26-282B234553A0}"/>
              </a:ext>
            </a:extLst>
          </p:cNvPr>
          <p:cNvSpPr txBox="1"/>
          <p:nvPr/>
        </p:nvSpPr>
        <p:spPr>
          <a:xfrm>
            <a:off x="990600" y="300719"/>
            <a:ext cx="9356377" cy="1327223"/>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Issues, Threats &amp; Challenges</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D9096A9A-E04B-F25D-7CCF-7B5C33C671F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48616D1E-DFBE-32D1-EBD5-3B213A675D5A}"/>
              </a:ext>
            </a:extLst>
          </p:cNvPr>
          <p:cNvSpPr>
            <a:spLocks noGrp="1"/>
          </p:cNvSpPr>
          <p:nvPr>
            <p:ph type="ftr" sz="quarter" idx="11"/>
          </p:nvPr>
        </p:nvSpPr>
        <p:spPr>
          <a:xfrm>
            <a:off x="5668788" y="9617446"/>
            <a:ext cx="8275812" cy="547688"/>
          </a:xfrm>
        </p:spPr>
        <p:txBody>
          <a:bodyPr/>
          <a:lstStyle/>
          <a:p>
            <a:r>
              <a:rPr lang="en-US" dirty="0">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75020E4-6F5D-6112-6A3F-7CBC39DA85A6}"/>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58</a:t>
            </a:fld>
            <a:endParaRPr lang="en-US">
              <a:latin typeface="Segoe UI" panose="020B0502040204020203" pitchFamily="34" charset="0"/>
              <a:cs typeface="Segoe UI" panose="020B0502040204020203" pitchFamily="34" charset="0"/>
            </a:endParaRPr>
          </a:p>
        </p:txBody>
      </p:sp>
      <p:pic>
        <p:nvPicPr>
          <p:cNvPr id="18" name="Picture 17">
            <a:extLst>
              <a:ext uri="{FF2B5EF4-FFF2-40B4-BE49-F238E27FC236}">
                <a16:creationId xmlns:a16="http://schemas.microsoft.com/office/drawing/2014/main" id="{058361D7-F0F8-541C-CE23-471219A78E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051" y="1416052"/>
            <a:ext cx="16775106" cy="8223247"/>
          </a:xfrm>
          <a:prstGeom prst="rect">
            <a:avLst/>
          </a:prstGeom>
        </p:spPr>
      </p:pic>
    </p:spTree>
    <p:extLst>
      <p:ext uri="{BB962C8B-B14F-4D97-AF65-F5344CB8AC3E}">
        <p14:creationId xmlns:p14="http://schemas.microsoft.com/office/powerpoint/2010/main" val="29237618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0BD5D-0C3E-5534-7A88-C68224A8E9A4}"/>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C6C30F0F-E8B6-55F5-034E-DD47AA8CEE6C}"/>
              </a:ext>
            </a:extLst>
          </p:cNvPr>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CC51EE88-705D-CAB0-AC1B-C1CCBB38D71A}"/>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53FCA397-8A6B-A2BD-9BF5-156DAC5E1A10}"/>
              </a:ext>
            </a:extLst>
          </p:cNvPr>
          <p:cNvSpPr txBox="1"/>
          <p:nvPr/>
        </p:nvSpPr>
        <p:spPr>
          <a:xfrm>
            <a:off x="316056" y="2191121"/>
            <a:ext cx="7098887" cy="5904758"/>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China – The Largest FinTech market in the </a:t>
            </a:r>
          </a:p>
          <a:p>
            <a:pPr marL="0" marR="0" lvl="0" indent="0" algn="ctr" defTabSz="457200" rtl="0" eaLnBrk="1" fontAlgn="auto" latinLnBrk="0" hangingPunct="1">
              <a:lnSpc>
                <a:spcPct val="150000"/>
              </a:lnSpc>
              <a:spcBef>
                <a:spcPts val="0"/>
              </a:spcBef>
              <a:spcAft>
                <a:spcPts val="0"/>
              </a:spcAft>
              <a:buClrTx/>
              <a:buSzTx/>
              <a:buFontTx/>
              <a:buNone/>
              <a:tabLst/>
              <a:defRPr/>
            </a:pP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World</a:t>
            </a:r>
            <a:endPar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Tree>
    <p:extLst>
      <p:ext uri="{BB962C8B-B14F-4D97-AF65-F5344CB8AC3E}">
        <p14:creationId xmlns:p14="http://schemas.microsoft.com/office/powerpoint/2010/main" val="6261604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65EA6-53E2-D8E0-D1F8-F149C22E6AC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A260023-EEA4-A16A-C831-C7CA60C6DCF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582F4D7-D52D-1BB7-4AB4-2C26762686B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A1A1C52F-7865-35C9-C162-79B3BC834629}"/>
              </a:ext>
            </a:extLst>
          </p:cNvPr>
          <p:cNvSpPr txBox="1"/>
          <p:nvPr/>
        </p:nvSpPr>
        <p:spPr>
          <a:xfrm>
            <a:off x="990599" y="300719"/>
            <a:ext cx="16539557" cy="1327223"/>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China – the Largest FinTech Market in the World</a:t>
            </a: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6DF4FB26-12F5-F8A0-1AF4-9D59523BB80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10467B06-6E31-8E19-037C-61F6AC3EA2F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AE51CC50-C1B2-D668-E26A-94766109346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60</a:t>
            </a:fld>
            <a:endParaRPr lang="en-US">
              <a:latin typeface="Segoe UI" panose="020B0502040204020203" pitchFamily="34" charset="0"/>
              <a:cs typeface="Segoe UI" panose="020B0502040204020203" pitchFamily="34" charset="0"/>
            </a:endParaRPr>
          </a:p>
        </p:txBody>
      </p:sp>
      <p:grpSp>
        <p:nvGrpSpPr>
          <p:cNvPr id="14" name="object 6">
            <a:extLst>
              <a:ext uri="{FF2B5EF4-FFF2-40B4-BE49-F238E27FC236}">
                <a16:creationId xmlns:a16="http://schemas.microsoft.com/office/drawing/2014/main" id="{0552B262-3163-0D81-A9BB-47028F93CBCD}"/>
              </a:ext>
            </a:extLst>
          </p:cNvPr>
          <p:cNvGrpSpPr/>
          <p:nvPr/>
        </p:nvGrpSpPr>
        <p:grpSpPr>
          <a:xfrm>
            <a:off x="757843" y="1372335"/>
            <a:ext cx="16773941" cy="8179544"/>
            <a:chOff x="761" y="1216025"/>
            <a:chExt cx="9143365" cy="4454525"/>
          </a:xfrm>
        </p:grpSpPr>
        <p:pic>
          <p:nvPicPr>
            <p:cNvPr id="15" name="object 7">
              <a:extLst>
                <a:ext uri="{FF2B5EF4-FFF2-40B4-BE49-F238E27FC236}">
                  <a16:creationId xmlns:a16="http://schemas.microsoft.com/office/drawing/2014/main" id="{732F3150-17AC-FAE2-CB66-BBDA810866F8}"/>
                </a:ext>
              </a:extLst>
            </p:cNvPr>
            <p:cNvPicPr/>
            <p:nvPr/>
          </p:nvPicPr>
          <p:blipFill>
            <a:blip r:embed="rId3">
              <a:extLst>
                <a:ext uri="{28A0092B-C50C-407E-A947-70E740481C1C}">
                  <a14:useLocalDpi xmlns:a14="http://schemas.microsoft.com/office/drawing/2010/main" val="0"/>
                </a:ext>
              </a:extLst>
            </a:blip>
            <a:srcRect/>
            <a:stretch/>
          </p:blipFill>
          <p:spPr>
            <a:xfrm>
              <a:off x="170461" y="1219200"/>
              <a:ext cx="8803077" cy="4448175"/>
            </a:xfrm>
            <a:prstGeom prst="rect">
              <a:avLst/>
            </a:prstGeom>
          </p:spPr>
        </p:pic>
        <p:sp>
          <p:nvSpPr>
            <p:cNvPr id="16" name="object 8">
              <a:extLst>
                <a:ext uri="{FF2B5EF4-FFF2-40B4-BE49-F238E27FC236}">
                  <a16:creationId xmlns:a16="http://schemas.microsoft.com/office/drawing/2014/main" id="{554919F0-5E38-8A47-E052-933535DB67C4}"/>
                </a:ext>
              </a:extLst>
            </p:cNvPr>
            <p:cNvSpPr/>
            <p:nvPr/>
          </p:nvSpPr>
          <p:spPr>
            <a:xfrm>
              <a:off x="761" y="1216025"/>
              <a:ext cx="9143365" cy="4454525"/>
            </a:xfrm>
            <a:custGeom>
              <a:avLst/>
              <a:gdLst/>
              <a:ahLst/>
              <a:cxnLst/>
              <a:rect l="l" t="t" r="r" b="b"/>
              <a:pathLst>
                <a:path w="9143365" h="4454525">
                  <a:moveTo>
                    <a:pt x="0" y="4454525"/>
                  </a:moveTo>
                  <a:lnTo>
                    <a:pt x="9143238" y="4454525"/>
                  </a:lnTo>
                </a:path>
                <a:path w="9143365" h="4454525">
                  <a:moveTo>
                    <a:pt x="9143238" y="0"/>
                  </a:moveTo>
                  <a:lnTo>
                    <a:pt x="0" y="0"/>
                  </a:lnTo>
                </a:path>
              </a:pathLst>
            </a:custGeom>
            <a:ln w="6350">
              <a:solidFill>
                <a:srgbClr val="000000"/>
              </a:solidFill>
            </a:ln>
          </p:spPr>
          <p:txBody>
            <a:bodyPr wrap="square" lIns="0" tIns="0" rIns="0" bIns="0" rtlCol="0"/>
            <a:lstStyle/>
            <a:p>
              <a:endParaRPr/>
            </a:p>
          </p:txBody>
        </p:sp>
      </p:grpSp>
    </p:spTree>
    <p:extLst>
      <p:ext uri="{BB962C8B-B14F-4D97-AF65-F5344CB8AC3E}">
        <p14:creationId xmlns:p14="http://schemas.microsoft.com/office/powerpoint/2010/main" val="462312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5901D-F5BB-4BD0-9D43-B2E0A18FC99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E48DC6C-BF6F-C7D1-3C4F-7F98210D69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050" y="1322863"/>
            <a:ext cx="16775106" cy="8294582"/>
          </a:xfrm>
          <a:prstGeom prst="rect">
            <a:avLst/>
          </a:prstGeom>
        </p:spPr>
      </p:pic>
      <p:sp>
        <p:nvSpPr>
          <p:cNvPr id="2" name="AutoShape 2">
            <a:extLst>
              <a:ext uri="{FF2B5EF4-FFF2-40B4-BE49-F238E27FC236}">
                <a16:creationId xmlns:a16="http://schemas.microsoft.com/office/drawing/2014/main" id="{347EAE1F-BE80-FBCB-CAF7-57BBE186858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F308DF3E-B309-7E41-F382-408D1192925F}"/>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F0A97034-155D-76EC-AD5A-EEC82CC6D9EF}"/>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6B768D3C-254F-776D-DBDB-498F7F8B367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3B12FC0-00D6-B4FE-840E-28FC104998B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61</a:t>
            </a:fld>
            <a:endParaRPr lang="en-US">
              <a:latin typeface="Segoe UI" panose="020B0502040204020203" pitchFamily="34" charset="0"/>
              <a:cs typeface="Segoe UI" panose="020B0502040204020203" pitchFamily="34" charset="0"/>
            </a:endParaRPr>
          </a:p>
        </p:txBody>
      </p:sp>
      <p:sp>
        <p:nvSpPr>
          <p:cNvPr id="17" name="TextBox 6">
            <a:extLst>
              <a:ext uri="{FF2B5EF4-FFF2-40B4-BE49-F238E27FC236}">
                <a16:creationId xmlns:a16="http://schemas.microsoft.com/office/drawing/2014/main" id="{6D3C564C-EAED-349A-C7D2-270E8EEBAB06}"/>
              </a:ext>
            </a:extLst>
          </p:cNvPr>
          <p:cNvSpPr txBox="1"/>
          <p:nvPr/>
        </p:nvSpPr>
        <p:spPr>
          <a:xfrm>
            <a:off x="990599" y="300719"/>
            <a:ext cx="16539557" cy="621902"/>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Financial Technology – Wealth Tech Cases – </a:t>
            </a:r>
            <a:r>
              <a:rPr lang="en-GB"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Global Fintech VC Investment - Top 15 Global Deals (2018)</a:t>
            </a:r>
            <a:endPar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26" name="object 8">
            <a:extLst>
              <a:ext uri="{FF2B5EF4-FFF2-40B4-BE49-F238E27FC236}">
                <a16:creationId xmlns:a16="http://schemas.microsoft.com/office/drawing/2014/main" id="{CC3EA8B6-C9B4-0CC8-532A-5BD7B61A2933}"/>
              </a:ext>
            </a:extLst>
          </p:cNvPr>
          <p:cNvSpPr txBox="1"/>
          <p:nvPr/>
        </p:nvSpPr>
        <p:spPr>
          <a:xfrm>
            <a:off x="753652" y="1591980"/>
            <a:ext cx="9406347" cy="1151597"/>
          </a:xfrm>
          <a:prstGeom prst="rect">
            <a:avLst/>
          </a:prstGeom>
        </p:spPr>
        <p:txBody>
          <a:bodyPr vert="horz" wrap="square" lIns="0" tIns="12700" rIns="0" bIns="0" rtlCol="0">
            <a:spAutoFit/>
          </a:bodyPr>
          <a:lstStyle/>
          <a:p>
            <a:pPr marL="203200" marR="4568825" indent="-191135" algn="just">
              <a:lnSpc>
                <a:spcPct val="104099"/>
              </a:lnSpc>
              <a:spcBef>
                <a:spcPts val="1605"/>
              </a:spcBef>
              <a:buClr>
                <a:srgbClr val="7888FA"/>
              </a:buClr>
              <a:buFont typeface="Wingdings"/>
              <a:buChar char=""/>
              <a:tabLst>
                <a:tab pos="204470" algn="l"/>
              </a:tabLst>
            </a:pPr>
            <a:r>
              <a:rPr sz="1800" dirty="0">
                <a:latin typeface="Arial MT"/>
                <a:cs typeface="Arial MT"/>
              </a:rPr>
              <a:t>United</a:t>
            </a:r>
            <a:r>
              <a:rPr sz="1800" spc="5" dirty="0">
                <a:latin typeface="Arial MT"/>
                <a:cs typeface="Arial MT"/>
              </a:rPr>
              <a:t> </a:t>
            </a:r>
            <a:r>
              <a:rPr sz="1800" dirty="0">
                <a:latin typeface="Arial MT"/>
                <a:cs typeface="Arial MT"/>
              </a:rPr>
              <a:t>States</a:t>
            </a:r>
            <a:r>
              <a:rPr sz="1800" spc="-5" dirty="0">
                <a:latin typeface="Arial MT"/>
                <a:cs typeface="Arial MT"/>
              </a:rPr>
              <a:t> </a:t>
            </a:r>
            <a:r>
              <a:rPr sz="1800" dirty="0">
                <a:latin typeface="Arial MT"/>
                <a:cs typeface="Arial MT"/>
              </a:rPr>
              <a:t>and</a:t>
            </a:r>
            <a:r>
              <a:rPr sz="1800" spc="-10" dirty="0">
                <a:latin typeface="Arial MT"/>
                <a:cs typeface="Arial MT"/>
              </a:rPr>
              <a:t> </a:t>
            </a:r>
            <a:r>
              <a:rPr sz="1800" spc="-20" dirty="0">
                <a:latin typeface="Arial MT"/>
                <a:cs typeface="Arial MT"/>
              </a:rPr>
              <a:t>China 	</a:t>
            </a:r>
            <a:r>
              <a:rPr sz="1800" dirty="0">
                <a:latin typeface="Arial MT"/>
                <a:cs typeface="Arial MT"/>
              </a:rPr>
              <a:t>account</a:t>
            </a:r>
            <a:r>
              <a:rPr sz="1800" spc="10" dirty="0">
                <a:latin typeface="Arial MT"/>
                <a:cs typeface="Arial MT"/>
              </a:rPr>
              <a:t> </a:t>
            </a:r>
            <a:r>
              <a:rPr sz="1800" dirty="0">
                <a:latin typeface="Arial MT"/>
                <a:cs typeface="Arial MT"/>
              </a:rPr>
              <a:t>for</a:t>
            </a:r>
            <a:r>
              <a:rPr sz="1800" spc="-10" dirty="0">
                <a:latin typeface="Arial MT"/>
                <a:cs typeface="Arial MT"/>
              </a:rPr>
              <a:t> </a:t>
            </a:r>
            <a:r>
              <a:rPr sz="1800" dirty="0">
                <a:latin typeface="Arial MT"/>
                <a:cs typeface="Arial MT"/>
              </a:rPr>
              <a:t>all</a:t>
            </a:r>
            <a:r>
              <a:rPr sz="1800" spc="5" dirty="0">
                <a:latin typeface="Arial MT"/>
                <a:cs typeface="Arial MT"/>
              </a:rPr>
              <a:t> </a:t>
            </a:r>
            <a:r>
              <a:rPr sz="1800" dirty="0">
                <a:latin typeface="Arial MT"/>
                <a:cs typeface="Arial MT"/>
              </a:rPr>
              <a:t>but</a:t>
            </a:r>
            <a:r>
              <a:rPr sz="1800" spc="5" dirty="0">
                <a:latin typeface="Arial MT"/>
                <a:cs typeface="Arial MT"/>
              </a:rPr>
              <a:t> </a:t>
            </a:r>
            <a:r>
              <a:rPr sz="1800" dirty="0">
                <a:latin typeface="Arial MT"/>
                <a:cs typeface="Arial MT"/>
              </a:rPr>
              <a:t>three</a:t>
            </a:r>
            <a:r>
              <a:rPr sz="1800" spc="-5" dirty="0">
                <a:latin typeface="Arial MT"/>
                <a:cs typeface="Arial MT"/>
              </a:rPr>
              <a:t> </a:t>
            </a:r>
            <a:r>
              <a:rPr sz="1800" dirty="0">
                <a:latin typeface="Arial MT"/>
                <a:cs typeface="Arial MT"/>
              </a:rPr>
              <a:t>of</a:t>
            </a:r>
            <a:r>
              <a:rPr sz="1800" spc="5" dirty="0">
                <a:latin typeface="Arial MT"/>
                <a:cs typeface="Arial MT"/>
              </a:rPr>
              <a:t> </a:t>
            </a:r>
            <a:r>
              <a:rPr sz="1800" spc="-25" dirty="0">
                <a:latin typeface="Arial MT"/>
                <a:cs typeface="Arial MT"/>
              </a:rPr>
              <a:t>the 	</a:t>
            </a:r>
            <a:r>
              <a:rPr sz="1800" dirty="0">
                <a:latin typeface="Arial MT"/>
                <a:cs typeface="Arial MT"/>
              </a:rPr>
              <a:t>top</a:t>
            </a:r>
            <a:r>
              <a:rPr sz="1800" spc="-5" dirty="0">
                <a:latin typeface="Arial MT"/>
                <a:cs typeface="Arial MT"/>
              </a:rPr>
              <a:t> </a:t>
            </a:r>
            <a:r>
              <a:rPr sz="1800" dirty="0">
                <a:latin typeface="Arial MT"/>
                <a:cs typeface="Arial MT"/>
              </a:rPr>
              <a:t>fifteen</a:t>
            </a:r>
            <a:r>
              <a:rPr sz="1800" spc="-10" dirty="0">
                <a:latin typeface="Arial MT"/>
                <a:cs typeface="Arial MT"/>
              </a:rPr>
              <a:t> </a:t>
            </a:r>
            <a:r>
              <a:rPr sz="1800" dirty="0">
                <a:latin typeface="Arial MT"/>
                <a:cs typeface="Arial MT"/>
              </a:rPr>
              <a:t>deals</a:t>
            </a:r>
            <a:r>
              <a:rPr sz="1800" spc="5" dirty="0">
                <a:latin typeface="Arial MT"/>
                <a:cs typeface="Arial MT"/>
              </a:rPr>
              <a:t> </a:t>
            </a:r>
            <a:r>
              <a:rPr sz="1800" dirty="0">
                <a:latin typeface="Arial MT"/>
                <a:cs typeface="Arial MT"/>
              </a:rPr>
              <a:t>in</a:t>
            </a:r>
            <a:r>
              <a:rPr sz="1800" spc="-10" dirty="0">
                <a:latin typeface="Arial MT"/>
                <a:cs typeface="Arial MT"/>
              </a:rPr>
              <a:t> </a:t>
            </a:r>
            <a:r>
              <a:rPr sz="1800" dirty="0">
                <a:latin typeface="Arial MT"/>
                <a:cs typeface="Arial MT"/>
              </a:rPr>
              <a:t>2018.</a:t>
            </a:r>
            <a:r>
              <a:rPr sz="1800" spc="15" dirty="0">
                <a:latin typeface="Arial MT"/>
                <a:cs typeface="Arial MT"/>
              </a:rPr>
              <a:t> </a:t>
            </a:r>
            <a:r>
              <a:rPr sz="1800" spc="-20" dirty="0">
                <a:latin typeface="Arial MT"/>
                <a:cs typeface="Arial MT"/>
              </a:rPr>
              <a:t>Other 	</a:t>
            </a:r>
            <a:r>
              <a:rPr sz="1800" dirty="0">
                <a:latin typeface="Arial MT"/>
                <a:cs typeface="Arial MT"/>
              </a:rPr>
              <a:t>countries</a:t>
            </a:r>
            <a:r>
              <a:rPr sz="1800" spc="5" dirty="0">
                <a:latin typeface="Arial MT"/>
                <a:cs typeface="Arial MT"/>
              </a:rPr>
              <a:t> </a:t>
            </a:r>
            <a:r>
              <a:rPr sz="1800" dirty="0">
                <a:latin typeface="Arial MT"/>
                <a:cs typeface="Arial MT"/>
              </a:rPr>
              <a:t>include</a:t>
            </a:r>
            <a:r>
              <a:rPr sz="1800" spc="20" dirty="0">
                <a:latin typeface="Arial MT"/>
                <a:cs typeface="Arial MT"/>
              </a:rPr>
              <a:t> </a:t>
            </a:r>
            <a:r>
              <a:rPr sz="1800" dirty="0">
                <a:latin typeface="Arial MT"/>
                <a:cs typeface="Arial MT"/>
              </a:rPr>
              <a:t>the</a:t>
            </a:r>
            <a:r>
              <a:rPr sz="1800" spc="-5" dirty="0">
                <a:latin typeface="Arial MT"/>
                <a:cs typeface="Arial MT"/>
              </a:rPr>
              <a:t> </a:t>
            </a:r>
            <a:r>
              <a:rPr sz="1800" spc="-10" dirty="0">
                <a:latin typeface="Arial MT"/>
                <a:cs typeface="Arial MT"/>
              </a:rPr>
              <a:t>United 	</a:t>
            </a:r>
            <a:r>
              <a:rPr sz="1800" dirty="0">
                <a:latin typeface="Arial MT"/>
                <a:cs typeface="Arial MT"/>
              </a:rPr>
              <a:t>Kingdom, Germany</a:t>
            </a:r>
            <a:r>
              <a:rPr sz="1800" spc="-5" dirty="0">
                <a:latin typeface="Arial MT"/>
                <a:cs typeface="Arial MT"/>
              </a:rPr>
              <a:t> </a:t>
            </a:r>
            <a:r>
              <a:rPr sz="1800" dirty="0">
                <a:latin typeface="Arial MT"/>
                <a:cs typeface="Arial MT"/>
              </a:rPr>
              <a:t>and </a:t>
            </a:r>
            <a:r>
              <a:rPr sz="1800" spc="-10" dirty="0">
                <a:latin typeface="Arial MT"/>
                <a:cs typeface="Arial MT"/>
              </a:rPr>
              <a:t>India.</a:t>
            </a:r>
            <a:endParaRPr sz="1800" dirty="0">
              <a:latin typeface="Arial MT"/>
              <a:cs typeface="Arial MT"/>
            </a:endParaRPr>
          </a:p>
        </p:txBody>
      </p:sp>
    </p:spTree>
    <p:extLst>
      <p:ext uri="{BB962C8B-B14F-4D97-AF65-F5344CB8AC3E}">
        <p14:creationId xmlns:p14="http://schemas.microsoft.com/office/powerpoint/2010/main" val="41490070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73223-36CE-0BD8-2F1F-746E8A206C3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9F1BBB7-5D13-A440-DD9D-9EC6289CF6F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86328955-BF25-7E7F-7DBA-4B717EEE939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F1868AC-F0A5-64BE-2D7D-193064B6787F}"/>
              </a:ext>
            </a:extLst>
          </p:cNvPr>
          <p:cNvSpPr txBox="1"/>
          <p:nvPr/>
        </p:nvSpPr>
        <p:spPr>
          <a:xfrm>
            <a:off x="990599" y="300719"/>
            <a:ext cx="16539557" cy="1327223"/>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Global Fintech VC Investment - Top 15 Global Deals (H1’22)</a:t>
            </a: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22E4BDE9-0F03-410D-7293-7E4AF6CC87F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E393E7F5-8D3F-1421-61FA-A24E4C8B09F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2FF7C00-1662-4448-BCA5-99B0A77D513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62</a:t>
            </a:fld>
            <a:endParaRPr lang="en-US">
              <a:latin typeface="Segoe UI" panose="020B0502040204020203" pitchFamily="34" charset="0"/>
              <a:cs typeface="Segoe UI" panose="020B0502040204020203" pitchFamily="34" charset="0"/>
            </a:endParaRPr>
          </a:p>
        </p:txBody>
      </p:sp>
      <p:pic>
        <p:nvPicPr>
          <p:cNvPr id="12" name="Picture 11">
            <a:extLst>
              <a:ext uri="{FF2B5EF4-FFF2-40B4-BE49-F238E27FC236}">
                <a16:creationId xmlns:a16="http://schemas.microsoft.com/office/drawing/2014/main" id="{083FFC4A-E15C-2EDD-B48F-6655C128CE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47" y="1556848"/>
            <a:ext cx="16773709" cy="7761050"/>
          </a:xfrm>
          <a:prstGeom prst="rect">
            <a:avLst/>
          </a:prstGeom>
        </p:spPr>
      </p:pic>
    </p:spTree>
    <p:extLst>
      <p:ext uri="{BB962C8B-B14F-4D97-AF65-F5344CB8AC3E}">
        <p14:creationId xmlns:p14="http://schemas.microsoft.com/office/powerpoint/2010/main" val="219690321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B319E-875A-802D-E2DE-44D9A95103A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3D1D3E8-147C-1578-3ACF-4AA7F18BCD43}"/>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234A8D11-9F66-ED6A-769A-1FF7DEBB9EB3}"/>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CC0F8EB8-8F3F-0E31-85FF-5DEF6130FCFF}"/>
              </a:ext>
            </a:extLst>
          </p:cNvPr>
          <p:cNvSpPr txBox="1"/>
          <p:nvPr/>
        </p:nvSpPr>
        <p:spPr>
          <a:xfrm>
            <a:off x="990599" y="300719"/>
            <a:ext cx="16539557" cy="1327223"/>
          </a:xfrm>
          <a:prstGeom prst="rect">
            <a:avLst/>
          </a:prstGeom>
        </p:spPr>
        <p:txBody>
          <a:bodyPr wrap="square" lIns="0" tIns="0" rIns="0" bIns="0" rtlCol="0" anchor="t">
            <a:spAutoFit/>
          </a:bodyPr>
          <a:lstStyle/>
          <a:p>
            <a:pPr>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Global Fintech VC Investment - Top 15 Global Deals (H1’22)</a:t>
            </a:r>
          </a:p>
          <a:p>
            <a:pPr>
              <a:lnSpc>
                <a:spcPts val="5472"/>
              </a:lnSpc>
              <a:defRPr/>
            </a:pPr>
            <a:endPar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endParaRPr>
          </a:p>
        </p:txBody>
      </p:sp>
      <p:sp>
        <p:nvSpPr>
          <p:cNvPr id="9" name="Date Placeholder 8">
            <a:extLst>
              <a:ext uri="{FF2B5EF4-FFF2-40B4-BE49-F238E27FC236}">
                <a16:creationId xmlns:a16="http://schemas.microsoft.com/office/drawing/2014/main" id="{D5BD99FF-5D63-B51E-E53F-B19B90FE44B0}"/>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B3577CEC-2EE5-D7FB-02DA-E545685FE948}"/>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2A787031-7C95-451E-87E7-3522C0205A1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63</a:t>
            </a:fld>
            <a:endParaRPr lang="en-US">
              <a:latin typeface="Segoe UI" panose="020B0502040204020203" pitchFamily="34" charset="0"/>
              <a:cs typeface="Segoe UI" panose="020B0502040204020203" pitchFamily="34" charset="0"/>
            </a:endParaRPr>
          </a:p>
        </p:txBody>
      </p:sp>
      <p:pic>
        <p:nvPicPr>
          <p:cNvPr id="8" name="object 8">
            <a:extLst>
              <a:ext uri="{FF2B5EF4-FFF2-40B4-BE49-F238E27FC236}">
                <a16:creationId xmlns:a16="http://schemas.microsoft.com/office/drawing/2014/main" id="{7D798313-6B6A-A666-6FCE-C1FBB3FF0A98}"/>
              </a:ext>
            </a:extLst>
          </p:cNvPr>
          <p:cNvPicPr/>
          <p:nvPr/>
        </p:nvPicPr>
        <p:blipFill>
          <a:blip r:embed="rId3" cstate="print"/>
          <a:stretch>
            <a:fillRect/>
          </a:stretch>
        </p:blipFill>
        <p:spPr>
          <a:xfrm>
            <a:off x="756447" y="1497256"/>
            <a:ext cx="8387553" cy="7292488"/>
          </a:xfrm>
          <a:prstGeom prst="rect">
            <a:avLst/>
          </a:prstGeom>
        </p:spPr>
      </p:pic>
      <p:sp>
        <p:nvSpPr>
          <p:cNvPr id="12" name="object 7">
            <a:extLst>
              <a:ext uri="{FF2B5EF4-FFF2-40B4-BE49-F238E27FC236}">
                <a16:creationId xmlns:a16="http://schemas.microsoft.com/office/drawing/2014/main" id="{8C0C23FF-344F-52E1-F589-4934C9F337D6}"/>
              </a:ext>
            </a:extLst>
          </p:cNvPr>
          <p:cNvSpPr txBox="1"/>
          <p:nvPr/>
        </p:nvSpPr>
        <p:spPr>
          <a:xfrm>
            <a:off x="9635025" y="1699909"/>
            <a:ext cx="7895131" cy="1919756"/>
          </a:xfrm>
          <a:prstGeom prst="rect">
            <a:avLst/>
          </a:prstGeom>
        </p:spPr>
        <p:txBody>
          <a:bodyPr vert="horz" wrap="square" lIns="0" tIns="12700" rIns="0" bIns="0" rtlCol="0">
            <a:spAutoFit/>
          </a:bodyPr>
          <a:lstStyle/>
          <a:p>
            <a:pPr marL="203835" marR="5080" indent="-191135">
              <a:lnSpc>
                <a:spcPts val="3000"/>
              </a:lnSpc>
              <a:spcBef>
                <a:spcPts val="100"/>
              </a:spcBef>
              <a:buClr>
                <a:srgbClr val="7888FA"/>
              </a:buClr>
              <a:buChar char="•"/>
              <a:tabLst>
                <a:tab pos="205104" algn="l"/>
              </a:tabLst>
            </a:pPr>
            <a:r>
              <a:rPr sz="2400" dirty="0">
                <a:latin typeface="Arial MT"/>
                <a:cs typeface="Arial MT"/>
              </a:rPr>
              <a:t>Global</a:t>
            </a:r>
            <a:r>
              <a:rPr sz="2400" spc="-70" dirty="0">
                <a:latin typeface="Arial MT"/>
                <a:cs typeface="Arial MT"/>
              </a:rPr>
              <a:t> </a:t>
            </a:r>
            <a:r>
              <a:rPr sz="2400" spc="-10" dirty="0">
                <a:latin typeface="Arial MT"/>
                <a:cs typeface="Arial MT"/>
              </a:rPr>
              <a:t>investment 	</a:t>
            </a:r>
            <a:r>
              <a:rPr sz="2400" dirty="0">
                <a:latin typeface="Arial MT"/>
                <a:cs typeface="Arial MT"/>
              </a:rPr>
              <a:t>in</a:t>
            </a:r>
            <a:r>
              <a:rPr sz="2400" spc="-35" dirty="0">
                <a:latin typeface="Arial MT"/>
                <a:cs typeface="Arial MT"/>
              </a:rPr>
              <a:t> </a:t>
            </a:r>
            <a:r>
              <a:rPr sz="2400" dirty="0">
                <a:latin typeface="Arial MT"/>
                <a:cs typeface="Arial MT"/>
              </a:rPr>
              <a:t>fintech</a:t>
            </a:r>
            <a:r>
              <a:rPr sz="2400" spc="-25" dirty="0">
                <a:latin typeface="Arial MT"/>
                <a:cs typeface="Arial MT"/>
              </a:rPr>
              <a:t> </a:t>
            </a:r>
            <a:r>
              <a:rPr sz="2400" spc="-10" dirty="0">
                <a:latin typeface="Arial MT"/>
                <a:cs typeface="Arial MT"/>
              </a:rPr>
              <a:t>dropped</a:t>
            </a:r>
            <a:endParaRPr sz="2400" dirty="0">
              <a:latin typeface="Arial MT"/>
              <a:cs typeface="Arial MT"/>
            </a:endParaRPr>
          </a:p>
          <a:p>
            <a:pPr marL="205104">
              <a:lnSpc>
                <a:spcPts val="2870"/>
              </a:lnSpc>
            </a:pPr>
            <a:r>
              <a:rPr sz="2400" dirty="0">
                <a:latin typeface="Arial MT"/>
                <a:cs typeface="Arial MT"/>
              </a:rPr>
              <a:t>from</a:t>
            </a:r>
            <a:r>
              <a:rPr sz="2400" spc="-50" dirty="0">
                <a:latin typeface="Arial MT"/>
                <a:cs typeface="Arial MT"/>
              </a:rPr>
              <a:t> </a:t>
            </a:r>
            <a:r>
              <a:rPr sz="2400" spc="-10" dirty="0">
                <a:latin typeface="Arial MT"/>
                <a:cs typeface="Arial MT"/>
              </a:rPr>
              <a:t>$111.2</a:t>
            </a:r>
            <a:endParaRPr sz="2400" dirty="0">
              <a:latin typeface="Arial MT"/>
              <a:cs typeface="Arial MT"/>
            </a:endParaRPr>
          </a:p>
          <a:p>
            <a:pPr marL="205104" marR="292100">
              <a:lnSpc>
                <a:spcPct val="104000"/>
              </a:lnSpc>
              <a:spcBef>
                <a:spcPts val="5"/>
              </a:spcBef>
            </a:pPr>
            <a:r>
              <a:rPr sz="2400" dirty="0">
                <a:latin typeface="Arial MT"/>
                <a:cs typeface="Arial MT"/>
              </a:rPr>
              <a:t>billion</a:t>
            </a:r>
            <a:r>
              <a:rPr sz="2400" spc="-50" dirty="0">
                <a:latin typeface="Arial MT"/>
                <a:cs typeface="Arial MT"/>
              </a:rPr>
              <a:t> </a:t>
            </a:r>
            <a:r>
              <a:rPr sz="2400" spc="-10" dirty="0">
                <a:latin typeface="Arial MT"/>
                <a:cs typeface="Arial MT"/>
              </a:rPr>
              <a:t>across </a:t>
            </a:r>
            <a:r>
              <a:rPr sz="2400" dirty="0">
                <a:latin typeface="Arial MT"/>
                <a:cs typeface="Arial MT"/>
              </a:rPr>
              <a:t>3,372</a:t>
            </a:r>
            <a:r>
              <a:rPr sz="2400" spc="-70" dirty="0">
                <a:latin typeface="Arial MT"/>
                <a:cs typeface="Arial MT"/>
              </a:rPr>
              <a:t> </a:t>
            </a:r>
            <a:r>
              <a:rPr sz="2400" dirty="0">
                <a:latin typeface="Arial MT"/>
                <a:cs typeface="Arial MT"/>
              </a:rPr>
              <a:t>deals</a:t>
            </a:r>
            <a:r>
              <a:rPr sz="2400" spc="-40" dirty="0">
                <a:latin typeface="Arial MT"/>
                <a:cs typeface="Arial MT"/>
              </a:rPr>
              <a:t> </a:t>
            </a:r>
            <a:r>
              <a:rPr sz="2400" spc="-25" dirty="0">
                <a:latin typeface="Arial MT"/>
                <a:cs typeface="Arial MT"/>
              </a:rPr>
              <a:t>in </a:t>
            </a:r>
            <a:r>
              <a:rPr sz="2400" dirty="0">
                <a:latin typeface="Arial MT"/>
                <a:cs typeface="Arial MT"/>
              </a:rPr>
              <a:t>H2’21</a:t>
            </a:r>
            <a:r>
              <a:rPr sz="2400" spc="-30" dirty="0">
                <a:latin typeface="Arial MT"/>
                <a:cs typeface="Arial MT"/>
              </a:rPr>
              <a:t> </a:t>
            </a:r>
            <a:r>
              <a:rPr sz="2400" dirty="0">
                <a:latin typeface="Arial MT"/>
                <a:cs typeface="Arial MT"/>
              </a:rPr>
              <a:t>to</a:t>
            </a:r>
            <a:r>
              <a:rPr sz="2400" spc="-55" dirty="0">
                <a:latin typeface="Arial MT"/>
                <a:cs typeface="Arial MT"/>
              </a:rPr>
              <a:t> </a:t>
            </a:r>
            <a:r>
              <a:rPr sz="2400" b="1" spc="-10" dirty="0">
                <a:latin typeface="Arial"/>
                <a:cs typeface="Arial"/>
              </a:rPr>
              <a:t>$107.8</a:t>
            </a:r>
            <a:endParaRPr sz="2400" dirty="0">
              <a:latin typeface="Arial"/>
              <a:cs typeface="Arial"/>
            </a:endParaRPr>
          </a:p>
          <a:p>
            <a:pPr marL="205104" marR="461645" algn="just">
              <a:lnSpc>
                <a:spcPct val="104000"/>
              </a:lnSpc>
              <a:spcBef>
                <a:spcPts val="5"/>
              </a:spcBef>
            </a:pPr>
            <a:r>
              <a:rPr sz="2400" b="1" dirty="0">
                <a:latin typeface="Arial"/>
                <a:cs typeface="Arial"/>
              </a:rPr>
              <a:t>billion</a:t>
            </a:r>
            <a:r>
              <a:rPr sz="2400" b="1" spc="-40" dirty="0">
                <a:latin typeface="Arial"/>
                <a:cs typeface="Arial"/>
              </a:rPr>
              <a:t> </a:t>
            </a:r>
            <a:r>
              <a:rPr sz="2400" b="1" spc="-10" dirty="0">
                <a:latin typeface="Arial"/>
                <a:cs typeface="Arial"/>
              </a:rPr>
              <a:t>across </a:t>
            </a:r>
            <a:r>
              <a:rPr sz="2400" b="1" dirty="0">
                <a:latin typeface="Arial"/>
                <a:cs typeface="Arial"/>
              </a:rPr>
              <a:t>2,980</a:t>
            </a:r>
            <a:r>
              <a:rPr sz="2400" b="1" spc="-65" dirty="0">
                <a:latin typeface="Arial"/>
                <a:cs typeface="Arial"/>
              </a:rPr>
              <a:t> </a:t>
            </a:r>
            <a:r>
              <a:rPr sz="2400" b="1" dirty="0">
                <a:latin typeface="Arial"/>
                <a:cs typeface="Arial"/>
              </a:rPr>
              <a:t>deals</a:t>
            </a:r>
            <a:r>
              <a:rPr sz="2400" b="1" spc="-60" dirty="0">
                <a:latin typeface="Arial"/>
                <a:cs typeface="Arial"/>
              </a:rPr>
              <a:t> </a:t>
            </a:r>
            <a:r>
              <a:rPr sz="2400" b="1" spc="-25" dirty="0">
                <a:latin typeface="Arial"/>
                <a:cs typeface="Arial"/>
              </a:rPr>
              <a:t>in </a:t>
            </a:r>
            <a:r>
              <a:rPr sz="2400" b="1" spc="-10" dirty="0">
                <a:latin typeface="Arial"/>
                <a:cs typeface="Arial"/>
              </a:rPr>
              <a:t>H1’22….(6</a:t>
            </a:r>
            <a:endParaRPr sz="2400" dirty="0">
              <a:latin typeface="Arial"/>
              <a:cs typeface="Arial"/>
            </a:endParaRPr>
          </a:p>
          <a:p>
            <a:pPr marL="205104" algn="just">
              <a:lnSpc>
                <a:spcPct val="100000"/>
              </a:lnSpc>
              <a:spcBef>
                <a:spcPts val="110"/>
              </a:spcBef>
            </a:pPr>
            <a:r>
              <a:rPr sz="2400" b="1" dirty="0">
                <a:latin typeface="Arial"/>
                <a:cs typeface="Arial"/>
              </a:rPr>
              <a:t>months</a:t>
            </a:r>
            <a:r>
              <a:rPr sz="2400" b="1" spc="-10" dirty="0">
                <a:latin typeface="Arial"/>
                <a:cs typeface="Arial"/>
              </a:rPr>
              <a:t> period).</a:t>
            </a:r>
            <a:endParaRPr sz="2400" dirty="0">
              <a:latin typeface="Arial"/>
              <a:cs typeface="Arial"/>
            </a:endParaRPr>
          </a:p>
        </p:txBody>
      </p:sp>
      <p:sp>
        <p:nvSpPr>
          <p:cNvPr id="13" name="object 6">
            <a:extLst>
              <a:ext uri="{FF2B5EF4-FFF2-40B4-BE49-F238E27FC236}">
                <a16:creationId xmlns:a16="http://schemas.microsoft.com/office/drawing/2014/main" id="{A0145302-1203-6311-ED50-BA09D1624614}"/>
              </a:ext>
            </a:extLst>
          </p:cNvPr>
          <p:cNvSpPr txBox="1"/>
          <p:nvPr/>
        </p:nvSpPr>
        <p:spPr>
          <a:xfrm>
            <a:off x="9635025" y="4682364"/>
            <a:ext cx="7895131" cy="1903085"/>
          </a:xfrm>
          <a:prstGeom prst="rect">
            <a:avLst/>
          </a:prstGeom>
        </p:spPr>
        <p:txBody>
          <a:bodyPr vert="horz" wrap="square" lIns="0" tIns="12700" rIns="0" bIns="0" rtlCol="0">
            <a:spAutoFit/>
          </a:bodyPr>
          <a:lstStyle/>
          <a:p>
            <a:pPr marL="203835" indent="-191135">
              <a:lnSpc>
                <a:spcPct val="100000"/>
              </a:lnSpc>
              <a:spcBef>
                <a:spcPts val="100"/>
              </a:spcBef>
              <a:buClr>
                <a:srgbClr val="7888FA"/>
              </a:buClr>
              <a:buFont typeface="Arial MT"/>
              <a:buChar char="•"/>
              <a:tabLst>
                <a:tab pos="203835" algn="l"/>
              </a:tabLst>
            </a:pPr>
            <a:r>
              <a:rPr sz="2400" b="1" dirty="0">
                <a:latin typeface="Arial"/>
                <a:cs typeface="Arial"/>
              </a:rPr>
              <a:t>The</a:t>
            </a:r>
            <a:r>
              <a:rPr sz="2400" b="1" spc="-55" dirty="0">
                <a:latin typeface="Arial"/>
                <a:cs typeface="Arial"/>
              </a:rPr>
              <a:t> </a:t>
            </a:r>
            <a:r>
              <a:rPr sz="2400" b="1" spc="-10" dirty="0">
                <a:latin typeface="Arial"/>
                <a:cs typeface="Arial"/>
              </a:rPr>
              <a:t>Asia-</a:t>
            </a:r>
            <a:r>
              <a:rPr sz="2400" b="1" dirty="0">
                <a:latin typeface="Arial"/>
                <a:cs typeface="Arial"/>
              </a:rPr>
              <a:t>Pacific</a:t>
            </a:r>
            <a:r>
              <a:rPr sz="2400" b="1" spc="-35" dirty="0">
                <a:latin typeface="Arial"/>
                <a:cs typeface="Arial"/>
              </a:rPr>
              <a:t> </a:t>
            </a:r>
            <a:r>
              <a:rPr sz="2400" b="1" dirty="0">
                <a:latin typeface="Arial"/>
                <a:cs typeface="Arial"/>
              </a:rPr>
              <a:t>region</a:t>
            </a:r>
            <a:r>
              <a:rPr sz="2400" b="1" spc="-45" dirty="0">
                <a:latin typeface="Arial"/>
                <a:cs typeface="Arial"/>
              </a:rPr>
              <a:t> </a:t>
            </a:r>
            <a:r>
              <a:rPr sz="2400" b="1" dirty="0">
                <a:latin typeface="Arial"/>
                <a:cs typeface="Arial"/>
              </a:rPr>
              <a:t>attracted</a:t>
            </a:r>
            <a:r>
              <a:rPr sz="2400" b="1" spc="-40" dirty="0">
                <a:latin typeface="Arial"/>
                <a:cs typeface="Arial"/>
              </a:rPr>
              <a:t> </a:t>
            </a:r>
            <a:r>
              <a:rPr sz="2400" b="1" dirty="0">
                <a:latin typeface="Arial"/>
                <a:cs typeface="Arial"/>
              </a:rPr>
              <a:t>$41.8</a:t>
            </a:r>
            <a:r>
              <a:rPr sz="2400" b="1" spc="-35" dirty="0">
                <a:latin typeface="Arial"/>
                <a:cs typeface="Arial"/>
              </a:rPr>
              <a:t> </a:t>
            </a:r>
            <a:r>
              <a:rPr sz="2400" b="1" dirty="0">
                <a:latin typeface="Arial"/>
                <a:cs typeface="Arial"/>
              </a:rPr>
              <a:t>billion</a:t>
            </a:r>
            <a:r>
              <a:rPr sz="2400" dirty="0">
                <a:latin typeface="Arial MT"/>
                <a:cs typeface="Arial MT"/>
              </a:rPr>
              <a:t>,</a:t>
            </a:r>
            <a:r>
              <a:rPr sz="2400" spc="-80" dirty="0">
                <a:latin typeface="Arial MT"/>
                <a:cs typeface="Arial MT"/>
              </a:rPr>
              <a:t> </a:t>
            </a:r>
            <a:r>
              <a:rPr sz="2400" dirty="0">
                <a:latin typeface="Arial MT"/>
                <a:cs typeface="Arial MT"/>
              </a:rPr>
              <a:t>while</a:t>
            </a:r>
            <a:r>
              <a:rPr sz="2400" spc="-15" dirty="0">
                <a:latin typeface="Arial MT"/>
                <a:cs typeface="Arial MT"/>
              </a:rPr>
              <a:t> </a:t>
            </a:r>
            <a:r>
              <a:rPr sz="2400" spc="-25" dirty="0">
                <a:latin typeface="Arial MT"/>
                <a:cs typeface="Arial MT"/>
              </a:rPr>
              <a:t>the</a:t>
            </a:r>
            <a:endParaRPr sz="2400" dirty="0">
              <a:latin typeface="Arial MT"/>
              <a:cs typeface="Arial MT"/>
            </a:endParaRPr>
          </a:p>
          <a:p>
            <a:pPr marL="204470" marR="5080">
              <a:lnSpc>
                <a:spcPts val="3000"/>
              </a:lnSpc>
              <a:spcBef>
                <a:spcPts val="110"/>
              </a:spcBef>
            </a:pPr>
            <a:r>
              <a:rPr sz="2400" b="1" dirty="0">
                <a:latin typeface="Arial"/>
                <a:cs typeface="Arial"/>
              </a:rPr>
              <a:t>Americas</a:t>
            </a:r>
            <a:r>
              <a:rPr sz="2400" b="1" spc="-45" dirty="0">
                <a:latin typeface="Arial"/>
                <a:cs typeface="Arial"/>
              </a:rPr>
              <a:t> </a:t>
            </a:r>
            <a:r>
              <a:rPr sz="2400" b="1" dirty="0">
                <a:latin typeface="Arial"/>
                <a:cs typeface="Arial"/>
              </a:rPr>
              <a:t>attracted</a:t>
            </a:r>
            <a:r>
              <a:rPr sz="2400" b="1" spc="-50" dirty="0">
                <a:latin typeface="Arial"/>
                <a:cs typeface="Arial"/>
              </a:rPr>
              <a:t> </a:t>
            </a:r>
            <a:r>
              <a:rPr sz="2400" b="1" dirty="0">
                <a:latin typeface="Arial"/>
                <a:cs typeface="Arial"/>
              </a:rPr>
              <a:t>$39.4</a:t>
            </a:r>
            <a:r>
              <a:rPr sz="2400" b="1" spc="-40" dirty="0">
                <a:latin typeface="Arial"/>
                <a:cs typeface="Arial"/>
              </a:rPr>
              <a:t> </a:t>
            </a:r>
            <a:r>
              <a:rPr sz="2400" b="1" dirty="0">
                <a:latin typeface="Arial"/>
                <a:cs typeface="Arial"/>
              </a:rPr>
              <a:t>billion</a:t>
            </a:r>
            <a:r>
              <a:rPr sz="2400" b="1" spc="-80" dirty="0">
                <a:latin typeface="Arial"/>
                <a:cs typeface="Arial"/>
              </a:rPr>
              <a:t> </a:t>
            </a:r>
            <a:r>
              <a:rPr sz="2400" dirty="0">
                <a:latin typeface="Arial MT"/>
                <a:cs typeface="Arial MT"/>
              </a:rPr>
              <a:t>–</a:t>
            </a:r>
            <a:r>
              <a:rPr sz="2400" spc="-50" dirty="0">
                <a:latin typeface="Arial MT"/>
                <a:cs typeface="Arial MT"/>
              </a:rPr>
              <a:t> </a:t>
            </a:r>
            <a:r>
              <a:rPr sz="2400" dirty="0">
                <a:latin typeface="Arial MT"/>
                <a:cs typeface="Arial MT"/>
              </a:rPr>
              <a:t>of</a:t>
            </a:r>
            <a:r>
              <a:rPr sz="2400" spc="-50" dirty="0">
                <a:latin typeface="Arial MT"/>
                <a:cs typeface="Arial MT"/>
              </a:rPr>
              <a:t> </a:t>
            </a:r>
            <a:r>
              <a:rPr sz="2400" dirty="0">
                <a:latin typeface="Arial MT"/>
                <a:cs typeface="Arial MT"/>
              </a:rPr>
              <a:t>which</a:t>
            </a:r>
            <a:r>
              <a:rPr sz="2400" spc="-30" dirty="0">
                <a:latin typeface="Arial MT"/>
                <a:cs typeface="Arial MT"/>
              </a:rPr>
              <a:t> </a:t>
            </a:r>
            <a:r>
              <a:rPr sz="2400" dirty="0">
                <a:latin typeface="Arial MT"/>
                <a:cs typeface="Arial MT"/>
              </a:rPr>
              <a:t>the</a:t>
            </a:r>
            <a:r>
              <a:rPr sz="2400" spc="-50" dirty="0">
                <a:latin typeface="Arial MT"/>
                <a:cs typeface="Arial MT"/>
              </a:rPr>
              <a:t> </a:t>
            </a:r>
            <a:r>
              <a:rPr sz="2400" spc="-25" dirty="0">
                <a:latin typeface="Arial MT"/>
                <a:cs typeface="Arial MT"/>
              </a:rPr>
              <a:t>US </a:t>
            </a:r>
            <a:r>
              <a:rPr sz="2400" dirty="0">
                <a:latin typeface="Arial MT"/>
                <a:cs typeface="Arial MT"/>
              </a:rPr>
              <a:t>accounted</a:t>
            </a:r>
            <a:r>
              <a:rPr sz="2400" spc="-45" dirty="0">
                <a:latin typeface="Arial MT"/>
                <a:cs typeface="Arial MT"/>
              </a:rPr>
              <a:t> </a:t>
            </a:r>
            <a:r>
              <a:rPr sz="2400" dirty="0">
                <a:latin typeface="Arial MT"/>
                <a:cs typeface="Arial MT"/>
              </a:rPr>
              <a:t>for</a:t>
            </a:r>
            <a:r>
              <a:rPr sz="2400" spc="-50" dirty="0">
                <a:latin typeface="Arial MT"/>
                <a:cs typeface="Arial MT"/>
              </a:rPr>
              <a:t> </a:t>
            </a:r>
            <a:r>
              <a:rPr sz="2400" dirty="0">
                <a:latin typeface="Arial MT"/>
                <a:cs typeface="Arial MT"/>
              </a:rPr>
              <a:t>$34.9</a:t>
            </a:r>
            <a:r>
              <a:rPr sz="2400" spc="-50" dirty="0">
                <a:latin typeface="Arial MT"/>
                <a:cs typeface="Arial MT"/>
              </a:rPr>
              <a:t> </a:t>
            </a:r>
            <a:r>
              <a:rPr sz="2400" dirty="0">
                <a:latin typeface="Arial MT"/>
                <a:cs typeface="Arial MT"/>
              </a:rPr>
              <a:t>billion,</a:t>
            </a:r>
            <a:r>
              <a:rPr sz="2400" spc="-20" dirty="0">
                <a:latin typeface="Arial MT"/>
                <a:cs typeface="Arial MT"/>
              </a:rPr>
              <a:t> </a:t>
            </a:r>
            <a:r>
              <a:rPr sz="2400" dirty="0">
                <a:latin typeface="Arial MT"/>
                <a:cs typeface="Arial MT"/>
              </a:rPr>
              <a:t>and</a:t>
            </a:r>
            <a:r>
              <a:rPr sz="2400" spc="-50" dirty="0">
                <a:latin typeface="Arial MT"/>
                <a:cs typeface="Arial MT"/>
              </a:rPr>
              <a:t> </a:t>
            </a:r>
            <a:r>
              <a:rPr sz="2400" dirty="0">
                <a:latin typeface="Arial MT"/>
                <a:cs typeface="Arial MT"/>
              </a:rPr>
              <a:t>the</a:t>
            </a:r>
            <a:r>
              <a:rPr sz="2400" spc="-45" dirty="0">
                <a:latin typeface="Arial MT"/>
                <a:cs typeface="Arial MT"/>
              </a:rPr>
              <a:t> </a:t>
            </a:r>
            <a:r>
              <a:rPr sz="2400" b="1" dirty="0">
                <a:latin typeface="Arial"/>
                <a:cs typeface="Arial"/>
              </a:rPr>
              <a:t>EMEA</a:t>
            </a:r>
            <a:r>
              <a:rPr sz="2400" b="1" spc="-65" dirty="0">
                <a:latin typeface="Arial"/>
                <a:cs typeface="Arial"/>
              </a:rPr>
              <a:t> </a:t>
            </a:r>
            <a:r>
              <a:rPr sz="2400" b="1" dirty="0">
                <a:latin typeface="Arial"/>
                <a:cs typeface="Arial"/>
              </a:rPr>
              <a:t>region</a:t>
            </a:r>
            <a:r>
              <a:rPr sz="2400" b="1" spc="-65" dirty="0">
                <a:latin typeface="Arial"/>
                <a:cs typeface="Arial"/>
              </a:rPr>
              <a:t> </a:t>
            </a:r>
            <a:r>
              <a:rPr sz="2400" b="1" spc="-10" dirty="0">
                <a:latin typeface="Arial"/>
                <a:cs typeface="Arial"/>
              </a:rPr>
              <a:t>attracted</a:t>
            </a:r>
            <a:endParaRPr sz="2400" dirty="0">
              <a:latin typeface="Arial"/>
              <a:cs typeface="Arial"/>
            </a:endParaRPr>
          </a:p>
          <a:p>
            <a:pPr marL="204470">
              <a:lnSpc>
                <a:spcPct val="100000"/>
              </a:lnSpc>
            </a:pPr>
            <a:r>
              <a:rPr sz="2400" b="1" dirty="0">
                <a:latin typeface="Arial"/>
                <a:cs typeface="Arial"/>
              </a:rPr>
              <a:t>$26.6</a:t>
            </a:r>
            <a:r>
              <a:rPr sz="2400" b="1" spc="-50" dirty="0">
                <a:latin typeface="Arial"/>
                <a:cs typeface="Arial"/>
              </a:rPr>
              <a:t> </a:t>
            </a:r>
            <a:r>
              <a:rPr sz="2400" b="1" spc="-10" dirty="0">
                <a:latin typeface="Arial"/>
                <a:cs typeface="Arial"/>
              </a:rPr>
              <a:t>billion.</a:t>
            </a:r>
            <a:endParaRPr sz="2400" dirty="0">
              <a:latin typeface="Arial"/>
              <a:cs typeface="Arial"/>
            </a:endParaRPr>
          </a:p>
        </p:txBody>
      </p:sp>
    </p:spTree>
    <p:extLst>
      <p:ext uri="{BB962C8B-B14F-4D97-AF65-F5344CB8AC3E}">
        <p14:creationId xmlns:p14="http://schemas.microsoft.com/office/powerpoint/2010/main" val="35397133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30144-687E-B0E3-85E8-21D9ACD1EF6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0F1F87A-4D4E-9477-6FC3-40A0B192EBD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A806DA77-17A8-BCE7-A461-0276567A9AD7}"/>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32820CF-BA61-D848-F6A4-58D5A90D656E}"/>
              </a:ext>
            </a:extLst>
          </p:cNvPr>
          <p:cNvSpPr txBox="1"/>
          <p:nvPr/>
        </p:nvSpPr>
        <p:spPr>
          <a:xfrm>
            <a:off x="990600" y="300719"/>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AC007869-058A-1D53-DD54-2C161BD1626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98F5FE5-42FF-2D09-B7CE-8B3F3DCF1637}"/>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5003515-08FD-0DA8-63C2-EA2B287034E0}"/>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3ED73E0-14F4-7E66-E9BC-72708804EA6C}"/>
              </a:ext>
            </a:extLst>
          </p:cNvPr>
          <p:cNvSpPr txBox="1"/>
          <p:nvPr/>
        </p:nvSpPr>
        <p:spPr>
          <a:xfrm>
            <a:off x="756447" y="2644758"/>
            <a:ext cx="16775106" cy="5450082"/>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a:t>
            </a:r>
            <a:r>
              <a:rPr lang="en-GB" sz="2800" dirty="0" err="1"/>
              <a:t>ingapore</a:t>
            </a:r>
            <a:r>
              <a:rPr lang="en-GB" sz="2800" dirty="0"/>
              <a:t> is at the heart of the tech industry’s explosive popularity across Southeast Asia. The country has emerged as a hub for technology entrepreneurs, and fintech is one of its front-running sectors.</a:t>
            </a:r>
          </a:p>
          <a:p>
            <a:pPr marL="514350" indent="-514350" algn="just">
              <a:lnSpc>
                <a:spcPct val="200000"/>
              </a:lnSpc>
              <a:buFont typeface="Wingdings" panose="05000000000000000000" pitchFamily="2" charset="2"/>
              <a:buChar char="§"/>
            </a:pPr>
            <a:endParaRPr lang="en-US" sz="1000" dirty="0"/>
          </a:p>
          <a:p>
            <a:pPr marL="514350" indent="-514350" algn="just">
              <a:lnSpc>
                <a:spcPct val="200000"/>
              </a:lnSpc>
              <a:buFont typeface="Wingdings" panose="05000000000000000000" pitchFamily="2" charset="2"/>
              <a:buChar char="§"/>
            </a:pPr>
            <a:r>
              <a:rPr lang="en-US" sz="2800" dirty="0"/>
              <a:t>For centuries, </a:t>
            </a:r>
            <a:r>
              <a:rPr lang="en-GB" sz="2800" dirty="0"/>
              <a:t>With 40% of all fintech companies across Southeast Asia 	based in the country, Singapore has earned itself the title 	of the “</a:t>
            </a:r>
            <a:r>
              <a:rPr lang="en-GB" sz="2800" dirty="0">
                <a:hlinkClick r:id="rId3">
                  <a:extLst>
                    <a:ext uri="{A12FA001-AC4F-418D-AE19-62706E023703}">
                      <ahyp:hlinkClr xmlns:ahyp="http://schemas.microsoft.com/office/drawing/2018/hyperlinkcolor" val="tx"/>
                    </a:ext>
                  </a:extLst>
                </a:hlinkClick>
              </a:rPr>
              <a:t>ASEAN capital of Fintech</a:t>
            </a:r>
            <a:r>
              <a:rPr lang="en-GB" sz="2800" dirty="0"/>
              <a:t>.” The country’s robust 	regulatory regime, policy-level support, and ease of doing 	business, have resulted in it being home to over 750 	fintech companies so far.</a:t>
            </a:r>
          </a:p>
          <a:p>
            <a:pPr marL="514350" indent="-514350" algn="just">
              <a:lnSpc>
                <a:spcPct val="200000"/>
              </a:lnSpc>
              <a:buFont typeface="Wingdings" panose="05000000000000000000" pitchFamily="2" charset="2"/>
              <a:buChar char="§"/>
            </a:pPr>
            <a:endParaRPr lang="en-MY" sz="2800" dirty="0"/>
          </a:p>
        </p:txBody>
      </p:sp>
      <p:sp>
        <p:nvSpPr>
          <p:cNvPr id="4" name="TextBox 6">
            <a:extLst>
              <a:ext uri="{FF2B5EF4-FFF2-40B4-BE49-F238E27FC236}">
                <a16:creationId xmlns:a16="http://schemas.microsoft.com/office/drawing/2014/main" id="{F7C26964-3BDE-1733-5D13-47736D6DA406}"/>
              </a:ext>
            </a:extLst>
          </p:cNvPr>
          <p:cNvSpPr txBox="1"/>
          <p:nvPr/>
        </p:nvSpPr>
        <p:spPr>
          <a:xfrm>
            <a:off x="756447" y="1805216"/>
            <a:ext cx="9356377" cy="621902"/>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Singapore, ASEAN Capital of Fintech</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Tree>
    <p:extLst>
      <p:ext uri="{BB962C8B-B14F-4D97-AF65-F5344CB8AC3E}">
        <p14:creationId xmlns:p14="http://schemas.microsoft.com/office/powerpoint/2010/main" val="1892133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CE329-DF32-2F51-C7E6-E6980C812DFC}"/>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009E119-695E-795F-6AD5-F538BA668E86}"/>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EFCC3D2-8ABB-B339-8E6C-213A1FDB9F81}"/>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0AE8607-05A2-D546-F441-E2B2E8FE422E}"/>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MY"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Unbundling – Breaking Up the Value Chain</a:t>
            </a:r>
          </a:p>
        </p:txBody>
      </p:sp>
      <p:sp>
        <p:nvSpPr>
          <p:cNvPr id="9" name="Date Placeholder 8">
            <a:extLst>
              <a:ext uri="{FF2B5EF4-FFF2-40B4-BE49-F238E27FC236}">
                <a16:creationId xmlns:a16="http://schemas.microsoft.com/office/drawing/2014/main" id="{747E7CDE-6DF0-F3D0-316B-5AE86A7A9FE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83454AE5-B008-A897-BD84-E8E24B0CF886}"/>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948EB365-834E-2528-6E18-78BAD0E4AFD8}"/>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65</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D9340FDF-3A2E-8823-B635-C8A68BDDDB98}"/>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Arial" panose="020B0604020202020204" pitchFamily="34" charset="0"/>
              <a:buChar char="•"/>
            </a:pPr>
            <a:r>
              <a:rPr lang="en-GB" sz="2800" dirty="0"/>
              <a:t>A booming e-commerce and consumer services sector, with the likes of Grab, Lazada and Sea Group setting up shop within the country, has only added to the lure of fintech solutions, such as </a:t>
            </a:r>
            <a:r>
              <a:rPr lang="en-GB" sz="2800" dirty="0" err="1"/>
              <a:t>PayTech</a:t>
            </a:r>
            <a:r>
              <a:rPr lang="en-GB" sz="2800" dirty="0"/>
              <a:t>, in Singapore.</a:t>
            </a:r>
          </a:p>
          <a:p>
            <a:pPr marL="514350" indent="-514350" algn="just">
              <a:lnSpc>
                <a:spcPct val="200000"/>
              </a:lnSpc>
              <a:buFont typeface="Arial" panose="020B0604020202020204" pitchFamily="34" charset="0"/>
              <a:buChar char="•"/>
            </a:pPr>
            <a:endParaRPr lang="en-GB" sz="2800" dirty="0"/>
          </a:p>
          <a:p>
            <a:pPr marL="514350" indent="-514350" algn="just">
              <a:lnSpc>
                <a:spcPct val="200000"/>
              </a:lnSpc>
              <a:buFont typeface="Arial" panose="020B0604020202020204" pitchFamily="34" charset="0"/>
              <a:buChar char="•"/>
            </a:pPr>
            <a:r>
              <a:rPr lang="en-GB" sz="2800" dirty="0"/>
              <a:t>And while hirers are largely looking to keep workforce 	levels steady in Q3 2021, the finance and insurance sectors are among those with the </a:t>
            </a:r>
            <a:r>
              <a:rPr lang="en-GB" sz="2800" dirty="0">
                <a:hlinkClick r:id="rId3">
                  <a:extLst>
                    <a:ext uri="{A12FA001-AC4F-418D-AE19-62706E023703}">
                      <ahyp:hlinkClr xmlns:ahyp="http://schemas.microsoft.com/office/drawing/2018/hyperlinkcolor" val="tx"/>
                    </a:ext>
                  </a:extLst>
                </a:hlinkClick>
              </a:rPr>
              <a:t>strongest job outlooks</a:t>
            </a:r>
            <a:r>
              <a:rPr lang="en-GB" sz="2800" dirty="0"/>
              <a:t> for 	the quarter.</a:t>
            </a:r>
          </a:p>
          <a:p>
            <a:pPr marL="514350" indent="-514350" algn="just">
              <a:lnSpc>
                <a:spcPct val="200000"/>
              </a:lnSpc>
              <a:buFont typeface="Arial" panose="020B0604020202020204" pitchFamily="34" charset="0"/>
              <a:buChar char="•"/>
            </a:pPr>
            <a:endParaRPr lang="en-GB" sz="2800" dirty="0"/>
          </a:p>
        </p:txBody>
      </p:sp>
    </p:spTree>
    <p:extLst>
      <p:ext uri="{BB962C8B-B14F-4D97-AF65-F5344CB8AC3E}">
        <p14:creationId xmlns:p14="http://schemas.microsoft.com/office/powerpoint/2010/main" val="13005097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ED426-2ADC-09CA-8850-5A3C2096D56F}"/>
            </a:ext>
          </a:extLst>
        </p:cNvPr>
        <p:cNvGrpSpPr/>
        <p:nvPr/>
      </p:nvGrpSpPr>
      <p:grpSpPr>
        <a:xfrm>
          <a:off x="0" y="0"/>
          <a:ext cx="0" cy="0"/>
          <a:chOff x="0" y="0"/>
          <a:chExt cx="0" cy="0"/>
        </a:xfrm>
      </p:grpSpPr>
      <p:sp>
        <p:nvSpPr>
          <p:cNvPr id="9" name="object 9">
            <a:extLst>
              <a:ext uri="{FF2B5EF4-FFF2-40B4-BE49-F238E27FC236}">
                <a16:creationId xmlns:a16="http://schemas.microsoft.com/office/drawing/2014/main" id="{2BE48E07-99BA-2D7D-E334-24E2566EEC28}"/>
              </a:ext>
            </a:extLst>
          </p:cNvPr>
          <p:cNvSpPr txBox="1"/>
          <p:nvPr/>
        </p:nvSpPr>
        <p:spPr>
          <a:xfrm>
            <a:off x="902113" y="0"/>
            <a:ext cx="6256973" cy="1649683"/>
          </a:xfrm>
          <a:prstGeom prst="rect">
            <a:avLst/>
          </a:prstGeom>
        </p:spPr>
        <p:txBody>
          <a:bodyPr vert="horz" wrap="square" lIns="0" tIns="18098" rIns="0" bIns="0" rtlCol="0">
            <a:spAutoFit/>
          </a:bodyPr>
          <a:lstStyle/>
          <a:p>
            <a:pPr lvl="0" algn="ctr">
              <a:lnSpc>
                <a:spcPts val="6688"/>
              </a:lnSpc>
              <a:spcBef>
                <a:spcPct val="0"/>
              </a:spcBef>
              <a:defRPr/>
            </a:pPr>
            <a:r>
              <a:rPr lang="en-US" sz="4000" b="1"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Cambria" panose="02040503050406030204" pitchFamily="18" charset="0"/>
                <a:cs typeface="Segoe UI" panose="020B0502040204020203" pitchFamily="34" charset="0"/>
                <a:sym typeface="Droid Serif Bold"/>
              </a:rPr>
              <a:t>INTRODUCTION TO FINTECH</a:t>
            </a:r>
          </a:p>
        </p:txBody>
      </p:sp>
      <p:pic>
        <p:nvPicPr>
          <p:cNvPr id="14" name="Picture 13">
            <a:extLst>
              <a:ext uri="{FF2B5EF4-FFF2-40B4-BE49-F238E27FC236}">
                <a16:creationId xmlns:a16="http://schemas.microsoft.com/office/drawing/2014/main" id="{A9CAFF3D-56AF-89D1-545F-23C249112B12}"/>
              </a:ext>
            </a:extLst>
          </p:cNvPr>
          <p:cNvPicPr>
            <a:picLocks noChangeAspect="1"/>
          </p:cNvPicPr>
          <p:nvPr/>
        </p:nvPicPr>
        <p:blipFill>
          <a:blip r:embed="rId3">
            <a:extLst>
              <a:ext uri="{28A0092B-C50C-407E-A947-70E740481C1C}">
                <a14:useLocalDpi xmlns:a14="http://schemas.microsoft.com/office/drawing/2010/main" val="0"/>
              </a:ext>
            </a:extLst>
          </a:blip>
          <a:srcRect l="38889" t="22954" b="9062"/>
          <a:stretch>
            <a:fillRect/>
          </a:stretch>
        </p:blipFill>
        <p:spPr>
          <a:xfrm>
            <a:off x="7670800" y="0"/>
            <a:ext cx="10617200" cy="10287000"/>
          </a:xfrm>
          <a:prstGeom prst="rect">
            <a:avLst/>
          </a:prstGeom>
        </p:spPr>
      </p:pic>
      <p:sp>
        <p:nvSpPr>
          <p:cNvPr id="15" name="TextBox 6">
            <a:extLst>
              <a:ext uri="{FF2B5EF4-FFF2-40B4-BE49-F238E27FC236}">
                <a16:creationId xmlns:a16="http://schemas.microsoft.com/office/drawing/2014/main" id="{D57B6BDD-6F6F-51E2-E153-F4E9735AF845}"/>
              </a:ext>
            </a:extLst>
          </p:cNvPr>
          <p:cNvSpPr txBox="1"/>
          <p:nvPr/>
        </p:nvSpPr>
        <p:spPr>
          <a:xfrm>
            <a:off x="316056" y="2952868"/>
            <a:ext cx="7098887" cy="4381264"/>
          </a:xfrm>
          <a:prstGeom prst="rect">
            <a:avLst/>
          </a:prstGeom>
        </p:spPr>
        <p:txBody>
          <a:bodyPr wrap="square" lIns="0" tIns="0" rIns="0" bIns="0" rtlCol="0" anchor="t">
            <a:spAutoFit/>
          </a:bodyPr>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Southeast Asia’s </a:t>
            </a:r>
            <a:endPar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endParaRP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T</a:t>
            </a:r>
            <a:r>
              <a:rPr lang="en-US" sz="66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op 5 Largest</a:t>
            </a:r>
          </a:p>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US" sz="66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rPr>
              <a:t>FinTech Unicorns</a:t>
            </a:r>
          </a:p>
        </p:txBody>
      </p:sp>
    </p:spTree>
    <p:extLst>
      <p:ext uri="{BB962C8B-B14F-4D97-AF65-F5344CB8AC3E}">
        <p14:creationId xmlns:p14="http://schemas.microsoft.com/office/powerpoint/2010/main" val="32288226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99D01-5558-6783-96D8-34BE86B8C46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3C700B2-B897-24D5-B122-E34147A04EB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DB38D31-1535-5384-F80E-72189868A194}"/>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9D6EECB-8977-8DB8-899C-2AEE0C226F7C}"/>
              </a:ext>
            </a:extLst>
          </p:cNvPr>
          <p:cNvSpPr txBox="1"/>
          <p:nvPr/>
        </p:nvSpPr>
        <p:spPr>
          <a:xfrm>
            <a:off x="990600" y="300719"/>
            <a:ext cx="10538791" cy="621902"/>
          </a:xfrm>
          <a:prstGeom prst="rect">
            <a:avLst/>
          </a:prstGeom>
        </p:spPr>
        <p:txBody>
          <a:bodyPr wrap="square" lIns="0" tIns="0" rIns="0" bIns="0" rtlCol="0" anchor="t">
            <a:spAutoFit/>
          </a:bodyPr>
          <a:lstStyle/>
          <a:p>
            <a:pPr lvl="0">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Southeast Asia’s Top 5 Largest Fintech Unicorn</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C2DEE133-3A60-1EB4-9458-D14EBC0597C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7D2B73F5-34C1-3D93-677C-C76D661D4F1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DB2BBAFA-F7E2-BF9A-FC85-1339701AC247}"/>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67</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7EDFED0D-DEB4-8F36-CBFD-A7D1506F5C65}"/>
              </a:ext>
            </a:extLst>
          </p:cNvPr>
          <p:cNvSpPr txBox="1"/>
          <p:nvPr/>
        </p:nvSpPr>
        <p:spPr>
          <a:xfrm>
            <a:off x="756447" y="2644758"/>
            <a:ext cx="16775106" cy="6865854"/>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Grab is a technology company headquartered in 	Singapore and Indonesia. In addition to transportation, the company offers food delivery and digital financial services 	via a mobile app. Grab currently operates in Singapore, 	Malaysia, Cambodia, Indonesia, Myanmar, the Philippines, 	Thailand and Vietnam, and is one of Southeast Asia’s 	biggest technology companies.</a:t>
            </a:r>
          </a:p>
          <a:p>
            <a:pPr marL="514350" indent="-514350" algn="just">
              <a:lnSpc>
                <a:spcPct val="200000"/>
              </a:lnSpc>
              <a:buFont typeface="Wingdings" panose="05000000000000000000" pitchFamily="2" charset="2"/>
              <a:buChar char="§"/>
            </a:pPr>
            <a:r>
              <a:rPr lang="en-GB" sz="2800" dirty="0"/>
              <a:t>F</a:t>
            </a:r>
            <a:r>
              <a:rPr lang="en-US" sz="2800" dirty="0"/>
              <a:t>or </a:t>
            </a:r>
            <a:r>
              <a:rPr lang="en-GB" sz="2800" dirty="0"/>
              <a:t>The company, which has been looking to tap into Southeast Asia’s digital banking opportunity, </a:t>
            </a:r>
            <a:r>
              <a:rPr lang="en-GB" sz="2800" dirty="0">
                <a:hlinkClick r:id="rId3">
                  <a:extLst>
                    <a:ext uri="{A12FA001-AC4F-418D-AE19-62706E023703}">
                      <ahyp:hlinkClr xmlns:ahyp="http://schemas.microsoft.com/office/drawing/2018/hyperlinkcolor" val="tx"/>
                    </a:ext>
                  </a:extLst>
                </a:hlinkClick>
              </a:rPr>
              <a:t>secured</a:t>
            </a:r>
            <a:r>
              <a:rPr lang="en-GB" sz="2800" dirty="0"/>
              <a:t> a digital full bank license in Singapore in a partnership with local telco Singtel in 2020. The joint venture also </a:t>
            </a:r>
            <a:r>
              <a:rPr lang="en-GB" sz="2800" dirty="0">
                <a:hlinkClick r:id="rId4">
                  <a:extLst>
                    <a:ext uri="{A12FA001-AC4F-418D-AE19-62706E023703}">
                      <ahyp:hlinkClr xmlns:ahyp="http://schemas.microsoft.com/office/drawing/2018/hyperlinkcolor" val="tx"/>
                    </a:ext>
                  </a:extLst>
                </a:hlinkClick>
              </a:rPr>
              <a:t>applied</a:t>
            </a:r>
            <a:r>
              <a:rPr lang="en-GB" sz="2800" dirty="0"/>
              <a:t> for a digital banking license in Malaysia in July, and recently </a:t>
            </a:r>
            <a:r>
              <a:rPr lang="en-GB" sz="2800" dirty="0">
                <a:hlinkClick r:id="rId5">
                  <a:extLst>
                    <a:ext uri="{A12FA001-AC4F-418D-AE19-62706E023703}">
                      <ahyp:hlinkClr xmlns:ahyp="http://schemas.microsoft.com/office/drawing/2018/hyperlinkcolor" val="tx"/>
                    </a:ext>
                  </a:extLst>
                </a:hlinkClick>
              </a:rPr>
              <a:t>invested</a:t>
            </a:r>
            <a:r>
              <a:rPr lang="en-GB" sz="2800" dirty="0"/>
              <a:t> in Bank Fama International, an</a:t>
            </a:r>
          </a:p>
          <a:p>
            <a:pPr marL="514350" indent="-514350" algn="just">
              <a:lnSpc>
                <a:spcPct val="200000"/>
              </a:lnSpc>
              <a:buFont typeface="Wingdings" panose="05000000000000000000" pitchFamily="2" charset="2"/>
              <a:buChar char="§"/>
            </a:pPr>
            <a:endParaRPr lang="en-MY" sz="2800" dirty="0"/>
          </a:p>
        </p:txBody>
      </p:sp>
      <p:sp>
        <p:nvSpPr>
          <p:cNvPr id="4" name="TextBox 6">
            <a:extLst>
              <a:ext uri="{FF2B5EF4-FFF2-40B4-BE49-F238E27FC236}">
                <a16:creationId xmlns:a16="http://schemas.microsoft.com/office/drawing/2014/main" id="{5797E397-BADB-707B-CD16-300467384898}"/>
              </a:ext>
            </a:extLst>
          </p:cNvPr>
          <p:cNvSpPr txBox="1"/>
          <p:nvPr/>
        </p:nvSpPr>
        <p:spPr>
          <a:xfrm>
            <a:off x="756447" y="1805216"/>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Grab – US $40 Billion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pic>
        <p:nvPicPr>
          <p:cNvPr id="7" name="object 6">
            <a:extLst>
              <a:ext uri="{FF2B5EF4-FFF2-40B4-BE49-F238E27FC236}">
                <a16:creationId xmlns:a16="http://schemas.microsoft.com/office/drawing/2014/main" id="{1CD6FE59-92B6-6A2C-21AB-E5CCE1086C07}"/>
              </a:ext>
            </a:extLst>
          </p:cNvPr>
          <p:cNvPicPr/>
          <p:nvPr/>
        </p:nvPicPr>
        <p:blipFill>
          <a:blip r:embed="rId6" cstate="print"/>
          <a:stretch>
            <a:fillRect/>
          </a:stretch>
        </p:blipFill>
        <p:spPr>
          <a:xfrm>
            <a:off x="14904685" y="1565119"/>
            <a:ext cx="2626868" cy="1079639"/>
          </a:xfrm>
          <a:prstGeom prst="rect">
            <a:avLst/>
          </a:prstGeom>
        </p:spPr>
      </p:pic>
    </p:spTree>
    <p:extLst>
      <p:ext uri="{BB962C8B-B14F-4D97-AF65-F5344CB8AC3E}">
        <p14:creationId xmlns:p14="http://schemas.microsoft.com/office/powerpoint/2010/main" val="37883046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801DC-6282-E7A5-4B96-BCA97B0385C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1C5C9D6-425E-BEAE-B8DC-010815713131}"/>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D3004F09-F224-6596-76C5-B1CEB037A35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CB43FD9-C508-D40D-7CBE-926E386F28C1}"/>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 (Traditional Banking)</a:t>
            </a:r>
          </a:p>
        </p:txBody>
      </p:sp>
      <p:sp>
        <p:nvSpPr>
          <p:cNvPr id="9" name="Date Placeholder 8">
            <a:extLst>
              <a:ext uri="{FF2B5EF4-FFF2-40B4-BE49-F238E27FC236}">
                <a16:creationId xmlns:a16="http://schemas.microsoft.com/office/drawing/2014/main" id="{04F09DDC-4390-89BA-6419-97DFA51B69C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13BE6021-6701-5CB8-A4CD-28E9069E238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68E219D8-BDD4-2F10-7F5C-E98BA56F6E9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68</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4EDC6DC-8185-443C-03BA-706CEF1408C9}"/>
              </a:ext>
            </a:extLst>
          </p:cNvPr>
          <p:cNvSpPr txBox="1"/>
          <p:nvPr/>
        </p:nvSpPr>
        <p:spPr>
          <a:xfrm>
            <a:off x="756447" y="1608990"/>
            <a:ext cx="16775106" cy="3418756"/>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a:t>Grab </a:t>
            </a:r>
            <a:r>
              <a:rPr lang="en-GB" sz="2800" dirty="0">
                <a:hlinkClick r:id="rId3">
                  <a:extLst>
                    <a:ext uri="{A12FA001-AC4F-418D-AE19-62706E023703}">
                      <ahyp:hlinkClr xmlns:ahyp="http://schemas.microsoft.com/office/drawing/2018/hyperlinkcolor" val="tx"/>
                    </a:ext>
                  </a:extLst>
                </a:hlinkClick>
              </a:rPr>
              <a:t>began</a:t>
            </a:r>
            <a:r>
              <a:rPr lang="en-GB" sz="2800" dirty="0"/>
              <a:t> trading on the Nasdaq stock exchange on 	December 2nd after a record US$40 billion merger with a special purpose acquisition company (SPAC). The company raised more than US$4 billion in additional capital as part of the SPAC deal.</a:t>
            </a:r>
          </a:p>
          <a:p>
            <a:pPr marL="514350" indent="-514350" algn="just">
              <a:lnSpc>
                <a:spcPct val="200000"/>
              </a:lnSpc>
              <a:buFont typeface="Wingdings" panose="05000000000000000000" pitchFamily="2" charset="2"/>
              <a:buChar char="§"/>
            </a:pPr>
            <a:endParaRPr lang="en-US" sz="2800" dirty="0"/>
          </a:p>
        </p:txBody>
      </p:sp>
    </p:spTree>
    <p:extLst>
      <p:ext uri="{BB962C8B-B14F-4D97-AF65-F5344CB8AC3E}">
        <p14:creationId xmlns:p14="http://schemas.microsoft.com/office/powerpoint/2010/main" val="29580572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A17F7-9C0B-8435-43A4-D0EC4F0D336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FA452AD-9B78-F77E-D3AD-271E94B2323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6E0FA0F-C742-1687-90AE-9B2EA6516928}"/>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FAEE9BD-832E-4783-3ED4-E92D2438A69F}"/>
              </a:ext>
            </a:extLst>
          </p:cNvPr>
          <p:cNvSpPr txBox="1"/>
          <p:nvPr/>
        </p:nvSpPr>
        <p:spPr>
          <a:xfrm>
            <a:off x="990600" y="300719"/>
            <a:ext cx="10538791" cy="621902"/>
          </a:xfrm>
          <a:prstGeom prst="rect">
            <a:avLst/>
          </a:prstGeom>
        </p:spPr>
        <p:txBody>
          <a:bodyPr wrap="square" lIns="0" tIns="0" rIns="0" bIns="0" rtlCol="0" anchor="t">
            <a:spAutoFit/>
          </a:bodyPr>
          <a:lstStyle/>
          <a:p>
            <a:pPr lvl="0">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Southeast Asia’s Top 5 Largest Fintech Unicorn</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573B4472-629A-0A25-F708-D7F7A294B9D7}"/>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12A8909-86F8-97B2-71D8-FE8DCD94CB20}"/>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64E894F-8D88-57A0-B4FE-6904BDB0ED8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69</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F6E0CEBC-B96E-EF3D-F182-928CC76D4FA5}"/>
              </a:ext>
            </a:extLst>
          </p:cNvPr>
          <p:cNvSpPr txBox="1"/>
          <p:nvPr/>
        </p:nvSpPr>
        <p:spPr>
          <a:xfrm>
            <a:off x="756447" y="2644758"/>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err="1"/>
              <a:t>GoTo</a:t>
            </a:r>
            <a:r>
              <a:rPr lang="en-GB" sz="2800" dirty="0"/>
              <a:t> was formed in May 2021 through the merger of ride- 	hailing and food delivery company Gojek and local e- 	commerce leader Tokopedia, the two most prominent 	unicorns in Indonesia. The firm comprises three business 	arms: Gojek, an on-demand multi-service platform and super 	app; </a:t>
            </a:r>
            <a:r>
              <a:rPr lang="en-GB" sz="2800" dirty="0" err="1"/>
              <a:t>GoTo</a:t>
            </a:r>
            <a:r>
              <a:rPr lang="en-GB" sz="2800" dirty="0"/>
              <a:t> Financial, which covers services such as </a:t>
            </a:r>
            <a:r>
              <a:rPr lang="en-GB" sz="2800" dirty="0" err="1"/>
              <a:t>GoPay</a:t>
            </a:r>
            <a:r>
              <a:rPr lang="en-GB" sz="2800" dirty="0"/>
              <a:t>, 	</a:t>
            </a:r>
            <a:r>
              <a:rPr lang="en-GB" sz="2800" dirty="0" err="1"/>
              <a:t>GoSure</a:t>
            </a:r>
            <a:r>
              <a:rPr lang="en-GB" sz="2800" dirty="0"/>
              <a:t>, </a:t>
            </a:r>
            <a:r>
              <a:rPr lang="en-GB" sz="2800" dirty="0" err="1"/>
              <a:t>GoInvestasti</a:t>
            </a:r>
            <a:r>
              <a:rPr lang="en-GB" sz="2800" dirty="0"/>
              <a:t>, </a:t>
            </a:r>
            <a:r>
              <a:rPr lang="en-GB" sz="2800" dirty="0" err="1"/>
              <a:t>GoPayLater</a:t>
            </a:r>
            <a:r>
              <a:rPr lang="en-GB" sz="2800" dirty="0"/>
              <a:t>, </a:t>
            </a:r>
            <a:r>
              <a:rPr lang="en-GB" sz="2800" dirty="0" err="1"/>
              <a:t>Midtrans</a:t>
            </a:r>
            <a:r>
              <a:rPr lang="en-GB" sz="2800" dirty="0"/>
              <a:t> and Moka; and 	Tokopedia, one of Indonesia’s most popular online shopping 	portals.</a:t>
            </a:r>
          </a:p>
          <a:p>
            <a:pPr marL="514350" indent="-514350" algn="just">
              <a:lnSpc>
                <a:spcPct val="200000"/>
              </a:lnSpc>
              <a:buFont typeface="Wingdings" panose="05000000000000000000" pitchFamily="2" charset="2"/>
              <a:buChar char="§"/>
            </a:pPr>
            <a:r>
              <a:rPr lang="en-GB" sz="2800" dirty="0"/>
              <a:t>Headquartered in Jakarta, Indonesia, </a:t>
            </a:r>
            <a:r>
              <a:rPr lang="en-GB" sz="2800" dirty="0" err="1"/>
              <a:t>GoTo</a:t>
            </a:r>
            <a:r>
              <a:rPr lang="en-GB" sz="2800" dirty="0"/>
              <a:t> </a:t>
            </a:r>
            <a:r>
              <a:rPr lang="en-GB" sz="2800" dirty="0">
                <a:hlinkClick r:id="rId3">
                  <a:extLst>
                    <a:ext uri="{A12FA001-AC4F-418D-AE19-62706E023703}">
                      <ahyp:hlinkClr xmlns:ahyp="http://schemas.microsoft.com/office/drawing/2018/hyperlinkcolor" val="tx"/>
                    </a:ext>
                  </a:extLst>
                </a:hlinkClick>
              </a:rPr>
              <a:t>counts</a:t>
            </a:r>
            <a:r>
              <a:rPr lang="en-GB" sz="2800" dirty="0"/>
              <a:t> over 100 	million monthly active users, more than 11 million merchants, 	and over 2 million drivers in an ecosystem that represents 	2% of Indonesia’s US$1 trillion gross domestic product 	(GDP)</a:t>
            </a:r>
          </a:p>
          <a:p>
            <a:pPr marL="514350" indent="-514350" algn="just">
              <a:lnSpc>
                <a:spcPct val="200000"/>
              </a:lnSpc>
              <a:buFont typeface="Wingdings" panose="05000000000000000000" pitchFamily="2" charset="2"/>
              <a:buChar char="§"/>
            </a:pPr>
            <a:endParaRPr lang="en-MY" sz="2800" dirty="0"/>
          </a:p>
        </p:txBody>
      </p:sp>
      <p:sp>
        <p:nvSpPr>
          <p:cNvPr id="4" name="TextBox 6">
            <a:extLst>
              <a:ext uri="{FF2B5EF4-FFF2-40B4-BE49-F238E27FC236}">
                <a16:creationId xmlns:a16="http://schemas.microsoft.com/office/drawing/2014/main" id="{74D43B29-FF17-AE59-7359-74BAD128C154}"/>
              </a:ext>
            </a:extLst>
          </p:cNvPr>
          <p:cNvSpPr txBox="1"/>
          <p:nvPr/>
        </p:nvSpPr>
        <p:spPr>
          <a:xfrm>
            <a:off x="756447" y="1805216"/>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GoTo</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 US $28 Billion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pic>
        <p:nvPicPr>
          <p:cNvPr id="7" name="object 6">
            <a:extLst>
              <a:ext uri="{FF2B5EF4-FFF2-40B4-BE49-F238E27FC236}">
                <a16:creationId xmlns:a16="http://schemas.microsoft.com/office/drawing/2014/main" id="{F7135DE8-CD71-84D2-D9BD-1150B13DB334}"/>
              </a:ext>
            </a:extLst>
          </p:cNvPr>
          <p:cNvPicPr/>
          <p:nvPr/>
        </p:nvPicPr>
        <p:blipFill>
          <a:blip r:embed="rId4" cstate="print"/>
          <a:stretch>
            <a:fillRect/>
          </a:stretch>
        </p:blipFill>
        <p:spPr>
          <a:xfrm>
            <a:off x="14904685" y="1565119"/>
            <a:ext cx="2626868" cy="1079639"/>
          </a:xfrm>
          <a:prstGeom prst="rect">
            <a:avLst/>
          </a:prstGeom>
        </p:spPr>
      </p:pic>
      <p:pic>
        <p:nvPicPr>
          <p:cNvPr id="8" name="object 6">
            <a:extLst>
              <a:ext uri="{FF2B5EF4-FFF2-40B4-BE49-F238E27FC236}">
                <a16:creationId xmlns:a16="http://schemas.microsoft.com/office/drawing/2014/main" id="{7ECED2F8-6E82-D342-35EF-F5F60CC41079}"/>
              </a:ext>
            </a:extLst>
          </p:cNvPr>
          <p:cNvPicPr/>
          <p:nvPr/>
        </p:nvPicPr>
        <p:blipFill>
          <a:blip r:embed="rId5" cstate="print"/>
          <a:stretch>
            <a:fillRect/>
          </a:stretch>
        </p:blipFill>
        <p:spPr>
          <a:xfrm>
            <a:off x="14774511" y="1513292"/>
            <a:ext cx="2757042" cy="1219200"/>
          </a:xfrm>
          <a:prstGeom prst="rect">
            <a:avLst/>
          </a:prstGeom>
        </p:spPr>
      </p:pic>
    </p:spTree>
    <p:extLst>
      <p:ext uri="{BB962C8B-B14F-4D97-AF65-F5344CB8AC3E}">
        <p14:creationId xmlns:p14="http://schemas.microsoft.com/office/powerpoint/2010/main" val="19750752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D4FE0-E7CE-76A6-3575-97C176CEAE5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6E74247-7170-C263-EC14-8D729B69C09C}"/>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7FEABE42-D33A-E35A-A29E-1AB21E8FEADB}"/>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1518B2F-9DD8-AA4F-8012-4529C42BA214}"/>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 (Traditional Banking)</a:t>
            </a:r>
          </a:p>
        </p:txBody>
      </p:sp>
      <p:sp>
        <p:nvSpPr>
          <p:cNvPr id="9" name="Date Placeholder 8">
            <a:extLst>
              <a:ext uri="{FF2B5EF4-FFF2-40B4-BE49-F238E27FC236}">
                <a16:creationId xmlns:a16="http://schemas.microsoft.com/office/drawing/2014/main" id="{7E0CBA9C-543D-B96F-98DD-51A12DE3E2FB}"/>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9979AD5-A0D2-D57C-68C7-C479E072CF54}"/>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83FC6FCF-896F-A659-1FFF-CBF17A88D8DC}"/>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70</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3BBFC33D-B487-8BFB-963E-0648C66F7038}"/>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GB" sz="2800" dirty="0" err="1"/>
              <a:t>GoTo</a:t>
            </a:r>
            <a:r>
              <a:rPr lang="en-GB" sz="2800" dirty="0"/>
              <a:t> made its debut on the Indonesia Stock Exchange on 	April 11, 2022, raising an estimated US$1.1 billion from its 	initial public offering (IPO). The total amount raised, the third- 	largest IPO in Asia and fifth-largest globally this year, </a:t>
            </a:r>
            <a:r>
              <a:rPr lang="en-GB" sz="2800" dirty="0">
                <a:hlinkClick r:id="rId3">
                  <a:extLst>
                    <a:ext uri="{A12FA001-AC4F-418D-AE19-62706E023703}">
                      <ahyp:hlinkClr xmlns:ahyp="http://schemas.microsoft.com/office/drawing/2018/hyperlinkcolor" val="tx"/>
                    </a:ext>
                  </a:extLst>
                </a:hlinkClick>
              </a:rPr>
              <a:t>represented</a:t>
            </a:r>
            <a:r>
              <a:rPr lang="en-GB" sz="2800" dirty="0"/>
              <a:t> a market capitalization of US$28 billion. The funds will be used to drive the company’s expansion into high-growth markets such as Singapore and Vietnam, as well as drive customer engagement.</a:t>
            </a:r>
          </a:p>
          <a:p>
            <a:pPr marL="514350" indent="-514350" algn="just">
              <a:lnSpc>
                <a:spcPct val="200000"/>
              </a:lnSpc>
              <a:buFont typeface="Wingdings" panose="05000000000000000000" pitchFamily="2" charset="2"/>
              <a:buChar char="§"/>
            </a:pPr>
            <a:endParaRPr lang="en-GB" sz="2800" dirty="0"/>
          </a:p>
          <a:p>
            <a:pPr marL="514350" indent="-514350" algn="just">
              <a:lnSpc>
                <a:spcPct val="200000"/>
              </a:lnSpc>
              <a:buFont typeface="Wingdings" panose="05000000000000000000" pitchFamily="2" charset="2"/>
              <a:buChar char="§"/>
            </a:pPr>
            <a:endParaRPr lang="en-US" sz="2800" dirty="0"/>
          </a:p>
        </p:txBody>
      </p:sp>
    </p:spTree>
    <p:extLst>
      <p:ext uri="{BB962C8B-B14F-4D97-AF65-F5344CB8AC3E}">
        <p14:creationId xmlns:p14="http://schemas.microsoft.com/office/powerpoint/2010/main" val="1328614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132BA-981A-4005-18AF-1FE768E4F40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A8487EF-74B5-103D-EC8D-76092763B2DE}"/>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4B1DBC47-17D0-7BBF-5963-6C1DC85921C9}"/>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D011F556-1772-B7E0-D0D3-36C6ED69E662}"/>
              </a:ext>
            </a:extLst>
          </p:cNvPr>
          <p:cNvSpPr txBox="1"/>
          <p:nvPr/>
        </p:nvSpPr>
        <p:spPr>
          <a:xfrm>
            <a:off x="990600" y="300719"/>
            <a:ext cx="10538791" cy="621902"/>
          </a:xfrm>
          <a:prstGeom prst="rect">
            <a:avLst/>
          </a:prstGeom>
        </p:spPr>
        <p:txBody>
          <a:bodyPr wrap="square" lIns="0" tIns="0" rIns="0" bIns="0" rtlCol="0" anchor="t">
            <a:spAutoFit/>
          </a:bodyPr>
          <a:lstStyle/>
          <a:p>
            <a:pPr lvl="0">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Southeast Asia’s Top 5 Largest Fintech Unicorn</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866C2150-BD67-6A5C-66DE-014F2054EACD}"/>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015CAAC-6A69-735A-3A2F-15D1E6A5F60F}"/>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7805782B-9925-6013-C889-40BA40A94D5B}"/>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71</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2AC089C4-0360-C728-7ABB-4133259DC3DF}"/>
              </a:ext>
            </a:extLst>
          </p:cNvPr>
          <p:cNvSpPr txBox="1"/>
          <p:nvPr/>
        </p:nvSpPr>
        <p:spPr>
          <a:xfrm>
            <a:off x="756447" y="2644758"/>
            <a:ext cx="16775106" cy="4280531"/>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Sea was awarded a digital full bank license in Singapore in 	2020, and last year, its e-commerce arm Shopee acquired 	Indonesian lender Bank </a:t>
            </a:r>
            <a:r>
              <a:rPr lang="en-US" sz="2800" dirty="0" err="1"/>
              <a:t>Kesejahteraan</a:t>
            </a:r>
            <a:r>
              <a:rPr lang="en-US" sz="2800" dirty="0"/>
              <a:t> Ekonomi with the 	aim of transforming it into a digital bank.</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r>
              <a:rPr lang="en-US" sz="2800" dirty="0"/>
              <a:t>Sea </a:t>
            </a:r>
            <a:r>
              <a:rPr lang="en-US" sz="2800" dirty="0">
                <a:hlinkClick r:id="rId3">
                  <a:extLst>
                    <a:ext uri="{A12FA001-AC4F-418D-AE19-62706E023703}">
                      <ahyp:hlinkClr xmlns:ahyp="http://schemas.microsoft.com/office/drawing/2018/hyperlinkcolor" val="tx"/>
                    </a:ext>
                  </a:extLst>
                </a:hlinkClick>
              </a:rPr>
              <a:t>started trading</a:t>
            </a:r>
            <a:r>
              <a:rPr lang="en-US" sz="2800" dirty="0"/>
              <a:t> on the New York Stock Exchange on 	October 20, 2017 after raising US$884 million from its listing. Sea was valued US$4.8 billion at the time, </a:t>
            </a:r>
            <a:r>
              <a:rPr lang="en-US" sz="2800" dirty="0">
                <a:hlinkClick r:id="rId4">
                  <a:extLst>
                    <a:ext uri="{A12FA001-AC4F-418D-AE19-62706E023703}">
                      <ahyp:hlinkClr xmlns:ahyp="http://schemas.microsoft.com/office/drawing/2018/hyperlinkcolor" val="tx"/>
                    </a:ext>
                  </a:extLst>
                </a:hlinkClick>
              </a:rPr>
              <a:t>according</a:t>
            </a:r>
            <a:r>
              <a:rPr lang="en-US" sz="2800" dirty="0"/>
              <a:t> to CB Insights.</a:t>
            </a:r>
          </a:p>
        </p:txBody>
      </p:sp>
      <p:sp>
        <p:nvSpPr>
          <p:cNvPr id="4" name="TextBox 6">
            <a:extLst>
              <a:ext uri="{FF2B5EF4-FFF2-40B4-BE49-F238E27FC236}">
                <a16:creationId xmlns:a16="http://schemas.microsoft.com/office/drawing/2014/main" id="{5A77D484-75B1-AE3F-8D3D-670FE7F281FF}"/>
              </a:ext>
            </a:extLst>
          </p:cNvPr>
          <p:cNvSpPr txBox="1"/>
          <p:nvPr/>
        </p:nvSpPr>
        <p:spPr>
          <a:xfrm>
            <a:off x="756447" y="1805216"/>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Sea – US $4.8 Billion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pic>
        <p:nvPicPr>
          <p:cNvPr id="14" name="object 6">
            <a:extLst>
              <a:ext uri="{FF2B5EF4-FFF2-40B4-BE49-F238E27FC236}">
                <a16:creationId xmlns:a16="http://schemas.microsoft.com/office/drawing/2014/main" id="{4659068F-18C9-CD29-5A5C-D56459A0345C}"/>
              </a:ext>
            </a:extLst>
          </p:cNvPr>
          <p:cNvPicPr/>
          <p:nvPr/>
        </p:nvPicPr>
        <p:blipFill>
          <a:blip r:embed="rId5" cstate="print"/>
          <a:stretch>
            <a:fillRect/>
          </a:stretch>
        </p:blipFill>
        <p:spPr>
          <a:xfrm>
            <a:off x="14396686" y="1417684"/>
            <a:ext cx="3134867" cy="1328674"/>
          </a:xfrm>
          <a:prstGeom prst="rect">
            <a:avLst/>
          </a:prstGeom>
        </p:spPr>
      </p:pic>
    </p:spTree>
    <p:extLst>
      <p:ext uri="{BB962C8B-B14F-4D97-AF65-F5344CB8AC3E}">
        <p14:creationId xmlns:p14="http://schemas.microsoft.com/office/powerpoint/2010/main" val="35004814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D5CB-71B5-2C8B-79AF-3502EAA536D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EDA9F23-7B9C-348D-2159-5698B3C3B7AB}"/>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A4F2CFE-D437-CE7E-7F34-6930E2A3270C}"/>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1B9DEC9-4B08-2E6E-8AF2-BA8CF3CC4C95}"/>
              </a:ext>
            </a:extLst>
          </p:cNvPr>
          <p:cNvSpPr txBox="1"/>
          <p:nvPr/>
        </p:nvSpPr>
        <p:spPr>
          <a:xfrm>
            <a:off x="990600" y="300719"/>
            <a:ext cx="10538791" cy="621902"/>
          </a:xfrm>
          <a:prstGeom prst="rect">
            <a:avLst/>
          </a:prstGeom>
        </p:spPr>
        <p:txBody>
          <a:bodyPr wrap="square" lIns="0" tIns="0" rIns="0" bIns="0" rtlCol="0" anchor="t">
            <a:spAutoFit/>
          </a:bodyPr>
          <a:lstStyle/>
          <a:p>
            <a:pPr lvl="0">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Southeast Asia’s Top 5 Largest Fintech Unicorn</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B104B43C-651E-44B1-D0A4-71EB584BC2D8}"/>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9C562FBA-A98A-8D38-F3B3-6A9DA366451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3B987E15-85C3-A85A-F25F-DC30FAC8C68D}"/>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72</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D42EFDCE-C040-B85C-AEAC-40907FE8FE74}"/>
              </a:ext>
            </a:extLst>
          </p:cNvPr>
          <p:cNvSpPr txBox="1"/>
          <p:nvPr/>
        </p:nvSpPr>
        <p:spPr>
          <a:xfrm>
            <a:off x="756447" y="2644758"/>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Ovo, officially PT </a:t>
            </a:r>
            <a:r>
              <a:rPr lang="en-US" sz="2800" dirty="0" err="1"/>
              <a:t>Visionet</a:t>
            </a:r>
            <a:r>
              <a:rPr lang="en-US" sz="2800" dirty="0"/>
              <a:t> Internasional, is a digital 	payment service based in Jakarta, Indonesia, and one of the largest e-wallets in the country for both online and 	offline transactions.</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r>
              <a:rPr lang="en-US" sz="2800" dirty="0"/>
              <a:t>In addition to its core digital payment services, Ovo has 	also moved into other financial services. Ovo offers lending 	services through </a:t>
            </a:r>
            <a:r>
              <a:rPr lang="en-US" sz="2800" dirty="0" err="1"/>
              <a:t>Taralite</a:t>
            </a:r>
            <a:r>
              <a:rPr lang="en-US" sz="2800" dirty="0"/>
              <a:t> (PT </a:t>
            </a:r>
            <a:r>
              <a:rPr lang="en-US" sz="2800" dirty="0" err="1"/>
              <a:t>Indonusa</a:t>
            </a:r>
            <a:r>
              <a:rPr lang="en-US" sz="2800" dirty="0"/>
              <a:t> Nusa Sejahtera), a 	peer-to-peer (P2P) lending company that it acquired in 	2019, as well as investment products under Ovo	Invest, 	and insurance products under Ovo </a:t>
            </a:r>
            <a:r>
              <a:rPr lang="en-US" sz="2800" dirty="0" err="1"/>
              <a:t>Proteksi</a:t>
            </a:r>
            <a:r>
              <a:rPr lang="en-US" sz="2800" dirty="0"/>
              <a:t> in collaboration 	with partners.</a:t>
            </a:r>
          </a:p>
        </p:txBody>
      </p:sp>
      <p:sp>
        <p:nvSpPr>
          <p:cNvPr id="4" name="TextBox 6">
            <a:extLst>
              <a:ext uri="{FF2B5EF4-FFF2-40B4-BE49-F238E27FC236}">
                <a16:creationId xmlns:a16="http://schemas.microsoft.com/office/drawing/2014/main" id="{908B455C-240E-1F94-BF92-C9D7D4616FA4}"/>
              </a:ext>
            </a:extLst>
          </p:cNvPr>
          <p:cNvSpPr txBox="1"/>
          <p:nvPr/>
        </p:nvSpPr>
        <p:spPr>
          <a:xfrm>
            <a:off x="756447" y="1805216"/>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OvO</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 US $2 Billion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pic>
        <p:nvPicPr>
          <p:cNvPr id="8" name="object 6">
            <a:extLst>
              <a:ext uri="{FF2B5EF4-FFF2-40B4-BE49-F238E27FC236}">
                <a16:creationId xmlns:a16="http://schemas.microsoft.com/office/drawing/2014/main" id="{7D24A493-6BD4-1FB6-4593-4FCE5EC43B75}"/>
              </a:ext>
            </a:extLst>
          </p:cNvPr>
          <p:cNvPicPr/>
          <p:nvPr/>
        </p:nvPicPr>
        <p:blipFill>
          <a:blip r:embed="rId3" cstate="print"/>
          <a:stretch>
            <a:fillRect/>
          </a:stretch>
        </p:blipFill>
        <p:spPr>
          <a:xfrm>
            <a:off x="14396686" y="1422400"/>
            <a:ext cx="3134867" cy="1222358"/>
          </a:xfrm>
          <a:prstGeom prst="rect">
            <a:avLst/>
          </a:prstGeom>
        </p:spPr>
      </p:pic>
    </p:spTree>
    <p:extLst>
      <p:ext uri="{BB962C8B-B14F-4D97-AF65-F5344CB8AC3E}">
        <p14:creationId xmlns:p14="http://schemas.microsoft.com/office/powerpoint/2010/main" val="5325001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DB055-7A27-B0B6-FEEB-9E895656399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8F19EDC-FBAF-0D11-46C3-94B8AEBBF945}"/>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54820AEB-69F9-9AB0-8CF6-D3BD667A5B5D}"/>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3BFEE2C6-8490-C1E8-7C6A-3A17E5A88329}"/>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 (Traditional Banking)</a:t>
            </a:r>
          </a:p>
        </p:txBody>
      </p:sp>
      <p:sp>
        <p:nvSpPr>
          <p:cNvPr id="9" name="Date Placeholder 8">
            <a:extLst>
              <a:ext uri="{FF2B5EF4-FFF2-40B4-BE49-F238E27FC236}">
                <a16:creationId xmlns:a16="http://schemas.microsoft.com/office/drawing/2014/main" id="{0C035221-2000-F664-0073-1E89E17574FE}"/>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8CA719A1-D387-5518-2739-FD0AB317F34A}"/>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0A922E09-DE0F-EA15-12DD-774CCE2408EF}"/>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73</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6B869F79-8F60-1624-628D-00B933437B27}"/>
              </a:ext>
            </a:extLst>
          </p:cNvPr>
          <p:cNvSpPr txBox="1"/>
          <p:nvPr/>
        </p:nvSpPr>
        <p:spPr>
          <a:xfrm>
            <a:off x="756447" y="1608990"/>
            <a:ext cx="16775106" cy="6004080"/>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a:t>A 2021 report by Boku, a US mobile payments company, </a:t>
            </a:r>
            <a:r>
              <a:rPr lang="en-US" sz="2800" dirty="0">
                <a:hlinkClick r:id="rId3">
                  <a:extLst>
                    <a:ext uri="{A12FA001-AC4F-418D-AE19-62706E023703}">
                      <ahyp:hlinkClr xmlns:ahyp="http://schemas.microsoft.com/office/drawing/2018/hyperlinkcolor" val="tx"/>
                    </a:ext>
                  </a:extLst>
                </a:hlinkClick>
              </a:rPr>
              <a:t>revealed</a:t>
            </a:r>
            <a:r>
              <a:rPr lang="en-US" sz="2800" dirty="0"/>
              <a:t> that Ovo controlled 38.2% of the domestic market share for digital wallets in 2020 and had the biggest user base compared to its competitors, with more than 100 million users. </a:t>
            </a:r>
          </a:p>
          <a:p>
            <a:pPr marL="514350" indent="-514350" algn="just">
              <a:lnSpc>
                <a:spcPct val="200000"/>
              </a:lnSpc>
              <a:buFont typeface="Wingdings" panose="05000000000000000000" pitchFamily="2" charset="2"/>
              <a:buChar char="§"/>
            </a:pPr>
            <a:r>
              <a:rPr lang="en-US" sz="2800" dirty="0"/>
              <a:t>In October 2021, news broke that Grab </a:t>
            </a:r>
            <a:r>
              <a:rPr lang="en-US" sz="2800" dirty="0">
                <a:hlinkClick r:id="rId4">
                  <a:extLst>
                    <a:ext uri="{A12FA001-AC4F-418D-AE19-62706E023703}">
                      <ahyp:hlinkClr xmlns:ahyp="http://schemas.microsoft.com/office/drawing/2018/hyperlinkcolor" val="tx"/>
                    </a:ext>
                  </a:extLst>
                </a:hlinkClick>
              </a:rPr>
              <a:t>had taken</a:t>
            </a:r>
            <a:r>
              <a:rPr lang="en-US" sz="2800" dirty="0"/>
              <a:t> majority 	ownership of Bumi </a:t>
            </a:r>
            <a:r>
              <a:rPr lang="en-US" sz="2800" dirty="0" err="1"/>
              <a:t>Cakrawala</a:t>
            </a:r>
            <a:r>
              <a:rPr lang="en-US" sz="2800" dirty="0"/>
              <a:t> Perkasa, Ovo’s parent, 	increasing its stakes from 39% to 90%. Ovo </a:t>
            </a:r>
            <a:r>
              <a:rPr lang="en-US" sz="2800" dirty="0">
                <a:hlinkClick r:id="rId5">
                  <a:extLst>
                    <a:ext uri="{A12FA001-AC4F-418D-AE19-62706E023703}">
                      <ahyp:hlinkClr xmlns:ahyp="http://schemas.microsoft.com/office/drawing/2018/hyperlinkcolor" val="tx"/>
                    </a:ext>
                  </a:extLst>
                </a:hlinkClick>
              </a:rPr>
              <a:t>was valued</a:t>
            </a:r>
            <a:r>
              <a:rPr lang="en-US" sz="2800" dirty="0"/>
              <a:t> at 	about US$2 billion at the time.</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endParaRPr lang="en-US" sz="2800" dirty="0"/>
          </a:p>
        </p:txBody>
      </p:sp>
    </p:spTree>
    <p:extLst>
      <p:ext uri="{BB962C8B-B14F-4D97-AF65-F5344CB8AC3E}">
        <p14:creationId xmlns:p14="http://schemas.microsoft.com/office/powerpoint/2010/main" val="39437729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EC4E8-0003-9BEF-F0E9-287C539C5AC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6009720-00E6-00D3-DDF7-4F76225F432F}"/>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9D65AE60-09BB-643D-2D2E-3AC8D11E504E}"/>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51BC032D-A9D4-C133-0415-459F9B3DAEFE}"/>
              </a:ext>
            </a:extLst>
          </p:cNvPr>
          <p:cNvSpPr txBox="1"/>
          <p:nvPr/>
        </p:nvSpPr>
        <p:spPr>
          <a:xfrm>
            <a:off x="990600" y="300719"/>
            <a:ext cx="10538791" cy="621902"/>
          </a:xfrm>
          <a:prstGeom prst="rect">
            <a:avLst/>
          </a:prstGeom>
        </p:spPr>
        <p:txBody>
          <a:bodyPr wrap="square" lIns="0" tIns="0" rIns="0" bIns="0" rtlCol="0" anchor="t">
            <a:spAutoFit/>
          </a:bodyPr>
          <a:lstStyle/>
          <a:p>
            <a:pPr lvl="0">
              <a:lnSpc>
                <a:spcPts val="5472"/>
              </a:lnSpc>
              <a:defRPr/>
            </a:pPr>
            <a:r>
              <a:rPr lang="en-GB"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rPr>
              <a:t>Southeast Asia’s Top 5 Largest Fintech Unicorn</a:t>
            </a:r>
            <a:endPar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cs typeface="Segoe UI" panose="020B0502040204020203" pitchFamily="34" charset="0"/>
              <a:sym typeface="Droid Serif Bold"/>
            </a:endParaRPr>
          </a:p>
        </p:txBody>
      </p:sp>
      <p:sp>
        <p:nvSpPr>
          <p:cNvPr id="9" name="Date Placeholder 8">
            <a:extLst>
              <a:ext uri="{FF2B5EF4-FFF2-40B4-BE49-F238E27FC236}">
                <a16:creationId xmlns:a16="http://schemas.microsoft.com/office/drawing/2014/main" id="{548539BD-1158-A7C2-6248-1A7F04053C55}"/>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40EF1987-80E0-CC63-1A87-CA5CA96B636C}"/>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B8C232E4-3D44-5333-AA4E-AC3B7A5C1323}"/>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74</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ABD4273-4928-7756-FA2D-BFDBCBD5B201}"/>
              </a:ext>
            </a:extLst>
          </p:cNvPr>
          <p:cNvSpPr txBox="1"/>
          <p:nvPr/>
        </p:nvSpPr>
        <p:spPr>
          <a:xfrm>
            <a:off x="756447" y="2644758"/>
            <a:ext cx="16775106" cy="7727628"/>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err="1"/>
              <a:t>Bitkub</a:t>
            </a:r>
            <a:r>
              <a:rPr lang="en-US" sz="2800" dirty="0"/>
              <a:t> is a Thailand-based cryptocurrency exchange, 	operated by </a:t>
            </a:r>
            <a:r>
              <a:rPr lang="en-US" sz="2800" dirty="0" err="1"/>
              <a:t>Bitkub</a:t>
            </a:r>
            <a:r>
              <a:rPr lang="en-US" sz="2800" dirty="0"/>
              <a:t> Online under its parent group </a:t>
            </a:r>
            <a:r>
              <a:rPr lang="en-US" sz="2800" dirty="0" err="1"/>
              <a:t>Bitkub</a:t>
            </a:r>
            <a:r>
              <a:rPr lang="en-US" sz="2800" dirty="0"/>
              <a:t> Capital Group Holdings. </a:t>
            </a:r>
            <a:r>
              <a:rPr lang="en-US" sz="2800" dirty="0" err="1"/>
              <a:t>Bitkub</a:t>
            </a:r>
            <a:r>
              <a:rPr lang="en-US" sz="2800" dirty="0"/>
              <a:t> was among the first 	exchanges to receive a digital asset license from the country’s Securities and Exchange Commission, in 2019. It 	claims to be the largest cryptocurrency exchange in the 	country, with a share of 90% of cryptocurrency 	transactions </a:t>
            </a:r>
            <a:r>
              <a:rPr lang="en-US" sz="2800" dirty="0">
                <a:hlinkClick r:id="rId3">
                  <a:extLst>
                    <a:ext uri="{A12FA001-AC4F-418D-AE19-62706E023703}">
                      <ahyp:hlinkClr xmlns:ahyp="http://schemas.microsoft.com/office/drawing/2018/hyperlinkcolor" val="tx"/>
                    </a:ext>
                  </a:extLst>
                </a:hlinkClick>
              </a:rPr>
              <a:t>based</a:t>
            </a:r>
            <a:r>
              <a:rPr lang="en-US" sz="2800" dirty="0"/>
              <a:t> on 2021 data from regulated exchanges. </a:t>
            </a:r>
          </a:p>
          <a:p>
            <a:pPr marL="514350" indent="-514350" algn="just">
              <a:lnSpc>
                <a:spcPct val="200000"/>
              </a:lnSpc>
              <a:buFont typeface="Wingdings" panose="05000000000000000000" pitchFamily="2" charset="2"/>
              <a:buChar char="§"/>
            </a:pPr>
            <a:r>
              <a:rPr lang="en-US" sz="2800" dirty="0"/>
              <a:t>In November 2021, Siam Commercial Bank Group </a:t>
            </a:r>
            <a:r>
              <a:rPr lang="en-US" sz="2800" dirty="0">
                <a:hlinkClick r:id="rId4">
                  <a:extLst>
                    <a:ext uri="{A12FA001-AC4F-418D-AE19-62706E023703}">
                      <ahyp:hlinkClr xmlns:ahyp="http://schemas.microsoft.com/office/drawing/2018/hyperlinkcolor" val="tx"/>
                    </a:ext>
                  </a:extLst>
                </a:hlinkClick>
              </a:rPr>
              <a:t>announced</a:t>
            </a:r>
            <a:r>
              <a:rPr lang="en-US" sz="2800" dirty="0"/>
              <a:t> that it would acquire a 51% stake in the company for US$537 million, valuing </a:t>
            </a:r>
            <a:r>
              <a:rPr lang="en-US" sz="2800" dirty="0" err="1"/>
              <a:t>Bitkub</a:t>
            </a:r>
            <a:r>
              <a:rPr lang="en-US" sz="2800" dirty="0"/>
              <a:t> at over US$1 billion and making it one of Thailand’s first unicorn startup companies.</a:t>
            </a:r>
          </a:p>
          <a:p>
            <a:pPr marL="514350" indent="-514350" algn="just">
              <a:lnSpc>
                <a:spcPct val="200000"/>
              </a:lnSpc>
              <a:buFont typeface="Wingdings" panose="05000000000000000000" pitchFamily="2" charset="2"/>
              <a:buChar char="§"/>
            </a:pPr>
            <a:endParaRPr lang="en-US" sz="2800" dirty="0"/>
          </a:p>
        </p:txBody>
      </p:sp>
      <p:sp>
        <p:nvSpPr>
          <p:cNvPr id="4" name="TextBox 6">
            <a:extLst>
              <a:ext uri="{FF2B5EF4-FFF2-40B4-BE49-F238E27FC236}">
                <a16:creationId xmlns:a16="http://schemas.microsoft.com/office/drawing/2014/main" id="{C810A174-3780-03AF-2AC6-0754F0B74392}"/>
              </a:ext>
            </a:extLst>
          </p:cNvPr>
          <p:cNvSpPr txBox="1"/>
          <p:nvPr/>
        </p:nvSpPr>
        <p:spPr>
          <a:xfrm>
            <a:off x="756447" y="1805216"/>
            <a:ext cx="9356377" cy="627416"/>
          </a:xfrm>
          <a:prstGeom prst="rect">
            <a:avLst/>
          </a:prstGeom>
        </p:spPr>
        <p:txBody>
          <a:bodyPr lIns="0" tIns="0" rIns="0" bIns="0" rtlCol="0" anchor="t">
            <a:spAutoFit/>
          </a:bodyPr>
          <a:lstStyle/>
          <a:p>
            <a:pPr marL="0" marR="0" lvl="0" indent="0" algn="l" defTabSz="457200" rtl="0" eaLnBrk="1" fontAlgn="auto" latinLnBrk="0" hangingPunct="1">
              <a:lnSpc>
                <a:spcPts val="5472"/>
              </a:lnSpc>
              <a:spcBef>
                <a:spcPts val="0"/>
              </a:spcBef>
              <a:spcAft>
                <a:spcPts val="0"/>
              </a:spcAft>
              <a:buClrTx/>
              <a:buSzTx/>
              <a:buFontTx/>
              <a:buNone/>
              <a:tabLst/>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1.1. </a:t>
            </a:r>
            <a:r>
              <a:rPr lang="en-US" sz="3200" b="1" spc="147" dirty="0" err="1">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Bitkub</a:t>
            </a: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 – US $1 Billion</a:t>
            </a:r>
            <a:endParaRPr kumimoji="0" lang="en-US" sz="3200" b="1" i="0" u="none" strike="noStrike" kern="1200" cap="none" spc="147"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Segoe UI" panose="020B0502040204020203" pitchFamily="34" charset="0"/>
              <a:ea typeface="Droid Serif Bold"/>
              <a:cs typeface="Segoe UI" panose="020B0502040204020203" pitchFamily="34" charset="0"/>
              <a:sym typeface="Droid Serif Bold"/>
            </a:endParaRPr>
          </a:p>
        </p:txBody>
      </p:sp>
      <p:pic>
        <p:nvPicPr>
          <p:cNvPr id="8" name="object 6">
            <a:extLst>
              <a:ext uri="{FF2B5EF4-FFF2-40B4-BE49-F238E27FC236}">
                <a16:creationId xmlns:a16="http://schemas.microsoft.com/office/drawing/2014/main" id="{B682F2A9-3EE3-B656-4A05-44AAC3A91B14}"/>
              </a:ext>
            </a:extLst>
          </p:cNvPr>
          <p:cNvPicPr/>
          <p:nvPr/>
        </p:nvPicPr>
        <p:blipFill>
          <a:blip r:embed="rId5" cstate="print"/>
          <a:stretch>
            <a:fillRect/>
          </a:stretch>
        </p:blipFill>
        <p:spPr>
          <a:xfrm>
            <a:off x="13559664" y="1574547"/>
            <a:ext cx="3971889" cy="1014947"/>
          </a:xfrm>
          <a:prstGeom prst="rect">
            <a:avLst/>
          </a:prstGeom>
        </p:spPr>
      </p:pic>
    </p:spTree>
    <p:extLst>
      <p:ext uri="{BB962C8B-B14F-4D97-AF65-F5344CB8AC3E}">
        <p14:creationId xmlns:p14="http://schemas.microsoft.com/office/powerpoint/2010/main" val="9898974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12DE5-2232-E115-5731-FC5A7A7FBA4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EFD5DC8-D27E-49C2-96D8-6C5E159AF602}"/>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6A9B19A2-5C3F-C890-D40B-57A8FB596135}"/>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4C1255EF-D14D-B179-2C20-A6940B99F6D4}"/>
              </a:ext>
            </a:extLst>
          </p:cNvPr>
          <p:cNvSpPr txBox="1"/>
          <p:nvPr/>
        </p:nvSpPr>
        <p:spPr>
          <a:xfrm>
            <a:off x="990600" y="300719"/>
            <a:ext cx="9356377" cy="621902"/>
          </a:xfrm>
          <a:prstGeom prst="rect">
            <a:avLst/>
          </a:prstGeom>
        </p:spPr>
        <p:txBody>
          <a:bodyPr lIns="0" tIns="0" rIns="0" bIns="0" rtlCol="0" anchor="t">
            <a:spAutoFit/>
          </a:bodyPr>
          <a:lstStyle/>
          <a:p>
            <a:pPr>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What is FinTech? (Traditional Banking)</a:t>
            </a:r>
          </a:p>
        </p:txBody>
      </p:sp>
      <p:sp>
        <p:nvSpPr>
          <p:cNvPr id="9" name="Date Placeholder 8">
            <a:extLst>
              <a:ext uri="{FF2B5EF4-FFF2-40B4-BE49-F238E27FC236}">
                <a16:creationId xmlns:a16="http://schemas.microsoft.com/office/drawing/2014/main" id="{DE5B817A-C504-6CA0-6AC5-2E2EC64D15A2}"/>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88A2F94A-1D81-C5E6-C8BA-6240395C5A83}"/>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C072E0AF-14BA-E40F-04DA-D0BE00BFBA21}"/>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75</a:t>
            </a:fld>
            <a:endParaRPr lang="en-US">
              <a:latin typeface="Segoe UI" panose="020B0502040204020203" pitchFamily="34" charset="0"/>
              <a:cs typeface="Segoe UI" panose="020B0502040204020203" pitchFamily="34" charset="0"/>
            </a:endParaRPr>
          </a:p>
        </p:txBody>
      </p:sp>
      <p:sp>
        <p:nvSpPr>
          <p:cNvPr id="5" name="TextBox 4">
            <a:extLst>
              <a:ext uri="{FF2B5EF4-FFF2-40B4-BE49-F238E27FC236}">
                <a16:creationId xmlns:a16="http://schemas.microsoft.com/office/drawing/2014/main" id="{0BDAA648-D070-DC58-5120-E5CE0EB7CDCB}"/>
              </a:ext>
            </a:extLst>
          </p:cNvPr>
          <p:cNvSpPr txBox="1"/>
          <p:nvPr/>
        </p:nvSpPr>
        <p:spPr>
          <a:xfrm>
            <a:off x="756447" y="1608990"/>
            <a:ext cx="16775106" cy="5142305"/>
          </a:xfrm>
          <a:prstGeom prst="rect">
            <a:avLst/>
          </a:prstGeom>
          <a:noFill/>
        </p:spPr>
        <p:txBody>
          <a:bodyPr wrap="square" rtlCol="0">
            <a:spAutoFit/>
          </a:bodyPr>
          <a:lstStyle/>
          <a:p>
            <a:pPr marL="514350" indent="-514350" algn="just">
              <a:lnSpc>
                <a:spcPct val="200000"/>
              </a:lnSpc>
              <a:buFont typeface="Wingdings" panose="05000000000000000000" pitchFamily="2" charset="2"/>
              <a:buChar char="§"/>
            </a:pPr>
            <a:r>
              <a:rPr lang="en-US" sz="2800" dirty="0" err="1"/>
              <a:t>Bitkub</a:t>
            </a:r>
            <a:r>
              <a:rPr lang="en-US" sz="2800" dirty="0"/>
              <a:t> aims to increase its customer base to 7 million and 	expand its services abroad this year. In particular, it’s 	looking to penetrate neighboring markets such as 	Malaysia, the Philippines and Laos, and is currently studying the feasibility of expanding overseas to improve 	the company’s competitiveness and build a customer base 	abroad, </a:t>
            </a:r>
            <a:r>
              <a:rPr lang="en-US" sz="2800" dirty="0">
                <a:hlinkClick r:id="rId3">
                  <a:extLst>
                    <a:ext uri="{A12FA001-AC4F-418D-AE19-62706E023703}">
                      <ahyp:hlinkClr xmlns:ahyp="http://schemas.microsoft.com/office/drawing/2018/hyperlinkcolor" val="tx"/>
                    </a:ext>
                  </a:extLst>
                </a:hlinkClick>
              </a:rPr>
              <a:t>according</a:t>
            </a:r>
            <a:r>
              <a:rPr lang="en-US" sz="2800" dirty="0"/>
              <a:t> to a January 2022 report by Bangkok 	Post.</a:t>
            </a:r>
          </a:p>
          <a:p>
            <a:pPr marL="514350" indent="-514350" algn="just">
              <a:lnSpc>
                <a:spcPct val="200000"/>
              </a:lnSpc>
              <a:buFont typeface="Wingdings" panose="05000000000000000000" pitchFamily="2" charset="2"/>
              <a:buChar char="§"/>
            </a:pPr>
            <a:endParaRPr lang="en-US" sz="2800" dirty="0"/>
          </a:p>
          <a:p>
            <a:pPr marL="514350" indent="-514350" algn="just">
              <a:lnSpc>
                <a:spcPct val="200000"/>
              </a:lnSpc>
              <a:buFont typeface="Wingdings" panose="05000000000000000000" pitchFamily="2" charset="2"/>
              <a:buChar char="§"/>
            </a:pPr>
            <a:endParaRPr lang="en-US" sz="2800" dirty="0"/>
          </a:p>
        </p:txBody>
      </p:sp>
    </p:spTree>
    <p:extLst>
      <p:ext uri="{BB962C8B-B14F-4D97-AF65-F5344CB8AC3E}">
        <p14:creationId xmlns:p14="http://schemas.microsoft.com/office/powerpoint/2010/main" val="15785067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847C1-A82D-3BF2-849A-62786207DF3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DB47C636-4E8C-0B81-2E26-A91E85654DD4}"/>
              </a:ext>
            </a:extLst>
          </p:cNvPr>
          <p:cNvSpPr/>
          <p:nvPr/>
        </p:nvSpPr>
        <p:spPr>
          <a:xfrm>
            <a:off x="756447" y="1257300"/>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a:extLst>
              <a:ext uri="{FF2B5EF4-FFF2-40B4-BE49-F238E27FC236}">
                <a16:creationId xmlns:a16="http://schemas.microsoft.com/office/drawing/2014/main" id="{11DDD596-6E0A-933B-4F0F-F07E3527B0D6}"/>
              </a:ext>
            </a:extLst>
          </p:cNvPr>
          <p:cNvSpPr/>
          <p:nvPr/>
        </p:nvSpPr>
        <p:spPr>
          <a:xfrm flipV="1">
            <a:off x="756447" y="9617446"/>
            <a:ext cx="16775106"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a:extLst>
              <a:ext uri="{FF2B5EF4-FFF2-40B4-BE49-F238E27FC236}">
                <a16:creationId xmlns:a16="http://schemas.microsoft.com/office/drawing/2014/main" id="{1BDBE504-A8C7-CAD7-2103-33BA7980051B}"/>
              </a:ext>
            </a:extLst>
          </p:cNvPr>
          <p:cNvSpPr txBox="1"/>
          <p:nvPr/>
        </p:nvSpPr>
        <p:spPr>
          <a:xfrm>
            <a:off x="990600" y="300719"/>
            <a:ext cx="9356377" cy="627416"/>
          </a:xfrm>
          <a:prstGeom prst="rect">
            <a:avLst/>
          </a:prstGeom>
        </p:spPr>
        <p:txBody>
          <a:bodyPr lIns="0" tIns="0" rIns="0" bIns="0" rtlCol="0" anchor="t">
            <a:spAutoFit/>
          </a:bodyPr>
          <a:lstStyle/>
          <a:p>
            <a:pPr lvl="0">
              <a:lnSpc>
                <a:spcPts val="5472"/>
              </a:lnSpc>
              <a:defRPr/>
            </a:pPr>
            <a:r>
              <a:rPr lang="en-US" sz="3200" b="1" spc="147" dirty="0">
                <a:gradFill>
                  <a:gsLst>
                    <a:gs pos="0">
                      <a:srgbClr val="000000">
                        <a:alpha val="100000"/>
                      </a:srgbClr>
                    </a:gs>
                    <a:gs pos="50000">
                      <a:srgbClr val="002F31">
                        <a:alpha val="100000"/>
                      </a:srgbClr>
                    </a:gs>
                    <a:gs pos="100000">
                      <a:srgbClr val="00959A">
                        <a:alpha val="100000"/>
                      </a:srgbClr>
                    </a:gs>
                  </a:gsLst>
                  <a:lin ang="2700000"/>
                </a:gradFill>
                <a:latin typeface="Segoe UI" panose="020B0502040204020203" pitchFamily="34" charset="0"/>
                <a:ea typeface="Droid Serif Bold"/>
                <a:cs typeface="Segoe UI" panose="020B0502040204020203" pitchFamily="34" charset="0"/>
                <a:sym typeface="Droid Serif Bold"/>
              </a:rPr>
              <a:t>SUMMARY</a:t>
            </a:r>
          </a:p>
        </p:txBody>
      </p:sp>
      <p:sp>
        <p:nvSpPr>
          <p:cNvPr id="9" name="Date Placeholder 8">
            <a:extLst>
              <a:ext uri="{FF2B5EF4-FFF2-40B4-BE49-F238E27FC236}">
                <a16:creationId xmlns:a16="http://schemas.microsoft.com/office/drawing/2014/main" id="{7AB8D550-A45B-54FB-0A9F-5586FE979E61}"/>
              </a:ext>
            </a:extLst>
          </p:cNvPr>
          <p:cNvSpPr>
            <a:spLocks noGrp="1"/>
          </p:cNvSpPr>
          <p:nvPr>
            <p:ph type="dt" sz="half" idx="10"/>
          </p:nvPr>
        </p:nvSpPr>
        <p:spPr>
          <a:xfrm>
            <a:off x="633495" y="9617446"/>
            <a:ext cx="4114800" cy="547688"/>
          </a:xfrm>
        </p:spPr>
        <p:txBody>
          <a:bodyPr/>
          <a:lstStyle/>
          <a:p>
            <a:r>
              <a:rPr lang="en-US" dirty="0">
                <a:latin typeface="Segoe UI" panose="020B0502040204020203" pitchFamily="34" charset="0"/>
                <a:cs typeface="Segoe UI" panose="020B0502040204020203" pitchFamily="34" charset="0"/>
              </a:rPr>
              <a:t>Week I</a:t>
            </a:r>
          </a:p>
        </p:txBody>
      </p:sp>
      <p:sp>
        <p:nvSpPr>
          <p:cNvPr id="10" name="Footer Placeholder 9">
            <a:extLst>
              <a:ext uri="{FF2B5EF4-FFF2-40B4-BE49-F238E27FC236}">
                <a16:creationId xmlns:a16="http://schemas.microsoft.com/office/drawing/2014/main" id="{C2942FF9-ECD9-C5A7-ADA8-A9F890C1E70E}"/>
              </a:ext>
            </a:extLst>
          </p:cNvPr>
          <p:cNvSpPr>
            <a:spLocks noGrp="1"/>
          </p:cNvSpPr>
          <p:nvPr>
            <p:ph type="ftr" sz="quarter" idx="11"/>
          </p:nvPr>
        </p:nvSpPr>
        <p:spPr>
          <a:xfrm>
            <a:off x="5668788" y="9617446"/>
            <a:ext cx="8275812" cy="547688"/>
          </a:xfrm>
        </p:spPr>
        <p:txBody>
          <a:bodyPr/>
          <a:lstStyle/>
          <a:p>
            <a:r>
              <a:rPr lang="en-US">
                <a:latin typeface="Segoe UI" panose="020B0502040204020203" pitchFamily="34" charset="0"/>
                <a:cs typeface="Segoe UI" panose="020B0502040204020203" pitchFamily="34" charset="0"/>
              </a:rPr>
              <a:t>For educational use only. Not to be distributed or shared without permission.</a:t>
            </a:r>
          </a:p>
        </p:txBody>
      </p:sp>
      <p:sp>
        <p:nvSpPr>
          <p:cNvPr id="11" name="Slide Number Placeholder 10">
            <a:extLst>
              <a:ext uri="{FF2B5EF4-FFF2-40B4-BE49-F238E27FC236}">
                <a16:creationId xmlns:a16="http://schemas.microsoft.com/office/drawing/2014/main" id="{F0AED30A-DCA5-9E5C-CF53-D041C3DB13C5}"/>
              </a:ext>
            </a:extLst>
          </p:cNvPr>
          <p:cNvSpPr>
            <a:spLocks noGrp="1"/>
          </p:cNvSpPr>
          <p:nvPr>
            <p:ph type="sldNum" sz="quarter" idx="12"/>
          </p:nvPr>
        </p:nvSpPr>
        <p:spPr>
          <a:xfrm>
            <a:off x="14329840" y="9617446"/>
            <a:ext cx="2781302" cy="547688"/>
          </a:xfrm>
        </p:spPr>
        <p:txBody>
          <a:bodyPr/>
          <a:lstStyle/>
          <a:p>
            <a:fld id="{B6F15528-21DE-4FAA-801E-634DDDAF4B2B}" type="slidenum">
              <a:rPr lang="en-US" smtClean="0">
                <a:latin typeface="Segoe UI" panose="020B0502040204020203" pitchFamily="34" charset="0"/>
                <a:cs typeface="Segoe UI" panose="020B0502040204020203" pitchFamily="34" charset="0"/>
              </a:rPr>
              <a:pPr/>
              <a:t>76</a:t>
            </a:fld>
            <a:endParaRPr lang="en-US">
              <a:latin typeface="Segoe UI" panose="020B0502040204020203" pitchFamily="34" charset="0"/>
              <a:cs typeface="Segoe UI" panose="020B0502040204020203" pitchFamily="34" charset="0"/>
            </a:endParaRPr>
          </a:p>
        </p:txBody>
      </p:sp>
      <p:sp>
        <p:nvSpPr>
          <p:cNvPr id="7" name="TextBox 6">
            <a:extLst>
              <a:ext uri="{FF2B5EF4-FFF2-40B4-BE49-F238E27FC236}">
                <a16:creationId xmlns:a16="http://schemas.microsoft.com/office/drawing/2014/main" id="{063BE8D3-B9A3-C4AD-7329-13F8891899B2}"/>
              </a:ext>
            </a:extLst>
          </p:cNvPr>
          <p:cNvSpPr txBox="1"/>
          <p:nvPr/>
        </p:nvSpPr>
        <p:spPr>
          <a:xfrm>
            <a:off x="757618" y="1790700"/>
            <a:ext cx="16773935" cy="6719660"/>
          </a:xfrm>
          <a:prstGeom prst="rect">
            <a:avLst/>
          </a:prstGeom>
          <a:noFill/>
        </p:spPr>
        <p:txBody>
          <a:bodyPr wrap="square" rtlCol="0">
            <a:spAutoFit/>
          </a:bodyPr>
          <a:lstStyle/>
          <a:p>
            <a:r>
              <a:rPr lang="en-US" sz="2800" dirty="0"/>
              <a:t>By the end of </a:t>
            </a:r>
            <a:r>
              <a:rPr lang="en-US" sz="2800"/>
              <a:t>this session:</a:t>
            </a:r>
            <a:endParaRPr lang="en-MY" sz="2600" dirty="0"/>
          </a:p>
          <a:p>
            <a:pPr marL="514350" indent="-514350">
              <a:buFont typeface="+mj-lt"/>
              <a:buAutoNum type="arabicPeriod"/>
            </a:pPr>
            <a:endParaRPr lang="en-MY" sz="2600" dirty="0"/>
          </a:p>
          <a:p>
            <a:pPr marL="514350" indent="-514350">
              <a:lnSpc>
                <a:spcPct val="150000"/>
              </a:lnSpc>
              <a:buFont typeface="+mj-lt"/>
              <a:buAutoNum type="arabicPeriod"/>
            </a:pPr>
            <a:r>
              <a:rPr lang="en-US" sz="2800" b="1" dirty="0"/>
              <a:t>Customer-Centric Shift:</a:t>
            </a:r>
            <a:r>
              <a:rPr lang="en-US" sz="2800" dirty="0"/>
              <a:t> FinTech has transformed finance by prioritizing user experience, transparency, and accessibility over institutional convenience . </a:t>
            </a:r>
          </a:p>
          <a:p>
            <a:pPr marL="514350" indent="-514350">
              <a:lnSpc>
                <a:spcPct val="150000"/>
              </a:lnSpc>
              <a:buFont typeface="+mj-lt"/>
              <a:buAutoNum type="arabicPeriod"/>
            </a:pPr>
            <a:endParaRPr lang="en-US" sz="1000" b="1" dirty="0"/>
          </a:p>
          <a:p>
            <a:pPr marL="514350" indent="-514350">
              <a:lnSpc>
                <a:spcPct val="150000"/>
              </a:lnSpc>
              <a:buFont typeface="+mj-lt"/>
              <a:buAutoNum type="arabicPeriod"/>
            </a:pPr>
            <a:r>
              <a:rPr lang="en-US" sz="2800" b="1" dirty="0"/>
              <a:t>Technology as the Catalyst:</a:t>
            </a:r>
            <a:r>
              <a:rPr lang="en-US" sz="2800" dirty="0"/>
              <a:t> AI, Big Data, and mobile connectivity are empowering startups to "unbundle" traditional banking into highly efficient, single-purpose solutions. </a:t>
            </a:r>
          </a:p>
          <a:p>
            <a:pPr marL="514350" indent="-514350">
              <a:lnSpc>
                <a:spcPct val="150000"/>
              </a:lnSpc>
              <a:buFont typeface="+mj-lt"/>
              <a:buAutoNum type="arabicPeriod"/>
            </a:pPr>
            <a:endParaRPr lang="en-US" sz="1000" dirty="0"/>
          </a:p>
          <a:p>
            <a:pPr marL="514350" indent="-514350">
              <a:lnSpc>
                <a:spcPct val="150000"/>
              </a:lnSpc>
              <a:buFont typeface="+mj-lt"/>
              <a:buAutoNum type="arabicPeriod"/>
            </a:pPr>
            <a:r>
              <a:rPr lang="en-US" sz="2800" b="1" dirty="0"/>
              <a:t>Global Disruption:</a:t>
            </a:r>
            <a:r>
              <a:rPr lang="en-US" sz="2800" dirty="0"/>
              <a:t> Despite hurdles in regulation and scaling , FinTech is a permanent disruptive force, heavily driven by massive growth in Asian markets. </a:t>
            </a:r>
          </a:p>
          <a:p>
            <a:pPr marL="514350" indent="-514350">
              <a:lnSpc>
                <a:spcPct val="150000"/>
              </a:lnSpc>
              <a:buFont typeface="+mj-lt"/>
              <a:buAutoNum type="arabicPeriod"/>
            </a:pPr>
            <a:endParaRPr lang="en-US" sz="1000" dirty="0"/>
          </a:p>
          <a:p>
            <a:pPr marL="514350" indent="-514350">
              <a:lnSpc>
                <a:spcPct val="150000"/>
              </a:lnSpc>
              <a:buFont typeface="+mj-lt"/>
              <a:buAutoNum type="arabicPeriod"/>
            </a:pPr>
            <a:r>
              <a:rPr lang="en-US" sz="2800" b="1" dirty="0"/>
              <a:t>The Ultimate Goal:</a:t>
            </a:r>
            <a:r>
              <a:rPr lang="en-US" sz="2800" dirty="0"/>
              <a:t> Fostering financial inclusion, lowering costs, and adapting to the demands of the modern, digital-first consumer. </a:t>
            </a:r>
          </a:p>
        </p:txBody>
      </p:sp>
    </p:spTree>
    <p:extLst>
      <p:ext uri="{BB962C8B-B14F-4D97-AF65-F5344CB8AC3E}">
        <p14:creationId xmlns:p14="http://schemas.microsoft.com/office/powerpoint/2010/main" val="116329957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56447" y="1563443"/>
            <a:ext cx="16775106" cy="0"/>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AutoShape 3"/>
          <p:cNvSpPr/>
          <p:nvPr/>
        </p:nvSpPr>
        <p:spPr>
          <a:xfrm flipV="1">
            <a:off x="1028700" y="9534526"/>
            <a:ext cx="16502853" cy="21854"/>
          </a:xfrm>
          <a:prstGeom prst="line">
            <a:avLst/>
          </a:prstGeom>
          <a:ln w="76200" cap="flat">
            <a:solidFill>
              <a:schemeClr val="tx1"/>
            </a:solidFill>
            <a:prstDash val="solid"/>
            <a:headEnd type="none" w="sm" len="sm"/>
            <a:tailEnd type="none" w="sm" len="sm"/>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 name="Group 4"/>
          <p:cNvGrpSpPr/>
          <p:nvPr/>
        </p:nvGrpSpPr>
        <p:grpSpPr>
          <a:xfrm>
            <a:off x="4648200" y="4777861"/>
            <a:ext cx="8037635" cy="3503005"/>
            <a:chOff x="0" y="0"/>
            <a:chExt cx="2337006" cy="1018527"/>
          </a:xfrm>
          <a:noFill/>
        </p:grpSpPr>
        <p:sp>
          <p:nvSpPr>
            <p:cNvPr id="5" name="Freeform 5"/>
            <p:cNvSpPr/>
            <p:nvPr/>
          </p:nvSpPr>
          <p:spPr>
            <a:xfrm>
              <a:off x="0" y="0"/>
              <a:ext cx="2337006" cy="1018527"/>
            </a:xfrm>
            <a:custGeom>
              <a:avLst/>
              <a:gdLst/>
              <a:ahLst/>
              <a:cxnLst/>
              <a:rect l="l" t="t" r="r" b="b"/>
              <a:pathLst>
                <a:path w="2337006" h="1018527">
                  <a:moveTo>
                    <a:pt x="0" y="0"/>
                  </a:moveTo>
                  <a:lnTo>
                    <a:pt x="2337006" y="0"/>
                  </a:lnTo>
                  <a:lnTo>
                    <a:pt x="2337006" y="1018527"/>
                  </a:lnTo>
                  <a:lnTo>
                    <a:pt x="0" y="1018527"/>
                  </a:lnTo>
                  <a:close/>
                </a:path>
              </a:pathLst>
            </a:custGeom>
            <a:grpFill/>
            <a:ln w="38100" cap="sq">
              <a:solidFill>
                <a:schemeClr val="tx1"/>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6"/>
            <p:cNvSpPr txBox="1"/>
            <p:nvPr/>
          </p:nvSpPr>
          <p:spPr>
            <a:xfrm>
              <a:off x="0" y="-38100"/>
              <a:ext cx="2337006" cy="1056627"/>
            </a:xfrm>
            <a:prstGeom prst="rect">
              <a:avLst/>
            </a:prstGeom>
            <a:grpFill/>
          </p:spPr>
          <p:txBody>
            <a:bodyPr lIns="50800" tIns="50800" rIns="50800" bIns="50800" rtlCol="0" anchor="ctr"/>
            <a:lstStyle/>
            <a:p>
              <a:pPr marL="0" marR="0" lvl="0" indent="0" algn="ctr" defTabSz="457200" rtl="0" eaLnBrk="1" fontAlgn="auto" latinLnBrk="0" hangingPunct="1">
                <a:lnSpc>
                  <a:spcPts val="2737"/>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TextBox 8"/>
          <p:cNvSpPr txBox="1"/>
          <p:nvPr/>
        </p:nvSpPr>
        <p:spPr>
          <a:xfrm>
            <a:off x="3042298" y="3005254"/>
            <a:ext cx="10822028" cy="1371979"/>
          </a:xfrm>
          <a:prstGeom prst="rect">
            <a:avLst/>
          </a:prstGeom>
          <a:noFill/>
        </p:spPr>
        <p:txBody>
          <a:bodyPr lIns="0" tIns="0" rIns="0" bIns="0" rtlCol="0" anchor="t">
            <a:spAutoFit/>
          </a:bodyPr>
          <a:lstStyle/>
          <a:p>
            <a:pPr marL="0" marR="0" lvl="0" indent="0" algn="ctr" defTabSz="457200" rtl="0" eaLnBrk="1" fontAlgn="auto" latinLnBrk="0" hangingPunct="1">
              <a:lnSpc>
                <a:spcPts val="11855"/>
              </a:lnSpc>
              <a:spcBef>
                <a:spcPct val="0"/>
              </a:spcBef>
              <a:spcAft>
                <a:spcPts val="0"/>
              </a:spcAft>
              <a:buClrTx/>
              <a:buSzTx/>
              <a:buFontTx/>
              <a:buNone/>
              <a:tabLst/>
              <a:defRPr/>
            </a:pPr>
            <a:r>
              <a:rPr kumimoji="0" lang="en-US" sz="7799" b="1" i="0" u="none" strike="noStrike" kern="1200" cap="none" spc="0" normalizeH="0" baseline="0" noProof="0">
                <a:ln>
                  <a:noFill/>
                </a:ln>
                <a:gradFill>
                  <a:gsLst>
                    <a:gs pos="0">
                      <a:schemeClr val="accent5">
                        <a:lumMod val="75000"/>
                      </a:schemeClr>
                    </a:gs>
                    <a:gs pos="50000">
                      <a:srgbClr val="002F31">
                        <a:alpha val="100000"/>
                      </a:srgbClr>
                    </a:gs>
                    <a:gs pos="100000">
                      <a:srgbClr val="00959A">
                        <a:alpha val="100000"/>
                      </a:srgbClr>
                    </a:gs>
                  </a:gsLst>
                  <a:lin ang="2700000"/>
                </a:gradFill>
                <a:effectLst/>
                <a:uLnTx/>
                <a:uFillTx/>
                <a:latin typeface="Segoe UI" panose="020B0502040204020203" pitchFamily="34" charset="0"/>
                <a:ea typeface="Cambria" panose="02040503050406030204" pitchFamily="18" charset="0"/>
                <a:cs typeface="Segoe UI" panose="020B0502040204020203" pitchFamily="34" charset="0"/>
                <a:sym typeface="Droid Serif Bold"/>
              </a:rPr>
              <a:t>THANK YOU</a:t>
            </a:r>
          </a:p>
        </p:txBody>
      </p:sp>
      <p:sp>
        <p:nvSpPr>
          <p:cNvPr id="10" name="TextBox 10"/>
          <p:cNvSpPr txBox="1"/>
          <p:nvPr/>
        </p:nvSpPr>
        <p:spPr>
          <a:xfrm>
            <a:off x="5614211" y="5660960"/>
            <a:ext cx="5678202" cy="396367"/>
          </a:xfrm>
          <a:prstGeom prst="rect">
            <a:avLst/>
          </a:prstGeom>
        </p:spPr>
        <p:txBody>
          <a:bodyPr lIns="0" tIns="0" rIns="0" bIns="0" rtlCol="0" anchor="t">
            <a:spAutoFit/>
          </a:bodyPr>
          <a:lstStyle/>
          <a:p>
            <a:pPr marL="0" marR="0" lvl="0" indent="0" algn="ctr" defTabSz="457200" rtl="0" eaLnBrk="1" fontAlgn="auto" latinLnBrk="0" hangingPunct="1">
              <a:lnSpc>
                <a:spcPts val="3343"/>
              </a:lnSpc>
              <a:spcBef>
                <a:spcPts val="0"/>
              </a:spcBef>
              <a:spcAft>
                <a:spcPts val="0"/>
              </a:spcAft>
              <a:buClrTx/>
              <a:buSzTx/>
              <a:buFontTx/>
              <a:buNone/>
              <a:tabLst/>
              <a:defRPr/>
            </a:pPr>
            <a:r>
              <a:rPr kumimoji="0" lang="en-US" sz="2199" b="0" i="0" u="none" strike="noStrike" kern="1200" cap="none" spc="90"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DEPARTMENT OF COMPUTING</a:t>
            </a:r>
          </a:p>
        </p:txBody>
      </p:sp>
      <p:sp>
        <p:nvSpPr>
          <p:cNvPr id="11" name="TextBox 11"/>
          <p:cNvSpPr txBox="1"/>
          <p:nvPr/>
        </p:nvSpPr>
        <p:spPr>
          <a:xfrm>
            <a:off x="5074241" y="5186980"/>
            <a:ext cx="6758143" cy="893130"/>
          </a:xfrm>
          <a:prstGeom prst="rect">
            <a:avLst/>
          </a:prstGeom>
        </p:spPr>
        <p:txBody>
          <a:bodyPr lIns="0" tIns="0" rIns="0" bIns="0" rtlCol="0" anchor="t">
            <a:spAutoFit/>
          </a:bodyPr>
          <a:lstStyle/>
          <a:p>
            <a:pPr algn="ctr">
              <a:lnSpc>
                <a:spcPts val="3647"/>
              </a:lnSpc>
              <a:defRPr/>
            </a:pPr>
            <a:r>
              <a:rPr lang="en-MY" sz="2399" spc="98" dirty="0">
                <a:gradFill>
                  <a:gsLst>
                    <a:gs pos="0">
                      <a:srgbClr val="000000">
                        <a:alpha val="100000"/>
                      </a:srgbClr>
                    </a:gs>
                    <a:gs pos="50000">
                      <a:srgbClr val="002F31">
                        <a:alpha val="100000"/>
                      </a:srgbClr>
                    </a:gs>
                    <a:gs pos="100000">
                      <a:srgbClr val="00959A">
                        <a:alpha val="100000"/>
                      </a:srgbClr>
                    </a:gs>
                  </a:gsLst>
                  <a:lin ang="2700000"/>
                </a:gradFill>
                <a:latin typeface="Aptos"/>
              </a:rPr>
              <a:t>Shuhaida Bt M Shuhidan</a:t>
            </a:r>
          </a:p>
          <a:p>
            <a:pPr marL="0" marR="0" lvl="0" indent="0" algn="ctr" defTabSz="457200" rtl="0" eaLnBrk="1" fontAlgn="auto" latinLnBrk="0" hangingPunct="1">
              <a:lnSpc>
                <a:spcPts val="3647"/>
              </a:lnSpc>
              <a:spcBef>
                <a:spcPts val="0"/>
              </a:spcBef>
              <a:spcAft>
                <a:spcPts val="0"/>
              </a:spcAft>
              <a:buClrTx/>
              <a:buSzTx/>
              <a:buFontTx/>
              <a:buNone/>
              <a:tabLst/>
              <a:defRPr/>
            </a:pPr>
            <a:endParaRPr kumimoji="0" lang="en-US" sz="2399" b="0" i="0" u="none" strike="noStrike" kern="1200" cap="none" spc="98"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endParaRPr>
          </a:p>
        </p:txBody>
      </p:sp>
      <p:grpSp>
        <p:nvGrpSpPr>
          <p:cNvPr id="12" name="Group 12"/>
          <p:cNvGrpSpPr/>
          <p:nvPr/>
        </p:nvGrpSpPr>
        <p:grpSpPr>
          <a:xfrm>
            <a:off x="5509434" y="6611027"/>
            <a:ext cx="5101859" cy="425112"/>
            <a:chOff x="0" y="0"/>
            <a:chExt cx="6802476" cy="566816"/>
          </a:xfrm>
        </p:grpSpPr>
        <p:sp>
          <p:nvSpPr>
            <p:cNvPr id="13" name="Freeform 13"/>
            <p:cNvSpPr/>
            <p:nvPr/>
          </p:nvSpPr>
          <p:spPr>
            <a:xfrm>
              <a:off x="0" y="0"/>
              <a:ext cx="577647" cy="566816"/>
            </a:xfrm>
            <a:custGeom>
              <a:avLst/>
              <a:gdLst/>
              <a:ahLst/>
              <a:cxnLst/>
              <a:rect l="l" t="t" r="r" b="b"/>
              <a:pathLst>
                <a:path w="577647" h="566816">
                  <a:moveTo>
                    <a:pt x="0" y="0"/>
                  </a:moveTo>
                  <a:lnTo>
                    <a:pt x="577647" y="0"/>
                  </a:lnTo>
                  <a:lnTo>
                    <a:pt x="577647" y="566816"/>
                  </a:lnTo>
                  <a:lnTo>
                    <a:pt x="0" y="5668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Box 14"/>
            <p:cNvSpPr txBox="1"/>
            <p:nvPr/>
          </p:nvSpPr>
          <p:spPr>
            <a:xfrm>
              <a:off x="1009574" y="58111"/>
              <a:ext cx="5792902" cy="479448"/>
            </a:xfrm>
            <a:prstGeom prst="rect">
              <a:avLst/>
            </a:prstGeom>
          </p:spPr>
          <p:txBody>
            <a:bodyPr wrap="square" lIns="0" tIns="0" rIns="0" bIns="0" rtlCol="0" anchor="t">
              <a:spAutoFit/>
            </a:bodyPr>
            <a:lstStyle/>
            <a:p>
              <a:pPr lvl="0">
                <a:lnSpc>
                  <a:spcPts val="3040"/>
                </a:lnSpc>
                <a:defRPr/>
              </a:pP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hlinkClick r:id="rId4"/>
                </a:rPr>
                <a:t>shuhaida.shuhidan@utp.edu.my</a:t>
              </a:r>
              <a:r>
                <a:rPr lang="en-US" sz="2000" spc="82" dirty="0">
                  <a:gradFill>
                    <a:gsLst>
                      <a:gs pos="0">
                        <a:srgbClr val="000000">
                          <a:alpha val="100000"/>
                        </a:srgbClr>
                      </a:gs>
                      <a:gs pos="50000">
                        <a:srgbClr val="002F31">
                          <a:alpha val="100000"/>
                        </a:srgbClr>
                      </a:gs>
                      <a:gs pos="100000">
                        <a:srgbClr val="00959A">
                          <a:alpha val="100000"/>
                        </a:srgbClr>
                      </a:gs>
                    </a:gsLst>
                    <a:lin ang="2700000"/>
                  </a:gradFill>
                  <a:latin typeface="Aptos"/>
                  <a:sym typeface="Aptos"/>
                </a:rPr>
                <a:t> </a:t>
              </a:r>
            </a:p>
          </p:txBody>
        </p:sp>
      </p:grpSp>
      <p:grpSp>
        <p:nvGrpSpPr>
          <p:cNvPr id="15" name="Group 15"/>
          <p:cNvGrpSpPr/>
          <p:nvPr/>
        </p:nvGrpSpPr>
        <p:grpSpPr>
          <a:xfrm>
            <a:off x="5509434" y="7391229"/>
            <a:ext cx="3326815" cy="512496"/>
            <a:chOff x="0" y="0"/>
            <a:chExt cx="4435752" cy="683328"/>
          </a:xfrm>
        </p:grpSpPr>
        <p:sp>
          <p:nvSpPr>
            <p:cNvPr id="16" name="Freeform 16"/>
            <p:cNvSpPr/>
            <p:nvPr/>
          </p:nvSpPr>
          <p:spPr>
            <a:xfrm>
              <a:off x="0" y="0"/>
              <a:ext cx="550390" cy="683328"/>
            </a:xfrm>
            <a:custGeom>
              <a:avLst/>
              <a:gdLst/>
              <a:ahLst/>
              <a:cxnLst/>
              <a:rect l="l" t="t" r="r" b="b"/>
              <a:pathLst>
                <a:path w="550390" h="683328">
                  <a:moveTo>
                    <a:pt x="0" y="0"/>
                  </a:moveTo>
                  <a:lnTo>
                    <a:pt x="550390" y="0"/>
                  </a:lnTo>
                  <a:lnTo>
                    <a:pt x="550390" y="683328"/>
                  </a:lnTo>
                  <a:lnTo>
                    <a:pt x="0" y="68332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Box 17"/>
            <p:cNvSpPr txBox="1"/>
            <p:nvPr/>
          </p:nvSpPr>
          <p:spPr>
            <a:xfrm>
              <a:off x="1009575" y="75176"/>
              <a:ext cx="3426177" cy="479448"/>
            </a:xfrm>
            <a:prstGeom prst="rect">
              <a:avLst/>
            </a:prstGeom>
          </p:spPr>
          <p:txBody>
            <a:bodyPr lIns="0" tIns="0" rIns="0" bIns="0" rtlCol="0" anchor="t">
              <a:spAutoFit/>
            </a:bodyPr>
            <a:lstStyle/>
            <a:p>
              <a:pPr marL="0" marR="0" lvl="0" indent="0" algn="l" defTabSz="457200" rtl="0" eaLnBrk="1" fontAlgn="auto" latinLnBrk="0" hangingPunct="1">
                <a:lnSpc>
                  <a:spcPts val="3040"/>
                </a:lnSpc>
                <a:spcBef>
                  <a:spcPts val="0"/>
                </a:spcBef>
                <a:spcAft>
                  <a:spcPts val="0"/>
                </a:spcAft>
                <a:buClrTx/>
                <a:buSzTx/>
                <a:buFontTx/>
                <a:buNone/>
                <a:tabLst/>
                <a:defRPr/>
              </a:pPr>
              <a:r>
                <a:rPr kumimoji="0" lang="en-US" sz="2000" b="0" i="0" u="none" strike="noStrike" kern="1200" cap="none" spc="82" normalizeH="0" baseline="0" noProof="0" dirty="0">
                  <a:ln>
                    <a:noFill/>
                  </a:ln>
                  <a:gradFill>
                    <a:gsLst>
                      <a:gs pos="0">
                        <a:srgbClr val="000000">
                          <a:alpha val="100000"/>
                        </a:srgbClr>
                      </a:gs>
                      <a:gs pos="50000">
                        <a:srgbClr val="002F31">
                          <a:alpha val="100000"/>
                        </a:srgbClr>
                      </a:gs>
                      <a:gs pos="100000">
                        <a:srgbClr val="00959A">
                          <a:alpha val="100000"/>
                        </a:srgbClr>
                      </a:gs>
                    </a:gsLst>
                    <a:lin ang="2700000"/>
                  </a:gradFill>
                  <a:effectLst/>
                  <a:uLnTx/>
                  <a:uFillTx/>
                  <a:latin typeface="Aptos"/>
                  <a:ea typeface="Aptos"/>
                  <a:cs typeface="Aptos"/>
                  <a:sym typeface="Aptos"/>
                </a:rPr>
                <a:t>01-03-31</a:t>
              </a:r>
            </a:p>
          </p:txBody>
        </p:sp>
      </p:grpSp>
      <p:sp>
        <p:nvSpPr>
          <p:cNvPr id="18" name="Freeform 18"/>
          <p:cNvSpPr/>
          <p:nvPr/>
        </p:nvSpPr>
        <p:spPr>
          <a:xfrm>
            <a:off x="13452568" y="161232"/>
            <a:ext cx="3806732" cy="1350171"/>
          </a:xfrm>
          <a:custGeom>
            <a:avLst/>
            <a:gdLst/>
            <a:ahLst/>
            <a:cxnLst/>
            <a:rect l="l" t="t" r="r" b="b"/>
            <a:pathLst>
              <a:path w="3806732" h="1350171">
                <a:moveTo>
                  <a:pt x="0" y="0"/>
                </a:moveTo>
                <a:lnTo>
                  <a:pt x="3806732" y="0"/>
                </a:lnTo>
                <a:lnTo>
                  <a:pt x="3806732" y="1350171"/>
                </a:lnTo>
                <a:lnTo>
                  <a:pt x="0" y="1350171"/>
                </a:lnTo>
                <a:lnTo>
                  <a:pt x="0" y="0"/>
                </a:lnTo>
                <a:close/>
              </a:path>
            </a:pathLst>
          </a:custGeom>
          <a:blipFill>
            <a:blip r:embed="rId6"/>
            <a:stretch>
              <a:fillRect/>
            </a:stretch>
          </a:blipFill>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MY"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Date Placeholder 8">
            <a:extLst>
              <a:ext uri="{FF2B5EF4-FFF2-40B4-BE49-F238E27FC236}">
                <a16:creationId xmlns:a16="http://schemas.microsoft.com/office/drawing/2014/main" id="{969CC0C1-CEE6-7AFD-F08C-9037DCAEDE15}"/>
              </a:ext>
            </a:extLst>
          </p:cNvPr>
          <p:cNvSpPr>
            <a:spLocks noGrp="1"/>
          </p:cNvSpPr>
          <p:nvPr>
            <p:ph type="dt" sz="half" idx="10"/>
          </p:nvPr>
        </p:nvSpPr>
        <p:spPr/>
        <p:txBody>
          <a:bodyPr/>
          <a:lstStyle/>
          <a:p>
            <a:r>
              <a:rPr lang="en-US" dirty="0"/>
              <a:t>Week I</a:t>
            </a:r>
          </a:p>
        </p:txBody>
      </p:sp>
      <p:sp>
        <p:nvSpPr>
          <p:cNvPr id="19" name="Footer Placeholder 18">
            <a:extLst>
              <a:ext uri="{FF2B5EF4-FFF2-40B4-BE49-F238E27FC236}">
                <a16:creationId xmlns:a16="http://schemas.microsoft.com/office/drawing/2014/main" id="{559E3EB5-D08C-1B33-945D-C91DA725F3E7}"/>
              </a:ext>
            </a:extLst>
          </p:cNvPr>
          <p:cNvSpPr>
            <a:spLocks noGrp="1"/>
          </p:cNvSpPr>
          <p:nvPr>
            <p:ph type="ftr" sz="quarter" idx="11"/>
          </p:nvPr>
        </p:nvSpPr>
        <p:spPr>
          <a:xfrm>
            <a:off x="6057900" y="9534526"/>
            <a:ext cx="7658100" cy="547688"/>
          </a:xfrm>
        </p:spPr>
        <p:txBody>
          <a:bodyPr/>
          <a:lstStyle/>
          <a:p>
            <a:r>
              <a:rPr lang="en-US"/>
              <a:t>For educational use only. Not to be distributed or shared without permission.</a:t>
            </a:r>
          </a:p>
        </p:txBody>
      </p:sp>
      <p:sp>
        <p:nvSpPr>
          <p:cNvPr id="20" name="Slide Number Placeholder 19">
            <a:extLst>
              <a:ext uri="{FF2B5EF4-FFF2-40B4-BE49-F238E27FC236}">
                <a16:creationId xmlns:a16="http://schemas.microsoft.com/office/drawing/2014/main" id="{1A546E35-A579-1253-4F8D-BE6DFA9A4D02}"/>
              </a:ext>
            </a:extLst>
          </p:cNvPr>
          <p:cNvSpPr>
            <a:spLocks noGrp="1"/>
          </p:cNvSpPr>
          <p:nvPr>
            <p:ph type="sldNum" sz="quarter" idx="12"/>
          </p:nvPr>
        </p:nvSpPr>
        <p:spPr/>
        <p:txBody>
          <a:bodyPr/>
          <a:lstStyle/>
          <a:p>
            <a:fld id="{B6F15528-21DE-4FAA-801E-634DDDAF4B2B}" type="slidenum">
              <a:rPr lang="en-US" smtClean="0"/>
              <a:pPr/>
              <a:t>77</a:t>
            </a:fld>
            <a:endParaRPr lang="en-US"/>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C87EB35ACF9448AB6AF0166C74B31C" ma:contentTypeVersion="20" ma:contentTypeDescription="Create a new document." ma:contentTypeScope="" ma:versionID="afd188c47451dba45a86e012c1481767">
  <xsd:schema xmlns:xsd="http://www.w3.org/2001/XMLSchema" xmlns:xs="http://www.w3.org/2001/XMLSchema" xmlns:p="http://schemas.microsoft.com/office/2006/metadata/properties" xmlns:ns1="http://schemas.microsoft.com/sharepoint/v3" xmlns:ns3="f604542f-3f98-4180-a530-dccd8eb96459" xmlns:ns4="161b1d0b-c5d9-4346-b7aa-7c23791df872" targetNamespace="http://schemas.microsoft.com/office/2006/metadata/properties" ma:root="true" ma:fieldsID="f8830e1d0cf709f132b06e9cca8a370a" ns1:_="" ns3:_="" ns4:_="">
    <xsd:import namespace="http://schemas.microsoft.com/sharepoint/v3"/>
    <xsd:import namespace="f604542f-3f98-4180-a530-dccd8eb96459"/>
    <xsd:import namespace="161b1d0b-c5d9-4346-b7aa-7c23791df87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1:_ip_UnifiedCompliancePolicyProperties" minOccurs="0"/>
                <xsd:element ref="ns1:_ip_UnifiedCompliancePolicyUIAction"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04542f-3f98-4180-a530-dccd8eb964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descriptio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20" nillable="true" ma:displayName="MediaServiceAutoKeyPoints" ma:hidden="true" ma:internalName="MediaServiceAutoKeyPoints" ma:readOnly="true">
      <xsd:simpleType>
        <xsd:restriction base="dms:Note"/>
      </xsd:simpleType>
    </xsd:element>
    <xsd:element name="MediaServiceKeyPoints" ma:index="21" nillable="true" ma:displayName="KeyPoints" ma:internalName="MediaServiceKeyPoints"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Location" ma:index="27"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1b1d0b-c5d9-4346-b7aa-7c23791df87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f604542f-3f98-4180-a530-dccd8eb96459" xsi:nil="true"/>
  </documentManagement>
</p:properties>
</file>

<file path=customXml/itemProps1.xml><?xml version="1.0" encoding="utf-8"?>
<ds:datastoreItem xmlns:ds="http://schemas.openxmlformats.org/officeDocument/2006/customXml" ds:itemID="{07F07991-DBC0-402D-BD53-7E5C26CAE5A5}">
  <ds:schemaRefs>
    <ds:schemaRef ds:uri="161b1d0b-c5d9-4346-b7aa-7c23791df872"/>
    <ds:schemaRef ds:uri="f604542f-3f98-4180-a530-dccd8eb96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59B6550-91B7-456B-A940-ECDA25AB84F3}">
  <ds:schemaRefs>
    <ds:schemaRef ds:uri="http://schemas.microsoft.com/sharepoint/v3/contenttype/forms"/>
  </ds:schemaRefs>
</ds:datastoreItem>
</file>

<file path=customXml/itemProps3.xml><?xml version="1.0" encoding="utf-8"?>
<ds:datastoreItem xmlns:ds="http://schemas.openxmlformats.org/officeDocument/2006/customXml" ds:itemID="{BF8EABEC-D4DA-4635-9F5B-DEE1FFF379A2}">
  <ds:schemaRefs>
    <ds:schemaRef ds:uri="http://purl.org/dc/dcmitype/"/>
    <ds:schemaRef ds:uri="http://www.w3.org/XML/1998/namespace"/>
    <ds:schemaRef ds:uri="http://schemas.microsoft.com/office/infopath/2007/PartnerControls"/>
    <ds:schemaRef ds:uri="http://schemas.openxmlformats.org/package/2006/metadata/core-properties"/>
    <ds:schemaRef ds:uri="161b1d0b-c5d9-4346-b7aa-7c23791df872"/>
    <ds:schemaRef ds:uri="http://schemas.microsoft.com/office/2006/documentManagement/types"/>
    <ds:schemaRef ds:uri="http://purl.org/dc/elements/1.1/"/>
    <ds:schemaRef ds:uri="f604542f-3f98-4180-a530-dccd8eb96459"/>
    <ds:schemaRef ds:uri="http://schemas.microsoft.com/sharepoint/v3"/>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752</TotalTime>
  <Words>10241</Words>
  <Application>Microsoft Office PowerPoint</Application>
  <PresentationFormat>Custom</PresentationFormat>
  <Paragraphs>1315</Paragraphs>
  <Slides>77</Slides>
  <Notes>77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77</vt:i4>
      </vt:variant>
    </vt:vector>
  </HeadingPairs>
  <TitlesOfParts>
    <vt:vector size="86" baseType="lpstr">
      <vt:lpstr>Aptos</vt:lpstr>
      <vt:lpstr>Arial</vt:lpstr>
      <vt:lpstr>Segoe UI</vt:lpstr>
      <vt:lpstr>Arial MT</vt:lpstr>
      <vt:lpstr>Calibri Light</vt:lpstr>
      <vt:lpstr>Calibri</vt:lpstr>
      <vt:lpstr>Wingdings</vt:lpstr>
      <vt:lpstr>Museo Sans 300</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DG Slide Ver02</dc:title>
  <dc:creator>Nurul Fazilah Bt Esa (FSMC/UTP)</dc:creator>
  <cp:lastModifiedBy>Khan Reeyan Afzal</cp:lastModifiedBy>
  <cp:revision>309</cp:revision>
  <dcterms:created xsi:type="dcterms:W3CDTF">2006-08-16T00:00:00Z</dcterms:created>
  <dcterms:modified xsi:type="dcterms:W3CDTF">2026-05-13T03:23:53Z</dcterms:modified>
  <dc:identifier>DAG_MRG_x0E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0x0101000DC87EB35ACF9448AB6AF0166C74B31C</vt:lpwstr>
  </property>
</Properties>
</file>