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1" r:id="rId4"/>
  </p:sldMasterIdLst>
  <p:notesMasterIdLst>
    <p:notesMasterId r:id="rId45"/>
  </p:notesMasterIdLst>
  <p:handoutMasterIdLst>
    <p:handoutMasterId r:id="rId46"/>
  </p:handoutMasterIdLst>
  <p:sldIdLst>
    <p:sldId id="268" r:id="rId5"/>
    <p:sldId id="277" r:id="rId6"/>
    <p:sldId id="412" r:id="rId7"/>
    <p:sldId id="276" r:id="rId8"/>
    <p:sldId id="411" r:id="rId9"/>
    <p:sldId id="257" r:id="rId10"/>
    <p:sldId id="365" r:id="rId11"/>
    <p:sldId id="373" r:id="rId12"/>
    <p:sldId id="374" r:id="rId13"/>
    <p:sldId id="375" r:id="rId14"/>
    <p:sldId id="376" r:id="rId15"/>
    <p:sldId id="377" r:id="rId16"/>
    <p:sldId id="378" r:id="rId17"/>
    <p:sldId id="379" r:id="rId18"/>
    <p:sldId id="387" r:id="rId19"/>
    <p:sldId id="386" r:id="rId20"/>
    <p:sldId id="282" r:id="rId21"/>
    <p:sldId id="388" r:id="rId22"/>
    <p:sldId id="389" r:id="rId23"/>
    <p:sldId id="390" r:id="rId24"/>
    <p:sldId id="391" r:id="rId25"/>
    <p:sldId id="392" r:id="rId26"/>
    <p:sldId id="393" r:id="rId27"/>
    <p:sldId id="394" r:id="rId28"/>
    <p:sldId id="395" r:id="rId29"/>
    <p:sldId id="396" r:id="rId30"/>
    <p:sldId id="397" r:id="rId31"/>
    <p:sldId id="398" r:id="rId32"/>
    <p:sldId id="399" r:id="rId33"/>
    <p:sldId id="400" r:id="rId34"/>
    <p:sldId id="401" r:id="rId35"/>
    <p:sldId id="402" r:id="rId36"/>
    <p:sldId id="403" r:id="rId37"/>
    <p:sldId id="404" r:id="rId38"/>
    <p:sldId id="405" r:id="rId39"/>
    <p:sldId id="407" r:id="rId40"/>
    <p:sldId id="409" r:id="rId41"/>
    <p:sldId id="410" r:id="rId42"/>
    <p:sldId id="320" r:id="rId43"/>
    <p:sldId id="270" r:id="rId44"/>
  </p:sldIdLst>
  <p:sldSz cx="18288000" cy="10287000"/>
  <p:notesSz cx="6858000" cy="9144000"/>
  <p:embeddedFontLst>
    <p:embeddedFont>
      <p:font typeface="Museo Sans 300" panose="02000000000000000000" charset="0"/>
      <p:regular r:id="rId47"/>
      <p:bold r:id="rId48"/>
      <p:italic r:id="rId49"/>
    </p:embeddedFont>
    <p:embeddedFont>
      <p:font typeface="Segoe UI" panose="020B0502040204020203" pitchFamily="34" charset="0"/>
      <p:regular r:id="rId50"/>
      <p:bold r:id="rId51"/>
      <p:italic r:id="rId52"/>
      <p:boldItalic r:id="rId5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007" autoAdjust="0"/>
    <p:restoredTop sz="73957" autoAdjust="0"/>
  </p:normalViewPr>
  <p:slideViewPr>
    <p:cSldViewPr snapToGrid="0">
      <p:cViewPr varScale="1">
        <p:scale>
          <a:sx n="34" d="100"/>
          <a:sy n="34" d="100"/>
        </p:scale>
        <p:origin x="84" y="75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openxmlformats.org/officeDocument/2006/relationships/font" Target="fonts/font7.fntdata"/><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2.fntdata"/><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5.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3.fntdata"/><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B93D41-E753-CA08-512C-7FD9149E95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EB683311-34CD-10A6-71A7-5FEC1EAC08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D391DD-0852-4038-9481-BE0C8E4C0068}" type="datetimeFigureOut">
              <a:rPr lang="en-MY" smtClean="0"/>
              <a:t>18/5/2026</a:t>
            </a:fld>
            <a:endParaRPr lang="en-MY"/>
          </a:p>
        </p:txBody>
      </p:sp>
      <p:sp>
        <p:nvSpPr>
          <p:cNvPr id="4" name="Footer Placeholder 3">
            <a:extLst>
              <a:ext uri="{FF2B5EF4-FFF2-40B4-BE49-F238E27FC236}">
                <a16:creationId xmlns:a16="http://schemas.microsoft.com/office/drawing/2014/main" id="{7B82A957-AB6C-53B4-A4E1-0374492AD1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a16="http://schemas.microsoft.com/office/drawing/2014/main" id="{1EA79F2C-EAFF-B3B1-975D-3770C8024B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3BE2F9-A3A4-483F-A619-855FC01C419C}" type="slidenum">
              <a:rPr lang="en-MY" smtClean="0"/>
              <a:t>‹#›</a:t>
            </a:fld>
            <a:endParaRPr lang="en-MY"/>
          </a:p>
        </p:txBody>
      </p:sp>
    </p:spTree>
    <p:extLst>
      <p:ext uri="{BB962C8B-B14F-4D97-AF65-F5344CB8AC3E}">
        <p14:creationId xmlns:p14="http://schemas.microsoft.com/office/powerpoint/2010/main" val="409590229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1111C-7368-49FD-8B9D-8D05AE4C3340}" type="datetimeFigureOut">
              <a:rPr lang="en-MY" smtClean="0"/>
              <a:t>18/5/2026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61F1A-E494-4223-A600-C9DDF71EE410}" type="slidenum">
              <a:rPr lang="en-MY" smtClean="0"/>
              <a:t>‹#›</a:t>
            </a:fld>
            <a:endParaRPr lang="en-MY"/>
          </a:p>
        </p:txBody>
      </p:sp>
    </p:spTree>
    <p:extLst>
      <p:ext uri="{BB962C8B-B14F-4D97-AF65-F5344CB8AC3E}">
        <p14:creationId xmlns:p14="http://schemas.microsoft.com/office/powerpoint/2010/main" val="28362439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1</a:t>
            </a:fld>
            <a:endParaRPr lang="en-MY"/>
          </a:p>
        </p:txBody>
      </p:sp>
    </p:spTree>
    <p:extLst>
      <p:ext uri="{BB962C8B-B14F-4D97-AF65-F5344CB8AC3E}">
        <p14:creationId xmlns:p14="http://schemas.microsoft.com/office/powerpoint/2010/main" val="3036044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2</a:t>
            </a:fld>
            <a:endParaRPr lang="en-MY"/>
          </a:p>
        </p:txBody>
      </p:sp>
    </p:spTree>
    <p:extLst>
      <p:ext uri="{BB962C8B-B14F-4D97-AF65-F5344CB8AC3E}">
        <p14:creationId xmlns:p14="http://schemas.microsoft.com/office/powerpoint/2010/main" val="2622563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7028F-DC72-DE27-B64B-4D671739C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0FD022-EF3B-C469-A3F5-8BDDF29685C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A663E38-D8CF-7D5E-B37D-569BF29D8E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a:extLst>
              <a:ext uri="{FF2B5EF4-FFF2-40B4-BE49-F238E27FC236}">
                <a16:creationId xmlns:a16="http://schemas.microsoft.com/office/drawing/2014/main" id="{B0A2532B-B954-AFBF-25BD-71FCE4A5A13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3EBBEDC-819A-001C-7FBF-CBDABCB4255A}"/>
              </a:ext>
            </a:extLst>
          </p:cNvPr>
          <p:cNvSpPr>
            <a:spLocks noGrp="1"/>
          </p:cNvSpPr>
          <p:nvPr>
            <p:ph type="sldNum" sz="quarter" idx="5"/>
          </p:nvPr>
        </p:nvSpPr>
        <p:spPr/>
        <p:txBody>
          <a:bodyPr/>
          <a:lstStyle/>
          <a:p>
            <a:fld id="{D2061F1A-E494-4223-A600-C9DDF71EE410}" type="slidenum">
              <a:rPr lang="en-MY" smtClean="0"/>
              <a:t>3</a:t>
            </a:fld>
            <a:endParaRPr lang="en-MY"/>
          </a:p>
        </p:txBody>
      </p:sp>
    </p:spTree>
    <p:extLst>
      <p:ext uri="{BB962C8B-B14F-4D97-AF65-F5344CB8AC3E}">
        <p14:creationId xmlns:p14="http://schemas.microsoft.com/office/powerpoint/2010/main" val="1042395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4</a:t>
            </a:fld>
            <a:endParaRPr lang="en-MY"/>
          </a:p>
        </p:txBody>
      </p:sp>
    </p:spTree>
    <p:extLst>
      <p:ext uri="{BB962C8B-B14F-4D97-AF65-F5344CB8AC3E}">
        <p14:creationId xmlns:p14="http://schemas.microsoft.com/office/powerpoint/2010/main" val="2586465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B9CA0-80B2-F2AD-7FD4-04B200E7B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89CFC-20E2-74F9-1E95-88E0B353CCB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A76DEE3-8146-84F2-EFEC-731F5E45205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34CE9FA-75F1-4198-9F83-A58A01A669A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247113D-BF35-A963-26DD-027968121C6F}"/>
              </a:ext>
            </a:extLst>
          </p:cNvPr>
          <p:cNvSpPr>
            <a:spLocks noGrp="1"/>
          </p:cNvSpPr>
          <p:nvPr>
            <p:ph type="sldNum" sz="quarter" idx="5"/>
          </p:nvPr>
        </p:nvSpPr>
        <p:spPr/>
        <p:txBody>
          <a:bodyPr/>
          <a:lstStyle/>
          <a:p>
            <a:fld id="{D2061F1A-E494-4223-A600-C9DDF71EE410}" type="slidenum">
              <a:rPr lang="en-MY" smtClean="0"/>
              <a:t>5</a:t>
            </a:fld>
            <a:endParaRPr lang="en-MY"/>
          </a:p>
        </p:txBody>
      </p:sp>
    </p:spTree>
    <p:extLst>
      <p:ext uri="{BB962C8B-B14F-4D97-AF65-F5344CB8AC3E}">
        <p14:creationId xmlns:p14="http://schemas.microsoft.com/office/powerpoint/2010/main" val="494260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6</a:t>
            </a:fld>
            <a:endParaRPr lang="en-MY"/>
          </a:p>
        </p:txBody>
      </p:sp>
    </p:spTree>
    <p:extLst>
      <p:ext uri="{BB962C8B-B14F-4D97-AF65-F5344CB8AC3E}">
        <p14:creationId xmlns:p14="http://schemas.microsoft.com/office/powerpoint/2010/main" val="2992746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03AB5-B534-77D9-F89C-9BF470610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D4C31-3D26-853B-8D15-2D9A179B86B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5970C61-9D07-9E14-FA19-E8C5DE10060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0E62F17-F868-F82B-0A34-BE664154CB2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AAFF73-1E8F-06C9-CCE4-D040194BB7ED}"/>
              </a:ext>
            </a:extLst>
          </p:cNvPr>
          <p:cNvSpPr>
            <a:spLocks noGrp="1"/>
          </p:cNvSpPr>
          <p:nvPr>
            <p:ph type="sldNum" sz="quarter" idx="5"/>
          </p:nvPr>
        </p:nvSpPr>
        <p:spPr/>
        <p:txBody>
          <a:bodyPr/>
          <a:lstStyle/>
          <a:p>
            <a:fld id="{D2061F1A-E494-4223-A600-C9DDF71EE410}" type="slidenum">
              <a:rPr lang="en-MY" smtClean="0"/>
              <a:t>7</a:t>
            </a:fld>
            <a:endParaRPr lang="en-MY"/>
          </a:p>
        </p:txBody>
      </p:sp>
    </p:spTree>
    <p:extLst>
      <p:ext uri="{BB962C8B-B14F-4D97-AF65-F5344CB8AC3E}">
        <p14:creationId xmlns:p14="http://schemas.microsoft.com/office/powerpoint/2010/main" val="2652304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00305-27E2-8E0D-7688-7BB166DA5B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C63A7D-8289-A68A-A1C5-3B310A5428C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E2412F2-4674-59F7-BA62-ACC947D0940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6E204AB-2796-C0F7-B766-9C8048EB65C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48C62AE-17EB-92BA-039B-9277D52F8769}"/>
              </a:ext>
            </a:extLst>
          </p:cNvPr>
          <p:cNvSpPr>
            <a:spLocks noGrp="1"/>
          </p:cNvSpPr>
          <p:nvPr>
            <p:ph type="sldNum" sz="quarter" idx="5"/>
          </p:nvPr>
        </p:nvSpPr>
        <p:spPr/>
        <p:txBody>
          <a:bodyPr/>
          <a:lstStyle/>
          <a:p>
            <a:fld id="{D2061F1A-E494-4223-A600-C9DDF71EE410}" type="slidenum">
              <a:rPr lang="en-MY" smtClean="0"/>
              <a:t>8</a:t>
            </a:fld>
            <a:endParaRPr lang="en-MY"/>
          </a:p>
        </p:txBody>
      </p:sp>
    </p:spTree>
    <p:extLst>
      <p:ext uri="{BB962C8B-B14F-4D97-AF65-F5344CB8AC3E}">
        <p14:creationId xmlns:p14="http://schemas.microsoft.com/office/powerpoint/2010/main" val="3158647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90B51-7278-BB3E-D398-0E12A3E28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150668-EB01-425A-41E7-3F5E852D611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10B4EEC-3F97-0A83-C16F-757BDCF5253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54D6318-F2B0-78C3-CC87-4735A4B5294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E20CC8E-2915-07FB-8434-A8E5962ECECC}"/>
              </a:ext>
            </a:extLst>
          </p:cNvPr>
          <p:cNvSpPr>
            <a:spLocks noGrp="1"/>
          </p:cNvSpPr>
          <p:nvPr>
            <p:ph type="sldNum" sz="quarter" idx="5"/>
          </p:nvPr>
        </p:nvSpPr>
        <p:spPr/>
        <p:txBody>
          <a:bodyPr/>
          <a:lstStyle/>
          <a:p>
            <a:fld id="{D2061F1A-E494-4223-A600-C9DDF71EE410}" type="slidenum">
              <a:rPr lang="en-MY" smtClean="0"/>
              <a:t>9</a:t>
            </a:fld>
            <a:endParaRPr lang="en-MY"/>
          </a:p>
        </p:txBody>
      </p:sp>
    </p:spTree>
    <p:extLst>
      <p:ext uri="{BB962C8B-B14F-4D97-AF65-F5344CB8AC3E}">
        <p14:creationId xmlns:p14="http://schemas.microsoft.com/office/powerpoint/2010/main" val="929075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60064-BC0B-6AC8-12A2-23FFF02C63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538CA1-6C76-FD58-3F94-D11FEA472A0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D493D47-02B7-4D35-4C8F-514BD50AF97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CDFE6AC-B4B0-D3E0-ABF6-7D137FB50E0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F31FB12-D81A-D6B0-3CCA-2AA8FEE5CA3C}"/>
              </a:ext>
            </a:extLst>
          </p:cNvPr>
          <p:cNvSpPr>
            <a:spLocks noGrp="1"/>
          </p:cNvSpPr>
          <p:nvPr>
            <p:ph type="sldNum" sz="quarter" idx="5"/>
          </p:nvPr>
        </p:nvSpPr>
        <p:spPr/>
        <p:txBody>
          <a:bodyPr/>
          <a:lstStyle/>
          <a:p>
            <a:fld id="{D2061F1A-E494-4223-A600-C9DDF71EE410}" type="slidenum">
              <a:rPr lang="en-MY" smtClean="0"/>
              <a:t>10</a:t>
            </a:fld>
            <a:endParaRPr lang="en-MY"/>
          </a:p>
        </p:txBody>
      </p:sp>
    </p:spTree>
    <p:extLst>
      <p:ext uri="{BB962C8B-B14F-4D97-AF65-F5344CB8AC3E}">
        <p14:creationId xmlns:p14="http://schemas.microsoft.com/office/powerpoint/2010/main" val="20804153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C4D3B-752D-098E-0D98-AC6ED81D7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E0E09-276B-A74F-4DA6-FE0796C2C9B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76317AF-991A-570E-2348-31F35179A88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2B3FD57-4CC8-7EA0-3D7D-BCD9C3C3C69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82D1B86-1BA6-8345-FA23-1F6594BD9386}"/>
              </a:ext>
            </a:extLst>
          </p:cNvPr>
          <p:cNvSpPr>
            <a:spLocks noGrp="1"/>
          </p:cNvSpPr>
          <p:nvPr>
            <p:ph type="sldNum" sz="quarter" idx="5"/>
          </p:nvPr>
        </p:nvSpPr>
        <p:spPr/>
        <p:txBody>
          <a:bodyPr/>
          <a:lstStyle/>
          <a:p>
            <a:fld id="{D2061F1A-E494-4223-A600-C9DDF71EE410}" type="slidenum">
              <a:rPr lang="en-MY" smtClean="0"/>
              <a:t>11</a:t>
            </a:fld>
            <a:endParaRPr lang="en-MY"/>
          </a:p>
        </p:txBody>
      </p:sp>
    </p:spTree>
    <p:extLst>
      <p:ext uri="{BB962C8B-B14F-4D97-AF65-F5344CB8AC3E}">
        <p14:creationId xmlns:p14="http://schemas.microsoft.com/office/powerpoint/2010/main" val="36694729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7C9E2-5A9F-470D-20FE-602447233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555BFB-D59A-8BEA-62E3-C902150F0A1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DBDF065-752B-B5AA-389F-FFD9D2FA907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93B3676-513A-D186-2B0E-DF4870B1872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9F27392-80FC-0EB8-3625-82AC6AE146F4}"/>
              </a:ext>
            </a:extLst>
          </p:cNvPr>
          <p:cNvSpPr>
            <a:spLocks noGrp="1"/>
          </p:cNvSpPr>
          <p:nvPr>
            <p:ph type="sldNum" sz="quarter" idx="5"/>
          </p:nvPr>
        </p:nvSpPr>
        <p:spPr/>
        <p:txBody>
          <a:bodyPr/>
          <a:lstStyle/>
          <a:p>
            <a:fld id="{D2061F1A-E494-4223-A600-C9DDF71EE410}" type="slidenum">
              <a:rPr lang="en-MY" smtClean="0"/>
              <a:t>12</a:t>
            </a:fld>
            <a:endParaRPr lang="en-MY"/>
          </a:p>
        </p:txBody>
      </p:sp>
    </p:spTree>
    <p:extLst>
      <p:ext uri="{BB962C8B-B14F-4D97-AF65-F5344CB8AC3E}">
        <p14:creationId xmlns:p14="http://schemas.microsoft.com/office/powerpoint/2010/main" val="15870678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D8A4B-683F-88CD-0D6B-CE9DB7AFC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DE9D75-0194-FE61-0EAB-DED90A257EA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CD802B6-0A1C-D4D5-C60A-8975C88AED9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B9F72EC-1E6B-D619-C5F0-F1E7E123628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F0072F5-51B7-7835-48CE-A1256ABE03FD}"/>
              </a:ext>
            </a:extLst>
          </p:cNvPr>
          <p:cNvSpPr>
            <a:spLocks noGrp="1"/>
          </p:cNvSpPr>
          <p:nvPr>
            <p:ph type="sldNum" sz="quarter" idx="5"/>
          </p:nvPr>
        </p:nvSpPr>
        <p:spPr/>
        <p:txBody>
          <a:bodyPr/>
          <a:lstStyle/>
          <a:p>
            <a:fld id="{D2061F1A-E494-4223-A600-C9DDF71EE410}" type="slidenum">
              <a:rPr lang="en-MY" smtClean="0"/>
              <a:t>13</a:t>
            </a:fld>
            <a:endParaRPr lang="en-MY"/>
          </a:p>
        </p:txBody>
      </p:sp>
    </p:spTree>
    <p:extLst>
      <p:ext uri="{BB962C8B-B14F-4D97-AF65-F5344CB8AC3E}">
        <p14:creationId xmlns:p14="http://schemas.microsoft.com/office/powerpoint/2010/main" val="2564394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B0C4B-BC14-20BC-2F9F-9746AAAA1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F1B10-6F04-F4C8-6DD7-D0D2352B848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B9357EA-3D83-6E6A-1E57-31672F3B8AE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D2A2744-FF75-D542-1507-9E4271E909D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FC61314-F102-34E5-724C-A25CFDB8F8B4}"/>
              </a:ext>
            </a:extLst>
          </p:cNvPr>
          <p:cNvSpPr>
            <a:spLocks noGrp="1"/>
          </p:cNvSpPr>
          <p:nvPr>
            <p:ph type="sldNum" sz="quarter" idx="5"/>
          </p:nvPr>
        </p:nvSpPr>
        <p:spPr/>
        <p:txBody>
          <a:bodyPr/>
          <a:lstStyle/>
          <a:p>
            <a:fld id="{D2061F1A-E494-4223-A600-C9DDF71EE410}" type="slidenum">
              <a:rPr lang="en-MY" smtClean="0"/>
              <a:t>14</a:t>
            </a:fld>
            <a:endParaRPr lang="en-MY"/>
          </a:p>
        </p:txBody>
      </p:sp>
    </p:spTree>
    <p:extLst>
      <p:ext uri="{BB962C8B-B14F-4D97-AF65-F5344CB8AC3E}">
        <p14:creationId xmlns:p14="http://schemas.microsoft.com/office/powerpoint/2010/main" val="37596674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7B782-085F-2EAF-AF9B-16F5D82E0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D04A47-D7BB-33E5-556D-C925A5FD573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7111F95-BF6F-1EC0-28AC-413BB1C430A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F4BD6DB-F79C-EB93-C50D-2B41C3A32B1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FADC5CC-ADCD-CD24-2B2D-7F174128463F}"/>
              </a:ext>
            </a:extLst>
          </p:cNvPr>
          <p:cNvSpPr>
            <a:spLocks noGrp="1"/>
          </p:cNvSpPr>
          <p:nvPr>
            <p:ph type="sldNum" sz="quarter" idx="5"/>
          </p:nvPr>
        </p:nvSpPr>
        <p:spPr/>
        <p:txBody>
          <a:bodyPr/>
          <a:lstStyle/>
          <a:p>
            <a:fld id="{D2061F1A-E494-4223-A600-C9DDF71EE410}" type="slidenum">
              <a:rPr lang="en-MY" smtClean="0"/>
              <a:t>15</a:t>
            </a:fld>
            <a:endParaRPr lang="en-MY"/>
          </a:p>
        </p:txBody>
      </p:sp>
    </p:spTree>
    <p:extLst>
      <p:ext uri="{BB962C8B-B14F-4D97-AF65-F5344CB8AC3E}">
        <p14:creationId xmlns:p14="http://schemas.microsoft.com/office/powerpoint/2010/main" val="2061289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F6BDA-1132-68E3-949A-730CB3689E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5FBC28-7CCC-DA5A-A0ED-E6AEEC3FE4B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4BD0628-68B4-E1C4-1DCC-281BDF745C3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845B445-10E1-4234-BD3D-746E542484B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465E359-44EF-B2F6-F149-00594E445EF6}"/>
              </a:ext>
            </a:extLst>
          </p:cNvPr>
          <p:cNvSpPr>
            <a:spLocks noGrp="1"/>
          </p:cNvSpPr>
          <p:nvPr>
            <p:ph type="sldNum" sz="quarter" idx="5"/>
          </p:nvPr>
        </p:nvSpPr>
        <p:spPr/>
        <p:txBody>
          <a:bodyPr/>
          <a:lstStyle/>
          <a:p>
            <a:fld id="{D2061F1A-E494-4223-A600-C9DDF71EE410}" type="slidenum">
              <a:rPr lang="en-MY" smtClean="0"/>
              <a:t>16</a:t>
            </a:fld>
            <a:endParaRPr lang="en-MY"/>
          </a:p>
        </p:txBody>
      </p:sp>
    </p:spTree>
    <p:extLst>
      <p:ext uri="{BB962C8B-B14F-4D97-AF65-F5344CB8AC3E}">
        <p14:creationId xmlns:p14="http://schemas.microsoft.com/office/powerpoint/2010/main" val="12649083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DC458-ABD2-6554-4EEC-0D16A32B0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BC865-94A3-188F-B3E6-5A7610E719E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C79109B-9008-0773-3AD8-E8915AC0A01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781BED9-7438-FFAF-C137-6ACCDC21506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7F82F19-6671-66BA-EB51-B8BCB6771018}"/>
              </a:ext>
            </a:extLst>
          </p:cNvPr>
          <p:cNvSpPr>
            <a:spLocks noGrp="1"/>
          </p:cNvSpPr>
          <p:nvPr>
            <p:ph type="sldNum" sz="quarter" idx="5"/>
          </p:nvPr>
        </p:nvSpPr>
        <p:spPr/>
        <p:txBody>
          <a:bodyPr/>
          <a:lstStyle/>
          <a:p>
            <a:fld id="{D2061F1A-E494-4223-A600-C9DDF71EE410}" type="slidenum">
              <a:rPr lang="en-MY" smtClean="0"/>
              <a:t>17</a:t>
            </a:fld>
            <a:endParaRPr lang="en-MY"/>
          </a:p>
        </p:txBody>
      </p:sp>
    </p:spTree>
    <p:extLst>
      <p:ext uri="{BB962C8B-B14F-4D97-AF65-F5344CB8AC3E}">
        <p14:creationId xmlns:p14="http://schemas.microsoft.com/office/powerpoint/2010/main" val="1735258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C4618-C294-477F-7CCB-CB9954C40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26856-6B60-747A-EBD3-B75079B3A4C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D025806-A9C3-7064-A582-2802BC8E76A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9E223A6-D1E1-092A-09CA-097391090C9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2502093-ADBF-CD2B-CF03-DB35444C4EE9}"/>
              </a:ext>
            </a:extLst>
          </p:cNvPr>
          <p:cNvSpPr>
            <a:spLocks noGrp="1"/>
          </p:cNvSpPr>
          <p:nvPr>
            <p:ph type="sldNum" sz="quarter" idx="5"/>
          </p:nvPr>
        </p:nvSpPr>
        <p:spPr/>
        <p:txBody>
          <a:bodyPr/>
          <a:lstStyle/>
          <a:p>
            <a:fld id="{D2061F1A-E494-4223-A600-C9DDF71EE410}" type="slidenum">
              <a:rPr lang="en-MY" smtClean="0"/>
              <a:t>18</a:t>
            </a:fld>
            <a:endParaRPr lang="en-MY"/>
          </a:p>
        </p:txBody>
      </p:sp>
    </p:spTree>
    <p:extLst>
      <p:ext uri="{BB962C8B-B14F-4D97-AF65-F5344CB8AC3E}">
        <p14:creationId xmlns:p14="http://schemas.microsoft.com/office/powerpoint/2010/main" val="32981591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6C65C-D9A7-A15C-B01C-2C999D2BFB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3B030-248A-6410-C04B-F2B170D0A5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F8BA43-AD77-237D-F3EC-1CB3211622CD}"/>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B6CC7519-0DFA-DB0A-3BD3-E915F028CB1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E20EBA6-0C38-FB68-951E-AB5C6BD56078}"/>
              </a:ext>
            </a:extLst>
          </p:cNvPr>
          <p:cNvSpPr>
            <a:spLocks noGrp="1"/>
          </p:cNvSpPr>
          <p:nvPr>
            <p:ph type="sldNum" sz="quarter" idx="5"/>
          </p:nvPr>
        </p:nvSpPr>
        <p:spPr/>
        <p:txBody>
          <a:bodyPr/>
          <a:lstStyle/>
          <a:p>
            <a:fld id="{D2061F1A-E494-4223-A600-C9DDF71EE410}" type="slidenum">
              <a:rPr lang="en-MY" smtClean="0"/>
              <a:t>19</a:t>
            </a:fld>
            <a:endParaRPr lang="en-MY"/>
          </a:p>
        </p:txBody>
      </p:sp>
    </p:spTree>
    <p:extLst>
      <p:ext uri="{BB962C8B-B14F-4D97-AF65-F5344CB8AC3E}">
        <p14:creationId xmlns:p14="http://schemas.microsoft.com/office/powerpoint/2010/main" val="31941575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B44AC-5DF0-CE9E-1402-047B80A36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BFD371-A5B1-F726-C510-8C57D18BD00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24EAF51-1689-AFF1-7057-F42939C80D3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B8D2F74-F63A-189A-5C75-2DD5830370D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4075499-7230-9CA6-0354-31A7AED80F75}"/>
              </a:ext>
            </a:extLst>
          </p:cNvPr>
          <p:cNvSpPr>
            <a:spLocks noGrp="1"/>
          </p:cNvSpPr>
          <p:nvPr>
            <p:ph type="sldNum" sz="quarter" idx="5"/>
          </p:nvPr>
        </p:nvSpPr>
        <p:spPr/>
        <p:txBody>
          <a:bodyPr/>
          <a:lstStyle/>
          <a:p>
            <a:fld id="{D2061F1A-E494-4223-A600-C9DDF71EE410}" type="slidenum">
              <a:rPr lang="en-MY" smtClean="0"/>
              <a:t>20</a:t>
            </a:fld>
            <a:endParaRPr lang="en-MY"/>
          </a:p>
        </p:txBody>
      </p:sp>
    </p:spTree>
    <p:extLst>
      <p:ext uri="{BB962C8B-B14F-4D97-AF65-F5344CB8AC3E}">
        <p14:creationId xmlns:p14="http://schemas.microsoft.com/office/powerpoint/2010/main" val="42948465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DF421-9D3B-1C76-33B9-AECBA4537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146F4-FF57-EFA9-19C2-4E5972C5556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58B7148-D140-19F7-F0E4-BBF335D0ABE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DE8D8AD-55D8-6F59-9C9A-2ABF65F5ADE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8EC903D-2EAC-905C-87CF-6C9E8A97876A}"/>
              </a:ext>
            </a:extLst>
          </p:cNvPr>
          <p:cNvSpPr>
            <a:spLocks noGrp="1"/>
          </p:cNvSpPr>
          <p:nvPr>
            <p:ph type="sldNum" sz="quarter" idx="5"/>
          </p:nvPr>
        </p:nvSpPr>
        <p:spPr/>
        <p:txBody>
          <a:bodyPr/>
          <a:lstStyle/>
          <a:p>
            <a:fld id="{D2061F1A-E494-4223-A600-C9DDF71EE410}" type="slidenum">
              <a:rPr lang="en-MY" smtClean="0"/>
              <a:t>21</a:t>
            </a:fld>
            <a:endParaRPr lang="en-MY"/>
          </a:p>
        </p:txBody>
      </p:sp>
    </p:spTree>
    <p:extLst>
      <p:ext uri="{BB962C8B-B14F-4D97-AF65-F5344CB8AC3E}">
        <p14:creationId xmlns:p14="http://schemas.microsoft.com/office/powerpoint/2010/main" val="22211599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46C3F-3F9F-1A0B-D894-65C3F75F8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A80E9-2100-6B38-C873-A78D89ED192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D628B4C-372F-889E-85E3-1A2007C7311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1A3AB49-51D7-7DD1-114D-8499222BD27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D17E73E-4C61-8BF1-204E-37EEF8549A52}"/>
              </a:ext>
            </a:extLst>
          </p:cNvPr>
          <p:cNvSpPr>
            <a:spLocks noGrp="1"/>
          </p:cNvSpPr>
          <p:nvPr>
            <p:ph type="sldNum" sz="quarter" idx="5"/>
          </p:nvPr>
        </p:nvSpPr>
        <p:spPr/>
        <p:txBody>
          <a:bodyPr/>
          <a:lstStyle/>
          <a:p>
            <a:fld id="{D2061F1A-E494-4223-A600-C9DDF71EE410}" type="slidenum">
              <a:rPr lang="en-MY" smtClean="0"/>
              <a:t>22</a:t>
            </a:fld>
            <a:endParaRPr lang="en-MY"/>
          </a:p>
        </p:txBody>
      </p:sp>
    </p:spTree>
    <p:extLst>
      <p:ext uri="{BB962C8B-B14F-4D97-AF65-F5344CB8AC3E}">
        <p14:creationId xmlns:p14="http://schemas.microsoft.com/office/powerpoint/2010/main" val="31938870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C7834-D8F8-ABCB-F76D-D39B166AB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526B1-9FE6-0617-9A55-1F1F58FB697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95CD98F-9BA3-C6AF-CCF0-1CC6DFCA05D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002FB12-E958-9343-97FC-7C3CAB0A9B8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DC9968E-5E8D-9A7C-5566-F82F87D0CD7A}"/>
              </a:ext>
            </a:extLst>
          </p:cNvPr>
          <p:cNvSpPr>
            <a:spLocks noGrp="1"/>
          </p:cNvSpPr>
          <p:nvPr>
            <p:ph type="sldNum" sz="quarter" idx="5"/>
          </p:nvPr>
        </p:nvSpPr>
        <p:spPr/>
        <p:txBody>
          <a:bodyPr/>
          <a:lstStyle/>
          <a:p>
            <a:fld id="{D2061F1A-E494-4223-A600-C9DDF71EE410}" type="slidenum">
              <a:rPr lang="en-MY" smtClean="0"/>
              <a:t>23</a:t>
            </a:fld>
            <a:endParaRPr lang="en-MY"/>
          </a:p>
        </p:txBody>
      </p:sp>
    </p:spTree>
    <p:extLst>
      <p:ext uri="{BB962C8B-B14F-4D97-AF65-F5344CB8AC3E}">
        <p14:creationId xmlns:p14="http://schemas.microsoft.com/office/powerpoint/2010/main" val="26438561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F8971-404C-A76B-958B-2260ED1BB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5F2F4-C3FB-2E80-44B4-162FBEFFB8A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2945AEE-C1EB-1590-BFA2-4FC0071AD28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D085717-66A2-D804-362D-E670AFAA8D4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FD08C2A-D04C-8CA8-6BAE-DC0C9668918D}"/>
              </a:ext>
            </a:extLst>
          </p:cNvPr>
          <p:cNvSpPr>
            <a:spLocks noGrp="1"/>
          </p:cNvSpPr>
          <p:nvPr>
            <p:ph type="sldNum" sz="quarter" idx="5"/>
          </p:nvPr>
        </p:nvSpPr>
        <p:spPr/>
        <p:txBody>
          <a:bodyPr/>
          <a:lstStyle/>
          <a:p>
            <a:fld id="{D2061F1A-E494-4223-A600-C9DDF71EE410}" type="slidenum">
              <a:rPr lang="en-MY" smtClean="0"/>
              <a:t>24</a:t>
            </a:fld>
            <a:endParaRPr lang="en-MY"/>
          </a:p>
        </p:txBody>
      </p:sp>
    </p:spTree>
    <p:extLst>
      <p:ext uri="{BB962C8B-B14F-4D97-AF65-F5344CB8AC3E}">
        <p14:creationId xmlns:p14="http://schemas.microsoft.com/office/powerpoint/2010/main" val="12497904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78FDA-4D17-0BAB-8821-52EC3B6FAF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A1902-AF83-5CAF-3160-AA7C5160D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9D5366-F3F4-A22D-9A2B-D41C14A2265E}"/>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D3AC9089-2213-61D8-D541-D11B385EA35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D626FB6-75E2-7104-DE0D-2F65F032570E}"/>
              </a:ext>
            </a:extLst>
          </p:cNvPr>
          <p:cNvSpPr>
            <a:spLocks noGrp="1"/>
          </p:cNvSpPr>
          <p:nvPr>
            <p:ph type="sldNum" sz="quarter" idx="5"/>
          </p:nvPr>
        </p:nvSpPr>
        <p:spPr/>
        <p:txBody>
          <a:bodyPr/>
          <a:lstStyle/>
          <a:p>
            <a:fld id="{D2061F1A-E494-4223-A600-C9DDF71EE410}" type="slidenum">
              <a:rPr lang="en-MY" smtClean="0"/>
              <a:t>25</a:t>
            </a:fld>
            <a:endParaRPr lang="en-MY"/>
          </a:p>
        </p:txBody>
      </p:sp>
    </p:spTree>
    <p:extLst>
      <p:ext uri="{BB962C8B-B14F-4D97-AF65-F5344CB8AC3E}">
        <p14:creationId xmlns:p14="http://schemas.microsoft.com/office/powerpoint/2010/main" val="40174685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9B233-ABAD-E43B-6904-960D353110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1D7345-0EA3-4F14-7B11-66353E6B7CB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C08250A-9248-F05F-AF15-A01A1AE453A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9F20C1A-2735-38F9-0993-ADF2695DF42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E632B46-708E-BB5C-1179-4371C24AF0F4}"/>
              </a:ext>
            </a:extLst>
          </p:cNvPr>
          <p:cNvSpPr>
            <a:spLocks noGrp="1"/>
          </p:cNvSpPr>
          <p:nvPr>
            <p:ph type="sldNum" sz="quarter" idx="5"/>
          </p:nvPr>
        </p:nvSpPr>
        <p:spPr/>
        <p:txBody>
          <a:bodyPr/>
          <a:lstStyle/>
          <a:p>
            <a:fld id="{D2061F1A-E494-4223-A600-C9DDF71EE410}" type="slidenum">
              <a:rPr lang="en-MY" smtClean="0"/>
              <a:t>26</a:t>
            </a:fld>
            <a:endParaRPr lang="en-MY"/>
          </a:p>
        </p:txBody>
      </p:sp>
    </p:spTree>
    <p:extLst>
      <p:ext uri="{BB962C8B-B14F-4D97-AF65-F5344CB8AC3E}">
        <p14:creationId xmlns:p14="http://schemas.microsoft.com/office/powerpoint/2010/main" val="33327502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16D9B-F268-54C2-0010-BEC0F5416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7B9E17-4063-C8CD-5D98-A0F2EAF425B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70505FC-AD9A-E1AC-6DDA-B3BA6B63E7B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FE95DC1-5EEC-3377-7BBE-32970BCA493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19F7942-A870-06C3-022A-4972E7394E21}"/>
              </a:ext>
            </a:extLst>
          </p:cNvPr>
          <p:cNvSpPr>
            <a:spLocks noGrp="1"/>
          </p:cNvSpPr>
          <p:nvPr>
            <p:ph type="sldNum" sz="quarter" idx="5"/>
          </p:nvPr>
        </p:nvSpPr>
        <p:spPr/>
        <p:txBody>
          <a:bodyPr/>
          <a:lstStyle/>
          <a:p>
            <a:fld id="{D2061F1A-E494-4223-A600-C9DDF71EE410}" type="slidenum">
              <a:rPr lang="en-MY" smtClean="0"/>
              <a:t>27</a:t>
            </a:fld>
            <a:endParaRPr lang="en-MY"/>
          </a:p>
        </p:txBody>
      </p:sp>
    </p:spTree>
    <p:extLst>
      <p:ext uri="{BB962C8B-B14F-4D97-AF65-F5344CB8AC3E}">
        <p14:creationId xmlns:p14="http://schemas.microsoft.com/office/powerpoint/2010/main" val="28281692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20E6C-C46A-FBA0-6D0E-D991A7C42B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411053-6A5E-0600-E803-D16FAD6930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ED6D81-74DD-5F04-408F-479F1E1B4ECF}"/>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CB1C0BD3-A586-6921-F0C3-C3763374C58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DA1E53E-A7AD-3FE0-8D46-AC573BE25002}"/>
              </a:ext>
            </a:extLst>
          </p:cNvPr>
          <p:cNvSpPr>
            <a:spLocks noGrp="1"/>
          </p:cNvSpPr>
          <p:nvPr>
            <p:ph type="sldNum" sz="quarter" idx="5"/>
          </p:nvPr>
        </p:nvSpPr>
        <p:spPr/>
        <p:txBody>
          <a:bodyPr/>
          <a:lstStyle/>
          <a:p>
            <a:fld id="{D2061F1A-E494-4223-A600-C9DDF71EE410}" type="slidenum">
              <a:rPr lang="en-MY" smtClean="0"/>
              <a:t>28</a:t>
            </a:fld>
            <a:endParaRPr lang="en-MY"/>
          </a:p>
        </p:txBody>
      </p:sp>
    </p:spTree>
    <p:extLst>
      <p:ext uri="{BB962C8B-B14F-4D97-AF65-F5344CB8AC3E}">
        <p14:creationId xmlns:p14="http://schemas.microsoft.com/office/powerpoint/2010/main" val="40547889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7318D-F299-BB02-3D96-6360598993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CE8FF6-0800-3DBD-987B-F8D85F2B162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8DBA644-D7B6-D6B4-845F-14B48616FF7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7A1A521-128F-3824-BD83-0AFDAC24171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F1E8BCA-DE11-4290-CBE2-B10CC9219E69}"/>
              </a:ext>
            </a:extLst>
          </p:cNvPr>
          <p:cNvSpPr>
            <a:spLocks noGrp="1"/>
          </p:cNvSpPr>
          <p:nvPr>
            <p:ph type="sldNum" sz="quarter" idx="5"/>
          </p:nvPr>
        </p:nvSpPr>
        <p:spPr/>
        <p:txBody>
          <a:bodyPr/>
          <a:lstStyle/>
          <a:p>
            <a:fld id="{D2061F1A-E494-4223-A600-C9DDF71EE410}" type="slidenum">
              <a:rPr lang="en-MY" smtClean="0"/>
              <a:t>29</a:t>
            </a:fld>
            <a:endParaRPr lang="en-MY"/>
          </a:p>
        </p:txBody>
      </p:sp>
    </p:spTree>
    <p:extLst>
      <p:ext uri="{BB962C8B-B14F-4D97-AF65-F5344CB8AC3E}">
        <p14:creationId xmlns:p14="http://schemas.microsoft.com/office/powerpoint/2010/main" val="15204564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53A3B-826A-102D-5D4A-8D6136893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F3B0C1-0C1B-C12B-4D07-F30D95777CE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12C6409-4E58-BFF7-968E-20FC6ADF7FC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1C7F746-E11B-4E5E-FBBA-D16E5CD8A1C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D1C4EA3-DF61-57B2-7864-4BE4A3CD1074}"/>
              </a:ext>
            </a:extLst>
          </p:cNvPr>
          <p:cNvSpPr>
            <a:spLocks noGrp="1"/>
          </p:cNvSpPr>
          <p:nvPr>
            <p:ph type="sldNum" sz="quarter" idx="5"/>
          </p:nvPr>
        </p:nvSpPr>
        <p:spPr/>
        <p:txBody>
          <a:bodyPr/>
          <a:lstStyle/>
          <a:p>
            <a:fld id="{D2061F1A-E494-4223-A600-C9DDF71EE410}" type="slidenum">
              <a:rPr lang="en-MY" smtClean="0"/>
              <a:t>30</a:t>
            </a:fld>
            <a:endParaRPr lang="en-MY"/>
          </a:p>
        </p:txBody>
      </p:sp>
    </p:spTree>
    <p:extLst>
      <p:ext uri="{BB962C8B-B14F-4D97-AF65-F5344CB8AC3E}">
        <p14:creationId xmlns:p14="http://schemas.microsoft.com/office/powerpoint/2010/main" val="37540379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94CC5-4DF2-BBF2-CD12-92C1520C0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908C18-F0EF-DEAB-3238-01A8AC1BADE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5B1FD6F-E1EF-75AA-6FD0-F82682390F1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B13C75D-6BC2-55EE-FA23-761F0FF927A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5F30BB3-31C6-AFAC-BE6B-2D153682831B}"/>
              </a:ext>
            </a:extLst>
          </p:cNvPr>
          <p:cNvSpPr>
            <a:spLocks noGrp="1"/>
          </p:cNvSpPr>
          <p:nvPr>
            <p:ph type="sldNum" sz="quarter" idx="5"/>
          </p:nvPr>
        </p:nvSpPr>
        <p:spPr/>
        <p:txBody>
          <a:bodyPr/>
          <a:lstStyle/>
          <a:p>
            <a:fld id="{D2061F1A-E494-4223-A600-C9DDF71EE410}" type="slidenum">
              <a:rPr lang="en-MY" smtClean="0"/>
              <a:t>31</a:t>
            </a:fld>
            <a:endParaRPr lang="en-MY"/>
          </a:p>
        </p:txBody>
      </p:sp>
    </p:spTree>
    <p:extLst>
      <p:ext uri="{BB962C8B-B14F-4D97-AF65-F5344CB8AC3E}">
        <p14:creationId xmlns:p14="http://schemas.microsoft.com/office/powerpoint/2010/main" val="25940337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4ED79-7D45-5E4F-C266-2D64726A2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3C5A79-C821-310B-E8F4-408CA9A7D66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BADEBD1-DD1F-3E3D-17A0-F6D06EFF4C8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A322420-BF63-7BD5-AB14-4E3F88BACB7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3AD3BA0-7523-1EC2-F1E2-500B2ED5EA76}"/>
              </a:ext>
            </a:extLst>
          </p:cNvPr>
          <p:cNvSpPr>
            <a:spLocks noGrp="1"/>
          </p:cNvSpPr>
          <p:nvPr>
            <p:ph type="sldNum" sz="quarter" idx="5"/>
          </p:nvPr>
        </p:nvSpPr>
        <p:spPr/>
        <p:txBody>
          <a:bodyPr/>
          <a:lstStyle/>
          <a:p>
            <a:fld id="{D2061F1A-E494-4223-A600-C9DDF71EE410}" type="slidenum">
              <a:rPr lang="en-MY" smtClean="0"/>
              <a:t>32</a:t>
            </a:fld>
            <a:endParaRPr lang="en-MY"/>
          </a:p>
        </p:txBody>
      </p:sp>
    </p:spTree>
    <p:extLst>
      <p:ext uri="{BB962C8B-B14F-4D97-AF65-F5344CB8AC3E}">
        <p14:creationId xmlns:p14="http://schemas.microsoft.com/office/powerpoint/2010/main" val="4661692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1EB85-9C08-A550-8C61-5DE6B1AB2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002F9D-7040-CAE1-A95B-3475FE97290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73E27E9-BE85-1391-3F75-2E11FD6DE7B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24565D3-7DDC-23E3-C0E3-9477598AF7B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C6D0F9F-4660-D511-99FF-F10A36CFB3B4}"/>
              </a:ext>
            </a:extLst>
          </p:cNvPr>
          <p:cNvSpPr>
            <a:spLocks noGrp="1"/>
          </p:cNvSpPr>
          <p:nvPr>
            <p:ph type="sldNum" sz="quarter" idx="5"/>
          </p:nvPr>
        </p:nvSpPr>
        <p:spPr/>
        <p:txBody>
          <a:bodyPr/>
          <a:lstStyle/>
          <a:p>
            <a:fld id="{D2061F1A-E494-4223-A600-C9DDF71EE410}" type="slidenum">
              <a:rPr lang="en-MY" smtClean="0"/>
              <a:t>33</a:t>
            </a:fld>
            <a:endParaRPr lang="en-MY"/>
          </a:p>
        </p:txBody>
      </p:sp>
    </p:spTree>
    <p:extLst>
      <p:ext uri="{BB962C8B-B14F-4D97-AF65-F5344CB8AC3E}">
        <p14:creationId xmlns:p14="http://schemas.microsoft.com/office/powerpoint/2010/main" val="8452302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7A000-EB01-D6F2-85FA-B763C5DFB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177F4-A857-9B1B-DD76-4C771BBA57E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D36CD1F-CAB4-3AEF-ED83-061698FA024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D88F4B0-5A5D-2E3E-5C4C-4E444C89837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2EFBAD0-E070-DF12-D737-AC70D94D6043}"/>
              </a:ext>
            </a:extLst>
          </p:cNvPr>
          <p:cNvSpPr>
            <a:spLocks noGrp="1"/>
          </p:cNvSpPr>
          <p:nvPr>
            <p:ph type="sldNum" sz="quarter" idx="5"/>
          </p:nvPr>
        </p:nvSpPr>
        <p:spPr/>
        <p:txBody>
          <a:bodyPr/>
          <a:lstStyle/>
          <a:p>
            <a:fld id="{D2061F1A-E494-4223-A600-C9DDF71EE410}" type="slidenum">
              <a:rPr lang="en-MY" smtClean="0"/>
              <a:t>34</a:t>
            </a:fld>
            <a:endParaRPr lang="en-MY"/>
          </a:p>
        </p:txBody>
      </p:sp>
    </p:spTree>
    <p:extLst>
      <p:ext uri="{BB962C8B-B14F-4D97-AF65-F5344CB8AC3E}">
        <p14:creationId xmlns:p14="http://schemas.microsoft.com/office/powerpoint/2010/main" val="30512286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FD1A0-E1B3-A0DB-2AD8-E000896F7B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FA3EA-DD40-10DD-2761-B24F773AE02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D4914D5-E572-FFA0-B4DC-2A5204697B8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31BCD43-2774-1432-D0EF-20FAB25D772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F2F92CF-28D4-930B-E185-8DFBDF5BD8F9}"/>
              </a:ext>
            </a:extLst>
          </p:cNvPr>
          <p:cNvSpPr>
            <a:spLocks noGrp="1"/>
          </p:cNvSpPr>
          <p:nvPr>
            <p:ph type="sldNum" sz="quarter" idx="5"/>
          </p:nvPr>
        </p:nvSpPr>
        <p:spPr/>
        <p:txBody>
          <a:bodyPr/>
          <a:lstStyle/>
          <a:p>
            <a:fld id="{D2061F1A-E494-4223-A600-C9DDF71EE410}" type="slidenum">
              <a:rPr lang="en-MY" smtClean="0"/>
              <a:t>35</a:t>
            </a:fld>
            <a:endParaRPr lang="en-MY"/>
          </a:p>
        </p:txBody>
      </p:sp>
    </p:spTree>
    <p:extLst>
      <p:ext uri="{BB962C8B-B14F-4D97-AF65-F5344CB8AC3E}">
        <p14:creationId xmlns:p14="http://schemas.microsoft.com/office/powerpoint/2010/main" val="26790865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C6CE1-9F31-F7B4-1664-2CB00740F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16327-3FE0-A3D3-D3DE-21CDDA0A35C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EA3E291-ACE7-D303-559C-506A42DA4B2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692431B-39A0-79AF-3CB0-B7BD2FAEB56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70C44DF-AA7C-113D-5879-93B621901D63}"/>
              </a:ext>
            </a:extLst>
          </p:cNvPr>
          <p:cNvSpPr>
            <a:spLocks noGrp="1"/>
          </p:cNvSpPr>
          <p:nvPr>
            <p:ph type="sldNum" sz="quarter" idx="5"/>
          </p:nvPr>
        </p:nvSpPr>
        <p:spPr/>
        <p:txBody>
          <a:bodyPr/>
          <a:lstStyle/>
          <a:p>
            <a:fld id="{D2061F1A-E494-4223-A600-C9DDF71EE410}" type="slidenum">
              <a:rPr lang="en-MY" smtClean="0"/>
              <a:t>36</a:t>
            </a:fld>
            <a:endParaRPr lang="en-MY"/>
          </a:p>
        </p:txBody>
      </p:sp>
    </p:spTree>
    <p:extLst>
      <p:ext uri="{BB962C8B-B14F-4D97-AF65-F5344CB8AC3E}">
        <p14:creationId xmlns:p14="http://schemas.microsoft.com/office/powerpoint/2010/main" val="986778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345D4-3DEB-403C-823E-8FFF0DD22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E1F19-D1CC-5B34-343C-467A144453E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AF5EBDD-9C65-CA2C-9EA1-DBB9E3CDE71A}"/>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C7F2124D-CFB9-E863-8AB4-6C13CA06061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884133A-C125-EC3C-FFC4-38B58BE35A21}"/>
              </a:ext>
            </a:extLst>
          </p:cNvPr>
          <p:cNvSpPr>
            <a:spLocks noGrp="1"/>
          </p:cNvSpPr>
          <p:nvPr>
            <p:ph type="sldNum" sz="quarter" idx="5"/>
          </p:nvPr>
        </p:nvSpPr>
        <p:spPr/>
        <p:txBody>
          <a:bodyPr/>
          <a:lstStyle/>
          <a:p>
            <a:fld id="{D2061F1A-E494-4223-A600-C9DDF71EE410}" type="slidenum">
              <a:rPr lang="en-MY" smtClean="0"/>
              <a:t>37</a:t>
            </a:fld>
            <a:endParaRPr lang="en-MY"/>
          </a:p>
        </p:txBody>
      </p:sp>
    </p:spTree>
    <p:extLst>
      <p:ext uri="{BB962C8B-B14F-4D97-AF65-F5344CB8AC3E}">
        <p14:creationId xmlns:p14="http://schemas.microsoft.com/office/powerpoint/2010/main" val="11767029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A61DD-9B1B-309A-C13D-4E58516C87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79E249-9062-2E84-3805-F6ECB7731F3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FCCDAE1-003E-BB04-6C15-EE95D103511F}"/>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601429D1-1CE8-314F-2361-9766DD242F4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A944903-845F-B1FC-B9EF-96747C7A7D90}"/>
              </a:ext>
            </a:extLst>
          </p:cNvPr>
          <p:cNvSpPr>
            <a:spLocks noGrp="1"/>
          </p:cNvSpPr>
          <p:nvPr>
            <p:ph type="sldNum" sz="quarter" idx="5"/>
          </p:nvPr>
        </p:nvSpPr>
        <p:spPr/>
        <p:txBody>
          <a:bodyPr/>
          <a:lstStyle/>
          <a:p>
            <a:fld id="{D2061F1A-E494-4223-A600-C9DDF71EE410}" type="slidenum">
              <a:rPr lang="en-MY" smtClean="0"/>
              <a:t>38</a:t>
            </a:fld>
            <a:endParaRPr lang="en-MY"/>
          </a:p>
        </p:txBody>
      </p:sp>
    </p:spTree>
    <p:extLst>
      <p:ext uri="{BB962C8B-B14F-4D97-AF65-F5344CB8AC3E}">
        <p14:creationId xmlns:p14="http://schemas.microsoft.com/office/powerpoint/2010/main" val="3003048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546BF-A5D3-EB79-8532-8103923B6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EB233-6E98-A4D7-3CFA-91FC449B049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9DEE791-79F6-781C-908F-2C1653054A75}"/>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C9266662-7A37-20FB-7C55-439CE5E4D63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18BAF71-B897-AB83-45DD-3E3C58F8DC85}"/>
              </a:ext>
            </a:extLst>
          </p:cNvPr>
          <p:cNvSpPr>
            <a:spLocks noGrp="1"/>
          </p:cNvSpPr>
          <p:nvPr>
            <p:ph type="sldNum" sz="quarter" idx="5"/>
          </p:nvPr>
        </p:nvSpPr>
        <p:spPr/>
        <p:txBody>
          <a:bodyPr/>
          <a:lstStyle/>
          <a:p>
            <a:fld id="{D2061F1A-E494-4223-A600-C9DDF71EE410}" type="slidenum">
              <a:rPr lang="en-MY" smtClean="0"/>
              <a:t>39</a:t>
            </a:fld>
            <a:endParaRPr lang="en-MY"/>
          </a:p>
        </p:txBody>
      </p:sp>
    </p:spTree>
    <p:extLst>
      <p:ext uri="{BB962C8B-B14F-4D97-AF65-F5344CB8AC3E}">
        <p14:creationId xmlns:p14="http://schemas.microsoft.com/office/powerpoint/2010/main" val="26617326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40</a:t>
            </a:fld>
            <a:endParaRPr lang="en-MY"/>
          </a:p>
        </p:txBody>
      </p:sp>
    </p:spTree>
    <p:extLst>
      <p:ext uri="{BB962C8B-B14F-4D97-AF65-F5344CB8AC3E}">
        <p14:creationId xmlns:p14="http://schemas.microsoft.com/office/powerpoint/2010/main" val="3454728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015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205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493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778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Week XX</a:t>
            </a:r>
          </a:p>
        </p:txBody>
      </p:sp>
      <p:sp>
        <p:nvSpPr>
          <p:cNvPr id="8" name="Footer Placeholder 7"/>
          <p:cNvSpPr>
            <a:spLocks noGrp="1"/>
          </p:cNvSpPr>
          <p:nvPr>
            <p:ph type="ftr" sz="quarter" idx="11"/>
          </p:nvPr>
        </p:nvSpPr>
        <p:spPr/>
        <p:txBody>
          <a:bodyPr/>
          <a:lstStyle/>
          <a:p>
            <a:r>
              <a:rPr lang="en-US"/>
              <a:t>For educational use only. Not to be distributed or shared without permission.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905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Week XX</a:t>
            </a:r>
          </a:p>
        </p:txBody>
      </p:sp>
      <p:sp>
        <p:nvSpPr>
          <p:cNvPr id="4" name="Footer Placeholder 3"/>
          <p:cNvSpPr>
            <a:spLocks noGrp="1"/>
          </p:cNvSpPr>
          <p:nvPr>
            <p:ph type="ftr" sz="quarter" idx="11"/>
          </p:nvPr>
        </p:nvSpPr>
        <p:spPr/>
        <p:txBody>
          <a:bodyPr/>
          <a:lstStyle/>
          <a:p>
            <a:r>
              <a:rPr lang="en-US"/>
              <a:t>For educational use only. Not to be distributed or shared without permission.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Week XX</a:t>
            </a:r>
          </a:p>
        </p:txBody>
      </p:sp>
      <p:sp>
        <p:nvSpPr>
          <p:cNvPr id="3" name="Footer Placeholder 2"/>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0093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6636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59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984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30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en-US"/>
              <a:t>Week XX</a:t>
            </a: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For educational use only. Not to be distributed or shared without permission.</a:t>
            </a: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0760166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hyperlink" Target="mailto:shuhaida.shuhidan@utp.edu.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06887" y="1511403"/>
            <a:ext cx="11424666" cy="5204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a:off x="6106887" y="9410700"/>
            <a:ext cx="1142466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7426192" y="1942813"/>
            <a:ext cx="9036316" cy="1752887"/>
            <a:chOff x="0" y="0"/>
            <a:chExt cx="2337006" cy="292155"/>
          </a:xfrm>
          <a:noFill/>
        </p:grpSpPr>
        <p:sp>
          <p:nvSpPr>
            <p:cNvPr id="5" name="Freeform 5"/>
            <p:cNvSpPr/>
            <p:nvPr/>
          </p:nvSpPr>
          <p:spPr>
            <a:xfrm>
              <a:off x="0" y="0"/>
              <a:ext cx="2337006" cy="292155"/>
            </a:xfrm>
            <a:custGeom>
              <a:avLst/>
              <a:gdLst/>
              <a:ahLst/>
              <a:cxnLst/>
              <a:rect l="l" t="t" r="r" b="b"/>
              <a:pathLst>
                <a:path w="2337006" h="292155">
                  <a:moveTo>
                    <a:pt x="0" y="0"/>
                  </a:moveTo>
                  <a:lnTo>
                    <a:pt x="2337006" y="0"/>
                  </a:lnTo>
                  <a:lnTo>
                    <a:pt x="2337006" y="292155"/>
                  </a:lnTo>
                  <a:lnTo>
                    <a:pt x="0" y="292155"/>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330255"/>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1" y="0"/>
            <a:ext cx="6106886" cy="10286998"/>
            <a:chOff x="-10330" y="-104775"/>
            <a:chExt cx="1377733" cy="2182730"/>
          </a:xfrm>
        </p:grpSpPr>
        <p:sp>
          <p:nvSpPr>
            <p:cNvPr id="9" name="Freeform 9"/>
            <p:cNvSpPr/>
            <p:nvPr/>
          </p:nvSpPr>
          <p:spPr>
            <a:xfrm>
              <a:off x="-10330" y="-104775"/>
              <a:ext cx="1377733" cy="2182730"/>
            </a:xfrm>
            <a:custGeom>
              <a:avLst/>
              <a:gdLst/>
              <a:ahLst/>
              <a:cxnLst/>
              <a:rect l="l" t="t" r="r" b="b"/>
              <a:pathLst>
                <a:path w="1282673" h="2091166">
                  <a:moveTo>
                    <a:pt x="0" y="0"/>
                  </a:moveTo>
                  <a:lnTo>
                    <a:pt x="1282673" y="0"/>
                  </a:lnTo>
                  <a:lnTo>
                    <a:pt x="1282673" y="2091166"/>
                  </a:lnTo>
                  <a:lnTo>
                    <a:pt x="0" y="2091166"/>
                  </a:lnTo>
                  <a:close/>
                </a:path>
              </a:pathLst>
            </a:custGeom>
            <a:solidFill>
              <a:schemeClr val="bg2">
                <a:lumMod val="90000"/>
              </a:schemeClr>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10"/>
            <p:cNvSpPr txBox="1"/>
            <p:nvPr/>
          </p:nvSpPr>
          <p:spPr>
            <a:xfrm>
              <a:off x="0" y="-104775"/>
              <a:ext cx="1282673" cy="1906122"/>
            </a:xfrm>
            <a:prstGeom prst="rect">
              <a:avLst/>
            </a:prstGeom>
          </p:spPr>
          <p:txBody>
            <a:bodyPr lIns="50800" tIns="50800" rIns="50800" bIns="50800" rtlCol="0" anchor="ctr"/>
            <a:lstStyle/>
            <a:p>
              <a:pPr marL="0" marR="0" lvl="0" indent="0" algn="ctr" defTabSz="457200" rtl="0" eaLnBrk="1" fontAlgn="auto" latinLnBrk="0" hangingPunct="1">
                <a:lnSpc>
                  <a:spcPts val="5015"/>
                </a:lnSpc>
                <a:spcBef>
                  <a:spcPts val="0"/>
                </a:spcBef>
                <a:spcAft>
                  <a:spcPts val="0"/>
                </a:spcAft>
                <a:buClrTx/>
                <a:buSzTx/>
                <a:buFontTx/>
                <a:buNone/>
                <a:tabLst/>
                <a:defRPr/>
              </a:pPr>
              <a:r>
                <a:rPr kumimoji="0" lang="en-US" sz="3299" b="0" i="0" u="none" strike="noStrike" kern="1200" cap="none" spc="135" normalizeH="0" baseline="0" noProof="0">
                  <a:ln>
                    <a:noFill/>
                  </a:ln>
                  <a:solidFill>
                    <a:srgbClr val="000000"/>
                  </a:solidFill>
                  <a:effectLst/>
                  <a:uLnTx/>
                  <a:uFillTx/>
                  <a:latin typeface="Aptos"/>
                  <a:ea typeface="Aptos"/>
                  <a:cs typeface="Aptos"/>
                  <a:sym typeface="Aptos"/>
                </a:rPr>
                <a:t>Insert relevant picture related to the topic</a:t>
              </a:r>
            </a:p>
            <a:p>
              <a:pPr marL="0" marR="0" lvl="0" indent="0" algn="ctr" defTabSz="457200" rtl="0" eaLnBrk="1" fontAlgn="auto" latinLnBrk="0" hangingPunct="1">
                <a:lnSpc>
                  <a:spcPts val="5015"/>
                </a:lnSpc>
                <a:spcBef>
                  <a:spcPts val="0"/>
                </a:spcBef>
                <a:spcAft>
                  <a:spcPts val="0"/>
                </a:spcAft>
                <a:buClrTx/>
                <a:buSzTx/>
                <a:buFontTx/>
                <a:buNone/>
                <a:tabLst/>
                <a:defRPr/>
              </a:pPr>
              <a:endParaRPr kumimoji="0" lang="en-US" sz="3299" b="0" i="0" u="none" strike="noStrike" kern="1200" cap="none" spc="135" normalizeH="0" baseline="0" noProof="0">
                <a:ln>
                  <a:noFill/>
                </a:ln>
                <a:solidFill>
                  <a:srgbClr val="000000"/>
                </a:solidFill>
                <a:effectLst/>
                <a:uLnTx/>
                <a:uFillTx/>
                <a:latin typeface="Aptos"/>
                <a:ea typeface="Aptos"/>
                <a:cs typeface="Aptos"/>
                <a:sym typeface="Aptos"/>
              </a:endParaRPr>
            </a:p>
          </p:txBody>
        </p:sp>
      </p:grpSp>
      <p:sp>
        <p:nvSpPr>
          <p:cNvPr id="11" name="TextBox 11"/>
          <p:cNvSpPr txBox="1"/>
          <p:nvPr/>
        </p:nvSpPr>
        <p:spPr>
          <a:xfrm>
            <a:off x="6468506" y="4249467"/>
            <a:ext cx="11424666" cy="1631409"/>
          </a:xfrm>
          <a:prstGeom prst="rect">
            <a:avLst/>
          </a:prstGeom>
        </p:spPr>
        <p:txBody>
          <a:bodyPr wrap="square" lIns="0" tIns="0" rIns="0" bIns="0" rtlCol="0" anchor="t">
            <a:spAutoFit/>
          </a:bodyPr>
          <a:lstStyle/>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WEEK IV</a:t>
            </a:r>
          </a:p>
          <a:p>
            <a:pPr marL="0" marR="0" lvl="0" indent="0" algn="ctr" defTabSz="457200" rtl="0" eaLnBrk="1" fontAlgn="auto" latinLnBrk="0" hangingPunct="1">
              <a:lnSpc>
                <a:spcPts val="6688"/>
              </a:lnSpc>
              <a:spcBef>
                <a:spcPct val="0"/>
              </a:spcBef>
              <a:spcAft>
                <a:spcPts val="0"/>
              </a:spcAft>
              <a:buClrTx/>
              <a:buSzTx/>
              <a:buFontTx/>
              <a:buNone/>
              <a:tabLst/>
              <a:defRPr/>
            </a:pPr>
            <a:r>
              <a:rPr lang="en-US" sz="44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MOBILE AND INTERNET BANKING</a:t>
            </a:r>
            <a:endParaRPr kumimoji="0" lang="en-US" sz="4400" i="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p:txBody>
      </p:sp>
      <p:sp>
        <p:nvSpPr>
          <p:cNvPr id="12" name="TextBox 12"/>
          <p:cNvSpPr txBox="1"/>
          <p:nvPr/>
        </p:nvSpPr>
        <p:spPr>
          <a:xfrm>
            <a:off x="8965993" y="2479851"/>
            <a:ext cx="6429692" cy="512961"/>
          </a:xfrm>
          <a:prstGeom prst="rect">
            <a:avLst/>
          </a:prstGeom>
        </p:spPr>
        <p:txBody>
          <a:bodyPr lIns="0" tIns="0" rIns="0" bIns="0" rtlCol="0" anchor="t">
            <a:spAutoFit/>
          </a:bodyPr>
          <a:lstStyle/>
          <a:p>
            <a:pPr marL="0" marR="0" lvl="0" indent="0" algn="ctr" defTabSz="457200" rtl="0" eaLnBrk="1" fontAlgn="auto" latinLnBrk="0" hangingPunct="1">
              <a:lnSpc>
                <a:spcPts val="4255"/>
              </a:lnSpc>
              <a:spcBef>
                <a:spcPts val="0"/>
              </a:spcBef>
              <a:spcAft>
                <a:spcPts val="0"/>
              </a:spcAft>
              <a:buClrTx/>
              <a:buSzTx/>
              <a:buFontTx/>
              <a:buNone/>
              <a:tabLst/>
              <a:defRPr/>
            </a:pPr>
            <a:r>
              <a:rPr kumimoji="0" lang="en-US" sz="2799" b="0" i="0" u="none" strike="noStrike" kern="1200" cap="none" spc="103"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TFB3323 FINTECH INNOVATION</a:t>
            </a:r>
          </a:p>
        </p:txBody>
      </p:sp>
      <p:sp>
        <p:nvSpPr>
          <p:cNvPr id="14" name="TextBox 14"/>
          <p:cNvSpPr txBox="1"/>
          <p:nvPr/>
        </p:nvSpPr>
        <p:spPr>
          <a:xfrm>
            <a:off x="8527172" y="6957133"/>
            <a:ext cx="7337522" cy="804451"/>
          </a:xfrm>
          <a:prstGeom prst="rect">
            <a:avLst/>
          </a:prstGeom>
        </p:spPr>
        <p:txBody>
          <a:bodyPr wrap="square" lIns="0" tIns="0" rIns="0" bIns="0" rtlCol="0" anchor="t">
            <a:spAutoFit/>
          </a:bodyPr>
          <a:lstStyle/>
          <a:p>
            <a:pPr algn="ctr">
              <a:lnSpc>
                <a:spcPts val="3343"/>
              </a:lnSpc>
              <a:defRPr/>
            </a:pPr>
            <a:r>
              <a:rPr lang="en-MY" sz="2000"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algn="ctr">
              <a:lnSpc>
                <a:spcPts val="3343"/>
              </a:lnSpc>
              <a:defRPr/>
            </a:pPr>
            <a:r>
              <a:rPr kumimoji="0" lang="en-US" sz="2199" b="0" i="0"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a:t>
            </a:r>
            <a:r>
              <a:rPr lang="en-MY" sz="2199" i="1" spc="8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 (FSMC/UTP)</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a:t>
            </a:r>
          </a:p>
        </p:txBody>
      </p:sp>
      <p:sp>
        <p:nvSpPr>
          <p:cNvPr id="15" name="TextBox 15"/>
          <p:cNvSpPr txBox="1"/>
          <p:nvPr/>
        </p:nvSpPr>
        <p:spPr>
          <a:xfrm>
            <a:off x="8085066" y="7789617"/>
            <a:ext cx="8221734" cy="1240083"/>
          </a:xfrm>
          <a:prstGeom prst="rect">
            <a:avLst/>
          </a:prstGeom>
        </p:spPr>
        <p:txBody>
          <a:bodyPr wrap="square"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BACHELOR OF XXXXXX</a:t>
            </a:r>
          </a:p>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DEPARTMENT OF COMPUTING</a:t>
            </a:r>
          </a:p>
          <a:p>
            <a:pPr marL="0" marR="0" lvl="0" indent="0" algn="ctr" defTabSz="457200" rtl="0" eaLnBrk="1" fontAlgn="auto" latinLnBrk="0" hangingPunct="1">
              <a:lnSpc>
                <a:spcPts val="3343"/>
              </a:lnSpc>
              <a:spcBef>
                <a:spcPts val="0"/>
              </a:spcBef>
              <a:spcAft>
                <a:spcPts val="0"/>
              </a:spcAft>
              <a:buClrTx/>
              <a:buSzTx/>
              <a:buFontTx/>
              <a:buNone/>
              <a:tabLst/>
              <a:defRPr/>
            </a:pPr>
            <a:r>
              <a:rPr lang="en-US" sz="2200" spc="90"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Aptos"/>
                <a:cs typeface="Segoe UI" panose="020B0502040204020203" pitchFamily="34" charset="0"/>
                <a:sym typeface="Aptos"/>
              </a:rPr>
              <a:t>FACULTY OF SCIENCE, MANAGEMENT &amp; COMPUTING</a:t>
            </a: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p>
        </p:txBody>
      </p:sp>
      <p:sp>
        <p:nvSpPr>
          <p:cNvPr id="13" name="Text Box 2">
            <a:extLst>
              <a:ext uri="{FF2B5EF4-FFF2-40B4-BE49-F238E27FC236}">
                <a16:creationId xmlns:a16="http://schemas.microsoft.com/office/drawing/2014/main" id="{486EF194-5755-EE7E-90D6-9FC063183FE5}"/>
              </a:ext>
            </a:extLst>
          </p:cNvPr>
          <p:cNvSpPr txBox="1">
            <a:spLocks/>
          </p:cNvSpPr>
          <p:nvPr/>
        </p:nvSpPr>
        <p:spPr>
          <a:xfrm>
            <a:off x="6629400" y="9582308"/>
            <a:ext cx="10629900" cy="553998"/>
          </a:xfrm>
          <a:prstGeom prst="rect">
            <a:avLst/>
          </a:prstGeom>
          <a:solidFill>
            <a:sysClr val="window" lastClr="FFFFFF"/>
          </a:solidFill>
          <a:ln w="19050" cap="flat" cmpd="sng" algn="ctr">
            <a:noFill/>
            <a:prstDash val="solid"/>
            <a:miter lim="800000"/>
          </a:ln>
          <a:effectLst/>
        </p:spPr>
        <p:txBody>
          <a:bodyPr wrap="square">
            <a:spAutoFit/>
          </a:bodyPr>
          <a:lstStyle/>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 2026 INSTITUTE OF TECHNOLOGY PETRONAS SDN BHD </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All rights reserved. No part of this document may be reproduced, stored in a retrieval system or transmitted in any form or by any means (electronic, mechanical, photocopying, recording or otherwise) without the permission of the copyright owner.</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58BF3AB-9F7F-0AAB-2719-4300608236EE}"/>
              </a:ext>
            </a:extLst>
          </p:cNvPr>
          <p:cNvPicPr>
            <a:picLocks noChangeAspect="1"/>
          </p:cNvPicPr>
          <p:nvPr/>
        </p:nvPicPr>
        <p:blipFill>
          <a:blip r:embed="rId3"/>
          <a:stretch>
            <a:fillRect/>
          </a:stretch>
        </p:blipFill>
        <p:spPr>
          <a:xfrm>
            <a:off x="14913864" y="272259"/>
            <a:ext cx="2617689" cy="1144394"/>
          </a:xfrm>
          <a:prstGeom prst="rect">
            <a:avLst/>
          </a:prstGeom>
        </p:spPr>
      </p:pic>
      <p:pic>
        <p:nvPicPr>
          <p:cNvPr id="16" name="Picture 15">
            <a:extLst>
              <a:ext uri="{FF2B5EF4-FFF2-40B4-BE49-F238E27FC236}">
                <a16:creationId xmlns:a16="http://schemas.microsoft.com/office/drawing/2014/main" id="{62CD8673-E9DB-F8F6-A947-9976EA5209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106887"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D2C32-2405-2D6D-2E95-4FEAC1828E0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C44FB3C-D441-A268-21DB-28FD335B7FB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B94D0FD-7DD1-81BC-FF9E-48321CC588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7ADA04D-2EEC-3768-1CF2-E10510389D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RECAP FROM PREVIOUS LECTURE</a:t>
            </a:r>
          </a:p>
        </p:txBody>
      </p:sp>
      <p:sp>
        <p:nvSpPr>
          <p:cNvPr id="10" name="Footer Placeholder 9">
            <a:extLst>
              <a:ext uri="{FF2B5EF4-FFF2-40B4-BE49-F238E27FC236}">
                <a16:creationId xmlns:a16="http://schemas.microsoft.com/office/drawing/2014/main" id="{FFD37AF0-935A-8041-2A98-8EECF509494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94D0C17-6852-F3DE-F2D9-1043BAB09D4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8888069C-B9FA-8666-48B0-7AC1BCF6D470}"/>
              </a:ext>
            </a:extLst>
          </p:cNvPr>
          <p:cNvSpPr txBox="1"/>
          <p:nvPr/>
        </p:nvSpPr>
        <p:spPr>
          <a:xfrm>
            <a:off x="757618" y="1790700"/>
            <a:ext cx="16773935" cy="7319824"/>
          </a:xfrm>
          <a:prstGeom prst="rect">
            <a:avLst/>
          </a:prstGeom>
          <a:noFill/>
        </p:spPr>
        <p:txBody>
          <a:bodyPr wrap="square" rtlCol="0">
            <a:spAutoFit/>
          </a:bodyPr>
          <a:lstStyle/>
          <a:p>
            <a:pPr marL="514350" indent="-514350">
              <a:lnSpc>
                <a:spcPct val="150000"/>
              </a:lnSpc>
              <a:buFont typeface="+mj-lt"/>
              <a:buAutoNum type="arabicPeriod"/>
            </a:pPr>
            <a:r>
              <a:rPr lang="en-US" sz="2800" b="1" dirty="0"/>
              <a:t>Cutting Out the Middleman: </a:t>
            </a:r>
            <a:r>
              <a:rPr lang="en-US" sz="2800" dirty="0"/>
              <a:t>Peer-to-peer (P2P) lending and crowdfunding let savers give money directly to borrowers over the internet, completely bypassing traditional banks.</a:t>
            </a:r>
          </a:p>
          <a:p>
            <a:pPr marL="514350" indent="-514350">
              <a:lnSpc>
                <a:spcPct val="150000"/>
              </a:lnSpc>
              <a:buFont typeface="+mj-lt"/>
              <a:buAutoNum type="arabicPeriod"/>
            </a:pPr>
            <a:r>
              <a:rPr lang="en-US" sz="2800" b="1" dirty="0"/>
              <a:t>Four Main Ways to Fund:</a:t>
            </a:r>
            <a:r>
              <a:rPr lang="en-US" sz="2800" dirty="0"/>
              <a:t> People can give money for free (donation) , give money to get a gift (reward) , lend money to earn interest (P2P) , or buy a small piece of a startup company (equity). </a:t>
            </a:r>
          </a:p>
          <a:p>
            <a:pPr marL="514350" indent="-514350">
              <a:lnSpc>
                <a:spcPct val="150000"/>
              </a:lnSpc>
              <a:buFont typeface="+mj-lt"/>
              <a:buAutoNum type="arabicPeriod"/>
            </a:pPr>
            <a:r>
              <a:rPr lang="en-US" sz="2800" b="1" dirty="0"/>
              <a:t>Cheaper and More Profitable:</a:t>
            </a:r>
            <a:r>
              <a:rPr lang="en-US" sz="2800" dirty="0"/>
              <a:t> Because these platforms are online and do not have to pay for physical bank branches, their running costs are very low. This creates cheaper loans for borrowers and bigger payouts for the people lending the money. </a:t>
            </a:r>
          </a:p>
          <a:p>
            <a:pPr marL="514350" indent="-514350">
              <a:lnSpc>
                <a:spcPct val="150000"/>
              </a:lnSpc>
              <a:buFont typeface="+mj-lt"/>
              <a:buAutoNum type="arabicPeriod"/>
            </a:pPr>
            <a:r>
              <a:rPr lang="en-US" sz="2800" b="1" dirty="0"/>
              <a:t>Faster Choices with New Data:</a:t>
            </a:r>
            <a:r>
              <a:rPr lang="en-US" sz="2800" dirty="0"/>
              <a:t> Instead of just looking at standard credit scores, these platforms use new information (like social data) and smart computer rules to approve loans very quickly. </a:t>
            </a:r>
          </a:p>
          <a:p>
            <a:pPr marL="514350" indent="-514350">
              <a:lnSpc>
                <a:spcPct val="150000"/>
              </a:lnSpc>
              <a:buFont typeface="+mj-lt"/>
              <a:buAutoNum type="arabicPeriod"/>
            </a:pPr>
            <a:r>
              <a:rPr lang="en-US" sz="2800" b="1" dirty="0"/>
              <a:t>Helping the Underdog:</a:t>
            </a:r>
            <a:r>
              <a:rPr lang="en-US" sz="2800" dirty="0"/>
              <a:t> Banks often reject small businesses or people they think are too risky. Alternative lending makes it much easier and faster for these ignored groups to finally get the cash they need. </a:t>
            </a:r>
            <a:endParaRPr lang="en-MY" sz="2800" dirty="0"/>
          </a:p>
        </p:txBody>
      </p:sp>
      <p:sp>
        <p:nvSpPr>
          <p:cNvPr id="4" name="Date Placeholder 8">
            <a:extLst>
              <a:ext uri="{FF2B5EF4-FFF2-40B4-BE49-F238E27FC236}">
                <a16:creationId xmlns:a16="http://schemas.microsoft.com/office/drawing/2014/main" id="{84E0F57C-985B-7A17-CB46-E36D6E2EBF0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1717797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7F0FB-4D35-0332-90C5-C266AF89F84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F845124-91C6-4114-AF95-F723C017E76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0BC755A-FB80-1427-2C60-936F7A74ECE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B4D0BED-7FF3-F96B-F86D-E7BF7D23E2B7}"/>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LEARNING OUTCOMES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10" name="Footer Placeholder 9">
            <a:extLst>
              <a:ext uri="{FF2B5EF4-FFF2-40B4-BE49-F238E27FC236}">
                <a16:creationId xmlns:a16="http://schemas.microsoft.com/office/drawing/2014/main" id="{F709A98C-97D0-AB42-DE52-1AE4FB2402FF}"/>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6825099-EA88-640A-572B-6E442F9320F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1609969D-8A86-2522-9C3E-5E99548E0930}"/>
              </a:ext>
            </a:extLst>
          </p:cNvPr>
          <p:cNvSpPr txBox="1"/>
          <p:nvPr/>
        </p:nvSpPr>
        <p:spPr>
          <a:xfrm>
            <a:off x="757618" y="1790700"/>
            <a:ext cx="16773935" cy="6329425"/>
          </a:xfrm>
          <a:prstGeom prst="rect">
            <a:avLst/>
          </a:prstGeom>
          <a:noFill/>
        </p:spPr>
        <p:txBody>
          <a:bodyPr wrap="square" rtlCol="0">
            <a:spAutoFit/>
          </a:bodyPr>
          <a:lstStyle/>
          <a:p>
            <a:r>
              <a:rPr lang="en-US" sz="3600" dirty="0"/>
              <a:t>By the end of this session, students will be able to:</a:t>
            </a:r>
            <a:endParaRPr lang="en-MY" sz="3200" dirty="0"/>
          </a:p>
          <a:p>
            <a:pPr marL="514350" indent="-514350">
              <a:buFont typeface="+mj-lt"/>
              <a:buAutoNum type="arabicPeriod"/>
            </a:pPr>
            <a:endParaRPr lang="en-MY" sz="3200" dirty="0"/>
          </a:p>
          <a:p>
            <a:pPr marL="514350" indent="-514350">
              <a:lnSpc>
                <a:spcPct val="150000"/>
              </a:lnSpc>
              <a:buFont typeface="+mj-lt"/>
              <a:buAutoNum type="arabicPeriod"/>
            </a:pPr>
            <a:r>
              <a:rPr lang="en-US" sz="3600" b="1" dirty="0"/>
              <a:t>Define</a:t>
            </a:r>
            <a:r>
              <a:rPr lang="en-US" sz="3600" dirty="0"/>
              <a:t> FinTech and contrast it with traditional banking. </a:t>
            </a:r>
          </a:p>
          <a:p>
            <a:pPr marL="514350" indent="-514350">
              <a:lnSpc>
                <a:spcPct val="150000"/>
              </a:lnSpc>
              <a:buFont typeface="+mj-lt"/>
              <a:buAutoNum type="arabicPeriod"/>
            </a:pPr>
            <a:endParaRPr lang="en-US" sz="1100" b="1" dirty="0"/>
          </a:p>
          <a:p>
            <a:pPr marL="514350" indent="-514350">
              <a:lnSpc>
                <a:spcPct val="150000"/>
              </a:lnSpc>
              <a:buFont typeface="+mj-lt"/>
              <a:buAutoNum type="arabicPeriod"/>
            </a:pPr>
            <a:r>
              <a:rPr lang="en-US" sz="3600" b="1" dirty="0"/>
              <a:t>Identify</a:t>
            </a:r>
            <a:r>
              <a:rPr lang="en-US" sz="3600" dirty="0"/>
              <a:t> the primary technological and cultural drivers of FinTech. </a:t>
            </a:r>
          </a:p>
          <a:p>
            <a:pPr marL="514350" indent="-514350">
              <a:lnSpc>
                <a:spcPct val="150000"/>
              </a:lnSpc>
              <a:buFont typeface="+mj-lt"/>
              <a:buAutoNum type="arabicPeriod"/>
            </a:pPr>
            <a:endParaRPr lang="en-US" sz="1100" dirty="0"/>
          </a:p>
          <a:p>
            <a:pPr marL="514350" indent="-514350">
              <a:lnSpc>
                <a:spcPct val="150000"/>
              </a:lnSpc>
              <a:buFont typeface="+mj-lt"/>
              <a:buAutoNum type="arabicPeriod"/>
            </a:pPr>
            <a:r>
              <a:rPr lang="en-US" sz="3600" b="1" dirty="0"/>
              <a:t>Explain</a:t>
            </a:r>
            <a:r>
              <a:rPr lang="en-US" sz="3600" dirty="0"/>
              <a:t> how "unbundling" and "disintermediation" disrupt traditional finance. </a:t>
            </a:r>
          </a:p>
          <a:p>
            <a:pPr marL="514350" indent="-514350">
              <a:lnSpc>
                <a:spcPct val="150000"/>
              </a:lnSpc>
              <a:buFont typeface="+mj-lt"/>
              <a:buAutoNum type="arabicPeriod"/>
            </a:pPr>
            <a:endParaRPr lang="en-US" sz="1100" dirty="0"/>
          </a:p>
          <a:p>
            <a:pPr marL="514350" indent="-514350">
              <a:lnSpc>
                <a:spcPct val="150000"/>
              </a:lnSpc>
              <a:buFont typeface="+mj-lt"/>
              <a:buAutoNum type="arabicPeriod"/>
            </a:pPr>
            <a:r>
              <a:rPr lang="en-US" sz="3600" b="1" dirty="0"/>
              <a:t>Analyze</a:t>
            </a:r>
            <a:r>
              <a:rPr lang="en-US" sz="3600" dirty="0"/>
              <a:t> the key challenges faced by both incumbent banks and FinTech startups. </a:t>
            </a:r>
          </a:p>
          <a:p>
            <a:pPr marL="514350" indent="-514350">
              <a:lnSpc>
                <a:spcPct val="150000"/>
              </a:lnSpc>
              <a:buFont typeface="+mj-lt"/>
              <a:buAutoNum type="arabicPeriod"/>
            </a:pPr>
            <a:endParaRPr lang="en-US" sz="1100" dirty="0"/>
          </a:p>
          <a:p>
            <a:pPr marL="514350" indent="-514350">
              <a:lnSpc>
                <a:spcPct val="150000"/>
              </a:lnSpc>
              <a:buFont typeface="+mj-lt"/>
              <a:buAutoNum type="arabicPeriod"/>
            </a:pPr>
            <a:r>
              <a:rPr lang="en-US" sz="3600" b="1" dirty="0"/>
              <a:t>Recognize</a:t>
            </a:r>
            <a:r>
              <a:rPr lang="en-US" sz="3600" dirty="0"/>
              <a:t> major global markets and top Southeast Asian FinTech unicorns.</a:t>
            </a:r>
            <a:endParaRPr lang="en-MY" sz="3200" dirty="0"/>
          </a:p>
        </p:txBody>
      </p:sp>
      <p:sp>
        <p:nvSpPr>
          <p:cNvPr id="4" name="Date Placeholder 8">
            <a:extLst>
              <a:ext uri="{FF2B5EF4-FFF2-40B4-BE49-F238E27FC236}">
                <a16:creationId xmlns:a16="http://schemas.microsoft.com/office/drawing/2014/main" id="{75123535-F291-C251-D82B-806B7072BD2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1148573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500"/>
                                        <p:tgtEl>
                                          <p:spTgt spid="7">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animEffect transition="in" filter="fade">
                                      <p:cBhvr>
                                        <p:cTn id="17" dur="500"/>
                                        <p:tgtEl>
                                          <p:spTgt spid="7">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8" end="8"/>
                                            </p:txEl>
                                          </p:spTgt>
                                        </p:tgtEl>
                                        <p:attrNameLst>
                                          <p:attrName>style.visibility</p:attrName>
                                        </p:attrNameLst>
                                      </p:cBhvr>
                                      <p:to>
                                        <p:strVal val="visible"/>
                                      </p:to>
                                    </p:set>
                                    <p:animEffect transition="in" filter="fade">
                                      <p:cBhvr>
                                        <p:cTn id="22" dur="500"/>
                                        <p:tgtEl>
                                          <p:spTgt spid="7">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animEffect transition="in" filter="fade">
                                      <p:cBhvr>
                                        <p:cTn id="27"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9CD0D-972B-FE6D-B005-F472E53C011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2F305BD-B647-52A1-7229-8D1C689775A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0AD37D0-AB7C-531D-442D-316B5352ACD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EE389B7-4BDC-9F88-5E29-C825141ABF62}"/>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10" name="Footer Placeholder 9">
            <a:extLst>
              <a:ext uri="{FF2B5EF4-FFF2-40B4-BE49-F238E27FC236}">
                <a16:creationId xmlns:a16="http://schemas.microsoft.com/office/drawing/2014/main" id="{984BAFFF-0B17-2D6B-F88C-8FD53E5AEA2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EFAFA90-B6A0-006E-2A2C-78E3AA19E6A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a:t>
            </a:fld>
            <a:endParaRPr lang="en-US">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6368044F-6D69-5ECE-F229-C0DDFB6CEC83}"/>
              </a:ext>
            </a:extLst>
          </p:cNvPr>
          <p:cNvSpPr txBox="1"/>
          <p:nvPr/>
        </p:nvSpPr>
        <p:spPr>
          <a:xfrm>
            <a:off x="633495" y="1790700"/>
            <a:ext cx="8275813" cy="7355860"/>
          </a:xfrm>
          <a:prstGeom prst="rect">
            <a:avLst/>
          </a:prstGeom>
          <a:noFill/>
        </p:spPr>
        <p:txBody>
          <a:bodyPr wrap="square" rtlCol="0">
            <a:spAutoFit/>
          </a:bodyPr>
          <a:lstStyle/>
          <a:p>
            <a:pPr marL="514350" indent="-514350">
              <a:buFont typeface="+mj-lt"/>
              <a:buAutoNum type="arabicPeriod"/>
            </a:pPr>
            <a:r>
              <a:rPr lang="en-MY" sz="2800" b="1" dirty="0"/>
              <a:t>Mobile Banking - Introduction?</a:t>
            </a:r>
          </a:p>
          <a:p>
            <a:pPr lvl="1"/>
            <a:r>
              <a:rPr lang="en-MY" sz="2400" dirty="0"/>
              <a:t>	1.1. </a:t>
            </a:r>
            <a:r>
              <a:rPr lang="fr-FR" sz="2400" dirty="0"/>
              <a:t>Mobile </a:t>
            </a:r>
            <a:r>
              <a:rPr lang="fr-FR" sz="2400" dirty="0" err="1"/>
              <a:t>Users</a:t>
            </a:r>
            <a:r>
              <a:rPr lang="fr-FR" sz="2400" dirty="0"/>
              <a:t> vs. Mobile Connections</a:t>
            </a:r>
            <a:endParaRPr lang="en-MY" sz="2400" dirty="0"/>
          </a:p>
          <a:p>
            <a:pPr lvl="1"/>
            <a:endParaRPr lang="en-MY" sz="2400" dirty="0"/>
          </a:p>
          <a:p>
            <a:r>
              <a:rPr lang="en-MY" sz="2800" b="1" dirty="0"/>
              <a:t>2. 	Usability Principles?</a:t>
            </a:r>
          </a:p>
          <a:p>
            <a:r>
              <a:rPr lang="en-MY" sz="2800" dirty="0"/>
              <a:t>		</a:t>
            </a:r>
            <a:r>
              <a:rPr lang="en-MY" sz="2400" dirty="0"/>
              <a:t>2.1. Intuitive and User-Friendly Interfaces?</a:t>
            </a:r>
          </a:p>
          <a:p>
            <a:r>
              <a:rPr lang="en-MY" sz="2400" dirty="0"/>
              <a:t>		2.2. Richness of Functionality </a:t>
            </a:r>
          </a:p>
          <a:p>
            <a:r>
              <a:rPr lang="en-MY" sz="2400" dirty="0"/>
              <a:t>		2.3. Branding</a:t>
            </a:r>
          </a:p>
          <a:p>
            <a:r>
              <a:rPr lang="en-MY" sz="2400" dirty="0"/>
              <a:t>		2.4. Alerts</a:t>
            </a:r>
          </a:p>
          <a:p>
            <a:r>
              <a:rPr lang="en-MY" sz="2400" dirty="0"/>
              <a:t>		2.5. Personalization</a:t>
            </a:r>
          </a:p>
          <a:p>
            <a:r>
              <a:rPr lang="en-MY" sz="2400" dirty="0"/>
              <a:t>		2.6. UX and CX</a:t>
            </a:r>
          </a:p>
          <a:p>
            <a:r>
              <a:rPr lang="en-MY" sz="2400" dirty="0"/>
              <a:t>		2.7. Security and Privacy</a:t>
            </a:r>
          </a:p>
          <a:p>
            <a:endParaRPr lang="en-MY" sz="2800" b="1" dirty="0"/>
          </a:p>
          <a:p>
            <a:pPr marL="514350" indent="-514350">
              <a:buAutoNum type="arabicPeriod" startAt="3"/>
            </a:pPr>
            <a:r>
              <a:rPr lang="en-MY" sz="2800" b="1" dirty="0"/>
              <a:t>Common Mobile Banking Activities</a:t>
            </a:r>
          </a:p>
          <a:p>
            <a:r>
              <a:rPr lang="en-MY" sz="2800" dirty="0"/>
              <a:t>		</a:t>
            </a:r>
          </a:p>
          <a:p>
            <a:pPr marL="514350" indent="-514350">
              <a:buFont typeface="+mj-lt"/>
              <a:buAutoNum type="arabicPeriod" startAt="4"/>
            </a:pPr>
            <a:r>
              <a:rPr lang="en-MY" sz="2800" b="1" dirty="0"/>
              <a:t>Mobile Only Banks</a:t>
            </a:r>
          </a:p>
          <a:p>
            <a:pPr marL="514350" indent="-514350">
              <a:buFont typeface="+mj-lt"/>
              <a:buAutoNum type="arabicPeriod" startAt="4"/>
            </a:pPr>
            <a:endParaRPr lang="en-MY" sz="2800" b="1" dirty="0"/>
          </a:p>
          <a:p>
            <a:pPr marL="514350" indent="-514350">
              <a:buFont typeface="+mj-lt"/>
              <a:buAutoNum type="arabicPeriod" startAt="4"/>
            </a:pPr>
            <a:r>
              <a:rPr lang="en-MY" sz="2800" b="1" dirty="0"/>
              <a:t>Digital Agility</a:t>
            </a:r>
          </a:p>
          <a:p>
            <a:r>
              <a:rPr lang="en-MY" sz="2800" dirty="0"/>
              <a:t>	</a:t>
            </a:r>
            <a:endParaRPr lang="en-MY" sz="2400" dirty="0"/>
          </a:p>
        </p:txBody>
      </p:sp>
      <p:sp>
        <p:nvSpPr>
          <p:cNvPr id="5" name="TextBox 4">
            <a:extLst>
              <a:ext uri="{FF2B5EF4-FFF2-40B4-BE49-F238E27FC236}">
                <a16:creationId xmlns:a16="http://schemas.microsoft.com/office/drawing/2014/main" id="{485AFB45-CD69-570B-4D80-823A4A345F8B}"/>
              </a:ext>
            </a:extLst>
          </p:cNvPr>
          <p:cNvSpPr txBox="1"/>
          <p:nvPr/>
        </p:nvSpPr>
        <p:spPr>
          <a:xfrm>
            <a:off x="9378694" y="1790700"/>
            <a:ext cx="8152859" cy="7294305"/>
          </a:xfrm>
          <a:prstGeom prst="rect">
            <a:avLst/>
          </a:prstGeom>
          <a:noFill/>
        </p:spPr>
        <p:txBody>
          <a:bodyPr wrap="square" rtlCol="0">
            <a:spAutoFit/>
          </a:bodyPr>
          <a:lstStyle/>
          <a:p>
            <a:pPr marL="514350" indent="-514350">
              <a:buFont typeface="+mj-lt"/>
              <a:buAutoNum type="arabicPeriod" startAt="6"/>
            </a:pPr>
            <a:r>
              <a:rPr lang="en-MY" sz="2800" b="1" dirty="0"/>
              <a:t>Benefits &amp; Advantages</a:t>
            </a:r>
          </a:p>
          <a:p>
            <a:r>
              <a:rPr lang="en-MY" sz="2400" dirty="0"/>
              <a:t>		6.1. Cost</a:t>
            </a:r>
          </a:p>
          <a:p>
            <a:r>
              <a:rPr lang="en-MY" sz="2400" dirty="0"/>
              <a:t>		6.2. Convenience </a:t>
            </a:r>
          </a:p>
          <a:p>
            <a:r>
              <a:rPr lang="en-MY" sz="2400" dirty="0"/>
              <a:t>		6.3. Customer Retention / Loyalty </a:t>
            </a:r>
          </a:p>
          <a:p>
            <a:r>
              <a:rPr lang="en-MY" sz="2400" dirty="0"/>
              <a:t>		6.4. More Profitable</a:t>
            </a:r>
          </a:p>
          <a:p>
            <a:endParaRPr lang="en-MY" sz="2400" dirty="0"/>
          </a:p>
          <a:p>
            <a:pPr marL="514350" indent="-514350">
              <a:buFont typeface="+mj-lt"/>
              <a:buAutoNum type="arabicPeriod" startAt="7"/>
            </a:pPr>
            <a:r>
              <a:rPr lang="en-MY" sz="2800" b="1" dirty="0"/>
              <a:t>Challenges</a:t>
            </a:r>
          </a:p>
          <a:p>
            <a:pPr lvl="1"/>
            <a:r>
              <a:rPr lang="en-MY" sz="2400" dirty="0"/>
              <a:t>	7.1. Security </a:t>
            </a:r>
          </a:p>
          <a:p>
            <a:pPr lvl="1"/>
            <a:r>
              <a:rPr lang="en-MY" sz="2400" dirty="0"/>
              <a:t>	7.2. Integration</a:t>
            </a:r>
          </a:p>
          <a:p>
            <a:pPr lvl="1"/>
            <a:endParaRPr lang="en-MY" sz="2400" dirty="0"/>
          </a:p>
          <a:p>
            <a:pPr marL="514350" indent="-514350">
              <a:buFont typeface="+mj-lt"/>
              <a:buAutoNum type="arabicPeriod" startAt="7"/>
            </a:pPr>
            <a:r>
              <a:rPr lang="en-US" sz="2800" b="1" dirty="0"/>
              <a:t>Assessment of FinTech (Digital Banking) </a:t>
            </a:r>
          </a:p>
          <a:p>
            <a:r>
              <a:rPr lang="en-MY" sz="2400" dirty="0"/>
              <a:t>		8.1. Global FinTech VC Investment – Top 15 Global Deals</a:t>
            </a:r>
          </a:p>
          <a:p>
            <a:r>
              <a:rPr lang="en-MY" sz="2400" dirty="0"/>
              <a:t>		8.2. </a:t>
            </a:r>
            <a:r>
              <a:rPr lang="en-US" sz="2400" dirty="0"/>
              <a:t>Major Forces Impacting Digital Banking</a:t>
            </a:r>
          </a:p>
          <a:p>
            <a:r>
              <a:rPr lang="en-US" sz="2400" dirty="0"/>
              <a:t>		</a:t>
            </a:r>
            <a:r>
              <a:rPr lang="en-MY" sz="2400" dirty="0"/>
              <a:t>8.3. Where Disruption Occurred </a:t>
            </a:r>
          </a:p>
          <a:p>
            <a:r>
              <a:rPr lang="en-MY" sz="2400" dirty="0"/>
              <a:t>		8.4. </a:t>
            </a:r>
            <a:r>
              <a:rPr lang="en-US" sz="2400" dirty="0"/>
              <a:t>Disruption of Traditional Banking Models </a:t>
            </a:r>
          </a:p>
          <a:p>
            <a:r>
              <a:rPr lang="en-US" sz="2400" dirty="0"/>
              <a:t>		</a:t>
            </a:r>
            <a:r>
              <a:rPr lang="en-MY" sz="2400" dirty="0"/>
              <a:t>8.5. </a:t>
            </a:r>
            <a:r>
              <a:rPr lang="en-US" sz="2400" dirty="0"/>
              <a:t>Incumbents Moving Systems to Cloud </a:t>
            </a:r>
          </a:p>
          <a:p>
            <a:r>
              <a:rPr lang="en-US" sz="2400" dirty="0"/>
              <a:t>		</a:t>
            </a:r>
            <a:r>
              <a:rPr lang="en-MY" sz="2400" dirty="0"/>
              <a:t>8.6. Strategies by Incumbent Banks</a:t>
            </a:r>
          </a:p>
          <a:p>
            <a:pPr lvl="1"/>
            <a:r>
              <a:rPr lang="en-MY" sz="2400" b="1" dirty="0"/>
              <a:t>	</a:t>
            </a:r>
          </a:p>
          <a:p>
            <a:pPr lvl="1"/>
            <a:endParaRPr lang="en-MY" sz="2400" dirty="0"/>
          </a:p>
        </p:txBody>
      </p:sp>
      <p:cxnSp>
        <p:nvCxnSpPr>
          <p:cNvPr id="8" name="Straight Connector 7">
            <a:extLst>
              <a:ext uri="{FF2B5EF4-FFF2-40B4-BE49-F238E27FC236}">
                <a16:creationId xmlns:a16="http://schemas.microsoft.com/office/drawing/2014/main" id="{92A196CE-0CD8-D0BA-1596-A8591A66DBDF}"/>
              </a:ext>
            </a:extLst>
          </p:cNvPr>
          <p:cNvCxnSpPr>
            <a:cxnSpLocks/>
          </p:cNvCxnSpPr>
          <p:nvPr/>
        </p:nvCxnSpPr>
        <p:spPr>
          <a:xfrm>
            <a:off x="8909308" y="1612900"/>
            <a:ext cx="0" cy="7581900"/>
          </a:xfrm>
          <a:prstGeom prst="line">
            <a:avLst/>
          </a:prstGeom>
        </p:spPr>
        <p:style>
          <a:lnRef idx="1">
            <a:schemeClr val="dk1"/>
          </a:lnRef>
          <a:fillRef idx="0">
            <a:schemeClr val="dk1"/>
          </a:fillRef>
          <a:effectRef idx="0">
            <a:schemeClr val="dk1"/>
          </a:effectRef>
          <a:fontRef idx="minor">
            <a:schemeClr val="tx1"/>
          </a:fontRef>
        </p:style>
      </p:cxnSp>
      <p:sp>
        <p:nvSpPr>
          <p:cNvPr id="7" name="Date Placeholder 8">
            <a:extLst>
              <a:ext uri="{FF2B5EF4-FFF2-40B4-BE49-F238E27FC236}">
                <a16:creationId xmlns:a16="http://schemas.microsoft.com/office/drawing/2014/main" id="{C0F05D7D-C96B-FE4A-13BD-A89EED95388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3162996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fade">
                                      <p:cBhvr>
                                        <p:cTn id="10" dur="500"/>
                                        <p:tgtEl>
                                          <p:spTgt spid="4">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animEffect transition="in" filter="fade">
                                      <p:cBhvr>
                                        <p:cTn id="13" dur="500"/>
                                        <p:tgtEl>
                                          <p:spTgt spid="4">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6" end="6"/>
                                            </p:txEl>
                                          </p:spTgt>
                                        </p:tgtEl>
                                        <p:attrNameLst>
                                          <p:attrName>style.visibility</p:attrName>
                                        </p:attrNameLst>
                                      </p:cBhvr>
                                      <p:to>
                                        <p:strVal val="visible"/>
                                      </p:to>
                                    </p:set>
                                    <p:animEffect transition="in" filter="fade">
                                      <p:cBhvr>
                                        <p:cTn id="16" dur="500"/>
                                        <p:tgtEl>
                                          <p:spTgt spid="4">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animEffect transition="in" filter="fade">
                                      <p:cBhvr>
                                        <p:cTn id="19" dur="500"/>
                                        <p:tgtEl>
                                          <p:spTgt spid="4">
                                            <p:txEl>
                                              <p:pRg st="7" end="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8" end="8"/>
                                            </p:txEl>
                                          </p:spTgt>
                                        </p:tgtEl>
                                        <p:attrNameLst>
                                          <p:attrName>style.visibility</p:attrName>
                                        </p:attrNameLst>
                                      </p:cBhvr>
                                      <p:to>
                                        <p:strVal val="visible"/>
                                      </p:to>
                                    </p:set>
                                    <p:animEffect transition="in" filter="fade">
                                      <p:cBhvr>
                                        <p:cTn id="22" dur="500"/>
                                        <p:tgtEl>
                                          <p:spTgt spid="4">
                                            <p:txEl>
                                              <p:pRg st="8" end="8"/>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animEffect transition="in" filter="fade">
                                      <p:cBhvr>
                                        <p:cTn id="25" dur="500"/>
                                        <p:tgtEl>
                                          <p:spTgt spid="4">
                                            <p:txEl>
                                              <p:pRg st="9" end="9"/>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10" end="10"/>
                                            </p:txEl>
                                          </p:spTgt>
                                        </p:tgtEl>
                                        <p:attrNameLst>
                                          <p:attrName>style.visibility</p:attrName>
                                        </p:attrNameLst>
                                      </p:cBhvr>
                                      <p:to>
                                        <p:strVal val="visible"/>
                                      </p:to>
                                    </p:set>
                                    <p:animEffect transition="in" filter="fade">
                                      <p:cBhvr>
                                        <p:cTn id="28" dur="500"/>
                                        <p:tgtEl>
                                          <p:spTgt spid="4">
                                            <p:txEl>
                                              <p:pRg st="10" end="10"/>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
                                            <p:txEl>
                                              <p:pRg st="12" end="12"/>
                                            </p:txEl>
                                          </p:spTgt>
                                        </p:tgtEl>
                                        <p:attrNameLst>
                                          <p:attrName>style.visibility</p:attrName>
                                        </p:attrNameLst>
                                      </p:cBhvr>
                                      <p:to>
                                        <p:strVal val="visible"/>
                                      </p:to>
                                    </p:set>
                                    <p:animEffect transition="in" filter="fade">
                                      <p:cBhvr>
                                        <p:cTn id="31" dur="500"/>
                                        <p:tgtEl>
                                          <p:spTgt spid="4">
                                            <p:txEl>
                                              <p:pRg st="12" end="12"/>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xEl>
                                              <p:pRg st="13" end="13"/>
                                            </p:txEl>
                                          </p:spTgt>
                                        </p:tgtEl>
                                        <p:attrNameLst>
                                          <p:attrName>style.visibility</p:attrName>
                                        </p:attrNameLst>
                                      </p:cBhvr>
                                      <p:to>
                                        <p:strVal val="visible"/>
                                      </p:to>
                                    </p:set>
                                    <p:animEffect transition="in" filter="fade">
                                      <p:cBhvr>
                                        <p:cTn id="34" dur="500"/>
                                        <p:tgtEl>
                                          <p:spTgt spid="4">
                                            <p:txEl>
                                              <p:pRg st="13" end="13"/>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14" end="14"/>
                                            </p:txEl>
                                          </p:spTgt>
                                        </p:tgtEl>
                                        <p:attrNameLst>
                                          <p:attrName>style.visibility</p:attrName>
                                        </p:attrNameLst>
                                      </p:cBhvr>
                                      <p:to>
                                        <p:strVal val="visible"/>
                                      </p:to>
                                    </p:set>
                                    <p:animEffect transition="in" filter="fade">
                                      <p:cBhvr>
                                        <p:cTn id="37" dur="500"/>
                                        <p:tgtEl>
                                          <p:spTgt spid="4">
                                            <p:txEl>
                                              <p:pRg st="14" end="14"/>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16" end="16"/>
                                            </p:txEl>
                                          </p:spTgt>
                                        </p:tgtEl>
                                        <p:attrNameLst>
                                          <p:attrName>style.visibility</p:attrName>
                                        </p:attrNameLst>
                                      </p:cBhvr>
                                      <p:to>
                                        <p:strVal val="visible"/>
                                      </p:to>
                                    </p:set>
                                    <p:animEffect transition="in" filter="fade">
                                      <p:cBhvr>
                                        <p:cTn id="40" dur="500"/>
                                        <p:tgtEl>
                                          <p:spTgt spid="4">
                                            <p:txEl>
                                              <p:pRg st="16" end="16"/>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4">
                                            <p:txEl>
                                              <p:pRg st="17" end="17"/>
                                            </p:txEl>
                                          </p:spTgt>
                                        </p:tgtEl>
                                        <p:attrNameLst>
                                          <p:attrName>style.visibility</p:attrName>
                                        </p:attrNameLst>
                                      </p:cBhvr>
                                      <p:to>
                                        <p:strVal val="visible"/>
                                      </p:to>
                                    </p:set>
                                    <p:animEffect transition="in" filter="fade">
                                      <p:cBhvr>
                                        <p:cTn id="43" dur="500"/>
                                        <p:tgtEl>
                                          <p:spTgt spid="4">
                                            <p:txEl>
                                              <p:pRg st="17" end="17"/>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5">
                                            <p:txEl>
                                              <p:pRg st="0" end="0"/>
                                            </p:txEl>
                                          </p:spTgt>
                                        </p:tgtEl>
                                        <p:attrNameLst>
                                          <p:attrName>style.visibility</p:attrName>
                                        </p:attrNameLst>
                                      </p:cBhvr>
                                      <p:to>
                                        <p:strVal val="visible"/>
                                      </p:to>
                                    </p:set>
                                    <p:animEffect transition="in" filter="fade">
                                      <p:cBhvr>
                                        <p:cTn id="46" dur="500"/>
                                        <p:tgtEl>
                                          <p:spTgt spid="5">
                                            <p:txEl>
                                              <p:pRg st="0" end="0"/>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5">
                                            <p:txEl>
                                              <p:pRg st="1" end="1"/>
                                            </p:txEl>
                                          </p:spTgt>
                                        </p:tgtEl>
                                        <p:attrNameLst>
                                          <p:attrName>style.visibility</p:attrName>
                                        </p:attrNameLst>
                                      </p:cBhvr>
                                      <p:to>
                                        <p:strVal val="visible"/>
                                      </p:to>
                                    </p:set>
                                    <p:animEffect transition="in" filter="fade">
                                      <p:cBhvr>
                                        <p:cTn id="49" dur="500"/>
                                        <p:tgtEl>
                                          <p:spTgt spid="5">
                                            <p:txEl>
                                              <p:pRg st="1" end="1"/>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5">
                                            <p:txEl>
                                              <p:pRg st="2" end="2"/>
                                            </p:txEl>
                                          </p:spTgt>
                                        </p:tgtEl>
                                        <p:attrNameLst>
                                          <p:attrName>style.visibility</p:attrName>
                                        </p:attrNameLst>
                                      </p:cBhvr>
                                      <p:to>
                                        <p:strVal val="visible"/>
                                      </p:to>
                                    </p:set>
                                    <p:animEffect transition="in" filter="fade">
                                      <p:cBhvr>
                                        <p:cTn id="52" dur="500"/>
                                        <p:tgtEl>
                                          <p:spTgt spid="5">
                                            <p:txEl>
                                              <p:pRg st="2" end="2"/>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5">
                                            <p:txEl>
                                              <p:pRg st="3" end="3"/>
                                            </p:txEl>
                                          </p:spTgt>
                                        </p:tgtEl>
                                        <p:attrNameLst>
                                          <p:attrName>style.visibility</p:attrName>
                                        </p:attrNameLst>
                                      </p:cBhvr>
                                      <p:to>
                                        <p:strVal val="visible"/>
                                      </p:to>
                                    </p:set>
                                    <p:animEffect transition="in" filter="fade">
                                      <p:cBhvr>
                                        <p:cTn id="55" dur="500"/>
                                        <p:tgtEl>
                                          <p:spTgt spid="5">
                                            <p:txEl>
                                              <p:pRg st="3" end="3"/>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5">
                                            <p:txEl>
                                              <p:pRg st="4" end="4"/>
                                            </p:txEl>
                                          </p:spTgt>
                                        </p:tgtEl>
                                        <p:attrNameLst>
                                          <p:attrName>style.visibility</p:attrName>
                                        </p:attrNameLst>
                                      </p:cBhvr>
                                      <p:to>
                                        <p:strVal val="visible"/>
                                      </p:to>
                                    </p:set>
                                    <p:animEffect transition="in" filter="fade">
                                      <p:cBhvr>
                                        <p:cTn id="58" dur="500"/>
                                        <p:tgtEl>
                                          <p:spTgt spid="5">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5">
                                            <p:txEl>
                                              <p:pRg st="6" end="6"/>
                                            </p:txEl>
                                          </p:spTgt>
                                        </p:tgtEl>
                                        <p:attrNameLst>
                                          <p:attrName>style.visibility</p:attrName>
                                        </p:attrNameLst>
                                      </p:cBhvr>
                                      <p:to>
                                        <p:strVal val="visible"/>
                                      </p:to>
                                    </p:set>
                                    <p:animEffect transition="in" filter="fade">
                                      <p:cBhvr>
                                        <p:cTn id="63" dur="500"/>
                                        <p:tgtEl>
                                          <p:spTgt spid="5">
                                            <p:txEl>
                                              <p:pRg st="6" end="6"/>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5">
                                            <p:txEl>
                                              <p:pRg st="7" end="7"/>
                                            </p:txEl>
                                          </p:spTgt>
                                        </p:tgtEl>
                                        <p:attrNameLst>
                                          <p:attrName>style.visibility</p:attrName>
                                        </p:attrNameLst>
                                      </p:cBhvr>
                                      <p:to>
                                        <p:strVal val="visible"/>
                                      </p:to>
                                    </p:set>
                                    <p:animEffect transition="in" filter="fade">
                                      <p:cBhvr>
                                        <p:cTn id="66" dur="500"/>
                                        <p:tgtEl>
                                          <p:spTgt spid="5">
                                            <p:txEl>
                                              <p:pRg st="7" end="7"/>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5">
                                            <p:txEl>
                                              <p:pRg st="8" end="8"/>
                                            </p:txEl>
                                          </p:spTgt>
                                        </p:tgtEl>
                                        <p:attrNameLst>
                                          <p:attrName>style.visibility</p:attrName>
                                        </p:attrNameLst>
                                      </p:cBhvr>
                                      <p:to>
                                        <p:strVal val="visible"/>
                                      </p:to>
                                    </p:set>
                                    <p:animEffect transition="in" filter="fade">
                                      <p:cBhvr>
                                        <p:cTn id="69" dur="500"/>
                                        <p:tgtEl>
                                          <p:spTgt spid="5">
                                            <p:txEl>
                                              <p:pRg st="8" end="8"/>
                                            </p:txEl>
                                          </p:spTgt>
                                        </p:tgtEl>
                                      </p:cBhvr>
                                    </p:animEffect>
                                  </p:childTnLst>
                                </p:cTn>
                              </p:par>
                              <p:par>
                                <p:cTn id="70" presetID="10" presetClass="entr" presetSubtype="0" fill="hold" nodeType="withEffect">
                                  <p:stCondLst>
                                    <p:cond delay="0"/>
                                  </p:stCondLst>
                                  <p:childTnLst>
                                    <p:set>
                                      <p:cBhvr>
                                        <p:cTn id="71" dur="1" fill="hold">
                                          <p:stCondLst>
                                            <p:cond delay="0"/>
                                          </p:stCondLst>
                                        </p:cTn>
                                        <p:tgtEl>
                                          <p:spTgt spid="5">
                                            <p:txEl>
                                              <p:pRg st="10" end="10"/>
                                            </p:txEl>
                                          </p:spTgt>
                                        </p:tgtEl>
                                        <p:attrNameLst>
                                          <p:attrName>style.visibility</p:attrName>
                                        </p:attrNameLst>
                                      </p:cBhvr>
                                      <p:to>
                                        <p:strVal val="visible"/>
                                      </p:to>
                                    </p:set>
                                    <p:animEffect transition="in" filter="fade">
                                      <p:cBhvr>
                                        <p:cTn id="72" dur="500"/>
                                        <p:tgtEl>
                                          <p:spTgt spid="5">
                                            <p:txEl>
                                              <p:pRg st="10" end="10"/>
                                            </p:txEl>
                                          </p:spTgt>
                                        </p:tgtEl>
                                      </p:cBhvr>
                                    </p:animEffect>
                                  </p:childTnLst>
                                </p:cTn>
                              </p:par>
                              <p:par>
                                <p:cTn id="73" presetID="10" presetClass="entr" presetSubtype="0" fill="hold" nodeType="withEffect">
                                  <p:stCondLst>
                                    <p:cond delay="0"/>
                                  </p:stCondLst>
                                  <p:childTnLst>
                                    <p:set>
                                      <p:cBhvr>
                                        <p:cTn id="74" dur="1" fill="hold">
                                          <p:stCondLst>
                                            <p:cond delay="0"/>
                                          </p:stCondLst>
                                        </p:cTn>
                                        <p:tgtEl>
                                          <p:spTgt spid="5">
                                            <p:txEl>
                                              <p:pRg st="11" end="11"/>
                                            </p:txEl>
                                          </p:spTgt>
                                        </p:tgtEl>
                                        <p:attrNameLst>
                                          <p:attrName>style.visibility</p:attrName>
                                        </p:attrNameLst>
                                      </p:cBhvr>
                                      <p:to>
                                        <p:strVal val="visible"/>
                                      </p:to>
                                    </p:set>
                                    <p:animEffect transition="in" filter="fade">
                                      <p:cBhvr>
                                        <p:cTn id="75" dur="500"/>
                                        <p:tgtEl>
                                          <p:spTgt spid="5">
                                            <p:txEl>
                                              <p:pRg st="11" end="11"/>
                                            </p:txEl>
                                          </p:spTgt>
                                        </p:tgtEl>
                                      </p:cBhvr>
                                    </p:animEffect>
                                  </p:childTnLst>
                                </p:cTn>
                              </p:par>
                              <p:par>
                                <p:cTn id="76" presetID="10" presetClass="entr" presetSubtype="0" fill="hold" nodeType="withEffect">
                                  <p:stCondLst>
                                    <p:cond delay="0"/>
                                  </p:stCondLst>
                                  <p:childTnLst>
                                    <p:set>
                                      <p:cBhvr>
                                        <p:cTn id="77" dur="1" fill="hold">
                                          <p:stCondLst>
                                            <p:cond delay="0"/>
                                          </p:stCondLst>
                                        </p:cTn>
                                        <p:tgtEl>
                                          <p:spTgt spid="5">
                                            <p:txEl>
                                              <p:pRg st="12" end="12"/>
                                            </p:txEl>
                                          </p:spTgt>
                                        </p:tgtEl>
                                        <p:attrNameLst>
                                          <p:attrName>style.visibility</p:attrName>
                                        </p:attrNameLst>
                                      </p:cBhvr>
                                      <p:to>
                                        <p:strVal val="visible"/>
                                      </p:to>
                                    </p:set>
                                    <p:animEffect transition="in" filter="fade">
                                      <p:cBhvr>
                                        <p:cTn id="78" dur="500"/>
                                        <p:tgtEl>
                                          <p:spTgt spid="5">
                                            <p:txEl>
                                              <p:pRg st="12" end="12"/>
                                            </p:txEl>
                                          </p:spTgt>
                                        </p:tgtEl>
                                      </p:cBhvr>
                                    </p:animEffect>
                                  </p:childTnLst>
                                </p:cTn>
                              </p:par>
                              <p:par>
                                <p:cTn id="79" presetID="10" presetClass="entr" presetSubtype="0" fill="hold" nodeType="withEffect">
                                  <p:stCondLst>
                                    <p:cond delay="0"/>
                                  </p:stCondLst>
                                  <p:childTnLst>
                                    <p:set>
                                      <p:cBhvr>
                                        <p:cTn id="80" dur="1" fill="hold">
                                          <p:stCondLst>
                                            <p:cond delay="0"/>
                                          </p:stCondLst>
                                        </p:cTn>
                                        <p:tgtEl>
                                          <p:spTgt spid="5">
                                            <p:txEl>
                                              <p:pRg st="13" end="13"/>
                                            </p:txEl>
                                          </p:spTgt>
                                        </p:tgtEl>
                                        <p:attrNameLst>
                                          <p:attrName>style.visibility</p:attrName>
                                        </p:attrNameLst>
                                      </p:cBhvr>
                                      <p:to>
                                        <p:strVal val="visible"/>
                                      </p:to>
                                    </p:set>
                                    <p:animEffect transition="in" filter="fade">
                                      <p:cBhvr>
                                        <p:cTn id="81" dur="500"/>
                                        <p:tgtEl>
                                          <p:spTgt spid="5">
                                            <p:txEl>
                                              <p:pRg st="13" end="13"/>
                                            </p:txEl>
                                          </p:spTgt>
                                        </p:tgtEl>
                                      </p:cBhvr>
                                    </p:animEffect>
                                  </p:childTnLst>
                                </p:cTn>
                              </p:par>
                              <p:par>
                                <p:cTn id="82" presetID="10" presetClass="entr" presetSubtype="0" fill="hold" nodeType="withEffect">
                                  <p:stCondLst>
                                    <p:cond delay="0"/>
                                  </p:stCondLst>
                                  <p:childTnLst>
                                    <p:set>
                                      <p:cBhvr>
                                        <p:cTn id="83" dur="1" fill="hold">
                                          <p:stCondLst>
                                            <p:cond delay="0"/>
                                          </p:stCondLst>
                                        </p:cTn>
                                        <p:tgtEl>
                                          <p:spTgt spid="5">
                                            <p:txEl>
                                              <p:pRg st="14" end="14"/>
                                            </p:txEl>
                                          </p:spTgt>
                                        </p:tgtEl>
                                        <p:attrNameLst>
                                          <p:attrName>style.visibility</p:attrName>
                                        </p:attrNameLst>
                                      </p:cBhvr>
                                      <p:to>
                                        <p:strVal val="visible"/>
                                      </p:to>
                                    </p:set>
                                    <p:animEffect transition="in" filter="fade">
                                      <p:cBhvr>
                                        <p:cTn id="84" dur="500"/>
                                        <p:tgtEl>
                                          <p:spTgt spid="5">
                                            <p:txEl>
                                              <p:pRg st="14" end="14"/>
                                            </p:txEl>
                                          </p:spTgt>
                                        </p:tgtEl>
                                      </p:cBhvr>
                                    </p:animEffect>
                                  </p:childTnLst>
                                </p:cTn>
                              </p:par>
                              <p:par>
                                <p:cTn id="85" presetID="10" presetClass="entr" presetSubtype="0" fill="hold" nodeType="withEffect">
                                  <p:stCondLst>
                                    <p:cond delay="0"/>
                                  </p:stCondLst>
                                  <p:childTnLst>
                                    <p:set>
                                      <p:cBhvr>
                                        <p:cTn id="86" dur="1" fill="hold">
                                          <p:stCondLst>
                                            <p:cond delay="0"/>
                                          </p:stCondLst>
                                        </p:cTn>
                                        <p:tgtEl>
                                          <p:spTgt spid="5">
                                            <p:txEl>
                                              <p:pRg st="15" end="15"/>
                                            </p:txEl>
                                          </p:spTgt>
                                        </p:tgtEl>
                                        <p:attrNameLst>
                                          <p:attrName>style.visibility</p:attrName>
                                        </p:attrNameLst>
                                      </p:cBhvr>
                                      <p:to>
                                        <p:strVal val="visible"/>
                                      </p:to>
                                    </p:set>
                                    <p:animEffect transition="in" filter="fade">
                                      <p:cBhvr>
                                        <p:cTn id="87" dur="500"/>
                                        <p:tgtEl>
                                          <p:spTgt spid="5">
                                            <p:txEl>
                                              <p:pRg st="15" end="15"/>
                                            </p:txEl>
                                          </p:spTgt>
                                        </p:tgtEl>
                                      </p:cBhvr>
                                    </p:animEffect>
                                  </p:childTnLst>
                                </p:cTn>
                              </p:par>
                              <p:par>
                                <p:cTn id="88" presetID="10" presetClass="entr" presetSubtype="0" fill="hold" nodeType="withEffect">
                                  <p:stCondLst>
                                    <p:cond delay="0"/>
                                  </p:stCondLst>
                                  <p:childTnLst>
                                    <p:set>
                                      <p:cBhvr>
                                        <p:cTn id="89" dur="1" fill="hold">
                                          <p:stCondLst>
                                            <p:cond delay="0"/>
                                          </p:stCondLst>
                                        </p:cTn>
                                        <p:tgtEl>
                                          <p:spTgt spid="5">
                                            <p:txEl>
                                              <p:pRg st="16" end="16"/>
                                            </p:txEl>
                                          </p:spTgt>
                                        </p:tgtEl>
                                        <p:attrNameLst>
                                          <p:attrName>style.visibility</p:attrName>
                                        </p:attrNameLst>
                                      </p:cBhvr>
                                      <p:to>
                                        <p:strVal val="visible"/>
                                      </p:to>
                                    </p:set>
                                    <p:animEffect transition="in" filter="fade">
                                      <p:cBhvr>
                                        <p:cTn id="90" dur="500"/>
                                        <p:tgtEl>
                                          <p:spTgt spid="5">
                                            <p:txEl>
                                              <p:pRg st="16" end="16"/>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5">
                                            <p:txEl>
                                              <p:pRg st="17" end="17"/>
                                            </p:txEl>
                                          </p:spTgt>
                                        </p:tgtEl>
                                        <p:attrNameLst>
                                          <p:attrName>style.visibility</p:attrName>
                                        </p:attrNameLst>
                                      </p:cBhvr>
                                      <p:to>
                                        <p:strVal val="visible"/>
                                      </p:to>
                                    </p:set>
                                    <p:animEffect transition="in" filter="fade">
                                      <p:cBhvr>
                                        <p:cTn id="95" dur="500"/>
                                        <p:tgtEl>
                                          <p:spTgt spid="5">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5E823-E0C2-4915-1897-B52F7DE0AB4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55239D8-8112-11D1-913C-99C41C89C48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8043849-152A-835E-3E95-2A8F6A35285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5588B83-E5CD-6B91-A8CB-6E5150093F17}"/>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Mobile Banking - Introduction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10" name="Footer Placeholder 9">
            <a:extLst>
              <a:ext uri="{FF2B5EF4-FFF2-40B4-BE49-F238E27FC236}">
                <a16:creationId xmlns:a16="http://schemas.microsoft.com/office/drawing/2014/main" id="{8B41519A-D29A-2B4E-EAD7-E64D7E298C8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3F57019-4FE9-FEEB-7947-9528E147278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a:t>
            </a:fld>
            <a:endParaRPr lang="en-US">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DF8074FC-1342-07B8-9315-DB62D4EFE48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pic>
        <p:nvPicPr>
          <p:cNvPr id="12" name="Picture 11">
            <a:extLst>
              <a:ext uri="{FF2B5EF4-FFF2-40B4-BE49-F238E27FC236}">
                <a16:creationId xmlns:a16="http://schemas.microsoft.com/office/drawing/2014/main" id="{3FBAF56E-CA53-6405-5136-0B4179AFD1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47" y="1444996"/>
            <a:ext cx="16775106" cy="8038648"/>
          </a:xfrm>
          <a:prstGeom prst="rect">
            <a:avLst/>
          </a:prstGeom>
        </p:spPr>
      </p:pic>
    </p:spTree>
    <p:extLst>
      <p:ext uri="{BB962C8B-B14F-4D97-AF65-F5344CB8AC3E}">
        <p14:creationId xmlns:p14="http://schemas.microsoft.com/office/powerpoint/2010/main" val="947636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MOBILE BANKING</a:t>
            </a:r>
          </a:p>
        </p:txBody>
      </p:sp>
      <p:pic>
        <p:nvPicPr>
          <p:cNvPr id="14" name="Picture 13">
            <a:extLst>
              <a:ext uri="{FF2B5EF4-FFF2-40B4-BE49-F238E27FC236}">
                <a16:creationId xmlns:a16="http://schemas.microsoft.com/office/drawing/2014/main" id="{498808D3-A836-5EDC-7B8C-309249F397B2}"/>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99669084-3CCA-1770-6024-E848243FA0B7}"/>
              </a:ext>
            </a:extLst>
          </p:cNvPr>
          <p:cNvSpPr txBox="1"/>
          <p:nvPr/>
        </p:nvSpPr>
        <p:spPr>
          <a:xfrm>
            <a:off x="316056" y="4076531"/>
            <a:ext cx="7098887" cy="2857770"/>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Usability Principles</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6F996-7635-1787-F807-1C7FEC317A8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A366B4-B572-DAE1-DF2F-B770D0BED8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9CF50E5-C002-3A45-783D-A8BBBE0D520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7D3C917-8FEB-127C-5C2A-5F099C2969F8}"/>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Mobile and Internet Banking – Usability:</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10" name="Footer Placeholder 9">
            <a:extLst>
              <a:ext uri="{FF2B5EF4-FFF2-40B4-BE49-F238E27FC236}">
                <a16:creationId xmlns:a16="http://schemas.microsoft.com/office/drawing/2014/main" id="{B59FEC39-794D-5D70-F15F-446880331E7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210C44E-CE92-0AE7-E274-3C48AFC7051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E2F114F-A8D1-E966-EA67-876B68FB94EE}"/>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In order to increase the value for the customer of the mobile banking experience, designers must meet the following usability principles:</a:t>
            </a:r>
          </a:p>
          <a:p>
            <a:pPr marL="514350" indent="-514350" algn="just">
              <a:lnSpc>
                <a:spcPct val="200000"/>
              </a:lnSpc>
              <a:buFont typeface="Wingdings" panose="05000000000000000000" pitchFamily="2" charset="2"/>
              <a:buChar char="§"/>
            </a:pPr>
            <a:r>
              <a:rPr lang="en-GB" sz="2800" dirty="0"/>
              <a:t>A mobile banking solution must have an intuitive and user-friendly interface. Users must be able to quickly access desired information or do the correct transaction without navigating through multiple screens or be forced to push too many keys.</a:t>
            </a:r>
          </a:p>
          <a:p>
            <a:pPr marL="514350" indent="-514350" algn="just">
              <a:lnSpc>
                <a:spcPct val="200000"/>
              </a:lnSpc>
              <a:buFont typeface="Wingdings" panose="05000000000000000000" pitchFamily="2" charset="2"/>
              <a:buChar char="§"/>
            </a:pPr>
            <a:r>
              <a:rPr lang="en-GB" sz="2800" dirty="0"/>
              <a:t>There should be cross-fertilization between the teams working for the retail side and for the commercial side of mobile banking. Many lessons learned from consumer use can also be transferred to the commercial solutions for mobile banking.</a:t>
            </a:r>
          </a:p>
        </p:txBody>
      </p:sp>
      <p:sp>
        <p:nvSpPr>
          <p:cNvPr id="4" name="TextBox 6">
            <a:extLst>
              <a:ext uri="{FF2B5EF4-FFF2-40B4-BE49-F238E27FC236}">
                <a16:creationId xmlns:a16="http://schemas.microsoft.com/office/drawing/2014/main" id="{D7703A2D-8146-8388-7268-39977DADB52D}"/>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Usability Principles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43699790-A4F1-651B-78C3-669A278832C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411120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77DE4-2F20-F6B0-77A5-8F7012A5F60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0FC1DDD-E0D8-BAA6-1D4E-398733C1F8E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6B35A57-9180-9608-5694-99306835F6A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82FF8A1-CB05-3881-8E3A-6AD750C5D07A}"/>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Mobile and Internet Banking – Usability:</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10" name="Footer Placeholder 9">
            <a:extLst>
              <a:ext uri="{FF2B5EF4-FFF2-40B4-BE49-F238E27FC236}">
                <a16:creationId xmlns:a16="http://schemas.microsoft.com/office/drawing/2014/main" id="{CD02CB35-E16D-A396-C253-75603185BC3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76270B7-6A8F-126F-55E6-7CB3932817B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61DF878-3279-BBB0-CEB5-F279B81236A3}"/>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Integration, security, and usability are by far the most important challenges in launching mobile banking. It is important to provide as much functionality as possible. The mobile banking user might need much functionality.</a:t>
            </a:r>
          </a:p>
          <a:p>
            <a:pPr marL="514350" indent="-514350" algn="just">
              <a:lnSpc>
                <a:spcPct val="200000"/>
              </a:lnSpc>
              <a:buFont typeface="Wingdings" panose="05000000000000000000" pitchFamily="2" charset="2"/>
              <a:buChar char="§"/>
            </a:pPr>
            <a:r>
              <a:rPr lang="en-GB" sz="2800" dirty="0"/>
              <a:t>Designers might want to keep the customers away from the bank branches as much as possible. More functionality should not hamper simplicity. This is the challenge.</a:t>
            </a:r>
          </a:p>
          <a:p>
            <a:pPr marL="514350" indent="-514350" algn="just">
              <a:lnSpc>
                <a:spcPct val="200000"/>
              </a:lnSpc>
              <a:buFont typeface="Wingdings" panose="05000000000000000000" pitchFamily="2" charset="2"/>
              <a:buChar char="§"/>
            </a:pPr>
            <a:r>
              <a:rPr lang="en-GB" sz="2800" dirty="0"/>
              <a:t>Financial institutions want mobile banking to be able to sell more services and gain more customers rather than just cannibalizing existing customers. The richer and more convenient the set of functionality on the mobile, the more the financial institutions will be able to meet this challenge.</a:t>
            </a:r>
          </a:p>
        </p:txBody>
      </p:sp>
      <p:sp>
        <p:nvSpPr>
          <p:cNvPr id="4" name="TextBox 6">
            <a:extLst>
              <a:ext uri="{FF2B5EF4-FFF2-40B4-BE49-F238E27FC236}">
                <a16:creationId xmlns:a16="http://schemas.microsoft.com/office/drawing/2014/main" id="{40FBD7DF-EB11-AFC1-A1D9-2E8E33017C50}"/>
              </a:ext>
            </a:extLst>
          </p:cNvPr>
          <p:cNvSpPr txBox="1"/>
          <p:nvPr/>
        </p:nvSpPr>
        <p:spPr>
          <a:xfrm>
            <a:off x="756447" y="1805216"/>
            <a:ext cx="11266220" cy="1327223"/>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Usability Principles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 Richness of Functionality</a:t>
            </a:r>
          </a:p>
          <a:p>
            <a:pPr>
              <a:lnSpc>
                <a:spcPts val="5472"/>
              </a:lnSpc>
              <a:defRPr/>
            </a:pP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F51E0C8C-89F0-8A45-03F3-5FE7567DD57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2698939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6BD1B-E5BF-F8E9-83C1-02C3608F47F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ADB9E85-A2EB-BDFD-F20F-2A96DB50BAF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81B3547-8085-35BF-A225-4226C968CF4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02EB329-F3DD-844E-9240-C5197D12009D}"/>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Mobile and Internet Banking – Usability:</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10" name="Footer Placeholder 9">
            <a:extLst>
              <a:ext uri="{FF2B5EF4-FFF2-40B4-BE49-F238E27FC236}">
                <a16:creationId xmlns:a16="http://schemas.microsoft.com/office/drawing/2014/main" id="{38B28747-EC3C-7044-36C0-ECE9E97780D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110CF3E-30F9-305C-12D1-96495112865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866926B-CF96-930A-7C81-06BC462BCFF2}"/>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The mobile banking application will be the “image” of the financial institution to the customers.</a:t>
            </a:r>
          </a:p>
          <a:p>
            <a:pPr marL="514350" indent="-514350" algn="just">
              <a:lnSpc>
                <a:spcPct val="200000"/>
              </a:lnSpc>
              <a:buFont typeface="Wingdings" panose="05000000000000000000" pitchFamily="2" charset="2"/>
              <a:buChar char="§"/>
            </a:pPr>
            <a:r>
              <a:rPr lang="en-GB" sz="2800" dirty="0"/>
              <a:t>It must be appealing and effective. Strictly connected with branding, there is the need to adopt the right style of communication with the customer and use the connection with him/her through the mobile device to offer more and more services.</a:t>
            </a:r>
          </a:p>
          <a:p>
            <a:pPr marL="514350" indent="-514350" algn="just">
              <a:lnSpc>
                <a:spcPct val="200000"/>
              </a:lnSpc>
              <a:buFont typeface="Wingdings" panose="05000000000000000000" pitchFamily="2" charset="2"/>
              <a:buChar char="§"/>
            </a:pPr>
            <a:r>
              <a:rPr lang="en-GB" sz="2800" dirty="0"/>
              <a:t>The financial institution must have a channel policy that assures consistency, cross-fertilization, image reinforcement, integration, and so on across all channels, be they physical (branches , ATM, POS), or virtual.</a:t>
            </a:r>
          </a:p>
        </p:txBody>
      </p:sp>
      <p:sp>
        <p:nvSpPr>
          <p:cNvPr id="4" name="TextBox 6">
            <a:extLst>
              <a:ext uri="{FF2B5EF4-FFF2-40B4-BE49-F238E27FC236}">
                <a16:creationId xmlns:a16="http://schemas.microsoft.com/office/drawing/2014/main" id="{4937ACB8-3B25-F8DC-894D-81A8334B1F8B}"/>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Usability Principles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 Branding</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0A09A22B-06C3-FBCC-36C3-3F024EC8F70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1315297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93099-6FE6-F563-0DA9-602EA8629C4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7B7A9E3-55DA-0E6C-17DF-69E0BDAEEBC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6291B5C-E790-7003-DAB0-516897015A4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FF45A49-5E47-9E9E-ACED-4FF7CA2BD2B8}"/>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Mobile and Internet Banking – Usability:</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10" name="Footer Placeholder 9">
            <a:extLst>
              <a:ext uri="{FF2B5EF4-FFF2-40B4-BE49-F238E27FC236}">
                <a16:creationId xmlns:a16="http://schemas.microsoft.com/office/drawing/2014/main" id="{43B8521A-1226-410A-9F3C-F19362DFF48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3FC36DE-A894-8406-D06A-EBCF8D8D140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B5C7277-9EFF-E517-04FA-BA94D9E4D41E}"/>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Alerts, especially for pending transactions, are critical for all banking transactions. Customers are used to this in the PC online channel. They expect alerts to carry through to mobile. This is even more important because the mobile is always on and with the customer.</a:t>
            </a:r>
          </a:p>
          <a:p>
            <a:pPr marL="514350" indent="-514350" algn="just">
              <a:lnSpc>
                <a:spcPct val="200000"/>
              </a:lnSpc>
              <a:buFont typeface="Wingdings" panose="05000000000000000000" pitchFamily="2" charset="2"/>
              <a:buChar char="§"/>
            </a:pPr>
            <a:r>
              <a:rPr lang="en-GB" sz="2800" dirty="0"/>
              <a:t>Customers of financial institutions should be able to receive notifications with regard to movement on their accounts. They should be able to keep track of their accounts at anytime with information sent straight to their phones. This basic account functionality should provide customers with alerting capability available to all types of mobile banking. This service should generate push and pull alerts depending on customer preferences/settings.</a:t>
            </a:r>
          </a:p>
        </p:txBody>
      </p:sp>
      <p:sp>
        <p:nvSpPr>
          <p:cNvPr id="4" name="TextBox 6">
            <a:extLst>
              <a:ext uri="{FF2B5EF4-FFF2-40B4-BE49-F238E27FC236}">
                <a16:creationId xmlns:a16="http://schemas.microsoft.com/office/drawing/2014/main" id="{21E8D0D6-75EC-F19E-BC2B-37FFC3C2CEAA}"/>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Usability Principles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 Alerts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1116C599-A9FE-C2C6-D535-8D5DC32FC2E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2004137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84C5F-FB00-901E-F2D9-50EF2FD5A92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1510430-B56B-CF51-51F3-BA2179F7BDA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179F662-D348-2B63-166E-CA42013190C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2004EA7-CFC1-9270-C625-51B536EDF3BE}"/>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Mobile and Internet Banking – Usability:</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10" name="Footer Placeholder 9">
            <a:extLst>
              <a:ext uri="{FF2B5EF4-FFF2-40B4-BE49-F238E27FC236}">
                <a16:creationId xmlns:a16="http://schemas.microsoft.com/office/drawing/2014/main" id="{BB6E381D-8839-0A76-3699-4C0F96DD099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025A3C6-2C0B-08F5-CD06-45C1B3D6203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11</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00D8C6A9-A275-36EA-10DE-3BF75CEC89CC}"/>
              </a:ext>
            </a:extLst>
          </p:cNvPr>
          <p:cNvSpPr txBox="1"/>
          <p:nvPr/>
        </p:nvSpPr>
        <p:spPr>
          <a:xfrm>
            <a:off x="756447" y="158646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Usability Principles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 Personalization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5" name="Date Placeholder 8">
            <a:extLst>
              <a:ext uri="{FF2B5EF4-FFF2-40B4-BE49-F238E27FC236}">
                <a16:creationId xmlns:a16="http://schemas.microsoft.com/office/drawing/2014/main" id="{C00DEDBD-61F6-37EB-9916-C05AE0DE6B9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pic>
        <p:nvPicPr>
          <p:cNvPr id="8" name="Picture 7">
            <a:extLst>
              <a:ext uri="{FF2B5EF4-FFF2-40B4-BE49-F238E27FC236}">
                <a16:creationId xmlns:a16="http://schemas.microsoft.com/office/drawing/2014/main" id="{0401ED29-DBD0-2642-99FE-5F81718E5C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5200" y="2427118"/>
            <a:ext cx="10439400" cy="6861162"/>
          </a:xfrm>
          <a:prstGeom prst="rect">
            <a:avLst/>
          </a:prstGeom>
        </p:spPr>
      </p:pic>
    </p:spTree>
    <p:extLst>
      <p:ext uri="{BB962C8B-B14F-4D97-AF65-F5344CB8AC3E}">
        <p14:creationId xmlns:p14="http://schemas.microsoft.com/office/powerpoint/2010/main" val="4081426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F83EB-E61E-EE48-1C29-6F9A921CB2B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9135262-B686-4CB5-A7C9-EBAAF72AB41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CA45F26-C378-30FC-34EE-356561AC9BD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5442BF5-1512-9862-BC6B-044D84876B60}"/>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Mobile and Internet Banking – Usability:</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10" name="Footer Placeholder 9">
            <a:extLst>
              <a:ext uri="{FF2B5EF4-FFF2-40B4-BE49-F238E27FC236}">
                <a16:creationId xmlns:a16="http://schemas.microsoft.com/office/drawing/2014/main" id="{6D967534-BCB7-2C32-0CF5-373E8B3B94C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C7731A7-56C0-DDBF-C4D7-BD08EFB42BB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AB7FD13-2442-5C86-0934-6BF50CCE9C4B}"/>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Personalization will become even more ubiquitous as conversational AI makes many consumer’s basic banking interactions more proactive and human-like. Bank of America has a significant lead in this capability with their AI-powered virtual assistant, Erica, while Wells Fargo just announced the addition of an AI-powered virtual assistant next year (2022). Beyond simple tasks like checking balances, these interactive enhancements can also complete more involved tasks like a financial concierge.</a:t>
            </a:r>
          </a:p>
          <a:p>
            <a:pPr marL="514350" indent="-514350" algn="just">
              <a:lnSpc>
                <a:spcPct val="200000"/>
              </a:lnSpc>
              <a:buFont typeface="Wingdings" panose="05000000000000000000" pitchFamily="2" charset="2"/>
              <a:buChar char="§"/>
            </a:pPr>
            <a:endParaRPr lang="en-GB" sz="2800" dirty="0"/>
          </a:p>
        </p:txBody>
      </p:sp>
      <p:sp>
        <p:nvSpPr>
          <p:cNvPr id="4" name="TextBox 6">
            <a:extLst>
              <a:ext uri="{FF2B5EF4-FFF2-40B4-BE49-F238E27FC236}">
                <a16:creationId xmlns:a16="http://schemas.microsoft.com/office/drawing/2014/main" id="{F643BED9-13A9-3882-34EA-632F1CDE11AD}"/>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Usability Principles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 Personalization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760DF78E-5256-0E33-A6FC-B0F78BB71DE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954479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6B6FF-3AD2-C9E2-34F9-D7A39DFBAC6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FCD0075-F7A4-F2C3-EEA9-387F1411093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922909B-6EE5-0126-E62D-1A207CF54CF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7EAFFB6-904B-2E59-1F39-885AEC8C093D}"/>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Mobile and Internet Banking – Usability:</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10" name="Footer Placeholder 9">
            <a:extLst>
              <a:ext uri="{FF2B5EF4-FFF2-40B4-BE49-F238E27FC236}">
                <a16:creationId xmlns:a16="http://schemas.microsoft.com/office/drawing/2014/main" id="{CFC7748F-0891-9CF0-3852-99050CD9D48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22FECE8-D359-F34A-A0F8-836E56D1615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E59CF81-0478-9B9E-1FF0-E1C2451761AF}"/>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The experience should be a peace-of-mind experience, since financial institutions must always reassure customers that their savings or payments are safe. The customer is interested in a secure experience. Security is paramount in his/her relationship with a financial services institution.  </a:t>
            </a:r>
          </a:p>
          <a:p>
            <a:pPr marL="514350" indent="-514350" algn="just">
              <a:lnSpc>
                <a:spcPct val="200000"/>
              </a:lnSpc>
              <a:buFont typeface="Wingdings" panose="05000000000000000000" pitchFamily="2" charset="2"/>
              <a:buChar char="§"/>
            </a:pPr>
            <a:r>
              <a:rPr lang="en-GB" sz="2800" dirty="0"/>
              <a:t>A satisfying experience would also mean the possibility of performing more than simple transactions like looking at the balance in a current account. Customers should be able to perform payments, money transfers, selling/buying shares or bonds, and so on.</a:t>
            </a:r>
          </a:p>
          <a:p>
            <a:pPr marL="514350" indent="-514350" algn="just">
              <a:lnSpc>
                <a:spcPct val="200000"/>
              </a:lnSpc>
              <a:buFont typeface="Wingdings" panose="05000000000000000000" pitchFamily="2" charset="2"/>
              <a:buChar char="§"/>
            </a:pPr>
            <a:endParaRPr lang="en-GB" sz="2800" dirty="0"/>
          </a:p>
        </p:txBody>
      </p:sp>
      <p:sp>
        <p:nvSpPr>
          <p:cNvPr id="4" name="TextBox 6">
            <a:extLst>
              <a:ext uri="{FF2B5EF4-FFF2-40B4-BE49-F238E27FC236}">
                <a16:creationId xmlns:a16="http://schemas.microsoft.com/office/drawing/2014/main" id="{699497E9-AFB4-DE63-1A54-87398F982814}"/>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Usability Principles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 UX and CX</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FE945681-0D1A-1072-548E-7A372B75939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4091522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E83A3-5ACE-ADB1-4197-E6FA74DDDCA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1381928-13DD-EB9A-A81B-21BC242590B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11F988C-226E-7DD5-61E4-9A8A18BD6DD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9852504-174C-9F57-D7CB-7052E96009DE}"/>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Mobile and Internet Banking – Usability:</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10" name="Footer Placeholder 9">
            <a:extLst>
              <a:ext uri="{FF2B5EF4-FFF2-40B4-BE49-F238E27FC236}">
                <a16:creationId xmlns:a16="http://schemas.microsoft.com/office/drawing/2014/main" id="{17064CB5-6D8E-E4C3-C000-93924A6BBE4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8C60BD9-A52D-478C-0186-18C6F376964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EFDF91B-BD28-A383-804A-589738BF4828}"/>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 Security and privacy are nonnegotiably characteristics in mobile banking. </a:t>
            </a:r>
          </a:p>
          <a:p>
            <a:pPr marL="514350" indent="-514350" algn="just">
              <a:lnSpc>
                <a:spcPct val="200000"/>
              </a:lnSpc>
              <a:buFont typeface="Wingdings" panose="05000000000000000000" pitchFamily="2" charset="2"/>
              <a:buChar char="§"/>
            </a:pPr>
            <a:r>
              <a:rPr lang="en-GB" sz="2800" dirty="0"/>
              <a:t>In developing a mobile banking solution, designers should give priority to security. There must be ways to ensure that the person who is connecting is indeed the customer accessing his/ her account. It is essential also to provide a secure connection, which very likely means encryption in the transmission and storage in the handset.</a:t>
            </a:r>
          </a:p>
        </p:txBody>
      </p:sp>
      <p:sp>
        <p:nvSpPr>
          <p:cNvPr id="4" name="TextBox 6">
            <a:extLst>
              <a:ext uri="{FF2B5EF4-FFF2-40B4-BE49-F238E27FC236}">
                <a16:creationId xmlns:a16="http://schemas.microsoft.com/office/drawing/2014/main" id="{6B501635-34C0-3A1A-29BB-C23BC8366D3B}"/>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Usability Principles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 Security and Privacy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BA4A28A0-A684-90F4-6805-409ABC6006C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2844076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6373A-89E6-FDE5-7F3B-9AA8315BB26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21B316D-28FB-4D0C-5696-F73434EC5F3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62A884A-D614-E3D7-3C04-2E76C846C5B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3DBD6ED-FB50-23E4-436A-572034B16109}"/>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Mobile and Internet Banking – Usability:</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10" name="Footer Placeholder 9">
            <a:extLst>
              <a:ext uri="{FF2B5EF4-FFF2-40B4-BE49-F238E27FC236}">
                <a16:creationId xmlns:a16="http://schemas.microsoft.com/office/drawing/2014/main" id="{1787D55A-0F6E-1B73-5D81-114E5908C59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65F19F6-4434-A6C2-D2D6-25DEF325900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D6FA047-9054-061E-68E1-F2B5B4896562}"/>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 Security and privacy are nonnegotiably characteristics in mobile banking. </a:t>
            </a:r>
          </a:p>
          <a:p>
            <a:pPr marL="514350" indent="-514350" algn="just">
              <a:lnSpc>
                <a:spcPct val="200000"/>
              </a:lnSpc>
              <a:buFont typeface="Wingdings" panose="05000000000000000000" pitchFamily="2" charset="2"/>
              <a:buChar char="§"/>
            </a:pPr>
            <a:r>
              <a:rPr lang="en-GB" sz="2800" dirty="0"/>
              <a:t>In developing a mobile banking solution, designers should give priority to security. There must be ways to ensure that the person who is connecting is indeed the customer accessing his/ her account. It is essential also to provide a secure connection, which very likely means encryption in the transmission and storage in the handset.</a:t>
            </a:r>
          </a:p>
        </p:txBody>
      </p:sp>
      <p:sp>
        <p:nvSpPr>
          <p:cNvPr id="4" name="TextBox 6">
            <a:extLst>
              <a:ext uri="{FF2B5EF4-FFF2-40B4-BE49-F238E27FC236}">
                <a16:creationId xmlns:a16="http://schemas.microsoft.com/office/drawing/2014/main" id="{3B43CB86-8370-4307-5A31-C9EE8237518C}"/>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Usability Principles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 Security and Privacy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5F760A2E-5CEB-02B2-3AE7-B7C7AB8CDED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338124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3B2C7-B30C-EC0B-91F2-8606EA198A8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21F6CC2-FDBA-6F91-3B1F-3509D05D715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2A24C3F-C2D8-5728-B898-EBD2DFC71D6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F1D395A-555B-B5C6-4791-A9636FF094B0}"/>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Financial Technology – Mobile Banking:</a:t>
            </a:r>
          </a:p>
        </p:txBody>
      </p:sp>
      <p:sp>
        <p:nvSpPr>
          <p:cNvPr id="10" name="Footer Placeholder 9">
            <a:extLst>
              <a:ext uri="{FF2B5EF4-FFF2-40B4-BE49-F238E27FC236}">
                <a16:creationId xmlns:a16="http://schemas.microsoft.com/office/drawing/2014/main" id="{3151630B-6FF2-730A-84ED-29E06076181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671E8E4-CA7E-B2E1-740B-A96EE39BF6B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16</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28911F39-E1BC-88B7-5B68-2DB38F4C3640}"/>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Common Mobile Banking Activities</a:t>
            </a:r>
          </a:p>
        </p:txBody>
      </p:sp>
      <p:sp>
        <p:nvSpPr>
          <p:cNvPr id="7" name="TextBox 6">
            <a:extLst>
              <a:ext uri="{FF2B5EF4-FFF2-40B4-BE49-F238E27FC236}">
                <a16:creationId xmlns:a16="http://schemas.microsoft.com/office/drawing/2014/main" id="{ED2B7D52-5878-5F3A-BA0E-C489194ED324}"/>
              </a:ext>
            </a:extLst>
          </p:cNvPr>
          <p:cNvSpPr txBox="1"/>
          <p:nvPr/>
        </p:nvSpPr>
        <p:spPr>
          <a:xfrm>
            <a:off x="756447" y="2427118"/>
            <a:ext cx="16775106" cy="605794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Consumers’ most common mobile banking activities :</a:t>
            </a:r>
          </a:p>
          <a:p>
            <a:pPr marL="971550" lvl="1" indent="-514350" algn="just">
              <a:lnSpc>
                <a:spcPct val="150000"/>
              </a:lnSpc>
              <a:buFont typeface="Wingdings" panose="05000000000000000000" pitchFamily="2" charset="2"/>
              <a:buChar char="§"/>
            </a:pPr>
            <a:r>
              <a:rPr lang="en-GB" sz="2800" dirty="0"/>
              <a:t>74 % check balance / statement</a:t>
            </a:r>
          </a:p>
          <a:p>
            <a:pPr marL="971550" lvl="1" indent="-514350" algn="just">
              <a:lnSpc>
                <a:spcPct val="150000"/>
              </a:lnSpc>
              <a:buFont typeface="Wingdings" panose="05000000000000000000" pitchFamily="2" charset="2"/>
              <a:buChar char="§"/>
            </a:pPr>
            <a:r>
              <a:rPr lang="en-GB" sz="2800" dirty="0"/>
              <a:t>63 % mobile cheque deposit</a:t>
            </a:r>
          </a:p>
          <a:p>
            <a:pPr marL="971550" lvl="1" indent="-514350" algn="just">
              <a:lnSpc>
                <a:spcPct val="150000"/>
              </a:lnSpc>
              <a:buFont typeface="Wingdings" panose="05000000000000000000" pitchFamily="2" charset="2"/>
              <a:buChar char="§"/>
            </a:pPr>
            <a:r>
              <a:rPr lang="en-GB" sz="2800" dirty="0"/>
              <a:t>55 % transfer funds between accounts</a:t>
            </a:r>
          </a:p>
          <a:p>
            <a:pPr marL="971550" lvl="1" indent="-514350" algn="just">
              <a:lnSpc>
                <a:spcPct val="150000"/>
              </a:lnSpc>
              <a:buFont typeface="Wingdings" panose="05000000000000000000" pitchFamily="2" charset="2"/>
              <a:buChar char="§"/>
            </a:pPr>
            <a:r>
              <a:rPr lang="en-GB" sz="2800" dirty="0"/>
              <a:t>16 % send money to friends and family</a:t>
            </a:r>
          </a:p>
          <a:p>
            <a:pPr marL="971550" lvl="1" indent="-514350" algn="just">
              <a:lnSpc>
                <a:spcPct val="150000"/>
              </a:lnSpc>
              <a:buFont typeface="Wingdings" panose="05000000000000000000" pitchFamily="2" charset="2"/>
              <a:buChar char="§"/>
            </a:pPr>
            <a:r>
              <a:rPr lang="en-GB" sz="2800" dirty="0"/>
              <a:t>38 % pay a bill</a:t>
            </a:r>
          </a:p>
          <a:p>
            <a:pPr marL="971550" lvl="1" indent="-514350" algn="just">
              <a:lnSpc>
                <a:spcPct val="150000"/>
              </a:lnSpc>
              <a:buFont typeface="Wingdings" panose="05000000000000000000" pitchFamily="2" charset="2"/>
              <a:buChar char="§"/>
            </a:pPr>
            <a:r>
              <a:rPr lang="en-GB" sz="2800" dirty="0"/>
              <a:t>25 % make a payment on credit card or loan</a:t>
            </a:r>
          </a:p>
          <a:p>
            <a:pPr marL="971550" lvl="1" indent="-514350" algn="just">
              <a:lnSpc>
                <a:spcPct val="150000"/>
              </a:lnSpc>
              <a:buFont typeface="Wingdings" panose="05000000000000000000" pitchFamily="2" charset="2"/>
              <a:buChar char="§"/>
            </a:pPr>
            <a:r>
              <a:rPr lang="en-GB" sz="2800" dirty="0"/>
              <a:t>15 % manage investment</a:t>
            </a:r>
          </a:p>
          <a:p>
            <a:pPr marL="971550" lvl="1" indent="-514350" algn="just">
              <a:lnSpc>
                <a:spcPct val="150000"/>
              </a:lnSpc>
              <a:buFont typeface="Wingdings" panose="05000000000000000000" pitchFamily="2" charset="2"/>
              <a:buChar char="§"/>
            </a:pPr>
            <a:r>
              <a:rPr lang="en-GB" sz="2800" dirty="0"/>
              <a:t>32 % locate a branch or ATM</a:t>
            </a:r>
          </a:p>
        </p:txBody>
      </p:sp>
      <p:sp>
        <p:nvSpPr>
          <p:cNvPr id="5" name="Date Placeholder 8">
            <a:extLst>
              <a:ext uri="{FF2B5EF4-FFF2-40B4-BE49-F238E27FC236}">
                <a16:creationId xmlns:a16="http://schemas.microsoft.com/office/drawing/2014/main" id="{B08F20BE-1D3D-607D-BF9D-DD554230B71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2017703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fade">
                                      <p:cBhvr>
                                        <p:cTn id="47"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48EDD-1AD8-A93D-2F0C-0256E0EF127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B29E743-F08C-2A28-8387-1FDBA5663B2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D39295D-258C-08A1-BFF4-83EAC04C3AF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CB5C3F0-4E18-CF00-22B6-4744A98E6809}"/>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Common Mobile Banking Activities</a:t>
            </a:r>
          </a:p>
        </p:txBody>
      </p:sp>
      <p:sp>
        <p:nvSpPr>
          <p:cNvPr id="10" name="Footer Placeholder 9">
            <a:extLst>
              <a:ext uri="{FF2B5EF4-FFF2-40B4-BE49-F238E27FC236}">
                <a16:creationId xmlns:a16="http://schemas.microsoft.com/office/drawing/2014/main" id="{B1EAA7E7-1297-38D9-4BAE-37BD3680167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7D4ED1F-674C-1DE0-90DF-983A26A3740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38D0F06-535A-9AB2-1DB2-4724056BCE9B}"/>
              </a:ext>
            </a:extLst>
          </p:cNvPr>
          <p:cNvSpPr txBox="1"/>
          <p:nvPr/>
        </p:nvSpPr>
        <p:spPr>
          <a:xfrm>
            <a:off x="756447" y="1608990"/>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Video banking has become increasing popular. Some providers allow customers to talk to experts on their mobile, tablet or PC outside conventional bank branch hours rather than taking time out of their working day.</a:t>
            </a:r>
          </a:p>
          <a:p>
            <a:pPr marL="514350" indent="-514350" algn="just">
              <a:lnSpc>
                <a:spcPct val="200000"/>
              </a:lnSpc>
              <a:buFont typeface="Wingdings" panose="05000000000000000000" pitchFamily="2" charset="2"/>
              <a:buChar char="§"/>
            </a:pPr>
            <a:r>
              <a:rPr lang="en-GB" sz="2800" dirty="0"/>
              <a:t>A certain number of mobile-only banks have been launched recently. Their characteristic is to offer the full set of banking products on the mobile (including smartphones and tablets), and only on the mobile.</a:t>
            </a:r>
          </a:p>
          <a:p>
            <a:pPr marL="514350" indent="-514350" algn="just">
              <a:lnSpc>
                <a:spcPct val="200000"/>
              </a:lnSpc>
              <a:buFont typeface="Wingdings" panose="05000000000000000000" pitchFamily="2" charset="2"/>
              <a:buChar char="§"/>
            </a:pPr>
            <a:r>
              <a:rPr lang="en-GB" sz="2800" dirty="0"/>
              <a:t>The initial launches of many mobile-only banks have been successful: in a short time, there have been a relatively large number of new subscribers.</a:t>
            </a:r>
          </a:p>
          <a:p>
            <a:pPr marL="514350" indent="-514350" algn="just">
              <a:lnSpc>
                <a:spcPct val="200000"/>
              </a:lnSpc>
              <a:buFont typeface="Wingdings" panose="05000000000000000000" pitchFamily="2" charset="2"/>
              <a:buChar char="§"/>
            </a:pPr>
            <a:r>
              <a:rPr lang="en-GB" sz="2800" dirty="0"/>
              <a:t>Mobile-only banks’ concept and ease-of-use resonates well with younger, tech-savvy customers, but any user of the mobile could come to like it. It is very important that the apps, websites, and various features be quite easy to navigate and understand.</a:t>
            </a:r>
            <a:endParaRPr lang="en-US" sz="2800" dirty="0"/>
          </a:p>
        </p:txBody>
      </p:sp>
      <p:sp>
        <p:nvSpPr>
          <p:cNvPr id="4" name="Date Placeholder 8">
            <a:extLst>
              <a:ext uri="{FF2B5EF4-FFF2-40B4-BE49-F238E27FC236}">
                <a16:creationId xmlns:a16="http://schemas.microsoft.com/office/drawing/2014/main" id="{87FAD90C-1E3D-69DE-2C0E-7D1470E7A19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349989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F7F2B-12DF-D3F9-D1D5-DBE3C1768B1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80CC452-59A5-C9D9-59F7-46B1C24B324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81A616E-33DB-8CAF-51B6-CEE3A1CE1FB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958E955-8F2E-E170-D4DA-C6F3846CD048}"/>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Financial Technology – Mobile and Internet Banking:</a:t>
            </a:r>
          </a:p>
        </p:txBody>
      </p:sp>
      <p:sp>
        <p:nvSpPr>
          <p:cNvPr id="10" name="Footer Placeholder 9">
            <a:extLst>
              <a:ext uri="{FF2B5EF4-FFF2-40B4-BE49-F238E27FC236}">
                <a16:creationId xmlns:a16="http://schemas.microsoft.com/office/drawing/2014/main" id="{07266945-08C4-AC3B-18EF-BD7FA7928F2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88C22E9-1898-0153-E48C-2891CCEF9DD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245C3D0-9B50-9CC9-06DB-CBF3E27B882B}"/>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The Banks need to constantly be up-to-date with new market changes, technologies, and laws, which requires them to be adaptive and agile in order to do so. Agility would allow them to differentiate themselves from their competition in their approach in delivering services that are targeted, personalised, and unique.</a:t>
            </a:r>
          </a:p>
          <a:p>
            <a:pPr marL="514350" indent="-514350" algn="just">
              <a:lnSpc>
                <a:spcPct val="200000"/>
              </a:lnSpc>
              <a:buFont typeface="Wingdings" panose="05000000000000000000" pitchFamily="2" charset="2"/>
              <a:buChar char="§"/>
            </a:pPr>
            <a:r>
              <a:rPr lang="en-GB" sz="2800" dirty="0"/>
              <a:t>A  These differentiators would include, a scope focused on creating new value propositions that are integrated in customers’ day-to-day lives, consortiums allowing access and availability to a wider range of products and offerings, and technologies that would enhance the banking experience.</a:t>
            </a:r>
          </a:p>
          <a:p>
            <a:pPr marL="514350" indent="-514350" algn="just">
              <a:lnSpc>
                <a:spcPct val="200000"/>
              </a:lnSpc>
              <a:buFont typeface="Wingdings" panose="05000000000000000000" pitchFamily="2" charset="2"/>
              <a:buChar char="§"/>
            </a:pPr>
            <a:endParaRPr lang="en-GB" sz="2800" dirty="0"/>
          </a:p>
        </p:txBody>
      </p:sp>
      <p:sp>
        <p:nvSpPr>
          <p:cNvPr id="4" name="TextBox 6">
            <a:extLst>
              <a:ext uri="{FF2B5EF4-FFF2-40B4-BE49-F238E27FC236}">
                <a16:creationId xmlns:a16="http://schemas.microsoft.com/office/drawing/2014/main" id="{702FE7EC-1EBB-55BB-D768-4D0930DE54BB}"/>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Digital Agility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BEDBB31F-856C-7E7A-CAD3-35E7F4E3C82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2149891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78E89-C903-EB01-02D6-B150B4CEE128}"/>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2F0C3044-65ED-FDEC-2FD8-0C646AEC12C3}"/>
              </a:ext>
            </a:extLst>
          </p:cNvPr>
          <p:cNvSpPr txBox="1"/>
          <p:nvPr/>
        </p:nvSpPr>
        <p:spPr>
          <a:xfrm>
            <a:off x="902113" y="0"/>
            <a:ext cx="6256973" cy="1638077"/>
          </a:xfrm>
          <a:prstGeom prst="rect">
            <a:avLst/>
          </a:prstGeom>
        </p:spPr>
        <p:txBody>
          <a:bodyPr vert="horz" wrap="square" lIns="0" tIns="18098" rIns="0" bIns="0" rtlCol="0">
            <a:spAutoFit/>
          </a:bodyPr>
          <a:lstStyle/>
          <a:p>
            <a:pPr algn="ctr">
              <a:lnSpc>
                <a:spcPts val="6688"/>
              </a:lnSpc>
              <a:spcBef>
                <a:spcPct val="0"/>
              </a:spcBef>
              <a:defRPr/>
            </a:pPr>
            <a:r>
              <a:rPr lang="en-GB"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MOBILE AND INTERNET</a:t>
            </a:r>
          </a:p>
          <a:p>
            <a:pPr algn="ctr">
              <a:lnSpc>
                <a:spcPts val="6688"/>
              </a:lnSpc>
              <a:spcBef>
                <a:spcPct val="0"/>
              </a:spcBef>
              <a:defRPr/>
            </a:pPr>
            <a:r>
              <a:rPr lang="en-GB"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BANKING</a:t>
            </a:r>
          </a:p>
        </p:txBody>
      </p:sp>
      <p:pic>
        <p:nvPicPr>
          <p:cNvPr id="14" name="Picture 13">
            <a:extLst>
              <a:ext uri="{FF2B5EF4-FFF2-40B4-BE49-F238E27FC236}">
                <a16:creationId xmlns:a16="http://schemas.microsoft.com/office/drawing/2014/main" id="{F05E2B04-8298-EACA-59A4-9313CB7E0331}"/>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2C8BAA26-8139-C93E-C401-48A30BCF499E}"/>
              </a:ext>
            </a:extLst>
          </p:cNvPr>
          <p:cNvSpPr txBox="1"/>
          <p:nvPr/>
        </p:nvSpPr>
        <p:spPr>
          <a:xfrm>
            <a:off x="316056" y="4076531"/>
            <a:ext cx="7098887" cy="4381264"/>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Benefits</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&amp;</a:t>
            </a:r>
          </a:p>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Advantages</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4160814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048C7-6927-CF7A-1003-84FDAFE83D5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A786661-369C-8386-1C48-3E6D39DBFA8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B7880A7-3FEE-6C3B-52E1-3E94FDD0BA7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50EE495-53AB-4EF1-8A99-6F42CCE7BEAF}"/>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Financial Technology – Mobile and Internet Banking:</a:t>
            </a:r>
          </a:p>
        </p:txBody>
      </p:sp>
      <p:sp>
        <p:nvSpPr>
          <p:cNvPr id="10" name="Footer Placeholder 9">
            <a:extLst>
              <a:ext uri="{FF2B5EF4-FFF2-40B4-BE49-F238E27FC236}">
                <a16:creationId xmlns:a16="http://schemas.microsoft.com/office/drawing/2014/main" id="{6F572808-18EF-22A0-4406-79E7BD1CCCE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717A954-E8C9-15FC-690B-E8B0DD25672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6466BEB-F6B1-5426-7784-D5A2585E961A}"/>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The main advantage for Financial Institutions is cost.</a:t>
            </a:r>
          </a:p>
          <a:p>
            <a:pPr marL="514350" indent="-514350" algn="just">
              <a:lnSpc>
                <a:spcPct val="200000"/>
              </a:lnSpc>
              <a:buFont typeface="Wingdings" panose="05000000000000000000" pitchFamily="2" charset="2"/>
              <a:buChar char="§"/>
            </a:pPr>
            <a:r>
              <a:rPr lang="en-GB" sz="2800" dirty="0"/>
              <a:t>Mobile banking can help reduce costs. As the number of mobile financial institutions has grown, customers’ visits to the branches have decreased → in the future, they will not be more than 30 percent. Mobile banking accesses have risen by the same amount.</a:t>
            </a:r>
          </a:p>
          <a:p>
            <a:pPr marL="514350" indent="-514350" algn="just">
              <a:lnSpc>
                <a:spcPct val="200000"/>
              </a:lnSpc>
              <a:buFont typeface="Wingdings" panose="05000000000000000000" pitchFamily="2" charset="2"/>
              <a:buChar char="§"/>
            </a:pPr>
            <a:r>
              <a:rPr lang="en-GB" sz="2800" dirty="0"/>
              <a:t>This is bringing substantial cost reductions from USD$4.25 per branch visit to USD$ 0.10 for a mobile access.</a:t>
            </a:r>
          </a:p>
        </p:txBody>
      </p:sp>
      <p:sp>
        <p:nvSpPr>
          <p:cNvPr id="4" name="TextBox 6">
            <a:extLst>
              <a:ext uri="{FF2B5EF4-FFF2-40B4-BE49-F238E27FC236}">
                <a16:creationId xmlns:a16="http://schemas.microsoft.com/office/drawing/2014/main" id="{79A216AF-29FF-3A96-10C5-F7943311D368}"/>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Advantages - Cost</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7089D90E-8968-AFC9-15AE-6AFFDA7F176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604371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BFBC2-6772-7F79-BFF8-7C752E8EEC4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8B5D774-02E8-2846-50A3-C9FD35CB16D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5169EF6-6F64-8014-EEEC-B75166B2172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A92A71B-D8DE-7CEF-0FF2-23A9AD77DFD7}"/>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Financial Technology – Mobile and Internet Banking:</a:t>
            </a:r>
          </a:p>
        </p:txBody>
      </p:sp>
      <p:sp>
        <p:nvSpPr>
          <p:cNvPr id="10" name="Footer Placeholder 9">
            <a:extLst>
              <a:ext uri="{FF2B5EF4-FFF2-40B4-BE49-F238E27FC236}">
                <a16:creationId xmlns:a16="http://schemas.microsoft.com/office/drawing/2014/main" id="{048D56B0-AA0D-958A-B5AB-0E533A75C2D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461AF4F-2BA6-6214-FD2D-663EB29DED1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1D658C0-AB85-7811-3C03-ADB79F7BA9DE}"/>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One of the main benefit to Customers is convenience… the possibility of using the apps everywhere and anytime.</a:t>
            </a:r>
          </a:p>
          <a:p>
            <a:pPr marL="514350" indent="-514350" algn="just">
              <a:lnSpc>
                <a:spcPct val="200000"/>
              </a:lnSpc>
              <a:buFont typeface="Wingdings" panose="05000000000000000000" pitchFamily="2" charset="2"/>
              <a:buChar char="§"/>
            </a:pPr>
            <a:r>
              <a:rPr lang="en-GB" sz="2800" dirty="0"/>
              <a:t>A distinctive feature of mobile banking is the integration of more than one service and function that is available on the mobile, such as </a:t>
            </a:r>
            <a:r>
              <a:rPr lang="en-GB" sz="2800" dirty="0" err="1"/>
              <a:t>geolocalization</a:t>
            </a:r>
            <a:r>
              <a:rPr lang="en-GB" sz="2800" dirty="0"/>
              <a:t>, picture taking and processing, voice processing, biometrics, optical character recognition (OCR), contactless features, etc.</a:t>
            </a:r>
          </a:p>
        </p:txBody>
      </p:sp>
      <p:sp>
        <p:nvSpPr>
          <p:cNvPr id="4" name="TextBox 6">
            <a:extLst>
              <a:ext uri="{FF2B5EF4-FFF2-40B4-BE49-F238E27FC236}">
                <a16:creationId xmlns:a16="http://schemas.microsoft.com/office/drawing/2014/main" id="{B11F2377-14D6-7A0A-30C7-05276572096D}"/>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Advantages - Convenience</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87AA1CA0-689A-B6DC-D749-45197987C79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627876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404AF-5BAC-87B7-24C5-D449188CB49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1FCCC14-81E9-4D57-6FD4-E7E6CC7C508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3382201-A020-BD52-1ABD-2D5FCC746DB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B567C11-B569-E1A9-54C0-7ECC91480C75}"/>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Financial Technology – Mobile and Internet Banking:</a:t>
            </a:r>
          </a:p>
        </p:txBody>
      </p:sp>
      <p:sp>
        <p:nvSpPr>
          <p:cNvPr id="10" name="Footer Placeholder 9">
            <a:extLst>
              <a:ext uri="{FF2B5EF4-FFF2-40B4-BE49-F238E27FC236}">
                <a16:creationId xmlns:a16="http://schemas.microsoft.com/office/drawing/2014/main" id="{1CBE7D30-DA46-4B01-3BEF-F23E3DC4F36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F8A908D-A925-3E53-10B4-AA4B0E3ED09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5C8614AC-364D-D967-772F-53DA69A181F9}"/>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Mobile banking customers are less likely to leave. In the Forrester study mentioned above, the attrition rate for all mobile banking customers was 40 percent lower than that of online banking users, and the attrition rate for customers using both mobile banking and bill pay was 53 percent lower than that of online banking users.</a:t>
            </a:r>
          </a:p>
          <a:p>
            <a:pPr marL="514350" indent="-514350" algn="just">
              <a:lnSpc>
                <a:spcPct val="200000"/>
              </a:lnSpc>
              <a:buFont typeface="Wingdings" panose="05000000000000000000" pitchFamily="2" charset="2"/>
              <a:buChar char="§"/>
            </a:pPr>
            <a:r>
              <a:rPr lang="en-GB" sz="2800" dirty="0"/>
              <a:t>A customer survey also reinforced the idea that mobile banking increases customer retention. 30 percent of US mobile banking users say mobile banking has made them more likely to stay with the bank from which they receive the service. This increased customer stickiness results in recurring revenue for financial institutions.</a:t>
            </a:r>
          </a:p>
        </p:txBody>
      </p:sp>
      <p:sp>
        <p:nvSpPr>
          <p:cNvPr id="4" name="TextBox 6">
            <a:extLst>
              <a:ext uri="{FF2B5EF4-FFF2-40B4-BE49-F238E27FC236}">
                <a16:creationId xmlns:a16="http://schemas.microsoft.com/office/drawing/2014/main" id="{39849782-F44F-648B-ACF5-C1687D555449}"/>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Advantages – Customer Retention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BB1369E9-2532-425C-7721-754F4C0A962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3846933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20897-87B5-FF7B-FBB9-D5CA9B2BA3C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254B47B-BBC8-C44E-4DF9-36843E5A9E4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5DB7222-88ED-1769-FCD0-DE5FE240A43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AAC40FA-4C59-B230-D6C4-0A9E72682913}"/>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Financial Technology – Mobile and Internet Banking:</a:t>
            </a:r>
          </a:p>
        </p:txBody>
      </p:sp>
      <p:sp>
        <p:nvSpPr>
          <p:cNvPr id="9" name="Date Placeholder 8">
            <a:extLst>
              <a:ext uri="{FF2B5EF4-FFF2-40B4-BE49-F238E27FC236}">
                <a16:creationId xmlns:a16="http://schemas.microsoft.com/office/drawing/2014/main" id="{677B9D44-4242-643C-D94A-4707E5EB175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F4FFE76B-54E6-A60E-BF40-61131D7BF21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CABE67A-A35C-4423-44B4-D33C37FDFA5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6F50160-9591-7007-630D-8D508CA09977}"/>
              </a:ext>
            </a:extLst>
          </p:cNvPr>
          <p:cNvSpPr txBox="1"/>
          <p:nvPr/>
        </p:nvSpPr>
        <p:spPr>
          <a:xfrm>
            <a:off x="756447" y="2644758"/>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Mobile banking Mobile banking customers are more profitable. SunTrust found that their customers who use mobile banking were 32 percent more profitable. Customers using mobile banking and bill pay were 46 percent more profitable than online banking customers</a:t>
            </a:r>
          </a:p>
          <a:p>
            <a:pPr marL="514350" indent="-514350" algn="just">
              <a:lnSpc>
                <a:spcPct val="200000"/>
              </a:lnSpc>
              <a:buFont typeface="Wingdings" panose="05000000000000000000" pitchFamily="2" charset="2"/>
              <a:buChar char="§"/>
            </a:pPr>
            <a:r>
              <a:rPr lang="en-GB" sz="2800" dirty="0"/>
              <a:t>Mobile banking generates activity. Mobile banking customers used their debit cards more frequently after enrolling in the service. They generated an average of 3.4 more transactions per month, resulting in more revenue for the financial institution</a:t>
            </a:r>
          </a:p>
          <a:p>
            <a:pPr marL="514350" indent="-514350" algn="just">
              <a:lnSpc>
                <a:spcPct val="200000"/>
              </a:lnSpc>
              <a:buFont typeface="Wingdings" panose="05000000000000000000" pitchFamily="2" charset="2"/>
              <a:buChar char="§"/>
            </a:pPr>
            <a:r>
              <a:rPr lang="en-GB" sz="2800" dirty="0"/>
              <a:t>Mobile banking tends to generate more transactions. Its use encourages value-generating activities such as debit card usage. Thanks to the simplified access to banking services, customers increase their average transaction numbers and the average float value. This increases the number of revenue-generating transactions</a:t>
            </a:r>
          </a:p>
        </p:txBody>
      </p:sp>
      <p:sp>
        <p:nvSpPr>
          <p:cNvPr id="4" name="TextBox 6">
            <a:extLst>
              <a:ext uri="{FF2B5EF4-FFF2-40B4-BE49-F238E27FC236}">
                <a16:creationId xmlns:a16="http://schemas.microsoft.com/office/drawing/2014/main" id="{37C82596-B83B-7E11-6DA1-9D646F510713}"/>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Advantages – More Profitable</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65308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106E4-BB48-55F9-20D4-0F39E8B60E6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A55BBC1-6B0E-6F7B-AD2A-B827F97E6F8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DF5D074-B338-586C-3B86-62BA0F10947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6510003-94D5-E64E-4063-0DDF4393A52E}"/>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Financial Technology – Mobile and Internet Banking:</a:t>
            </a:r>
          </a:p>
        </p:txBody>
      </p:sp>
      <p:sp>
        <p:nvSpPr>
          <p:cNvPr id="10" name="Footer Placeholder 9">
            <a:extLst>
              <a:ext uri="{FF2B5EF4-FFF2-40B4-BE49-F238E27FC236}">
                <a16:creationId xmlns:a16="http://schemas.microsoft.com/office/drawing/2014/main" id="{F60292EE-8FF0-2E4A-F147-8A2BA46B511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15B8EB4-2533-E34A-6DB6-E12CF041249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7BBC956-C5C2-F594-DC85-BC0FBD1D43EE}"/>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Mobile P2P Payments are a great functionality in mobile banking. The financial institution could ask the customer to pay a fee when he/ she uses his/her mobile device to make a P2P payment. According to responses from some surveys, some customers might be willing to pay $0.50 to $1.00 per transaction. </a:t>
            </a:r>
          </a:p>
          <a:p>
            <a:pPr marL="514350" indent="-514350" algn="just">
              <a:lnSpc>
                <a:spcPct val="200000"/>
              </a:lnSpc>
              <a:buFont typeface="Wingdings" panose="05000000000000000000" pitchFamily="2" charset="2"/>
              <a:buChar char="§"/>
            </a:pPr>
            <a:r>
              <a:rPr lang="en-GB" sz="2800" dirty="0"/>
              <a:t>P2P payments, like bill payments, also increase customer loyalty in measurable ways. Once friends, family members, roommates, and merchants use P2P, they can stop writing and mailing each other paper checks. Transaction volumes can increase with a network effect.</a:t>
            </a:r>
          </a:p>
        </p:txBody>
      </p:sp>
      <p:sp>
        <p:nvSpPr>
          <p:cNvPr id="4" name="TextBox 6">
            <a:extLst>
              <a:ext uri="{FF2B5EF4-FFF2-40B4-BE49-F238E27FC236}">
                <a16:creationId xmlns:a16="http://schemas.microsoft.com/office/drawing/2014/main" id="{61E91F48-68CF-B510-20E8-1D16AAAD4056}"/>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Advantages – Customer Retention / Loyalty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ACEA5086-3759-F7AD-71D6-66BAA98E6AA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2314549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CA771-47DC-F0BF-9B07-C6B742744340}"/>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B96D0E91-D44B-1984-CED4-47A08474BE63}"/>
              </a:ext>
            </a:extLst>
          </p:cNvPr>
          <p:cNvSpPr txBox="1"/>
          <p:nvPr/>
        </p:nvSpPr>
        <p:spPr>
          <a:xfrm>
            <a:off x="902113" y="0"/>
            <a:ext cx="6256973" cy="1638077"/>
          </a:xfrm>
          <a:prstGeom prst="rect">
            <a:avLst/>
          </a:prstGeom>
        </p:spPr>
        <p:txBody>
          <a:bodyPr vert="horz" wrap="square" lIns="0" tIns="18098" rIns="0" bIns="0" rtlCol="0">
            <a:spAutoFit/>
          </a:bodyPr>
          <a:lstStyle/>
          <a:p>
            <a:pPr algn="ctr">
              <a:lnSpc>
                <a:spcPts val="6688"/>
              </a:lnSpc>
              <a:spcBef>
                <a:spcPct val="0"/>
              </a:spcBef>
              <a:defRPr/>
            </a:pPr>
            <a:r>
              <a:rPr lang="en-GB"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MOBILE AND INTERNET</a:t>
            </a:r>
          </a:p>
          <a:p>
            <a:pPr algn="ctr">
              <a:lnSpc>
                <a:spcPts val="6688"/>
              </a:lnSpc>
              <a:spcBef>
                <a:spcPct val="0"/>
              </a:spcBef>
              <a:defRPr/>
            </a:pPr>
            <a:r>
              <a:rPr lang="en-GB"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BANKING</a:t>
            </a:r>
          </a:p>
        </p:txBody>
      </p:sp>
      <p:pic>
        <p:nvPicPr>
          <p:cNvPr id="14" name="Picture 13">
            <a:extLst>
              <a:ext uri="{FF2B5EF4-FFF2-40B4-BE49-F238E27FC236}">
                <a16:creationId xmlns:a16="http://schemas.microsoft.com/office/drawing/2014/main" id="{D0320B18-230E-1DF4-B746-0EF0006B01AB}"/>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9731A9B5-6EAC-2549-150A-3881450E7A7B}"/>
              </a:ext>
            </a:extLst>
          </p:cNvPr>
          <p:cNvSpPr txBox="1"/>
          <p:nvPr/>
        </p:nvSpPr>
        <p:spPr>
          <a:xfrm>
            <a:off x="316056" y="4076531"/>
            <a:ext cx="7098887" cy="1334276"/>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Challenges</a:t>
            </a:r>
          </a:p>
        </p:txBody>
      </p:sp>
    </p:spTree>
    <p:extLst>
      <p:ext uri="{BB962C8B-B14F-4D97-AF65-F5344CB8AC3E}">
        <p14:creationId xmlns:p14="http://schemas.microsoft.com/office/powerpoint/2010/main" val="1245870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9D694-F39F-B6A1-4239-7B82E2B1812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7FCCF2B-83D3-4717-39AD-2F3713A8139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ABDD12E-4C85-9BB7-9395-034341131DE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5AD6924-3727-87B9-0E68-79C25AB90285}"/>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Mobile Banking – Challenges</a:t>
            </a:r>
          </a:p>
        </p:txBody>
      </p:sp>
      <p:sp>
        <p:nvSpPr>
          <p:cNvPr id="10" name="Footer Placeholder 9">
            <a:extLst>
              <a:ext uri="{FF2B5EF4-FFF2-40B4-BE49-F238E27FC236}">
                <a16:creationId xmlns:a16="http://schemas.microsoft.com/office/drawing/2014/main" id="{21B3DFC3-777E-1644-E3B8-0FB6EC79658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6721D0D-4482-00AD-BBD8-C2C0F3CE1DF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D592968-3B58-85ED-FDAE-CE4E822B35FD}"/>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Security is one of the major challenges because in mobile banking, the financial institution does not have control of the network and especially of the devices. It is important also since many customers have concerns about security. It must be faced and remediated as much as possible. Penetration testing is a great way to test the robustness of the security in mobile applications</a:t>
            </a:r>
          </a:p>
          <a:p>
            <a:pPr marL="514350" indent="-514350" algn="just">
              <a:lnSpc>
                <a:spcPct val="200000"/>
              </a:lnSpc>
              <a:buFont typeface="Wingdings" panose="05000000000000000000" pitchFamily="2" charset="2"/>
              <a:buChar char="§"/>
            </a:pPr>
            <a:endParaRPr lang="en-GB" sz="2800" dirty="0"/>
          </a:p>
        </p:txBody>
      </p:sp>
      <p:sp>
        <p:nvSpPr>
          <p:cNvPr id="4" name="TextBox 6">
            <a:extLst>
              <a:ext uri="{FF2B5EF4-FFF2-40B4-BE49-F238E27FC236}">
                <a16:creationId xmlns:a16="http://schemas.microsoft.com/office/drawing/2014/main" id="{8039CA69-ADD9-C487-E24D-799F0D0BE676}"/>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Security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Date Placeholder 8">
            <a:extLst>
              <a:ext uri="{FF2B5EF4-FFF2-40B4-BE49-F238E27FC236}">
                <a16:creationId xmlns:a16="http://schemas.microsoft.com/office/drawing/2014/main" id="{6BFAD881-F6C8-3C5F-88B0-BCB652669CC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14528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A7C1C-5635-2E3B-E697-221380B9B98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41F72FB-97B2-559B-13AA-76C79B23FAB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A2349E8-63E1-C126-1E4D-C9289BE65E5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AC71B46-4089-D331-A804-5ACE04527A2E}"/>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Mobile Banking – Challenges</a:t>
            </a:r>
          </a:p>
        </p:txBody>
      </p:sp>
      <p:sp>
        <p:nvSpPr>
          <p:cNvPr id="10" name="Footer Placeholder 9">
            <a:extLst>
              <a:ext uri="{FF2B5EF4-FFF2-40B4-BE49-F238E27FC236}">
                <a16:creationId xmlns:a16="http://schemas.microsoft.com/office/drawing/2014/main" id="{5563C85E-4EE4-B9A2-AC45-16B21988661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E74EF75-3C91-1900-5CCD-F813A3DB040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106C343-C8B6-0F79-9CC1-5E0625E82BFD}"/>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A relevant challenge with mobile banking is the integration with the remaining banking systems. The integration is necessary. This is a technological problem mimicking the organization problem. For the latter, one of the solutions (as in Hello Bank) is a complete separation with respect to the traditional financial institution.</a:t>
            </a:r>
          </a:p>
          <a:p>
            <a:pPr marL="514350" indent="-514350" algn="just">
              <a:lnSpc>
                <a:spcPct val="200000"/>
              </a:lnSpc>
              <a:buFont typeface="Wingdings" panose="05000000000000000000" pitchFamily="2" charset="2"/>
              <a:buChar char="§"/>
            </a:pPr>
            <a:r>
              <a:rPr lang="en-GB" sz="2800" dirty="0"/>
              <a:t>This is not possible in the case of information and telecommunication applications. Financial institutions need to integrate mobile banking applications with the hundreds of other applications of the financial institution (core banking, financial systems, risk management, reporting and compliance applications, and so on).</a:t>
            </a:r>
          </a:p>
        </p:txBody>
      </p:sp>
      <p:sp>
        <p:nvSpPr>
          <p:cNvPr id="4" name="TextBox 6">
            <a:extLst>
              <a:ext uri="{FF2B5EF4-FFF2-40B4-BE49-F238E27FC236}">
                <a16:creationId xmlns:a16="http://schemas.microsoft.com/office/drawing/2014/main" id="{7954C55C-A45C-96D2-B5E4-67855E034989}"/>
              </a:ext>
            </a:extLst>
          </p:cNvPr>
          <p:cNvSpPr txBox="1"/>
          <p:nvPr/>
        </p:nvSpPr>
        <p:spPr>
          <a:xfrm>
            <a:off x="756447" y="1805216"/>
            <a:ext cx="112662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Integration</a:t>
            </a:r>
          </a:p>
        </p:txBody>
      </p:sp>
      <p:sp>
        <p:nvSpPr>
          <p:cNvPr id="7" name="Date Placeholder 8">
            <a:extLst>
              <a:ext uri="{FF2B5EF4-FFF2-40B4-BE49-F238E27FC236}">
                <a16:creationId xmlns:a16="http://schemas.microsoft.com/office/drawing/2014/main" id="{EF673257-E617-4AC5-0C6D-9CF7936FD0D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342907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E063F-D2AA-3AD8-9A47-1DB9B02D7ECE}"/>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414F19B7-4E82-8AE1-A01D-A560EE09E4E4}"/>
              </a:ext>
            </a:extLst>
          </p:cNvPr>
          <p:cNvSpPr txBox="1"/>
          <p:nvPr/>
        </p:nvSpPr>
        <p:spPr>
          <a:xfrm>
            <a:off x="902113" y="0"/>
            <a:ext cx="6256973" cy="1638077"/>
          </a:xfrm>
          <a:prstGeom prst="rect">
            <a:avLst/>
          </a:prstGeom>
        </p:spPr>
        <p:txBody>
          <a:bodyPr vert="horz" wrap="square" lIns="0" tIns="18098" rIns="0" bIns="0" rtlCol="0">
            <a:spAutoFit/>
          </a:bodyPr>
          <a:lstStyle/>
          <a:p>
            <a:pPr algn="ctr">
              <a:lnSpc>
                <a:spcPts val="6688"/>
              </a:lnSpc>
              <a:spcBef>
                <a:spcPct val="0"/>
              </a:spcBef>
              <a:defRPr/>
            </a:pPr>
            <a:r>
              <a:rPr lang="en-GB"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MOBILE AND INTERNET</a:t>
            </a:r>
          </a:p>
          <a:p>
            <a:pPr algn="ctr">
              <a:lnSpc>
                <a:spcPts val="6688"/>
              </a:lnSpc>
              <a:spcBef>
                <a:spcPct val="0"/>
              </a:spcBef>
              <a:defRPr/>
            </a:pPr>
            <a:r>
              <a:rPr lang="en-GB"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BANKING</a:t>
            </a:r>
          </a:p>
        </p:txBody>
      </p:sp>
      <p:pic>
        <p:nvPicPr>
          <p:cNvPr id="14" name="Picture 13">
            <a:extLst>
              <a:ext uri="{FF2B5EF4-FFF2-40B4-BE49-F238E27FC236}">
                <a16:creationId xmlns:a16="http://schemas.microsoft.com/office/drawing/2014/main" id="{2DD0D90F-B147-E6B9-ACD9-14555D007514}"/>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086F8E05-026D-65D0-32C8-E3C49AC637E6}"/>
              </a:ext>
            </a:extLst>
          </p:cNvPr>
          <p:cNvSpPr txBox="1"/>
          <p:nvPr/>
        </p:nvSpPr>
        <p:spPr>
          <a:xfrm>
            <a:off x="316056" y="2952868"/>
            <a:ext cx="7098887" cy="4381264"/>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WEF FinTech</a:t>
            </a:r>
          </a:p>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Sector Deep Dive</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Digital </a:t>
            </a: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Banking</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1763801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B7EB8-6CC0-52BA-7F3E-BBC59723803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2C9EBBC-2F4D-3CB8-C886-BB4412CA333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CCD6C74-F9B3-2438-32ED-24983CEE77D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5692E56-4529-01C6-A6A1-3DE19790CB14}"/>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Assessment of Digital Banking</a:t>
            </a:r>
          </a:p>
        </p:txBody>
      </p:sp>
      <p:sp>
        <p:nvSpPr>
          <p:cNvPr id="10" name="Footer Placeholder 9">
            <a:extLst>
              <a:ext uri="{FF2B5EF4-FFF2-40B4-BE49-F238E27FC236}">
                <a16:creationId xmlns:a16="http://schemas.microsoft.com/office/drawing/2014/main" id="{1D465A7C-E0EF-6EC4-670E-5625ED0EC44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E05528C-C9A7-048D-82A0-730311CDB77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5596B7A-B9FD-B34B-F223-5F7C88F65DB0}"/>
              </a:ext>
            </a:extLst>
          </p:cNvPr>
          <p:cNvSpPr txBox="1"/>
          <p:nvPr/>
        </p:nvSpPr>
        <p:spPr>
          <a:xfrm>
            <a:off x="756447" y="2644758"/>
            <a:ext cx="16775106" cy="2556982"/>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t>Virtual Banks</a:t>
            </a:r>
            <a:r>
              <a:rPr lang="en-GB" sz="2800" dirty="0"/>
              <a:t>. Virtual banks improved their offerings to differentiate themselves from incumbents.</a:t>
            </a:r>
          </a:p>
          <a:p>
            <a:pPr marL="514350" indent="-514350" algn="just">
              <a:lnSpc>
                <a:spcPct val="200000"/>
              </a:lnSpc>
              <a:buFont typeface="Wingdings" panose="05000000000000000000" pitchFamily="2" charset="2"/>
              <a:buChar char="§"/>
            </a:pPr>
            <a:r>
              <a:rPr lang="en-GB" sz="2800" b="1" dirty="0"/>
              <a:t>Mobile Channels. </a:t>
            </a:r>
            <a:r>
              <a:rPr lang="en-GB" sz="2800" dirty="0"/>
              <a:t>All banks developed mobile channels, though incumbents often struggled.</a:t>
            </a:r>
          </a:p>
          <a:p>
            <a:pPr marL="514350" indent="-514350" algn="just">
              <a:lnSpc>
                <a:spcPct val="200000"/>
              </a:lnSpc>
              <a:buFont typeface="Wingdings" panose="05000000000000000000" pitchFamily="2" charset="2"/>
              <a:buChar char="§"/>
            </a:pPr>
            <a:r>
              <a:rPr lang="en-GB" sz="2800" b="1" dirty="0"/>
              <a:t>Banking Platforms. </a:t>
            </a:r>
            <a:r>
              <a:rPr lang="en-GB" sz="2800" dirty="0"/>
              <a:t>Banks began to use technology to enable third‐party applications.</a:t>
            </a:r>
          </a:p>
        </p:txBody>
      </p:sp>
      <p:sp>
        <p:nvSpPr>
          <p:cNvPr id="4" name="TextBox 6">
            <a:extLst>
              <a:ext uri="{FF2B5EF4-FFF2-40B4-BE49-F238E27FC236}">
                <a16:creationId xmlns:a16="http://schemas.microsoft.com/office/drawing/2014/main" id="{7CBCD33B-0B91-DB72-636B-18A78D6D299A}"/>
              </a:ext>
            </a:extLst>
          </p:cNvPr>
          <p:cNvSpPr txBox="1"/>
          <p:nvPr/>
        </p:nvSpPr>
        <p:spPr>
          <a:xfrm>
            <a:off x="756446" y="1805216"/>
            <a:ext cx="131881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The Major Forces Impacting Digital Banking Were</a:t>
            </a:r>
          </a:p>
        </p:txBody>
      </p:sp>
      <p:sp>
        <p:nvSpPr>
          <p:cNvPr id="7" name="Date Placeholder 8">
            <a:extLst>
              <a:ext uri="{FF2B5EF4-FFF2-40B4-BE49-F238E27FC236}">
                <a16:creationId xmlns:a16="http://schemas.microsoft.com/office/drawing/2014/main" id="{3680E4A2-DE5D-0BED-1CD4-642F0F82DE0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pic>
        <p:nvPicPr>
          <p:cNvPr id="12" name="Picture 11">
            <a:extLst>
              <a:ext uri="{FF2B5EF4-FFF2-40B4-BE49-F238E27FC236}">
                <a16:creationId xmlns:a16="http://schemas.microsoft.com/office/drawing/2014/main" id="{3149A169-27C0-EE1B-2AB0-1AD281F298C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3147473" y="6403503"/>
            <a:ext cx="4385181" cy="1461727"/>
          </a:xfrm>
          <a:prstGeom prst="rect">
            <a:avLst/>
          </a:prstGeom>
        </p:spPr>
      </p:pic>
      <p:pic>
        <p:nvPicPr>
          <p:cNvPr id="14" name="Picture 13">
            <a:extLst>
              <a:ext uri="{FF2B5EF4-FFF2-40B4-BE49-F238E27FC236}">
                <a16:creationId xmlns:a16="http://schemas.microsoft.com/office/drawing/2014/main" id="{E1559753-8D10-6A71-356D-FF659012CE6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3147473" y="7865230"/>
            <a:ext cx="4384080" cy="1461360"/>
          </a:xfrm>
          <a:prstGeom prst="rect">
            <a:avLst/>
          </a:prstGeom>
        </p:spPr>
      </p:pic>
      <p:pic>
        <p:nvPicPr>
          <p:cNvPr id="16" name="Picture 15">
            <a:extLst>
              <a:ext uri="{FF2B5EF4-FFF2-40B4-BE49-F238E27FC236}">
                <a16:creationId xmlns:a16="http://schemas.microsoft.com/office/drawing/2014/main" id="{09362391-8367-718B-52BD-65B0D1129CC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335749" y="4942143"/>
            <a:ext cx="3195804" cy="1461727"/>
          </a:xfrm>
          <a:prstGeom prst="rect">
            <a:avLst/>
          </a:prstGeom>
        </p:spPr>
      </p:pic>
    </p:spTree>
    <p:extLst>
      <p:ext uri="{BB962C8B-B14F-4D97-AF65-F5344CB8AC3E}">
        <p14:creationId xmlns:p14="http://schemas.microsoft.com/office/powerpoint/2010/main" val="4200910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3FA0-5B3C-224D-08FA-8D2E9658879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494484E-BC79-2A63-4A49-A3286439A10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E1B73BA-677E-9542-DB64-935583DA080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48F2E81-0760-035A-51F3-48E33FC84980}"/>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Assessment of FinTech (Digital Banking)</a:t>
            </a:r>
          </a:p>
        </p:txBody>
      </p:sp>
      <p:sp>
        <p:nvSpPr>
          <p:cNvPr id="10" name="Footer Placeholder 9">
            <a:extLst>
              <a:ext uri="{FF2B5EF4-FFF2-40B4-BE49-F238E27FC236}">
                <a16:creationId xmlns:a16="http://schemas.microsoft.com/office/drawing/2014/main" id="{CB2FF40B-3A93-EAD8-DF01-6B76E810754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D9FE0C5-F242-B446-59D1-7204B4E80C2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DDA064B-886F-ABBB-1FF2-F9BF74A6FBC3}"/>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Traditional bank distribution models and economics are at risk of being deeply disrupted by the drive towards platform models of banking.</a:t>
            </a:r>
          </a:p>
          <a:p>
            <a:pPr marL="514350" indent="-514350" algn="just">
              <a:lnSpc>
                <a:spcPct val="200000"/>
              </a:lnSpc>
              <a:buFont typeface="Wingdings" panose="05000000000000000000" pitchFamily="2" charset="2"/>
              <a:buChar char="§"/>
            </a:pPr>
            <a:r>
              <a:rPr lang="en-GB" sz="2800" dirty="0"/>
              <a:t>Banks no longer define customer expectations of the banking experience; instead, fintechs and large technology companies set the standard.</a:t>
            </a:r>
          </a:p>
          <a:p>
            <a:pPr marL="514350" indent="-514350" algn="just">
              <a:lnSpc>
                <a:spcPct val="200000"/>
              </a:lnSpc>
              <a:buFont typeface="Wingdings" panose="05000000000000000000" pitchFamily="2" charset="2"/>
              <a:buChar char="§"/>
            </a:pPr>
            <a:r>
              <a:rPr lang="en-GB" sz="2800" dirty="0"/>
              <a:t>Incumbents are starting to migrate core systems to the cloud, as legacy infrastructure creates challenges in meeting customer needs.</a:t>
            </a:r>
          </a:p>
        </p:txBody>
      </p:sp>
      <p:sp>
        <p:nvSpPr>
          <p:cNvPr id="4" name="TextBox 6">
            <a:extLst>
              <a:ext uri="{FF2B5EF4-FFF2-40B4-BE49-F238E27FC236}">
                <a16:creationId xmlns:a16="http://schemas.microsoft.com/office/drawing/2014/main" id="{18168A84-AC5F-D911-B4CF-4235DA36CD08}"/>
              </a:ext>
            </a:extLst>
          </p:cNvPr>
          <p:cNvSpPr txBox="1"/>
          <p:nvPr/>
        </p:nvSpPr>
        <p:spPr>
          <a:xfrm>
            <a:off x="756447" y="1805216"/>
            <a:ext cx="126886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Digital Banking – Where Did Disruption Occur?</a:t>
            </a:r>
          </a:p>
        </p:txBody>
      </p:sp>
      <p:sp>
        <p:nvSpPr>
          <p:cNvPr id="7" name="Date Placeholder 8">
            <a:extLst>
              <a:ext uri="{FF2B5EF4-FFF2-40B4-BE49-F238E27FC236}">
                <a16:creationId xmlns:a16="http://schemas.microsoft.com/office/drawing/2014/main" id="{D1E95158-D309-361B-1A67-A121C8A9F64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567227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76544-8523-30A2-3274-D5E4BF4F718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DD74927-A508-4EEE-7F1A-0A2325F58E6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E6CC638-E390-562C-B871-CD9BD3C4D29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EEC3141-3FCB-1D5C-1543-42766B4DA22D}"/>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Assessment of FinTech (Digital Banking)</a:t>
            </a:r>
          </a:p>
        </p:txBody>
      </p:sp>
      <p:sp>
        <p:nvSpPr>
          <p:cNvPr id="10" name="Footer Placeholder 9">
            <a:extLst>
              <a:ext uri="{FF2B5EF4-FFF2-40B4-BE49-F238E27FC236}">
                <a16:creationId xmlns:a16="http://schemas.microsoft.com/office/drawing/2014/main" id="{11666048-8AAD-A0A5-E5F1-2E386220715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4137DC4-4BCA-4CAB-1E53-42F93CFA06E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D8004A1-CD73-EF1F-11C0-186BD92B4C3A}"/>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Traditional bank distribution models and economics are at risk of being deeply disrupted by the drive towards platform models of banking</a:t>
            </a:r>
            <a:endParaRPr lang="en-GB" sz="2800" dirty="0"/>
          </a:p>
          <a:p>
            <a:pPr marL="514350" indent="-514350" algn="just">
              <a:lnSpc>
                <a:spcPct val="200000"/>
              </a:lnSpc>
              <a:buFont typeface="Wingdings" panose="05000000000000000000" pitchFamily="2" charset="2"/>
              <a:buChar char="§"/>
            </a:pPr>
            <a:r>
              <a:rPr lang="en-GB" sz="2800" dirty="0"/>
              <a:t>Catalysed by regulators and driven by a desire to more efficiently satisfy customer needs, platform banking business models – where banks offer connections with other firms in addition to their own – are gaining momentum.</a:t>
            </a:r>
          </a:p>
        </p:txBody>
      </p:sp>
      <p:sp>
        <p:nvSpPr>
          <p:cNvPr id="4" name="TextBox 6">
            <a:extLst>
              <a:ext uri="{FF2B5EF4-FFF2-40B4-BE49-F238E27FC236}">
                <a16:creationId xmlns:a16="http://schemas.microsoft.com/office/drawing/2014/main" id="{D1FDE011-6F26-E4C0-CDC4-0EF4CC096C86}"/>
              </a:ext>
            </a:extLst>
          </p:cNvPr>
          <p:cNvSpPr txBox="1"/>
          <p:nvPr/>
        </p:nvSpPr>
        <p:spPr>
          <a:xfrm>
            <a:off x="756447" y="1805216"/>
            <a:ext cx="126886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Traditional banking models deeply disrupted</a:t>
            </a:r>
          </a:p>
        </p:txBody>
      </p:sp>
      <p:sp>
        <p:nvSpPr>
          <p:cNvPr id="7" name="Date Placeholder 8">
            <a:extLst>
              <a:ext uri="{FF2B5EF4-FFF2-40B4-BE49-F238E27FC236}">
                <a16:creationId xmlns:a16="http://schemas.microsoft.com/office/drawing/2014/main" id="{E54A5263-F3AC-B067-E57D-D8D0D878959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472730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DACCB-C282-8622-22B5-B96B1A22BA3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B1487D5-FB2B-7B8A-5B11-117B4365D7C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ACD83F4-D52C-660C-A651-C4FBD1BCE21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74260C6-6CFD-01F2-BB66-61785E8B15D2}"/>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Traditional banking models deeply disrupted</a:t>
            </a:r>
          </a:p>
        </p:txBody>
      </p:sp>
      <p:sp>
        <p:nvSpPr>
          <p:cNvPr id="10" name="Footer Placeholder 9">
            <a:extLst>
              <a:ext uri="{FF2B5EF4-FFF2-40B4-BE49-F238E27FC236}">
                <a16:creationId xmlns:a16="http://schemas.microsoft.com/office/drawing/2014/main" id="{FD8815E5-7279-31A1-02D6-04CE9965E5E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7751A4D-42ED-1107-7991-BC21FBF932F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F127919-817E-F462-E4A1-5332BA29A7FE}"/>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Increasing Technology Capacity. APIs, as software intermediaries that allow programmes to connect and interact, provide exposure‐specific functionality while protecting the rest of the application. This API technology, which has achieved broad adoption in recent years, allows banks to seamlessly integrate with third parties and is necessary for developing platform models of banking. </a:t>
            </a:r>
          </a:p>
          <a:p>
            <a:pPr marL="514350" indent="-514350" algn="just">
              <a:lnSpc>
                <a:spcPct val="200000"/>
              </a:lnSpc>
              <a:buFont typeface="Wingdings" panose="05000000000000000000" pitchFamily="2" charset="2"/>
              <a:buChar char="§"/>
            </a:pPr>
            <a:r>
              <a:rPr lang="en-GB" sz="2800" dirty="0"/>
              <a:t>Increasing Regulatory Pressure. Regulators in a number of jurisdictions have begun mandating that banks share data and access with third-party organizations via open APIs. These open banking standards, such as PSD2 in Europe, are expected to weaken banks’ control over customer data and allow customers much greater control over third‐party access to their accounts</a:t>
            </a:r>
          </a:p>
        </p:txBody>
      </p:sp>
      <p:sp>
        <p:nvSpPr>
          <p:cNvPr id="4" name="TextBox 6">
            <a:extLst>
              <a:ext uri="{FF2B5EF4-FFF2-40B4-BE49-F238E27FC236}">
                <a16:creationId xmlns:a16="http://schemas.microsoft.com/office/drawing/2014/main" id="{03DE61CA-AA59-4763-2428-FB65B2F28D30}"/>
              </a:ext>
            </a:extLst>
          </p:cNvPr>
          <p:cNvSpPr txBox="1"/>
          <p:nvPr/>
        </p:nvSpPr>
        <p:spPr>
          <a:xfrm>
            <a:off x="756447" y="1805216"/>
            <a:ext cx="126886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Supporting Evidence</a:t>
            </a:r>
          </a:p>
        </p:txBody>
      </p:sp>
      <p:sp>
        <p:nvSpPr>
          <p:cNvPr id="7" name="Date Placeholder 8">
            <a:extLst>
              <a:ext uri="{FF2B5EF4-FFF2-40B4-BE49-F238E27FC236}">
                <a16:creationId xmlns:a16="http://schemas.microsoft.com/office/drawing/2014/main" id="{F1435E08-B422-7771-F6CA-0A383B70F5A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242470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BAF75-7255-2F30-7A55-0CF3B89F091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6AE1CB5-B47D-FACC-9093-DB0374E99C3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9E1FADF-0F0E-D02B-9331-303CE21F211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E9D24AB-8309-C38B-7838-BDA1B061ED6E}"/>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Traditional banking models deeply disrupted</a:t>
            </a:r>
          </a:p>
        </p:txBody>
      </p:sp>
      <p:sp>
        <p:nvSpPr>
          <p:cNvPr id="10" name="Footer Placeholder 9">
            <a:extLst>
              <a:ext uri="{FF2B5EF4-FFF2-40B4-BE49-F238E27FC236}">
                <a16:creationId xmlns:a16="http://schemas.microsoft.com/office/drawing/2014/main" id="{6E706BBA-8CC7-ED2F-8EBC-C6D1C7908BBF}"/>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B46292D-447B-0521-CF47-A34CAA3C0F9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55C2EFC-395F-6974-E0B2-3906EEC8D9E1}"/>
              </a:ext>
            </a:extLst>
          </p:cNvPr>
          <p:cNvSpPr txBox="1"/>
          <p:nvPr/>
        </p:nvSpPr>
        <p:spPr>
          <a:xfrm>
            <a:off x="756447" y="2644758"/>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Shrinking Margins. Margins on banking products are declining due to increased competition, lowering the profitability of product manufacturing. This incentivizes banks to refocus on distribution and seek partnerships with specialized product and service providers   – in effect, creating platforms for their customers.</a:t>
            </a:r>
          </a:p>
          <a:p>
            <a:pPr marL="514350" indent="-514350" algn="just">
              <a:lnSpc>
                <a:spcPct val="200000"/>
              </a:lnSpc>
              <a:buFont typeface="Wingdings" panose="05000000000000000000" pitchFamily="2" charset="2"/>
              <a:buChar char="§"/>
            </a:pPr>
            <a:endParaRPr lang="en-GB" sz="2800" dirty="0"/>
          </a:p>
        </p:txBody>
      </p:sp>
      <p:sp>
        <p:nvSpPr>
          <p:cNvPr id="4" name="TextBox 6">
            <a:extLst>
              <a:ext uri="{FF2B5EF4-FFF2-40B4-BE49-F238E27FC236}">
                <a16:creationId xmlns:a16="http://schemas.microsoft.com/office/drawing/2014/main" id="{6978E072-F4AC-C986-7849-8D966544FB4B}"/>
              </a:ext>
            </a:extLst>
          </p:cNvPr>
          <p:cNvSpPr txBox="1"/>
          <p:nvPr/>
        </p:nvSpPr>
        <p:spPr>
          <a:xfrm>
            <a:off x="756447" y="1805216"/>
            <a:ext cx="126886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Supporting Evidence (Continue…)</a:t>
            </a:r>
          </a:p>
        </p:txBody>
      </p:sp>
      <p:sp>
        <p:nvSpPr>
          <p:cNvPr id="7" name="Date Placeholder 8">
            <a:extLst>
              <a:ext uri="{FF2B5EF4-FFF2-40B4-BE49-F238E27FC236}">
                <a16:creationId xmlns:a16="http://schemas.microsoft.com/office/drawing/2014/main" id="{7C89FA6A-23AE-58AC-0980-F4A7948DF0D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176718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19EBC-2B4C-E79C-3DA4-0C299F883D1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5EB7398-7D96-471D-5B07-226C48071C9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EBBDEC8-CB87-0413-ADD7-85589FE5F17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C463B6B-5E7C-85EF-610B-528A49ED0881}"/>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Traditional banking models deeply disrupted</a:t>
            </a:r>
          </a:p>
        </p:txBody>
      </p:sp>
      <p:sp>
        <p:nvSpPr>
          <p:cNvPr id="9" name="Date Placeholder 8">
            <a:extLst>
              <a:ext uri="{FF2B5EF4-FFF2-40B4-BE49-F238E27FC236}">
                <a16:creationId xmlns:a16="http://schemas.microsoft.com/office/drawing/2014/main" id="{C61F8A42-4AE1-A9AB-4D3B-8B50C66EAFC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E3A2C4CD-C054-7778-D8C9-AF6A999860F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FA0C19A-9ECE-3366-8A4C-C8670EC95AC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4288CF5-D71F-BB89-C981-471B54D4DE47}"/>
              </a:ext>
            </a:extLst>
          </p:cNvPr>
          <p:cNvSpPr txBox="1"/>
          <p:nvPr/>
        </p:nvSpPr>
        <p:spPr>
          <a:xfrm>
            <a:off x="756447" y="2644758"/>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Curated platform new entrant</a:t>
            </a:r>
          </a:p>
          <a:p>
            <a:pPr marL="514350" indent="-514350" algn="just">
              <a:lnSpc>
                <a:spcPct val="200000"/>
              </a:lnSpc>
              <a:buFont typeface="Wingdings" panose="05000000000000000000" pitchFamily="2" charset="2"/>
              <a:buChar char="§"/>
            </a:pPr>
            <a:r>
              <a:rPr lang="en-GB" sz="2800" dirty="0"/>
              <a:t>A German digital‐only bank, N26 has clearly identified its user‐centred digital experience as its key differentiator. The bank engages “best‐of‐breed” providers, from Allianz to TransferWise, to offer products that N26 itself does not focus on, thus creating a highly curated platform.</a:t>
            </a:r>
          </a:p>
          <a:p>
            <a:pPr marL="514350" indent="-514350" algn="just">
              <a:lnSpc>
                <a:spcPct val="200000"/>
              </a:lnSpc>
              <a:buFont typeface="Wingdings" panose="05000000000000000000" pitchFamily="2" charset="2"/>
              <a:buChar char="§"/>
            </a:pPr>
            <a:r>
              <a:rPr lang="en-GB" sz="2800" dirty="0"/>
              <a:t>Banks no longer define customer expectations of the banking experience; instead, fintechs and large technology companies set the standard.</a:t>
            </a:r>
          </a:p>
          <a:p>
            <a:pPr marL="514350" indent="-514350" algn="just">
              <a:lnSpc>
                <a:spcPct val="200000"/>
              </a:lnSpc>
              <a:buFont typeface="Wingdings" panose="05000000000000000000" pitchFamily="2" charset="2"/>
              <a:buChar char="§"/>
            </a:pPr>
            <a:r>
              <a:rPr lang="en-GB" sz="2800" dirty="0"/>
              <a:t>Experiences with non‐ incumbents are raising the bar for banks, as customers expect more value‐ driven, personalized and seamless service than ever before. Incumbent banks, focused on recapitalizing their post‐ crisis balance sheets, are playing catch‐ up.</a:t>
            </a:r>
          </a:p>
        </p:txBody>
      </p:sp>
      <p:sp>
        <p:nvSpPr>
          <p:cNvPr id="4" name="TextBox 6">
            <a:extLst>
              <a:ext uri="{FF2B5EF4-FFF2-40B4-BE49-F238E27FC236}">
                <a16:creationId xmlns:a16="http://schemas.microsoft.com/office/drawing/2014/main" id="{B5148BB1-C9D5-C3D0-B4AF-94BBB2D3F958}"/>
              </a:ext>
            </a:extLst>
          </p:cNvPr>
          <p:cNvSpPr txBox="1"/>
          <p:nvPr/>
        </p:nvSpPr>
        <p:spPr>
          <a:xfrm>
            <a:off x="756447" y="1805216"/>
            <a:ext cx="126886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Case Studies</a:t>
            </a:r>
          </a:p>
        </p:txBody>
      </p:sp>
      <p:pic>
        <p:nvPicPr>
          <p:cNvPr id="8" name="Picture 7">
            <a:extLst>
              <a:ext uri="{FF2B5EF4-FFF2-40B4-BE49-F238E27FC236}">
                <a16:creationId xmlns:a16="http://schemas.microsoft.com/office/drawing/2014/main" id="{3EABFABA-2716-4C05-8392-28C4C70602B2}"/>
              </a:ext>
            </a:extLst>
          </p:cNvPr>
          <p:cNvPicPr>
            <a:picLocks noChangeAspect="1"/>
          </p:cNvPicPr>
          <p:nvPr/>
        </p:nvPicPr>
        <p:blipFill>
          <a:blip r:embed="rId3"/>
          <a:stretch>
            <a:fillRect/>
          </a:stretch>
        </p:blipFill>
        <p:spPr>
          <a:xfrm>
            <a:off x="15597677" y="1605660"/>
            <a:ext cx="1933876" cy="1039098"/>
          </a:xfrm>
          <a:prstGeom prst="rect">
            <a:avLst/>
          </a:prstGeom>
        </p:spPr>
      </p:pic>
    </p:spTree>
    <p:extLst>
      <p:ext uri="{BB962C8B-B14F-4D97-AF65-F5344CB8AC3E}">
        <p14:creationId xmlns:p14="http://schemas.microsoft.com/office/powerpoint/2010/main" val="1040223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7EE27-1929-59BC-A78D-E4C1FF7DF5A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0A04FD8-8A85-54C2-CAB7-5A2EDC68D22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28B3834-2542-B6F6-A0E2-0B020670AA8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71320BC-D356-CF13-F912-AC96FBE9FBA8}"/>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Traditional banking models deeply disrupted</a:t>
            </a:r>
          </a:p>
        </p:txBody>
      </p:sp>
      <p:sp>
        <p:nvSpPr>
          <p:cNvPr id="10" name="Footer Placeholder 9">
            <a:extLst>
              <a:ext uri="{FF2B5EF4-FFF2-40B4-BE49-F238E27FC236}">
                <a16:creationId xmlns:a16="http://schemas.microsoft.com/office/drawing/2014/main" id="{2ACD7D7F-829F-1921-6C56-D92E3681A62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45C3607-FA27-F6D2-8E84-AC833974C90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5E16EBA-2104-E781-2EAB-AF426AAB688F}"/>
              </a:ext>
            </a:extLst>
          </p:cNvPr>
          <p:cNvSpPr txBox="1"/>
          <p:nvPr/>
        </p:nvSpPr>
        <p:spPr>
          <a:xfrm>
            <a:off x="756447" y="3680354"/>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Simple digital P2P payments</a:t>
            </a:r>
          </a:p>
          <a:p>
            <a:pPr marL="514350" indent="-514350" algn="just">
              <a:lnSpc>
                <a:spcPct val="200000"/>
              </a:lnSpc>
              <a:buFont typeface="Wingdings" panose="05000000000000000000" pitchFamily="2" charset="2"/>
              <a:buChar char="§"/>
            </a:pPr>
            <a:r>
              <a:rPr lang="en-US" sz="2800" dirty="0"/>
              <a:t>Fintech firm Venmo allows users to make P2P payments at no cost, and share their transactions within their social network. It has been so successful (transferring over $5 billion in the last three months of 2016) that major US banks have launched Zelle, a competitor offering free payment transfers and links directly with bank accounts, in the hope of taking back market share</a:t>
            </a:r>
            <a:endParaRPr lang="en-GB" sz="2800" dirty="0"/>
          </a:p>
        </p:txBody>
      </p:sp>
      <p:sp>
        <p:nvSpPr>
          <p:cNvPr id="4" name="TextBox 6">
            <a:extLst>
              <a:ext uri="{FF2B5EF4-FFF2-40B4-BE49-F238E27FC236}">
                <a16:creationId xmlns:a16="http://schemas.microsoft.com/office/drawing/2014/main" id="{EA4AC0F8-DCF1-61F4-6DC7-B21FB5779AC4}"/>
              </a:ext>
            </a:extLst>
          </p:cNvPr>
          <p:cNvSpPr txBox="1"/>
          <p:nvPr/>
        </p:nvSpPr>
        <p:spPr>
          <a:xfrm>
            <a:off x="756446" y="1805216"/>
            <a:ext cx="16560003" cy="1327223"/>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Banks no longer define customer expectations on banking</a:t>
            </a:r>
          </a:p>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		experience…fintechs set standard.</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endParaRPr>
          </a:p>
        </p:txBody>
      </p:sp>
      <p:sp>
        <p:nvSpPr>
          <p:cNvPr id="7" name="Date Placeholder 8">
            <a:extLst>
              <a:ext uri="{FF2B5EF4-FFF2-40B4-BE49-F238E27FC236}">
                <a16:creationId xmlns:a16="http://schemas.microsoft.com/office/drawing/2014/main" id="{899AC375-64DC-D832-C342-4A8EF1E5143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pic>
        <p:nvPicPr>
          <p:cNvPr id="13" name="Picture 12">
            <a:extLst>
              <a:ext uri="{FF2B5EF4-FFF2-40B4-BE49-F238E27FC236}">
                <a16:creationId xmlns:a16="http://schemas.microsoft.com/office/drawing/2014/main" id="{CFFCAA2F-033D-5A53-3637-830F328BBDEA}"/>
              </a:ext>
            </a:extLst>
          </p:cNvPr>
          <p:cNvPicPr>
            <a:picLocks noChangeAspect="1"/>
          </p:cNvPicPr>
          <p:nvPr/>
        </p:nvPicPr>
        <p:blipFill>
          <a:blip r:embed="rId3"/>
          <a:stretch>
            <a:fillRect/>
          </a:stretch>
        </p:blipFill>
        <p:spPr>
          <a:xfrm>
            <a:off x="14475634" y="1805216"/>
            <a:ext cx="3055919" cy="630086"/>
          </a:xfrm>
          <a:prstGeom prst="rect">
            <a:avLst/>
          </a:prstGeom>
        </p:spPr>
      </p:pic>
    </p:spTree>
    <p:extLst>
      <p:ext uri="{BB962C8B-B14F-4D97-AF65-F5344CB8AC3E}">
        <p14:creationId xmlns:p14="http://schemas.microsoft.com/office/powerpoint/2010/main" val="2608481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F0C25-4500-CE3C-CA87-C2E03CF9BC9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3249C24-B2E2-04EF-6661-05E10AA2CDB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EFA0675-25FE-7F2E-4E5E-63B5F75B056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83B7E9B-E6AB-CA4E-951C-533CC830BA10}"/>
              </a:ext>
            </a:extLst>
          </p:cNvPr>
          <p:cNvSpPr txBox="1"/>
          <p:nvPr/>
        </p:nvSpPr>
        <p:spPr>
          <a:xfrm>
            <a:off x="990600" y="300719"/>
            <a:ext cx="1103206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Traditional banking models deeply disrupted</a:t>
            </a:r>
          </a:p>
        </p:txBody>
      </p:sp>
      <p:sp>
        <p:nvSpPr>
          <p:cNvPr id="10" name="Footer Placeholder 9">
            <a:extLst>
              <a:ext uri="{FF2B5EF4-FFF2-40B4-BE49-F238E27FC236}">
                <a16:creationId xmlns:a16="http://schemas.microsoft.com/office/drawing/2014/main" id="{2BC50CFA-1EDF-3ED0-0DAA-DFA2C507D56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E794676-7C18-EF1F-765D-D19E9367FA5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B06D9EA-1241-6F1E-A529-D57DB1A21616}"/>
              </a:ext>
            </a:extLst>
          </p:cNvPr>
          <p:cNvSpPr txBox="1"/>
          <p:nvPr/>
        </p:nvSpPr>
        <p:spPr>
          <a:xfrm>
            <a:off x="756447" y="2644758"/>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Incumbents are starting to migrate core systems to the cloud, as legacy infrastructure creates challenges in meeting customer needs.</a:t>
            </a:r>
          </a:p>
          <a:p>
            <a:pPr marL="514350" indent="-514350" algn="just">
              <a:lnSpc>
                <a:spcPct val="200000"/>
              </a:lnSpc>
              <a:buFont typeface="Wingdings" panose="05000000000000000000" pitchFamily="2" charset="2"/>
              <a:buChar char="§"/>
            </a:pPr>
            <a:r>
              <a:rPr lang="en-US" sz="2800" dirty="0"/>
              <a:t>Banks have undertaken significant efforts to move to a newer, cloud‐based architecture, but still struggle with legacy infrastructure that weighs down profits and limits banks’ ability to meet customer needs</a:t>
            </a:r>
            <a:endParaRPr lang="en-GB" sz="2800" dirty="0"/>
          </a:p>
        </p:txBody>
      </p:sp>
      <p:sp>
        <p:nvSpPr>
          <p:cNvPr id="4" name="TextBox 6">
            <a:extLst>
              <a:ext uri="{FF2B5EF4-FFF2-40B4-BE49-F238E27FC236}">
                <a16:creationId xmlns:a16="http://schemas.microsoft.com/office/drawing/2014/main" id="{D51CE8DD-BE46-D581-B158-39265B365695}"/>
              </a:ext>
            </a:extLst>
          </p:cNvPr>
          <p:cNvSpPr txBox="1"/>
          <p:nvPr/>
        </p:nvSpPr>
        <p:spPr>
          <a:xfrm>
            <a:off x="756447" y="1805216"/>
            <a:ext cx="1268862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rPr>
              <a:t>Incumbents moving systems to cloud</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endParaRPr>
          </a:p>
        </p:txBody>
      </p:sp>
      <p:sp>
        <p:nvSpPr>
          <p:cNvPr id="7" name="Date Placeholder 8">
            <a:extLst>
              <a:ext uri="{FF2B5EF4-FFF2-40B4-BE49-F238E27FC236}">
                <a16:creationId xmlns:a16="http://schemas.microsoft.com/office/drawing/2014/main" id="{ECAF3D39-E36E-350A-ED6A-585B33B9A23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pic>
        <p:nvPicPr>
          <p:cNvPr id="12" name="Picture 11">
            <a:extLst>
              <a:ext uri="{FF2B5EF4-FFF2-40B4-BE49-F238E27FC236}">
                <a16:creationId xmlns:a16="http://schemas.microsoft.com/office/drawing/2014/main" id="{A58FB8F1-5E1E-DA0B-6375-23927AD997B8}"/>
              </a:ext>
            </a:extLst>
          </p:cNvPr>
          <p:cNvPicPr>
            <a:picLocks noChangeAspect="1"/>
          </p:cNvPicPr>
          <p:nvPr/>
        </p:nvPicPr>
        <p:blipFill>
          <a:blip r:embed="rId3"/>
          <a:stretch>
            <a:fillRect/>
          </a:stretch>
        </p:blipFill>
        <p:spPr>
          <a:xfrm>
            <a:off x="15472889" y="1670853"/>
            <a:ext cx="2058664" cy="890628"/>
          </a:xfrm>
          <a:prstGeom prst="rect">
            <a:avLst/>
          </a:prstGeom>
        </p:spPr>
      </p:pic>
    </p:spTree>
    <p:extLst>
      <p:ext uri="{BB962C8B-B14F-4D97-AF65-F5344CB8AC3E}">
        <p14:creationId xmlns:p14="http://schemas.microsoft.com/office/powerpoint/2010/main" val="2196323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FC4C1-94E0-22F9-36E1-36AEA4E4D85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2C3CE0F-B40C-9890-EB43-C228380BAF6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5AF30BC-7907-E402-CBFA-55C6371E0FA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10ABB16-EDB5-AFD0-DA23-7628790ED086}"/>
              </a:ext>
            </a:extLst>
          </p:cNvPr>
          <p:cNvSpPr txBox="1"/>
          <p:nvPr/>
        </p:nvSpPr>
        <p:spPr>
          <a:xfrm>
            <a:off x="990600" y="300719"/>
            <a:ext cx="1575435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Few customers moved from deposit accounts…for now</a:t>
            </a:r>
          </a:p>
        </p:txBody>
      </p:sp>
      <p:sp>
        <p:nvSpPr>
          <p:cNvPr id="10" name="Footer Placeholder 9">
            <a:extLst>
              <a:ext uri="{FF2B5EF4-FFF2-40B4-BE49-F238E27FC236}">
                <a16:creationId xmlns:a16="http://schemas.microsoft.com/office/drawing/2014/main" id="{FB8EB636-417B-0FFD-D721-860B49C3C76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D407643-FA71-B691-EB9F-2F134505C2C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37</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EE373EF-3C65-95E5-A7EB-E7617D563D60}"/>
              </a:ext>
            </a:extLst>
          </p:cNvPr>
          <p:cNvSpPr txBox="1"/>
          <p:nvPr/>
        </p:nvSpPr>
        <p:spPr>
          <a:xfrm>
            <a:off x="757618" y="1790700"/>
            <a:ext cx="16773935" cy="5842497"/>
          </a:xfrm>
          <a:prstGeom prst="rect">
            <a:avLst/>
          </a:prstGeom>
          <a:noFill/>
        </p:spPr>
        <p:txBody>
          <a:bodyPr wrap="square" rtlCol="0">
            <a:spAutoFit/>
          </a:bodyPr>
          <a:lstStyle/>
          <a:p>
            <a:pPr marL="514350" indent="-514350" algn="just">
              <a:lnSpc>
                <a:spcPct val="150000"/>
              </a:lnSpc>
              <a:buFont typeface="+mj-lt"/>
              <a:buAutoNum type="arabicPeriod"/>
            </a:pPr>
            <a:r>
              <a:rPr lang="en-US" sz="2800" dirty="0"/>
              <a:t>Value of Physical Presence. Customers’ preferences are quickly shifting to digital channels, but physical branches remain a critical component of the banking experience. Many customers have banking needs which only physical locations can currently fulfill (e.g. getting a same‐day wire transfer for a home purchase), while other customers prefer a channel based on human interaction.</a:t>
            </a:r>
          </a:p>
          <a:p>
            <a:pPr marL="514350" indent="-514350" algn="just">
              <a:lnSpc>
                <a:spcPct val="150000"/>
              </a:lnSpc>
              <a:buFont typeface="+mj-lt"/>
              <a:buAutoNum type="arabicPeriod"/>
            </a:pPr>
            <a:endParaRPr lang="en-US" sz="2800" dirty="0"/>
          </a:p>
          <a:p>
            <a:pPr marL="514350" indent="-514350" algn="just">
              <a:lnSpc>
                <a:spcPct val="150000"/>
              </a:lnSpc>
              <a:buFont typeface="+mj-lt"/>
              <a:buAutoNum type="arabicPeriod"/>
            </a:pPr>
            <a:r>
              <a:rPr lang="en-US" sz="2800" dirty="0"/>
              <a:t>Poor Challenger Bank Economics. Because challenger banks are unable to meet more complex needs, they tend to be used as secondary bank accounts by most customers, causing them to lose out on a large share of  revenue. Also, to attract customers, they often provide either lower fees or higher returns on deposits than incumbents, both of which lower profitability.</a:t>
            </a:r>
          </a:p>
        </p:txBody>
      </p:sp>
      <p:sp>
        <p:nvSpPr>
          <p:cNvPr id="4" name="Date Placeholder 8">
            <a:extLst>
              <a:ext uri="{FF2B5EF4-FFF2-40B4-BE49-F238E27FC236}">
                <a16:creationId xmlns:a16="http://schemas.microsoft.com/office/drawing/2014/main" id="{D6F32EFC-8B38-DB26-88C6-504EFCF4FA6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Tree>
    <p:extLst>
      <p:ext uri="{BB962C8B-B14F-4D97-AF65-F5344CB8AC3E}">
        <p14:creationId xmlns:p14="http://schemas.microsoft.com/office/powerpoint/2010/main" val="34943799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E4074-42ED-27ED-59FF-4499DDA0991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9721C92-0284-D937-5517-DAEB578306B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1AA6E9C-3A32-B269-9D4C-70AB00A830D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4B78C52-DF78-3031-1AA9-30441C6F436F}"/>
              </a:ext>
            </a:extLst>
          </p:cNvPr>
          <p:cNvSpPr txBox="1"/>
          <p:nvPr/>
        </p:nvSpPr>
        <p:spPr>
          <a:xfrm>
            <a:off x="990600" y="300719"/>
            <a:ext cx="1575435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Strategies by Incumbent Banks</a:t>
            </a:r>
          </a:p>
        </p:txBody>
      </p:sp>
      <p:sp>
        <p:nvSpPr>
          <p:cNvPr id="9" name="Date Placeholder 8">
            <a:extLst>
              <a:ext uri="{FF2B5EF4-FFF2-40B4-BE49-F238E27FC236}">
                <a16:creationId xmlns:a16="http://schemas.microsoft.com/office/drawing/2014/main" id="{A9E51156-AAC0-9C3E-2195-D55F9183465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
        <p:nvSpPr>
          <p:cNvPr id="10" name="Footer Placeholder 9">
            <a:extLst>
              <a:ext uri="{FF2B5EF4-FFF2-40B4-BE49-F238E27FC236}">
                <a16:creationId xmlns:a16="http://schemas.microsoft.com/office/drawing/2014/main" id="{AF2147C2-B523-9A74-6AC0-39D18D64459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019F417-1E20-3F7B-5593-5BFAAF4F5B4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38</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61CEF1C9-103E-9521-74F0-809F110ECFC0}"/>
              </a:ext>
            </a:extLst>
          </p:cNvPr>
          <p:cNvSpPr txBox="1"/>
          <p:nvPr/>
        </p:nvSpPr>
        <p:spPr>
          <a:xfrm>
            <a:off x="757618" y="1790700"/>
            <a:ext cx="16773935" cy="5842497"/>
          </a:xfrm>
          <a:prstGeom prst="rect">
            <a:avLst/>
          </a:prstGeom>
          <a:noFill/>
        </p:spPr>
        <p:txBody>
          <a:bodyPr wrap="square" rtlCol="0">
            <a:spAutoFit/>
          </a:bodyPr>
          <a:lstStyle/>
          <a:p>
            <a:pPr marL="514350" indent="-514350" algn="just">
              <a:lnSpc>
                <a:spcPct val="150000"/>
              </a:lnSpc>
              <a:buFont typeface="+mj-lt"/>
              <a:buAutoNum type="arabicPeriod"/>
            </a:pPr>
            <a:r>
              <a:rPr lang="en-US" sz="2800" dirty="0"/>
              <a:t>Value of Incumbents Targeting Attractive Customers. The profitability of many customer segments declined following the financial crisis, as wealth levels fell and interest rates approached zero. In response, incumbents refocused their efforts on optimizing their client base – retaining their most profitable customer segments, and ensuring that only less profitable customers would be tempted to switch to challenger banks.</a:t>
            </a:r>
          </a:p>
          <a:p>
            <a:pPr marL="514350" indent="-514350" algn="just">
              <a:lnSpc>
                <a:spcPct val="150000"/>
              </a:lnSpc>
              <a:buFont typeface="+mj-lt"/>
              <a:buAutoNum type="arabicPeriod"/>
            </a:pPr>
            <a:endParaRPr lang="en-US" sz="2800" dirty="0"/>
          </a:p>
          <a:p>
            <a:pPr marL="514350" indent="-514350" algn="just">
              <a:lnSpc>
                <a:spcPct val="150000"/>
              </a:lnSpc>
              <a:buFont typeface="+mj-lt"/>
              <a:buAutoNum type="arabicPeriod"/>
            </a:pPr>
            <a:r>
              <a:rPr lang="en-US" sz="2800" dirty="0"/>
              <a:t>Ability to Fast Follow. Very few technological barriers to entry affect the development of an online or mobile challenger bank (the majority of the barriers concern regulation). Thus, if customer defections to challenger banks accelerate, incumbents can quickly follow with visually appealing front‐end offerings or an online bank of their own</a:t>
            </a:r>
          </a:p>
        </p:txBody>
      </p:sp>
    </p:spTree>
    <p:extLst>
      <p:ext uri="{BB962C8B-B14F-4D97-AF65-F5344CB8AC3E}">
        <p14:creationId xmlns:p14="http://schemas.microsoft.com/office/powerpoint/2010/main" val="14012747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847C1-A82D-3BF2-849A-62786207DF3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B47C636-4E8C-0B81-2E26-A91E85654D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1DDD596-6E0A-933B-4F0F-F07E3527B0D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BDBE504-A8C7-CAD7-2103-33BA798005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SUMMARY</a:t>
            </a:r>
          </a:p>
        </p:txBody>
      </p:sp>
      <p:sp>
        <p:nvSpPr>
          <p:cNvPr id="9" name="Date Placeholder 8">
            <a:extLst>
              <a:ext uri="{FF2B5EF4-FFF2-40B4-BE49-F238E27FC236}">
                <a16:creationId xmlns:a16="http://schemas.microsoft.com/office/drawing/2014/main" id="{7AB8D550-A45B-54FB-0A9F-5586FE979E6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IV</a:t>
            </a:r>
          </a:p>
        </p:txBody>
      </p:sp>
      <p:sp>
        <p:nvSpPr>
          <p:cNvPr id="10" name="Footer Placeholder 9">
            <a:extLst>
              <a:ext uri="{FF2B5EF4-FFF2-40B4-BE49-F238E27FC236}">
                <a16:creationId xmlns:a16="http://schemas.microsoft.com/office/drawing/2014/main" id="{C2942FF9-ECD9-C5A7-ADA8-A9F890C1E70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0AED30A-DCA5-9E5C-CF53-D041C3DB13C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39</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63BE8D3-B9A3-C4AD-7329-13F8891899B2}"/>
              </a:ext>
            </a:extLst>
          </p:cNvPr>
          <p:cNvSpPr txBox="1"/>
          <p:nvPr/>
        </p:nvSpPr>
        <p:spPr>
          <a:xfrm>
            <a:off x="757618" y="1790700"/>
            <a:ext cx="16773935" cy="7319824"/>
          </a:xfrm>
          <a:prstGeom prst="rect">
            <a:avLst/>
          </a:prstGeom>
          <a:noFill/>
        </p:spPr>
        <p:txBody>
          <a:bodyPr wrap="square" rtlCol="0">
            <a:spAutoFit/>
          </a:bodyPr>
          <a:lstStyle/>
          <a:p>
            <a:r>
              <a:rPr lang="en-US" sz="2800" dirty="0"/>
              <a:t>By the end of this session:</a:t>
            </a:r>
            <a:endParaRPr lang="en-MY" sz="2600" dirty="0"/>
          </a:p>
          <a:p>
            <a:pPr marL="514350" indent="-514350">
              <a:buFont typeface="+mj-lt"/>
              <a:buAutoNum type="arabicPeriod"/>
            </a:pPr>
            <a:endParaRPr lang="en-MY" sz="2600" dirty="0"/>
          </a:p>
          <a:p>
            <a:pPr marL="514350" indent="-514350">
              <a:lnSpc>
                <a:spcPct val="150000"/>
              </a:lnSpc>
              <a:buFont typeface="+mj-lt"/>
              <a:buAutoNum type="arabicPeriod"/>
            </a:pPr>
            <a:r>
              <a:rPr lang="en-US" sz="2800" b="1" dirty="0"/>
              <a:t>Essential Innovation:</a:t>
            </a:r>
            <a:r>
              <a:rPr lang="en-US" sz="2800" dirty="0"/>
              <a:t> Mobile banking is a key driver of financial innovation, effectively turning mobile phones into pocket-sized bank branches.</a:t>
            </a:r>
            <a:endParaRPr lang="en-US" sz="1000" b="1" dirty="0"/>
          </a:p>
          <a:p>
            <a:pPr marL="514350" indent="-514350">
              <a:lnSpc>
                <a:spcPct val="150000"/>
              </a:lnSpc>
              <a:buFont typeface="+mj-lt"/>
              <a:buAutoNum type="arabicPeriod"/>
            </a:pPr>
            <a:r>
              <a:rPr lang="en-US" sz="2800" b="1" dirty="0"/>
              <a:t>Usability is Critical:</a:t>
            </a:r>
            <a:r>
              <a:rPr lang="en-US" sz="2800" dirty="0"/>
              <a:t> Successful mobile banking requires an intuitive interface, rich features, high security, and personalized experiences.</a:t>
            </a:r>
            <a:endParaRPr lang="en-US" sz="1000" dirty="0"/>
          </a:p>
          <a:p>
            <a:pPr marL="514350" indent="-514350">
              <a:lnSpc>
                <a:spcPct val="150000"/>
              </a:lnSpc>
              <a:buFont typeface="+mj-lt"/>
              <a:buAutoNum type="arabicPeriod"/>
            </a:pPr>
            <a:r>
              <a:rPr lang="en-US" sz="2800" b="1" dirty="0"/>
              <a:t>Mutual Benefits:</a:t>
            </a:r>
            <a:r>
              <a:rPr lang="en-US" sz="2800" dirty="0"/>
              <a:t> It offers extreme convenience for customers while giving banks lower operational costs, higher customer retention, and increased profitability.</a:t>
            </a:r>
            <a:endParaRPr lang="en-US" sz="1000" dirty="0"/>
          </a:p>
          <a:p>
            <a:pPr marL="514350" indent="-514350">
              <a:lnSpc>
                <a:spcPct val="150000"/>
              </a:lnSpc>
              <a:buFont typeface="+mj-lt"/>
              <a:buAutoNum type="arabicPeriod"/>
            </a:pPr>
            <a:r>
              <a:rPr lang="en-US" sz="2800" b="1" dirty="0"/>
              <a:t>Major Challenges:</a:t>
            </a:r>
            <a:r>
              <a:rPr lang="en-US" sz="2800" dirty="0"/>
              <a:t> The biggest hurdles for financial institutions are maintaining robust security and integrating mobile apps with their older, legacy systems.</a:t>
            </a:r>
          </a:p>
          <a:p>
            <a:pPr marL="514350" indent="-514350">
              <a:lnSpc>
                <a:spcPct val="150000"/>
              </a:lnSpc>
              <a:buFont typeface="+mj-lt"/>
              <a:buAutoNum type="arabicPeriod"/>
            </a:pPr>
            <a:r>
              <a:rPr lang="en-US" sz="2800" b="1" dirty="0"/>
              <a:t>Industry Disruption:</a:t>
            </a:r>
            <a:r>
              <a:rPr lang="en-US" sz="2800" dirty="0"/>
              <a:t> FinTechs and mobile-only banks are setting the new standard for customer expectations, forcing traditional banks to adopt cloud technology and platform models to compete.</a:t>
            </a:r>
          </a:p>
        </p:txBody>
      </p:sp>
    </p:spTree>
    <p:extLst>
      <p:ext uri="{BB962C8B-B14F-4D97-AF65-F5344CB8AC3E}">
        <p14:creationId xmlns:p14="http://schemas.microsoft.com/office/powerpoint/2010/main" val="11632995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56447" y="1563443"/>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flipV="1">
            <a:off x="1028700" y="9534526"/>
            <a:ext cx="16502853"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4648200" y="4777861"/>
            <a:ext cx="8037635" cy="3503005"/>
            <a:chOff x="0" y="0"/>
            <a:chExt cx="2337006" cy="1018527"/>
          </a:xfrm>
          <a:noFill/>
        </p:grpSpPr>
        <p:sp>
          <p:nvSpPr>
            <p:cNvPr id="5" name="Freeform 5"/>
            <p:cNvSpPr/>
            <p:nvPr/>
          </p:nvSpPr>
          <p:spPr>
            <a:xfrm>
              <a:off x="0" y="0"/>
              <a:ext cx="2337006" cy="1018527"/>
            </a:xfrm>
            <a:custGeom>
              <a:avLst/>
              <a:gdLst/>
              <a:ahLst/>
              <a:cxnLst/>
              <a:rect l="l" t="t" r="r" b="b"/>
              <a:pathLst>
                <a:path w="2337006" h="1018527">
                  <a:moveTo>
                    <a:pt x="0" y="0"/>
                  </a:moveTo>
                  <a:lnTo>
                    <a:pt x="2337006" y="0"/>
                  </a:lnTo>
                  <a:lnTo>
                    <a:pt x="2337006" y="1018527"/>
                  </a:lnTo>
                  <a:lnTo>
                    <a:pt x="0" y="1018527"/>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1056627"/>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extBox 8"/>
          <p:cNvSpPr txBox="1"/>
          <p:nvPr/>
        </p:nvSpPr>
        <p:spPr>
          <a:xfrm>
            <a:off x="3042298" y="3005254"/>
            <a:ext cx="10822028" cy="1371979"/>
          </a:xfrm>
          <a:prstGeom prst="rect">
            <a:avLst/>
          </a:prstGeom>
          <a:noFill/>
        </p:spPr>
        <p:txBody>
          <a:bodyPr lIns="0" tIns="0" rIns="0" bIns="0" rtlCol="0" anchor="t">
            <a:spAutoFit/>
          </a:bodyPr>
          <a:lstStyle/>
          <a:p>
            <a:pPr marL="0" marR="0" lvl="0" indent="0" algn="ctr" defTabSz="457200" rtl="0" eaLnBrk="1" fontAlgn="auto" latinLnBrk="0" hangingPunct="1">
              <a:lnSpc>
                <a:spcPts val="11855"/>
              </a:lnSpc>
              <a:spcBef>
                <a:spcPct val="0"/>
              </a:spcBef>
              <a:spcAft>
                <a:spcPts val="0"/>
              </a:spcAft>
              <a:buClrTx/>
              <a:buSzTx/>
              <a:buFontTx/>
              <a:buNone/>
              <a:tabLst/>
              <a:defRPr/>
            </a:pPr>
            <a:r>
              <a:rPr kumimoji="0" lang="en-US" sz="7799" b="1" i="0" u="none" strike="noStrike" kern="1200" cap="none" spc="0" normalizeH="0" baseline="0" noProof="0">
                <a:ln>
                  <a:noFill/>
                </a:ln>
                <a:gradFill>
                  <a:gsLst>
                    <a:gs pos="0">
                      <a:schemeClr val="accent5">
                        <a:lumMod val="75000"/>
                      </a:scheme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THANK YOU</a:t>
            </a:r>
          </a:p>
        </p:txBody>
      </p:sp>
      <p:sp>
        <p:nvSpPr>
          <p:cNvPr id="10" name="TextBox 10"/>
          <p:cNvSpPr txBox="1"/>
          <p:nvPr/>
        </p:nvSpPr>
        <p:spPr>
          <a:xfrm>
            <a:off x="5614211" y="5660960"/>
            <a:ext cx="5678202" cy="396367"/>
          </a:xfrm>
          <a:prstGeom prst="rect">
            <a:avLst/>
          </a:prstGeom>
        </p:spPr>
        <p:txBody>
          <a:bodyPr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199"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DEPARTMENT OF COMPUTING</a:t>
            </a:r>
          </a:p>
        </p:txBody>
      </p:sp>
      <p:sp>
        <p:nvSpPr>
          <p:cNvPr id="11" name="TextBox 11"/>
          <p:cNvSpPr txBox="1"/>
          <p:nvPr/>
        </p:nvSpPr>
        <p:spPr>
          <a:xfrm>
            <a:off x="5074241" y="5186980"/>
            <a:ext cx="6758143" cy="893130"/>
          </a:xfrm>
          <a:prstGeom prst="rect">
            <a:avLst/>
          </a:prstGeom>
        </p:spPr>
        <p:txBody>
          <a:bodyPr lIns="0" tIns="0" rIns="0" bIns="0" rtlCol="0" anchor="t">
            <a:spAutoFit/>
          </a:bodyPr>
          <a:lstStyle/>
          <a:p>
            <a:pPr algn="ctr">
              <a:lnSpc>
                <a:spcPts val="3647"/>
              </a:lnSpc>
              <a:defRPr/>
            </a:pPr>
            <a:r>
              <a:rPr lang="en-MY" sz="2399"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marL="0" marR="0" lvl="0" indent="0" algn="ctr" defTabSz="457200" rtl="0" eaLnBrk="1" fontAlgn="auto" latinLnBrk="0" hangingPunct="1">
              <a:lnSpc>
                <a:spcPts val="3647"/>
              </a:lnSpc>
              <a:spcBef>
                <a:spcPts val="0"/>
              </a:spcBef>
              <a:spcAft>
                <a:spcPts val="0"/>
              </a:spcAft>
              <a:buClrTx/>
              <a:buSzTx/>
              <a:buFontTx/>
              <a:buNone/>
              <a:tabLst/>
              <a:defRPr/>
            </a:pPr>
            <a:endParaRPr kumimoji="0" lang="en-US" sz="2399" b="0" i="0" u="none" strike="noStrike" kern="1200" cap="none" spc="98"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endParaRPr>
          </a:p>
        </p:txBody>
      </p:sp>
      <p:grpSp>
        <p:nvGrpSpPr>
          <p:cNvPr id="12" name="Group 12"/>
          <p:cNvGrpSpPr/>
          <p:nvPr/>
        </p:nvGrpSpPr>
        <p:grpSpPr>
          <a:xfrm>
            <a:off x="5509434" y="6611027"/>
            <a:ext cx="5101859" cy="425112"/>
            <a:chOff x="0" y="0"/>
            <a:chExt cx="6802476" cy="566816"/>
          </a:xfrm>
        </p:grpSpPr>
        <p:sp>
          <p:nvSpPr>
            <p:cNvPr id="13" name="Freeform 13"/>
            <p:cNvSpPr/>
            <p:nvPr/>
          </p:nvSpPr>
          <p:spPr>
            <a:xfrm>
              <a:off x="0" y="0"/>
              <a:ext cx="577647" cy="566816"/>
            </a:xfrm>
            <a:custGeom>
              <a:avLst/>
              <a:gdLst/>
              <a:ahLst/>
              <a:cxnLst/>
              <a:rect l="l" t="t" r="r" b="b"/>
              <a:pathLst>
                <a:path w="577647" h="566816">
                  <a:moveTo>
                    <a:pt x="0" y="0"/>
                  </a:moveTo>
                  <a:lnTo>
                    <a:pt x="577647" y="0"/>
                  </a:lnTo>
                  <a:lnTo>
                    <a:pt x="577647" y="566816"/>
                  </a:lnTo>
                  <a:lnTo>
                    <a:pt x="0" y="5668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4"/>
            <p:cNvSpPr txBox="1"/>
            <p:nvPr/>
          </p:nvSpPr>
          <p:spPr>
            <a:xfrm>
              <a:off x="1009574" y="58111"/>
              <a:ext cx="5792902" cy="479448"/>
            </a:xfrm>
            <a:prstGeom prst="rect">
              <a:avLst/>
            </a:prstGeom>
          </p:spPr>
          <p:txBody>
            <a:bodyPr wrap="square" lIns="0" tIns="0" rIns="0" bIns="0" rtlCol="0" anchor="t">
              <a:spAutoFit/>
            </a:bodyPr>
            <a:lstStyle/>
            <a:p>
              <a:pPr lvl="0">
                <a:lnSpc>
                  <a:spcPts val="3040"/>
                </a:lnSpc>
                <a:defRPr/>
              </a:pP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hlinkClick r:id="rId4"/>
                </a:rPr>
                <a:t>shuhaida.shuhidan@utp.edu.my</a:t>
              </a: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rPr>
                <a:t> </a:t>
              </a:r>
            </a:p>
          </p:txBody>
        </p:sp>
      </p:grpSp>
      <p:grpSp>
        <p:nvGrpSpPr>
          <p:cNvPr id="15" name="Group 15"/>
          <p:cNvGrpSpPr/>
          <p:nvPr/>
        </p:nvGrpSpPr>
        <p:grpSpPr>
          <a:xfrm>
            <a:off x="5509434" y="7391229"/>
            <a:ext cx="3326815" cy="512496"/>
            <a:chOff x="0" y="0"/>
            <a:chExt cx="4435752" cy="683328"/>
          </a:xfrm>
        </p:grpSpPr>
        <p:sp>
          <p:nvSpPr>
            <p:cNvPr id="16" name="Freeform 16"/>
            <p:cNvSpPr/>
            <p:nvPr/>
          </p:nvSpPr>
          <p:spPr>
            <a:xfrm>
              <a:off x="0" y="0"/>
              <a:ext cx="550390" cy="683328"/>
            </a:xfrm>
            <a:custGeom>
              <a:avLst/>
              <a:gdLst/>
              <a:ahLst/>
              <a:cxnLst/>
              <a:rect l="l" t="t" r="r" b="b"/>
              <a:pathLst>
                <a:path w="550390" h="683328">
                  <a:moveTo>
                    <a:pt x="0" y="0"/>
                  </a:moveTo>
                  <a:lnTo>
                    <a:pt x="550390" y="0"/>
                  </a:lnTo>
                  <a:lnTo>
                    <a:pt x="550390" y="683328"/>
                  </a:lnTo>
                  <a:lnTo>
                    <a:pt x="0" y="6833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7"/>
            <p:cNvSpPr txBox="1"/>
            <p:nvPr/>
          </p:nvSpPr>
          <p:spPr>
            <a:xfrm>
              <a:off x="1009575" y="75176"/>
              <a:ext cx="3426177" cy="479448"/>
            </a:xfrm>
            <a:prstGeom prst="rect">
              <a:avLst/>
            </a:prstGeom>
          </p:spPr>
          <p:txBody>
            <a:bodyPr lIns="0" tIns="0" rIns="0" bIns="0" rtlCol="0" anchor="t">
              <a:spAutoFit/>
            </a:bodyPr>
            <a:lstStyle/>
            <a:p>
              <a:pPr marL="0" marR="0" lvl="0" indent="0" algn="l" defTabSz="457200" rtl="0" eaLnBrk="1" fontAlgn="auto" latinLnBrk="0" hangingPunct="1">
                <a:lnSpc>
                  <a:spcPts val="3040"/>
                </a:lnSpc>
                <a:spcBef>
                  <a:spcPts val="0"/>
                </a:spcBef>
                <a:spcAft>
                  <a:spcPts val="0"/>
                </a:spcAft>
                <a:buClrTx/>
                <a:buSzTx/>
                <a:buFontTx/>
                <a:buNone/>
                <a:tabLst/>
                <a:defRPr/>
              </a:pPr>
              <a:r>
                <a:rPr kumimoji="0" lang="en-US" sz="2000" b="0" i="0" u="none" strike="noStrike" kern="1200" cap="none" spc="82"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01-03-31</a:t>
              </a:r>
            </a:p>
          </p:txBody>
        </p:sp>
      </p:grpSp>
      <p:sp>
        <p:nvSpPr>
          <p:cNvPr id="18" name="Freeform 18"/>
          <p:cNvSpPr/>
          <p:nvPr/>
        </p:nvSpPr>
        <p:spPr>
          <a:xfrm>
            <a:off x="13452568" y="161232"/>
            <a:ext cx="3806732" cy="1350171"/>
          </a:xfrm>
          <a:custGeom>
            <a:avLst/>
            <a:gdLst/>
            <a:ahLst/>
            <a:cxnLst/>
            <a:rect l="l" t="t" r="r" b="b"/>
            <a:pathLst>
              <a:path w="3806732" h="1350171">
                <a:moveTo>
                  <a:pt x="0" y="0"/>
                </a:moveTo>
                <a:lnTo>
                  <a:pt x="3806732" y="0"/>
                </a:lnTo>
                <a:lnTo>
                  <a:pt x="3806732" y="1350171"/>
                </a:lnTo>
                <a:lnTo>
                  <a:pt x="0" y="1350171"/>
                </a:lnTo>
                <a:lnTo>
                  <a:pt x="0" y="0"/>
                </a:lnTo>
                <a:close/>
              </a:path>
            </a:pathLst>
          </a:custGeom>
          <a:blipFill>
            <a:blip r:embed="rId6"/>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969CC0C1-CEE6-7AFD-F08C-9037DCAEDE15}"/>
              </a:ext>
            </a:extLst>
          </p:cNvPr>
          <p:cNvSpPr>
            <a:spLocks noGrp="1"/>
          </p:cNvSpPr>
          <p:nvPr>
            <p:ph type="dt" sz="half" idx="10"/>
          </p:nvPr>
        </p:nvSpPr>
        <p:spPr/>
        <p:txBody>
          <a:bodyPr/>
          <a:lstStyle/>
          <a:p>
            <a:r>
              <a:rPr lang="en-US" dirty="0"/>
              <a:t>Week IV</a:t>
            </a:r>
          </a:p>
        </p:txBody>
      </p:sp>
      <p:sp>
        <p:nvSpPr>
          <p:cNvPr id="19" name="Footer Placeholder 18">
            <a:extLst>
              <a:ext uri="{FF2B5EF4-FFF2-40B4-BE49-F238E27FC236}">
                <a16:creationId xmlns:a16="http://schemas.microsoft.com/office/drawing/2014/main" id="{559E3EB5-D08C-1B33-945D-C91DA725F3E7}"/>
              </a:ext>
            </a:extLst>
          </p:cNvPr>
          <p:cNvSpPr>
            <a:spLocks noGrp="1"/>
          </p:cNvSpPr>
          <p:nvPr>
            <p:ph type="ftr" sz="quarter" idx="11"/>
          </p:nvPr>
        </p:nvSpPr>
        <p:spPr>
          <a:xfrm>
            <a:off x="6057900" y="9534526"/>
            <a:ext cx="7658100" cy="547688"/>
          </a:xfrm>
        </p:spPr>
        <p:txBody>
          <a:bodyPr/>
          <a:lstStyle/>
          <a:p>
            <a:r>
              <a:rPr lang="en-US"/>
              <a:t>For educational use only. Not to be distributed or shared without permission.</a:t>
            </a:r>
          </a:p>
        </p:txBody>
      </p:sp>
      <p:sp>
        <p:nvSpPr>
          <p:cNvPr id="20" name="Slide Number Placeholder 19">
            <a:extLst>
              <a:ext uri="{FF2B5EF4-FFF2-40B4-BE49-F238E27FC236}">
                <a16:creationId xmlns:a16="http://schemas.microsoft.com/office/drawing/2014/main" id="{1A546E35-A579-1253-4F8D-BE6DFA9A4D02}"/>
              </a:ext>
            </a:extLst>
          </p:cNvPr>
          <p:cNvSpPr>
            <a:spLocks noGrp="1"/>
          </p:cNvSpPr>
          <p:nvPr>
            <p:ph type="sldNum" sz="quarter" idx="12"/>
          </p:nvPr>
        </p:nvSpPr>
        <p:spPr/>
        <p:txBody>
          <a:bodyPr/>
          <a:lstStyle/>
          <a:p>
            <a:fld id="{B6F15528-21DE-4FAA-801E-634DDDAF4B2B}" type="slidenum">
              <a:rPr lang="en-US" smtClean="0"/>
              <a:pPr/>
              <a:t>40</a:t>
            </a:fld>
            <a:endParaRPr lang="en-US"/>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C87EB35ACF9448AB6AF0166C74B31C" ma:contentTypeVersion="20" ma:contentTypeDescription="Create a new document." ma:contentTypeScope="" ma:versionID="afd188c47451dba45a86e012c1481767">
  <xsd:schema xmlns:xsd="http://www.w3.org/2001/XMLSchema" xmlns:xs="http://www.w3.org/2001/XMLSchema" xmlns:p="http://schemas.microsoft.com/office/2006/metadata/properties" xmlns:ns1="http://schemas.microsoft.com/sharepoint/v3" xmlns:ns3="f604542f-3f98-4180-a530-dccd8eb96459" xmlns:ns4="161b1d0b-c5d9-4346-b7aa-7c23791df872" targetNamespace="http://schemas.microsoft.com/office/2006/metadata/properties" ma:root="true" ma:fieldsID="f8830e1d0cf709f132b06e9cca8a370a" ns1:_="" ns3:_="" ns4:_="">
    <xsd:import namespace="http://schemas.microsoft.com/sharepoint/v3"/>
    <xsd:import namespace="f604542f-3f98-4180-a530-dccd8eb96459"/>
    <xsd:import namespace="161b1d0b-c5d9-4346-b7aa-7c23791df87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04542f-3f98-4180-a530-dccd8eb964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1b1d0b-c5d9-4346-b7aa-7c23791df87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f604542f-3f98-4180-a530-dccd8eb96459" xsi:nil="true"/>
  </documentManagement>
</p:properties>
</file>

<file path=customXml/itemProps1.xml><?xml version="1.0" encoding="utf-8"?>
<ds:datastoreItem xmlns:ds="http://schemas.openxmlformats.org/officeDocument/2006/customXml" ds:itemID="{07F07991-DBC0-402D-BD53-7E5C26CAE5A5}">
  <ds:schemaRefs>
    <ds:schemaRef ds:uri="161b1d0b-c5d9-4346-b7aa-7c23791df872"/>
    <ds:schemaRef ds:uri="f604542f-3f98-4180-a530-dccd8eb96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59B6550-91B7-456B-A940-ECDA25AB84F3}">
  <ds:schemaRefs>
    <ds:schemaRef ds:uri="http://schemas.microsoft.com/sharepoint/v3/contenttype/forms"/>
  </ds:schemaRefs>
</ds:datastoreItem>
</file>

<file path=customXml/itemProps3.xml><?xml version="1.0" encoding="utf-8"?>
<ds:datastoreItem xmlns:ds="http://schemas.openxmlformats.org/officeDocument/2006/customXml" ds:itemID="{BF8EABEC-D4DA-4635-9F5B-DEE1FFF379A2}">
  <ds:schemaRefs>
    <ds:schemaRef ds:uri="http://purl.org/dc/dcmitype/"/>
    <ds:schemaRef ds:uri="http://www.w3.org/XML/1998/namespace"/>
    <ds:schemaRef ds:uri="http://schemas.microsoft.com/office/infopath/2007/PartnerControls"/>
    <ds:schemaRef ds:uri="http://schemas.openxmlformats.org/package/2006/metadata/core-properties"/>
    <ds:schemaRef ds:uri="161b1d0b-c5d9-4346-b7aa-7c23791df872"/>
    <ds:schemaRef ds:uri="http://schemas.microsoft.com/office/2006/documentManagement/types"/>
    <ds:schemaRef ds:uri="http://purl.org/dc/elements/1.1/"/>
    <ds:schemaRef ds:uri="f604542f-3f98-4180-a530-dccd8eb96459"/>
    <ds:schemaRef ds:uri="http://schemas.microsoft.com/sharepoint/v3"/>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1165</TotalTime>
  <Words>5499</Words>
  <Application>Microsoft Office PowerPoint</Application>
  <PresentationFormat>Custom</PresentationFormat>
  <Paragraphs>672</Paragraphs>
  <Slides>40</Slides>
  <Notes>40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Calibri</vt:lpstr>
      <vt:lpstr>Museo Sans 300</vt:lpstr>
      <vt:lpstr>Aptos</vt:lpstr>
      <vt:lpstr>Segoe UI</vt:lpstr>
      <vt:lpstr>Arial</vt:lpstr>
      <vt:lpstr>Calibri Light</vt:lpstr>
      <vt:lpstr>Wingdings</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DG Slide Ver02</dc:title>
  <dc:creator>Nurul Fazilah Bt Esa (FSMC/UTP)</dc:creator>
  <cp:lastModifiedBy>Khan Reeyan Afzal</cp:lastModifiedBy>
  <cp:revision>409</cp:revision>
  <dcterms:created xsi:type="dcterms:W3CDTF">2006-08-16T00:00:00Z</dcterms:created>
  <dcterms:modified xsi:type="dcterms:W3CDTF">2026-05-18T10:00:13Z</dcterms:modified>
  <dc:identifier>DAG_MRG_x0E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0x0101000DC87EB35ACF9448AB6AF0166C74B31C</vt:lpwstr>
  </property>
</Properties>
</file>