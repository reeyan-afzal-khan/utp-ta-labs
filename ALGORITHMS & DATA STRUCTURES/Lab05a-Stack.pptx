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4"/>
  </p:sldMasterIdLst>
  <p:notesMasterIdLst>
    <p:notesMasterId r:id="rId16"/>
  </p:notesMasterIdLst>
  <p:handoutMasterIdLst>
    <p:handoutMasterId r:id="rId17"/>
  </p:handoutMasterIdLst>
  <p:sldIdLst>
    <p:sldId id="268" r:id="rId5"/>
    <p:sldId id="385" r:id="rId6"/>
    <p:sldId id="386" r:id="rId7"/>
    <p:sldId id="387" r:id="rId8"/>
    <p:sldId id="257" r:id="rId9"/>
    <p:sldId id="365" r:id="rId10"/>
    <p:sldId id="373" r:id="rId11"/>
    <p:sldId id="372" r:id="rId12"/>
    <p:sldId id="383" r:id="rId13"/>
    <p:sldId id="384" r:id="rId14"/>
    <p:sldId id="270" r:id="rId15"/>
  </p:sldIdLst>
  <p:sldSz cx="18288000" cy="10287000"/>
  <p:notesSz cx="6858000" cy="9144000"/>
  <p:embeddedFontLst>
    <p:embeddedFont>
      <p:font typeface="Museo Sans 300" panose="02000000000000000000" pitchFamily="2" charset="77"/>
      <p:regular r:id="rId18"/>
      <p:bold r:id="rId19"/>
      <p:italic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973" autoAdjust="0"/>
  </p:normalViewPr>
  <p:slideViewPr>
    <p:cSldViewPr snapToGrid="0">
      <p:cViewPr varScale="1">
        <p:scale>
          <a:sx n="61" d="100"/>
          <a:sy n="61" d="100"/>
        </p:scale>
        <p:origin x="194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B93D41-E753-CA08-512C-7FD9149E9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83311-34CD-10A6-71A7-5FEC1EAC0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391DD-0852-4038-9481-BE0C8E4C0068}" type="datetimeFigureOut">
              <a:rPr lang="en-MY" smtClean="0"/>
              <a:t>26/06/2026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A957-AB6C-53B4-A4E1-0374492AD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79F2C-EAFF-B3B1-975D-3770C8024B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E2F9-A3A4-483F-A619-855FC01C419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59022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1111C-7368-49FD-8B9D-8D05AE4C3340}" type="datetimeFigureOut">
              <a:rPr lang="en-MY" smtClean="0"/>
              <a:t>26/06/2026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F1A-E494-4223-A600-C9DDF71EE4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243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798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7472-B57A-DFF6-0A43-599032CE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CC552-30F0-1256-EC67-0E870BAC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63616-1342-DE35-FF3B-1B751915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2F73-39FD-42B2-1796-E58A0C6FB2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4943F-9067-C1CD-A905-2FC1FB1AD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2693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646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F81B-ECF4-BB8C-522E-73845160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7BC0C-72CE-5613-37D1-A4FBDFB3A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0EEF3-C829-9F09-985B-67A215F67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861F0-D5FA-E53A-F7E4-0D700CBE9F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6D872-3803-64D3-6ACC-1498C720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6528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274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3AB5-B534-77D9-F89C-9BF47061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4C31-3D26-853B-8D15-2D9A179B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0C61-9D07-9E14-FA19-E8C5DE100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62F17-F868-F82B-0A34-BE664154CB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FF73-1E8F-06C9-CCE4-D040194B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230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B082-856D-F394-796B-867EA4CB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1A9CD-1F5D-D38E-CB00-A7020A50D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40A6D-22AD-2517-C212-04C806C03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and Closure Slides</a:t>
            </a:r>
          </a:p>
          <a:p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 3–5 key takeaways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 main ideas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 CLO coverage where appropriate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Upcoming topics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 reading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Tutorial / lab / assessment linkage</a:t>
            </a:r>
          </a:p>
          <a:p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CED38-DB74-810B-7E98-3E04B100B1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7951B-CA86-D56D-375B-101AD9E05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4893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56CB-D3B0-6A84-31B1-26FDA86E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3A26B-64A6-D271-7F4F-97C9235A7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DC16-3448-9551-7242-4BAF4B4A0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A4917-5EF6-7D79-18BC-FE462FEBE2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4D5C6-C248-870A-B6D2-2A4CF04AD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4284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BAAB-A44F-79D7-1A55-E221F4F5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54821-DE75-2521-73DE-49ED44032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2C7A5-7D91-4A9A-BA8E-97879D295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63062-9C01-2602-28FE-9FEF2EFD10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68E84-17A7-EF1E-7279-1892375D0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2418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3B9D-D02F-4EE1-9554-FFD0B8E9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5B065-B453-9B72-28B0-03C95F466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D657D-A315-6A89-A350-3C1414F5D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C1667-D37C-25D7-E801-E5CCCAA180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11EB6-4DFC-8DB4-0D70-A5BDCABDE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790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5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06887" y="1511403"/>
            <a:ext cx="11424666" cy="5204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06887" y="9410700"/>
            <a:ext cx="1142466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426192" y="1942813"/>
            <a:ext cx="9036316" cy="1752887"/>
            <a:chOff x="0" y="0"/>
            <a:chExt cx="2337006" cy="292155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292155"/>
            </a:xfrm>
            <a:custGeom>
              <a:avLst/>
              <a:gdLst/>
              <a:ahLst/>
              <a:cxnLst/>
              <a:rect l="l" t="t" r="r" b="b"/>
              <a:pathLst>
                <a:path w="2337006" h="292155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" name="Freeform 9"/>
            <p:cNvSpPr/>
            <p:nvPr/>
          </p:nvSpPr>
          <p:spPr>
            <a:xfrm>
              <a:off x="-10330" y="-104775"/>
              <a:ext cx="1377733" cy="2182730"/>
            </a:xfrm>
            <a:custGeom>
              <a:avLst/>
              <a:gdLst/>
              <a:ahLst/>
              <a:cxnLst/>
              <a:rect l="l" t="t" r="r" b="b"/>
              <a:pathLst>
                <a:path w="1282673" h="2091166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99" b="0" i="0" u="none" strike="noStrike" kern="1200" cap="none" spc="1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Aptos"/>
                  <a:cs typeface="Aptos"/>
                  <a:sym typeface="Aptos"/>
                </a:rPr>
                <a:t>Insert relevant picture related to the topic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99" b="0" i="0" u="none" strike="noStrike" kern="1200" cap="none" spc="1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68506" y="4249467"/>
            <a:ext cx="11424666" cy="1631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WEEK </a:t>
            </a:r>
            <a:r>
              <a:rPr lang="en-US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Va</a:t>
            </a:r>
            <a:endParaRPr kumimoji="0" lang="en-US" sz="4400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  <a:sym typeface="Droid Serif Bold"/>
            </a:endParaRPr>
          </a:p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STACK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3946" y="2210080"/>
            <a:ext cx="7340807" cy="1046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ALGORITHMS AND DATA STRUCTURES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Aptos"/>
            </a:endParaRPr>
          </a:p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  <a:sym typeface="Aptos"/>
              </a:rPr>
              <a:t>TEB1113/TFB2023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27172" y="6957133"/>
            <a:ext cx="7337522" cy="381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3"/>
              </a:lnSpc>
              <a:defRPr/>
            </a:pPr>
            <a:r>
              <a:rPr lang="en-MY" sz="2199" spc="8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FARAHIDA HANIM BT MAUSOR - DR (FSMC/UTP)</a:t>
            </a:r>
            <a:endParaRPr kumimoji="0" lang="en-US" sz="2199" b="0" i="1" u="none" strike="noStrike" kern="1200" cap="none" spc="81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Aptos"/>
              <a:cs typeface="Segoe UI" panose="020B0502040204020203" pitchFamily="34" charset="0"/>
              <a:sym typeface="Apt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85066" y="7789617"/>
            <a:ext cx="8221734" cy="124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BACHELOR OF XXXXXX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DEPARTMENT OF COMPUTING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spc="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FACULTY OF SCIENCE, MANAGEMENT &amp; COMPUTING</a:t>
            </a: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 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8BF3AB-9F7F-0AAB-2719-43006082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3864" y="272259"/>
            <a:ext cx="2617689" cy="1144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1A74E1-A546-E488-26C8-703260A4C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57"/>
          <a:stretch>
            <a:fillRect/>
          </a:stretch>
        </p:blipFill>
        <p:spPr>
          <a:xfrm>
            <a:off x="0" y="0"/>
            <a:ext cx="6106886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A4E8-D0A1-A754-557F-0B65A4FF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1C6C398-1942-0AD5-41B2-4089BDF999A8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96DF06-58C5-DAAD-1BDB-8FC07E68A72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3612DC9-D76F-AAAB-B268-C89CDFEE733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RECAP FROM PREVIOUS LECTURE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EE1773E-3923-46BF-AF44-31E5B84C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36CEDAF-3D5D-2E59-F65F-B7220C13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0D1664-09D5-A89C-629B-01FC06CE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D0BF8-105F-6224-C810-DE29C5995211}"/>
              </a:ext>
            </a:extLst>
          </p:cNvPr>
          <p:cNvSpPr txBox="1"/>
          <p:nvPr/>
        </p:nvSpPr>
        <p:spPr>
          <a:xfrm>
            <a:off x="756447" y="1455366"/>
            <a:ext cx="16775106" cy="579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A circular linked list connects the last node back to the head.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Traversal stops when the pointer returns to the head.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Insertion and deletion require careful pointer updates.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Linked lists can be used to build other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250219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CD0D-972B-FE6D-B005-F472E53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F305BD-B647-52A1-7229-8D1C689775AB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AD37D0-AB7C-531D-442D-316B5352ACD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389B7-4BDC-9F88-5E29-C825141ABF6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LEARNING OUTCOMES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C5EDA-CD04-CA81-5505-46F71DF9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84BAFFF-0B17-2D6B-F88C-8FD53E5A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AFA90-B6A0-006E-2A2C-78E3AA1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75015-C56E-A18B-9965-887E7BA6AF14}"/>
              </a:ext>
            </a:extLst>
          </p:cNvPr>
          <p:cNvSpPr txBox="1"/>
          <p:nvPr/>
        </p:nvSpPr>
        <p:spPr>
          <a:xfrm>
            <a:off x="756447" y="1455366"/>
            <a:ext cx="16775106" cy="579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Explain Stack as a Last-In-First-Out ADT.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Trace push(), pop(), and peek() operations.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Identify stack overflow and underflow conditions.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Implement stack using arrays and linked lists in C++.</a:t>
            </a:r>
          </a:p>
        </p:txBody>
      </p:sp>
    </p:spTree>
    <p:extLst>
      <p:ext uri="{BB962C8B-B14F-4D97-AF65-F5344CB8AC3E}">
        <p14:creationId xmlns:p14="http://schemas.microsoft.com/office/powerpoint/2010/main" val="10357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F617-6662-C456-227D-3275C55C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F43934F-2864-661A-2BA0-DC5387E43B4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FBDD271-AED0-0592-6161-DA190BFBADB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72BB23-EF0F-750B-8106-7619BB6E6B1C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90AE56B-4BEA-5B7A-F78B-014938DB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CA9889-5D5F-2D1D-22C9-9D678427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351A66-EF48-9C85-4CCF-6277EE3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2FE96-C87E-A6ED-5539-84E36E5345F9}"/>
              </a:ext>
            </a:extLst>
          </p:cNvPr>
          <p:cNvSpPr txBox="1"/>
          <p:nvPr/>
        </p:nvSpPr>
        <p:spPr>
          <a:xfrm>
            <a:off x="756447" y="1455366"/>
            <a:ext cx="16775106" cy="7442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5400" dirty="0"/>
              <a:t>Stack Concept and Real-World Analogy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LIFO Principle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Core Stack Operations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Array-Based Stack Implementation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Linked-List Stack Implementation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C++ Lab Practice</a:t>
            </a:r>
          </a:p>
        </p:txBody>
      </p:sp>
    </p:spTree>
    <p:extLst>
      <p:ext uri="{BB962C8B-B14F-4D97-AF65-F5344CB8AC3E}">
        <p14:creationId xmlns:p14="http://schemas.microsoft.com/office/powerpoint/2010/main" val="34658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902113" y="0"/>
            <a:ext cx="6256973" cy="778868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lvl="0" algn="ctr">
              <a:lnSpc>
                <a:spcPts val="6688"/>
              </a:lnSpc>
              <a:spcBef>
                <a:spcPct val="0"/>
              </a:spcBef>
              <a:defRPr/>
            </a:pPr>
            <a:r>
              <a:rPr lang="en-US" sz="40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STACK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9669084-3CCA-1770-6024-E848243FA0B7}"/>
              </a:ext>
            </a:extLst>
          </p:cNvPr>
          <p:cNvSpPr txBox="1"/>
          <p:nvPr/>
        </p:nvSpPr>
        <p:spPr>
          <a:xfrm>
            <a:off x="316056" y="4076531"/>
            <a:ext cx="7098887" cy="133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sz="66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sz="66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DCD67-EACE-1158-9CDF-D05D35C49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0" t="501" r="33683" b="-501"/>
          <a:stretch>
            <a:fillRect/>
          </a:stretch>
        </p:blipFill>
        <p:spPr>
          <a:xfrm>
            <a:off x="7414943" y="0"/>
            <a:ext cx="10873057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F996-7635-1787-F807-1C7FEC31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A366B4-B572-DAE1-DF2F-B770D0BED8D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CF50E5-C002-3A45-783D-A8BBBE0D520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7D3C917-8FEB-127C-5C2A-5F099C2969F8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24C9A-42D5-5989-7E7B-2E9419BC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59FEC39-794D-5D70-F15F-44688033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10C44E-CE92-0AE7-E274-3C48AFC7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7703A2D-8146-8388-7268-39977DADB52D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WHAT IS STACK?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394E0-E2D1-C064-917A-689DA98B054B}"/>
              </a:ext>
            </a:extLst>
          </p:cNvPr>
          <p:cNvSpPr txBox="1"/>
          <p:nvPr/>
        </p:nvSpPr>
        <p:spPr>
          <a:xfrm>
            <a:off x="756447" y="2644758"/>
            <a:ext cx="16775106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Stack is an Abstract Data Type (ADT) commonly used in most programming languages.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TOP → [ 30 ]  ← remove first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				[ 20 ]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				[ 10 ]  ← inserted first</a:t>
            </a:r>
          </a:p>
        </p:txBody>
      </p:sp>
    </p:spTree>
    <p:extLst>
      <p:ext uri="{BB962C8B-B14F-4D97-AF65-F5344CB8AC3E}">
        <p14:creationId xmlns:p14="http://schemas.microsoft.com/office/powerpoint/2010/main" val="411120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2743-C3E9-76E8-781F-886EF01A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5B17FD7-4EAF-56CC-9174-053C7E4A4083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F0536A-A52B-52E4-F5BB-3225E5D6C575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FA83F75-427F-C457-1EA3-660591022EDB}"/>
              </a:ext>
            </a:extLst>
          </p:cNvPr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LIFO principle</a:t>
            </a:r>
            <a:endParaRPr lang="en-US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4C33398-35E6-4033-2E37-E284CCA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BDE226-C5F3-35D1-DF7A-5FBF9DF4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D296C1-70B0-6843-3D2E-6DA76B38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6D2BF-2DF2-85F9-FDD5-C8F8EF2F29E7}"/>
              </a:ext>
            </a:extLst>
          </p:cNvPr>
          <p:cNvSpPr txBox="1"/>
          <p:nvPr/>
        </p:nvSpPr>
        <p:spPr>
          <a:xfrm>
            <a:off x="756447" y="1586466"/>
            <a:ext cx="16775106" cy="665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This feature makes it a LIFO data structure. LIFO stands for Last-in-first-out.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Here, the element that is placed (inserted or added) last is accessed first.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 stack terminology, the insertion operation is called the PUSH operation, and the removal operation is called the POP operation.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stack can be implemented using an Array, a Structure, a Pointer, and a Linked List. 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stack can either be a fixed-size one or it may have a sense of dynamic resizing. 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Here, we are going to implement a stack using arrays, which makes it a fixed-size stack implementation.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108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5512-D1B2-06D1-9703-C3F4A60D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E93228-3ACE-41BB-60FA-4B7854D8048D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7FD9E89-9CE4-50B8-625D-0343A3D19F7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037B0B-7A75-E0F9-3C0D-8F550590FE75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REPRESENTATION OF STACK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3D7C022-E434-0F5B-7686-B63FFBF1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F079929-9F20-BFB5-57D9-3733D94C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0AACD6-88DE-C816-F289-759F1A9E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39">
            <a:extLst>
              <a:ext uri="{FF2B5EF4-FFF2-40B4-BE49-F238E27FC236}">
                <a16:creationId xmlns:a16="http://schemas.microsoft.com/office/drawing/2014/main" id="{08498FE0-82B3-5CD1-3839-74C7B5E76D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9606" y="1504993"/>
            <a:ext cx="10568787" cy="786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6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03F0-00B2-007F-F68E-4143A533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9EBCC6-62B0-331D-7E32-0023A0CB0B5E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72A6CA-27F3-4F23-A900-BBE3F9BCF8C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0BC8DB-DD3E-3EA8-EE26-36244FBBFE6C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A2B05DA-CA44-8C0D-5458-451307C4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609057-698A-A340-86ED-00F43C9E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2E807D2-BF53-446A-AE68-B2D88F67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8A68226-0E89-EFD5-18B3-4A031057EDBB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TODAY’S KEY TAKEAWAYS: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E492-16C0-8A83-B7C0-A71CBEEB995F}"/>
              </a:ext>
            </a:extLst>
          </p:cNvPr>
          <p:cNvSpPr txBox="1"/>
          <p:nvPr/>
        </p:nvSpPr>
        <p:spPr>
          <a:xfrm>
            <a:off x="756447" y="2644758"/>
            <a:ext cx="16775106" cy="547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A stack is an ADT where access is allowed only at the top.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Stack follows LIFO: Last In, First Out.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push() inserts an item; pop() removes the top item.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peek() reads the top item without removing it.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Stacks can be implemented using arrays or linked lists.</a:t>
            </a:r>
          </a:p>
        </p:txBody>
      </p:sp>
    </p:spTree>
    <p:extLst>
      <p:ext uri="{BB962C8B-B14F-4D97-AF65-F5344CB8AC3E}">
        <p14:creationId xmlns:p14="http://schemas.microsoft.com/office/powerpoint/2010/main" val="208650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B709-FC3F-34AB-80C9-85C29F6E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96CAF9-D180-AFCB-E69E-0CC01B9D8C0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E84F4BC-A485-F7AC-383E-480D031A22D3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000A2C-FD07-7DEE-60E6-BB05A228E0E3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LAB TASK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0CD82AB-E738-3F83-5042-08FF6595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1F56A1-8DA6-C4D8-1DDD-7E3BD734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412E09-CB2B-15BA-1522-8A2E1B2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CD8ABEA-27C9-3E94-D644-7CAE71FC2C3F}"/>
              </a:ext>
            </a:extLst>
          </p:cNvPr>
          <p:cNvSpPr txBox="1"/>
          <p:nvPr/>
        </p:nvSpPr>
        <p:spPr>
          <a:xfrm>
            <a:off x="756447" y="1805216"/>
            <a:ext cx="131881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CREATE A C++ PROGRAM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BF1F4-5FB7-5A36-36B2-19264929B514}"/>
              </a:ext>
            </a:extLst>
          </p:cNvPr>
          <p:cNvSpPr txBox="1"/>
          <p:nvPr/>
        </p:nvSpPr>
        <p:spPr>
          <a:xfrm>
            <a:off x="756447" y="2644758"/>
            <a:ext cx="64865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Part A: </a:t>
            </a: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Array-Based Stack </a:t>
            </a:r>
          </a:p>
          <a:p>
            <a:pPr lvl="1"/>
            <a:r>
              <a:rPr lang="en-US" sz="4000" dirty="0"/>
              <a:t>push() </a:t>
            </a:r>
          </a:p>
          <a:p>
            <a:pPr lvl="1"/>
            <a:r>
              <a:rPr lang="en-US" sz="4000" dirty="0"/>
              <a:t>pop() </a:t>
            </a:r>
          </a:p>
          <a:p>
            <a:pPr lvl="1"/>
            <a:r>
              <a:rPr lang="en-US" sz="4000" dirty="0"/>
              <a:t>peek() </a:t>
            </a:r>
          </a:p>
          <a:p>
            <a:pPr lvl="1"/>
            <a:r>
              <a:rPr lang="en-US" sz="4000" dirty="0" err="1"/>
              <a:t>isFull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 err="1"/>
              <a:t>isEmpty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/>
              <a:t>display()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131D7-761D-22B9-D7C5-947B1E1544F1}"/>
              </a:ext>
            </a:extLst>
          </p:cNvPr>
          <p:cNvSpPr txBox="1"/>
          <p:nvPr/>
        </p:nvSpPr>
        <p:spPr>
          <a:xfrm>
            <a:off x="9806694" y="2644758"/>
            <a:ext cx="64865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Part B: </a:t>
            </a: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Linked-List Stack</a:t>
            </a:r>
          </a:p>
          <a:p>
            <a:pPr lvl="1"/>
            <a:r>
              <a:rPr lang="en-US" sz="4000" dirty="0"/>
              <a:t>push() </a:t>
            </a:r>
          </a:p>
          <a:p>
            <a:pPr lvl="1"/>
            <a:r>
              <a:rPr lang="en-US" sz="4000" dirty="0"/>
              <a:t>pop() </a:t>
            </a:r>
          </a:p>
          <a:p>
            <a:pPr lvl="1"/>
            <a:r>
              <a:rPr lang="en-US" sz="4000" dirty="0"/>
              <a:t>peek() </a:t>
            </a:r>
          </a:p>
          <a:p>
            <a:pPr lvl="1"/>
            <a:r>
              <a:rPr lang="en-US" sz="4000" dirty="0" err="1"/>
              <a:t>isFull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 err="1"/>
              <a:t>isEmpty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/>
              <a:t>display() </a:t>
            </a:r>
          </a:p>
        </p:txBody>
      </p:sp>
    </p:spTree>
    <p:extLst>
      <p:ext uri="{BB962C8B-B14F-4D97-AF65-F5344CB8AC3E}">
        <p14:creationId xmlns:p14="http://schemas.microsoft.com/office/powerpoint/2010/main" val="426539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563443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700" y="9534526"/>
            <a:ext cx="16502853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648200" y="4777861"/>
            <a:ext cx="8037635" cy="3503005"/>
            <a:chOff x="0" y="0"/>
            <a:chExt cx="2337006" cy="1018527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1018527"/>
            </a:xfrm>
            <a:custGeom>
              <a:avLst/>
              <a:gdLst/>
              <a:ahLst/>
              <a:cxnLst/>
              <a:rect l="l" t="t" r="r" b="b"/>
              <a:pathLst>
                <a:path w="2337006" h="1018527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1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99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rPr>
              <a:t>DEPARTMENT OF COMPUTING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61220" y="5186521"/>
            <a:ext cx="7611594" cy="431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defRPr/>
            </a:pPr>
            <a:r>
              <a:rPr lang="en-MY" sz="2399" spc="98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FARAHIDA HANIM BT MAUSOR - DR (FSMC/UTP)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09434" y="6611027"/>
            <a:ext cx="4897309" cy="425112"/>
            <a:chOff x="0" y="0"/>
            <a:chExt cx="6529743" cy="5668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647" cy="566816"/>
            </a:xfrm>
            <a:custGeom>
              <a:avLst/>
              <a:gdLst/>
              <a:ahLst/>
              <a:cxnLst/>
              <a:rect l="l" t="t" r="r" b="b"/>
              <a:pathLst>
                <a:path w="577647" h="566816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574" y="58111"/>
              <a:ext cx="5520169" cy="47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farahida.mausor@utp.edu.my </a:t>
              </a:r>
              <a:endParaRPr kumimoji="0" lang="en-US" sz="2000" b="0" i="0" u="none" strike="noStrike" kern="1200" cap="none" spc="82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09434" y="7391229"/>
            <a:ext cx="3326815" cy="512496"/>
            <a:chOff x="0" y="0"/>
            <a:chExt cx="4435752" cy="683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390" cy="683328"/>
            </a:xfrm>
            <a:custGeom>
              <a:avLst/>
              <a:gdLst/>
              <a:ahLst/>
              <a:cxnLst/>
              <a:rect l="l" t="t" r="r" b="b"/>
              <a:pathLst>
                <a:path w="550390" h="683328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9574" y="75176"/>
              <a:ext cx="3426178" cy="478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0"/>
                </a:lnSpc>
                <a:defRPr/>
              </a:pPr>
              <a:r>
                <a:rPr lang="en-MY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</a:rPr>
                <a:t>02-03-26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9CC0C1-CEE6-7AFD-F08C-9037DCA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Week V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59E3EB5-D08C-1B33-945D-C91DA725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7658100" cy="547688"/>
          </a:xfrm>
        </p:spPr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A546E35-A579-1253-4F8D-BE6DFA9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604542f-3f98-4180-a530-dccd8eb9645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87EB35ACF9448AB6AF0166C74B31C" ma:contentTypeVersion="20" ma:contentTypeDescription="Create a new document." ma:contentTypeScope="" ma:versionID="afd188c47451dba45a86e012c1481767">
  <xsd:schema xmlns:xsd="http://www.w3.org/2001/XMLSchema" xmlns:xs="http://www.w3.org/2001/XMLSchema" xmlns:p="http://schemas.microsoft.com/office/2006/metadata/properties" xmlns:ns1="http://schemas.microsoft.com/sharepoint/v3" xmlns:ns3="f604542f-3f98-4180-a530-dccd8eb96459" xmlns:ns4="161b1d0b-c5d9-4346-b7aa-7c23791df872" targetNamespace="http://schemas.microsoft.com/office/2006/metadata/properties" ma:root="true" ma:fieldsID="f8830e1d0cf709f132b06e9cca8a370a" ns1:_="" ns3:_="" ns4:_="">
    <xsd:import namespace="http://schemas.microsoft.com/sharepoint/v3"/>
    <xsd:import namespace="f604542f-3f98-4180-a530-dccd8eb96459"/>
    <xsd:import namespace="161b1d0b-c5d9-4346-b7aa-7c23791df8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4542f-3f98-4180-a530-dccd8eb964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b1d0b-c5d9-4346-b7aa-7c23791df8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8EABEC-D4DA-4635-9F5B-DEE1FFF379A2}">
  <ds:schemaRefs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1b1d0b-c5d9-4346-b7aa-7c23791df872"/>
    <ds:schemaRef ds:uri="http://schemas.microsoft.com/office/2006/documentManagement/types"/>
    <ds:schemaRef ds:uri="http://purl.org/dc/elements/1.1/"/>
    <ds:schemaRef ds:uri="f604542f-3f98-4180-a530-dccd8eb96459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59B6550-91B7-456B-A940-ECDA25AB84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F07991-DBC0-402D-BD53-7E5C26CAE5A5}">
  <ds:schemaRefs>
    <ds:schemaRef ds:uri="161b1d0b-c5d9-4346-b7aa-7c23791df872"/>
    <ds:schemaRef ds:uri="f604542f-3f98-4180-a530-dccd8eb96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694</TotalTime>
  <Words>905</Words>
  <Application>Microsoft Macintosh PowerPoint</Application>
  <PresentationFormat>Custom</PresentationFormat>
  <Paragraphs>174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Wingdings</vt:lpstr>
      <vt:lpstr>Segoe UI</vt:lpstr>
      <vt:lpstr>Arial</vt:lpstr>
      <vt:lpstr>Calibri</vt:lpstr>
      <vt:lpstr>Museo Sans 300</vt:lpstr>
      <vt:lpstr>Aptos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Slide Ver02</dc:title>
  <dc:creator>Nurul Fazilah Bt Esa (FSMC/UTP)</dc:creator>
  <cp:lastModifiedBy>Khan Reeyan Afzal</cp:lastModifiedBy>
  <cp:revision>251</cp:revision>
  <dcterms:created xsi:type="dcterms:W3CDTF">2006-08-16T00:00:00Z</dcterms:created>
  <dcterms:modified xsi:type="dcterms:W3CDTF">2026-06-26T00:00:59Z</dcterms:modified>
  <dc:identifier>DAG_MRG_x0E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