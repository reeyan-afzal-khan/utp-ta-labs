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7" r:id="rId1"/>
  </p:sldMasterIdLst>
  <p:notesMasterIdLst>
    <p:notesMasterId r:id="rId12"/>
  </p:notesMasterIdLst>
  <p:sldIdLst>
    <p:sldId id="256" r:id="rId2"/>
    <p:sldId id="270" r:id="rId3"/>
    <p:sldId id="258" r:id="rId4"/>
    <p:sldId id="261" r:id="rId5"/>
    <p:sldId id="286" r:id="rId6"/>
    <p:sldId id="274" r:id="rId7"/>
    <p:sldId id="287" r:id="rId8"/>
    <p:sldId id="288" r:id="rId9"/>
    <p:sldId id="289" r:id="rId10"/>
    <p:sldId id="282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2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564"/>
    <p:restoredTop sz="94636"/>
  </p:normalViewPr>
  <p:slideViewPr>
    <p:cSldViewPr snapToGrid="0">
      <p:cViewPr varScale="1">
        <p:scale>
          <a:sx n="139" d="100"/>
          <a:sy n="139" d="100"/>
        </p:scale>
        <p:origin x="63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689529-089E-6C4A-9D3C-D17D436A8580}" type="datetimeFigureOut">
              <a:rPr lang="en-PK" smtClean="0"/>
              <a:t>03/07/2026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B6B9A6-B2B1-534D-B588-971C6DF2020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6927065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B6B9A6-B2B1-534D-B588-971C6DF2020E}" type="slidenum">
              <a:rPr lang="en-PK" smtClean="0"/>
              <a:t>3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4467421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7/3/26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7273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31216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07538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94213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7/3/26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64060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7/3/26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5958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7/3/26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84481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45808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74304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55118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11595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556317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93248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7/3/26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12819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7/3/26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27434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64352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41959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MY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MY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7/3/26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624661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  <p:sldLayoutId id="2147483700" r:id="rId13"/>
    <p:sldLayoutId id="2147483701" r:id="rId14"/>
    <p:sldLayoutId id="2147483702" r:id="rId15"/>
    <p:sldLayoutId id="2147483703" r:id="rId16"/>
    <p:sldLayoutId id="2147483704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3" name="Rectangle 122">
            <a:extLst>
              <a:ext uri="{FF2B5EF4-FFF2-40B4-BE49-F238E27FC236}">
                <a16:creationId xmlns:a16="http://schemas.microsoft.com/office/drawing/2014/main" id="{7A070EAD-1DCD-4F3D-BA84-799B891A0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08075C-96CF-B9F5-0486-9F30AE7416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71285" y="1816101"/>
            <a:ext cx="8578215" cy="1782760"/>
          </a:xfrm>
        </p:spPr>
        <p:txBody>
          <a:bodyPr>
            <a:normAutofit/>
          </a:bodyPr>
          <a:lstStyle/>
          <a:p>
            <a:pPr algn="ctr"/>
            <a:r>
              <a:rPr lang="en-MY" sz="4000" b="1" u="sng" dirty="0"/>
              <a:t>Algorithms and Data Structures</a:t>
            </a:r>
            <a:br>
              <a:rPr lang="en-MY" sz="4000" b="1" dirty="0"/>
            </a:br>
            <a:br>
              <a:rPr lang="en-MY" sz="4200" b="1" dirty="0"/>
            </a:br>
            <a:r>
              <a:rPr lang="en-MY" sz="2400" dirty="0"/>
              <a:t>TEB1113/TFB2023 - may 2025</a:t>
            </a:r>
            <a:endParaRPr lang="en-PK" sz="4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60126B-6154-9A82-4A9D-539A8B36CF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66574" y="4313237"/>
            <a:ext cx="7539989" cy="1108075"/>
          </a:xfrm>
        </p:spPr>
        <p:txBody>
          <a:bodyPr>
            <a:normAutofit/>
          </a:bodyPr>
          <a:lstStyle/>
          <a:p>
            <a:pPr algn="ctr"/>
            <a:r>
              <a:rPr lang="en-PK" sz="2400" b="1" dirty="0">
                <a:solidFill>
                  <a:schemeClr val="tx1"/>
                </a:solidFill>
              </a:rPr>
              <a:t>LAB TA: </a:t>
            </a:r>
            <a:r>
              <a:rPr lang="en-PK" sz="2400" dirty="0">
                <a:solidFill>
                  <a:schemeClr val="tx1"/>
                </a:solidFill>
              </a:rPr>
              <a:t>Reeyan afzaL</a:t>
            </a:r>
          </a:p>
        </p:txBody>
      </p: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DE471E13-6104-4637-8A8F-B545529B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>
                  <a:alpha val="60000"/>
                </a:schemeClr>
              </a:gs>
              <a:gs pos="100000">
                <a:schemeClr val="bg2">
                  <a:lumMod val="60000"/>
                  <a:lumOff val="40000"/>
                  <a:alpha val="80000"/>
                </a:schemeClr>
              </a:gs>
            </a:gsLst>
            <a:lin ang="5400000" scaled="0"/>
            <a:tileRect/>
          </a:gradFill>
        </p:grpSpPr>
        <p:sp>
          <p:nvSpPr>
            <p:cNvPr id="126" name="Rectangle 5">
              <a:extLst>
                <a:ext uri="{FF2B5EF4-FFF2-40B4-BE49-F238E27FC236}">
                  <a16:creationId xmlns:a16="http://schemas.microsoft.com/office/drawing/2014/main" id="{802F412D-6781-427D-AB79-09FD610CCE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27" name="Freeform 6">
              <a:extLst>
                <a:ext uri="{FF2B5EF4-FFF2-40B4-BE49-F238E27FC236}">
                  <a16:creationId xmlns:a16="http://schemas.microsoft.com/office/drawing/2014/main" id="{8471B962-D824-43CE-B5DD-704B305B28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28" name="Freeform 7">
              <a:extLst>
                <a:ext uri="{FF2B5EF4-FFF2-40B4-BE49-F238E27FC236}">
                  <a16:creationId xmlns:a16="http://schemas.microsoft.com/office/drawing/2014/main" id="{ED60EBD3-FA75-460B-AFBD-3F234A0CAA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29" name="Rectangle 8">
              <a:extLst>
                <a:ext uri="{FF2B5EF4-FFF2-40B4-BE49-F238E27FC236}">
                  <a16:creationId xmlns:a16="http://schemas.microsoft.com/office/drawing/2014/main" id="{D0791244-FBF2-49D9-BDBC-E2E58C86B4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30" name="Freeform 9">
              <a:extLst>
                <a:ext uri="{FF2B5EF4-FFF2-40B4-BE49-F238E27FC236}">
                  <a16:creationId xmlns:a16="http://schemas.microsoft.com/office/drawing/2014/main" id="{FEE4C4B1-195C-40F5-A78F-2EB7ED6E6F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31" name="Freeform 10">
              <a:extLst>
                <a:ext uri="{FF2B5EF4-FFF2-40B4-BE49-F238E27FC236}">
                  <a16:creationId xmlns:a16="http://schemas.microsoft.com/office/drawing/2014/main" id="{22766AF8-3850-41E4-80D0-321D9A13D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32" name="Freeform 11">
              <a:extLst>
                <a:ext uri="{FF2B5EF4-FFF2-40B4-BE49-F238E27FC236}">
                  <a16:creationId xmlns:a16="http://schemas.microsoft.com/office/drawing/2014/main" id="{8834F8EE-AB04-42FE-AE7B-3E9C6ACA0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33" name="Freeform 12">
              <a:extLst>
                <a:ext uri="{FF2B5EF4-FFF2-40B4-BE49-F238E27FC236}">
                  <a16:creationId xmlns:a16="http://schemas.microsoft.com/office/drawing/2014/main" id="{C86BB534-4617-4275-908E-357CF2246C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34" name="Freeform 13">
              <a:extLst>
                <a:ext uri="{FF2B5EF4-FFF2-40B4-BE49-F238E27FC236}">
                  <a16:creationId xmlns:a16="http://schemas.microsoft.com/office/drawing/2014/main" id="{B6DEB58B-8D28-4BE9-9CA9-F4B3A083BC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35" name="Freeform 14">
              <a:extLst>
                <a:ext uri="{FF2B5EF4-FFF2-40B4-BE49-F238E27FC236}">
                  <a16:creationId xmlns:a16="http://schemas.microsoft.com/office/drawing/2014/main" id="{25A772BC-4720-4EC2-AD61-A7B74E9151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36" name="Freeform 15">
              <a:extLst>
                <a:ext uri="{FF2B5EF4-FFF2-40B4-BE49-F238E27FC236}">
                  <a16:creationId xmlns:a16="http://schemas.microsoft.com/office/drawing/2014/main" id="{60D6B27E-FAC5-4267-80A9-DE4D2E02B8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37" name="Freeform 16">
              <a:extLst>
                <a:ext uri="{FF2B5EF4-FFF2-40B4-BE49-F238E27FC236}">
                  <a16:creationId xmlns:a16="http://schemas.microsoft.com/office/drawing/2014/main" id="{1F39FA83-D8C8-4CE3-9C62-10375FD041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38" name="Freeform 17">
              <a:extLst>
                <a:ext uri="{FF2B5EF4-FFF2-40B4-BE49-F238E27FC236}">
                  <a16:creationId xmlns:a16="http://schemas.microsoft.com/office/drawing/2014/main" id="{E09B4CF3-A51F-4787-81FE-F5C79BA426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39" name="Freeform 18">
              <a:extLst>
                <a:ext uri="{FF2B5EF4-FFF2-40B4-BE49-F238E27FC236}">
                  <a16:creationId xmlns:a16="http://schemas.microsoft.com/office/drawing/2014/main" id="{6695CB35-74E4-43C0-89F5-9FDA59B3AC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40" name="Freeform 19">
              <a:extLst>
                <a:ext uri="{FF2B5EF4-FFF2-40B4-BE49-F238E27FC236}">
                  <a16:creationId xmlns:a16="http://schemas.microsoft.com/office/drawing/2014/main" id="{945450CE-FB13-4C46-825F-5BB1917033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41" name="Freeform 20">
              <a:extLst>
                <a:ext uri="{FF2B5EF4-FFF2-40B4-BE49-F238E27FC236}">
                  <a16:creationId xmlns:a16="http://schemas.microsoft.com/office/drawing/2014/main" id="{E80AA0B2-7FE7-4B75-AC25-E0F6C0FE45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42" name="Freeform 21">
              <a:extLst>
                <a:ext uri="{FF2B5EF4-FFF2-40B4-BE49-F238E27FC236}">
                  <a16:creationId xmlns:a16="http://schemas.microsoft.com/office/drawing/2014/main" id="{2E81F7C1-AD8F-41A0-91A8-E05F66CB0E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43" name="Freeform 22">
              <a:extLst>
                <a:ext uri="{FF2B5EF4-FFF2-40B4-BE49-F238E27FC236}">
                  <a16:creationId xmlns:a16="http://schemas.microsoft.com/office/drawing/2014/main" id="{F4E8A538-9FFA-4C76-BCE2-D54F56A115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44" name="Freeform 23">
              <a:extLst>
                <a:ext uri="{FF2B5EF4-FFF2-40B4-BE49-F238E27FC236}">
                  <a16:creationId xmlns:a16="http://schemas.microsoft.com/office/drawing/2014/main" id="{3C412824-3CBA-4E74-B2FD-936EA70486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45" name="Freeform 24">
              <a:extLst>
                <a:ext uri="{FF2B5EF4-FFF2-40B4-BE49-F238E27FC236}">
                  <a16:creationId xmlns:a16="http://schemas.microsoft.com/office/drawing/2014/main" id="{E28DC1F0-74FF-4D97-BD4D-FD42DE4AC6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46" name="Freeform 25">
              <a:extLst>
                <a:ext uri="{FF2B5EF4-FFF2-40B4-BE49-F238E27FC236}">
                  <a16:creationId xmlns:a16="http://schemas.microsoft.com/office/drawing/2014/main" id="{77CEC4FA-6FD3-4ABF-BF98-94E7947A55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47" name="Freeform 26">
              <a:extLst>
                <a:ext uri="{FF2B5EF4-FFF2-40B4-BE49-F238E27FC236}">
                  <a16:creationId xmlns:a16="http://schemas.microsoft.com/office/drawing/2014/main" id="{D4E61DA7-BFA9-48AF-BD6F-EBB15C2359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48" name="Freeform 27">
              <a:extLst>
                <a:ext uri="{FF2B5EF4-FFF2-40B4-BE49-F238E27FC236}">
                  <a16:creationId xmlns:a16="http://schemas.microsoft.com/office/drawing/2014/main" id="{57164D6A-1DD9-43AE-878F-A413DC26FB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49" name="Freeform 28">
              <a:extLst>
                <a:ext uri="{FF2B5EF4-FFF2-40B4-BE49-F238E27FC236}">
                  <a16:creationId xmlns:a16="http://schemas.microsoft.com/office/drawing/2014/main" id="{4949EBA6-53D9-4F2D-91DB-EA7AE260F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50" name="Freeform 29">
              <a:extLst>
                <a:ext uri="{FF2B5EF4-FFF2-40B4-BE49-F238E27FC236}">
                  <a16:creationId xmlns:a16="http://schemas.microsoft.com/office/drawing/2014/main" id="{0AFEA5FA-F759-441C-A0BC-7EDC79A672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51" name="Freeform 30">
              <a:extLst>
                <a:ext uri="{FF2B5EF4-FFF2-40B4-BE49-F238E27FC236}">
                  <a16:creationId xmlns:a16="http://schemas.microsoft.com/office/drawing/2014/main" id="{5B913AE0-5DC8-4244-8C26-ED97F834E3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52" name="Freeform 31">
              <a:extLst>
                <a:ext uri="{FF2B5EF4-FFF2-40B4-BE49-F238E27FC236}">
                  <a16:creationId xmlns:a16="http://schemas.microsoft.com/office/drawing/2014/main" id="{A87DB58A-25D2-46F1-85E3-06F964D016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53" name="Freeform 32">
              <a:extLst>
                <a:ext uri="{FF2B5EF4-FFF2-40B4-BE49-F238E27FC236}">
                  <a16:creationId xmlns:a16="http://schemas.microsoft.com/office/drawing/2014/main" id="{E7AE8209-F3E7-4ACA-98D0-90B282A147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54" name="Rectangle 33">
              <a:extLst>
                <a:ext uri="{FF2B5EF4-FFF2-40B4-BE49-F238E27FC236}">
                  <a16:creationId xmlns:a16="http://schemas.microsoft.com/office/drawing/2014/main" id="{1CED7927-A7C7-444A-A8F3-6348852AEF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55" name="Freeform 34">
              <a:extLst>
                <a:ext uri="{FF2B5EF4-FFF2-40B4-BE49-F238E27FC236}">
                  <a16:creationId xmlns:a16="http://schemas.microsoft.com/office/drawing/2014/main" id="{08BEDF90-F9A6-4DE4-94B6-43E4160394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56" name="Freeform 35">
              <a:extLst>
                <a:ext uri="{FF2B5EF4-FFF2-40B4-BE49-F238E27FC236}">
                  <a16:creationId xmlns:a16="http://schemas.microsoft.com/office/drawing/2014/main" id="{36540D5F-1C77-438A-BF12-56455C4720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57" name="Freeform 36">
              <a:extLst>
                <a:ext uri="{FF2B5EF4-FFF2-40B4-BE49-F238E27FC236}">
                  <a16:creationId xmlns:a16="http://schemas.microsoft.com/office/drawing/2014/main" id="{52FC779A-BC55-40AC-8FFD-E014F8C05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58" name="Freeform 37">
              <a:extLst>
                <a:ext uri="{FF2B5EF4-FFF2-40B4-BE49-F238E27FC236}">
                  <a16:creationId xmlns:a16="http://schemas.microsoft.com/office/drawing/2014/main" id="{63E42DE5-DC0E-4043-8A35-20C53074A2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59" name="Freeform 38">
              <a:extLst>
                <a:ext uri="{FF2B5EF4-FFF2-40B4-BE49-F238E27FC236}">
                  <a16:creationId xmlns:a16="http://schemas.microsoft.com/office/drawing/2014/main" id="{41581FA6-993A-4899-ADF1-0A83A6234E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60" name="Freeform 39">
              <a:extLst>
                <a:ext uri="{FF2B5EF4-FFF2-40B4-BE49-F238E27FC236}">
                  <a16:creationId xmlns:a16="http://schemas.microsoft.com/office/drawing/2014/main" id="{33C4FDB9-01D2-4CB0-BFED-216CAC7EB8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61" name="Freeform 40">
              <a:extLst>
                <a:ext uri="{FF2B5EF4-FFF2-40B4-BE49-F238E27FC236}">
                  <a16:creationId xmlns:a16="http://schemas.microsoft.com/office/drawing/2014/main" id="{34E715AB-2B68-41C4-A61F-02C413F242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62" name="Freeform 41">
              <a:extLst>
                <a:ext uri="{FF2B5EF4-FFF2-40B4-BE49-F238E27FC236}">
                  <a16:creationId xmlns:a16="http://schemas.microsoft.com/office/drawing/2014/main" id="{D3861C35-D060-408D-9871-4DA2D0547B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63" name="Freeform 42">
              <a:extLst>
                <a:ext uri="{FF2B5EF4-FFF2-40B4-BE49-F238E27FC236}">
                  <a16:creationId xmlns:a16="http://schemas.microsoft.com/office/drawing/2014/main" id="{B4F4F38F-33FE-48A0-986D-FB771F18BE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64" name="Freeform 43">
              <a:extLst>
                <a:ext uri="{FF2B5EF4-FFF2-40B4-BE49-F238E27FC236}">
                  <a16:creationId xmlns:a16="http://schemas.microsoft.com/office/drawing/2014/main" id="{50FCFC8E-2DC3-4F27-9E02-196830E78D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65" name="Freeform 44">
              <a:extLst>
                <a:ext uri="{FF2B5EF4-FFF2-40B4-BE49-F238E27FC236}">
                  <a16:creationId xmlns:a16="http://schemas.microsoft.com/office/drawing/2014/main" id="{3A6EE414-1500-4144-B453-BA950E5107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66" name="Rectangle 45">
              <a:extLst>
                <a:ext uri="{FF2B5EF4-FFF2-40B4-BE49-F238E27FC236}">
                  <a16:creationId xmlns:a16="http://schemas.microsoft.com/office/drawing/2014/main" id="{0C1A9D8A-5515-4C84-AE17-A6D5124383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67" name="Freeform 46">
              <a:extLst>
                <a:ext uri="{FF2B5EF4-FFF2-40B4-BE49-F238E27FC236}">
                  <a16:creationId xmlns:a16="http://schemas.microsoft.com/office/drawing/2014/main" id="{E8E7C8C7-FE85-4C8F-960C-3748511E08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68" name="Freeform 47">
              <a:extLst>
                <a:ext uri="{FF2B5EF4-FFF2-40B4-BE49-F238E27FC236}">
                  <a16:creationId xmlns:a16="http://schemas.microsoft.com/office/drawing/2014/main" id="{33DF2ED7-F601-4A9F-AA50-822ED85D56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69" name="Freeform 48">
              <a:extLst>
                <a:ext uri="{FF2B5EF4-FFF2-40B4-BE49-F238E27FC236}">
                  <a16:creationId xmlns:a16="http://schemas.microsoft.com/office/drawing/2014/main" id="{FEDB3A05-6FDD-4E87-B800-8F99752444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70" name="Freeform 49">
              <a:extLst>
                <a:ext uri="{FF2B5EF4-FFF2-40B4-BE49-F238E27FC236}">
                  <a16:creationId xmlns:a16="http://schemas.microsoft.com/office/drawing/2014/main" id="{AD6225C0-E391-49D5-9A7B-57C5ED60E1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71" name="Freeform 50">
              <a:extLst>
                <a:ext uri="{FF2B5EF4-FFF2-40B4-BE49-F238E27FC236}">
                  <a16:creationId xmlns:a16="http://schemas.microsoft.com/office/drawing/2014/main" id="{B814B458-45E5-451C-9CBD-027E3776A4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72" name="Freeform 51">
              <a:extLst>
                <a:ext uri="{FF2B5EF4-FFF2-40B4-BE49-F238E27FC236}">
                  <a16:creationId xmlns:a16="http://schemas.microsoft.com/office/drawing/2014/main" id="{59167140-9A0D-4FE7-8E37-2CD6130116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73" name="Freeform 52">
              <a:extLst>
                <a:ext uri="{FF2B5EF4-FFF2-40B4-BE49-F238E27FC236}">
                  <a16:creationId xmlns:a16="http://schemas.microsoft.com/office/drawing/2014/main" id="{2D38B213-991B-495D-8886-04CAD44C7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74" name="Freeform 53">
              <a:extLst>
                <a:ext uri="{FF2B5EF4-FFF2-40B4-BE49-F238E27FC236}">
                  <a16:creationId xmlns:a16="http://schemas.microsoft.com/office/drawing/2014/main" id="{67C1C3DA-3972-4D98-9D9E-390461B288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75" name="Freeform 54">
              <a:extLst>
                <a:ext uri="{FF2B5EF4-FFF2-40B4-BE49-F238E27FC236}">
                  <a16:creationId xmlns:a16="http://schemas.microsoft.com/office/drawing/2014/main" id="{972F8941-61DB-48E1-B9C1-E732470563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76" name="Freeform 55">
              <a:extLst>
                <a:ext uri="{FF2B5EF4-FFF2-40B4-BE49-F238E27FC236}">
                  <a16:creationId xmlns:a16="http://schemas.microsoft.com/office/drawing/2014/main" id="{857B495F-5C9B-435F-8D39-45CC57471F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77" name="Freeform 56">
              <a:extLst>
                <a:ext uri="{FF2B5EF4-FFF2-40B4-BE49-F238E27FC236}">
                  <a16:creationId xmlns:a16="http://schemas.microsoft.com/office/drawing/2014/main" id="{B607428B-B7C9-4017-84F8-19C9B2134A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78" name="Freeform 57">
              <a:extLst>
                <a:ext uri="{FF2B5EF4-FFF2-40B4-BE49-F238E27FC236}">
                  <a16:creationId xmlns:a16="http://schemas.microsoft.com/office/drawing/2014/main" id="{A20C5139-2108-4F5E-B892-64F1D8605E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79" name="Freeform 58">
              <a:extLst>
                <a:ext uri="{FF2B5EF4-FFF2-40B4-BE49-F238E27FC236}">
                  <a16:creationId xmlns:a16="http://schemas.microsoft.com/office/drawing/2014/main" id="{C2A51623-F2F3-4584-93F5-598E56A5F4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</p:grpSp>
    </p:spTree>
    <p:extLst>
      <p:ext uri="{BB962C8B-B14F-4D97-AF65-F5344CB8AC3E}">
        <p14:creationId xmlns:p14="http://schemas.microsoft.com/office/powerpoint/2010/main" val="11462141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8000"/>
                <a:hueMod val="94000"/>
                <a:satMod val="148000"/>
                <a:lumMod val="150000"/>
              </a:schemeClr>
            </a:gs>
            <a:gs pos="100000">
              <a:schemeClr val="bg1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A46E1D-E3C1-2F92-F651-BB0572787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BE10567-6165-46A7-867D-4690A16B46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9" name="Rectangle 8">
              <a:extLst>
                <a:ext uri="{FF2B5EF4-FFF2-40B4-BE49-F238E27FC236}">
                  <a16:creationId xmlns:a16="http://schemas.microsoft.com/office/drawing/2014/main" id="{0F4DB1F4-429C-4C85-85D7-C4D81996D3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Picture 2">
              <a:extLst>
                <a:ext uri="{FF2B5EF4-FFF2-40B4-BE49-F238E27FC236}">
                  <a16:creationId xmlns:a16="http://schemas.microsoft.com/office/drawing/2014/main" id="{159C0DA6-71D9-4C96-A774-7FADF5E0A4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2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="" xmlns:a16="http://schemas.microsoft.com/office/drawing/2014/main" xmlns:p14="http://schemas.microsoft.com/office/powerpoint/2010/main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2" name="Round Diagonal Corner Rectangle 7">
            <a:extLst>
              <a:ext uri="{FF2B5EF4-FFF2-40B4-BE49-F238E27FC236}">
                <a16:creationId xmlns:a16="http://schemas.microsoft.com/office/drawing/2014/main" id="{4B24F6DB-F114-44A7-BB56-D401884E4E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82333" y="2235200"/>
            <a:ext cx="7027334" cy="2396067"/>
          </a:xfrm>
          <a:prstGeom prst="round2DiagRect">
            <a:avLst>
              <a:gd name="adj1" fmla="val 9246"/>
              <a:gd name="adj2" fmla="val 0"/>
            </a:avLst>
          </a:prstGeom>
          <a:solidFill>
            <a:srgbClr val="000000">
              <a:alpha val="80000"/>
            </a:srgbClr>
          </a:solidFill>
          <a:ln w="19050" cap="sq">
            <a:solidFill>
              <a:schemeClr val="tx2"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DB50ECD-225E-4F81-AF7B-706DD05F3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5895" y="2900097"/>
            <a:ext cx="10982062" cy="1211524"/>
            <a:chOff x="605895" y="2900097"/>
            <a:chExt cx="10982062" cy="1211524"/>
          </a:xfrm>
          <a:effectLst/>
        </p:grpSpPr>
        <p:sp>
          <p:nvSpPr>
            <p:cNvPr id="15" name="Freeform 32">
              <a:extLst>
                <a:ext uri="{FF2B5EF4-FFF2-40B4-BE49-F238E27FC236}">
                  <a16:creationId xmlns:a16="http://schemas.microsoft.com/office/drawing/2014/main" id="{CBC3B006-1357-4969-BC3D-CDD91E492B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 flipV="1">
              <a:off x="9653587" y="3379784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PK"/>
            </a:p>
          </p:txBody>
        </p:sp>
        <p:sp>
          <p:nvSpPr>
            <p:cNvPr id="16" name="Freeform 33">
              <a:extLst>
                <a:ext uri="{FF2B5EF4-FFF2-40B4-BE49-F238E27FC236}">
                  <a16:creationId xmlns:a16="http://schemas.microsoft.com/office/drawing/2014/main" id="{0D6E4F1D-B331-41B5-90EF-2236C1EE15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 flipV="1">
              <a:off x="10078244" y="3310728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PK"/>
            </a:p>
          </p:txBody>
        </p:sp>
        <p:sp>
          <p:nvSpPr>
            <p:cNvPr id="17" name="Freeform 34">
              <a:extLst>
                <a:ext uri="{FF2B5EF4-FFF2-40B4-BE49-F238E27FC236}">
                  <a16:creationId xmlns:a16="http://schemas.microsoft.com/office/drawing/2014/main" id="{54A60014-21DF-44E5-9137-4335718850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 flipV="1">
              <a:off x="11146631" y="3574253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PK"/>
            </a:p>
          </p:txBody>
        </p:sp>
        <p:sp>
          <p:nvSpPr>
            <p:cNvPr id="18" name="Freeform 37">
              <a:extLst>
                <a:ext uri="{FF2B5EF4-FFF2-40B4-BE49-F238E27FC236}">
                  <a16:creationId xmlns:a16="http://schemas.microsoft.com/office/drawing/2014/main" id="{40B768C0-B003-45F4-9A06-EA3509A90B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 flipV="1">
              <a:off x="10230644" y="3034502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PK"/>
            </a:p>
          </p:txBody>
        </p:sp>
        <p:sp>
          <p:nvSpPr>
            <p:cNvPr id="19" name="Freeform 35">
              <a:extLst>
                <a:ext uri="{FF2B5EF4-FFF2-40B4-BE49-F238E27FC236}">
                  <a16:creationId xmlns:a16="http://schemas.microsoft.com/office/drawing/2014/main" id="{5E479182-2054-4AD9-823D-81CFAD7F2C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0034587" y="256275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PK"/>
            </a:p>
          </p:txBody>
        </p:sp>
        <p:sp>
          <p:nvSpPr>
            <p:cNvPr id="20" name="Freeform 36">
              <a:extLst>
                <a:ext uri="{FF2B5EF4-FFF2-40B4-BE49-F238E27FC236}">
                  <a16:creationId xmlns:a16="http://schemas.microsoft.com/office/drawing/2014/main" id="{A7D912CF-756A-41F1-8BF1-5BA7D1BD05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0747375" y="3232679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PK"/>
            </a:p>
          </p:txBody>
        </p:sp>
        <p:sp>
          <p:nvSpPr>
            <p:cNvPr id="21" name="Freeform 38">
              <a:extLst>
                <a:ext uri="{FF2B5EF4-FFF2-40B4-BE49-F238E27FC236}">
                  <a16:creationId xmlns:a16="http://schemas.microsoft.com/office/drawing/2014/main" id="{734B6F35-2160-44B1-AB00-F628C84B14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399044" y="3095360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PK"/>
            </a:p>
          </p:txBody>
        </p:sp>
        <p:sp>
          <p:nvSpPr>
            <p:cNvPr id="22" name="Freeform 39">
              <a:extLst>
                <a:ext uri="{FF2B5EF4-FFF2-40B4-BE49-F238E27FC236}">
                  <a16:creationId xmlns:a16="http://schemas.microsoft.com/office/drawing/2014/main" id="{D8657E76-4F63-44FE-86C5-54CA174FCB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0353675" y="2153178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PK"/>
            </a:p>
          </p:txBody>
        </p:sp>
        <p:sp>
          <p:nvSpPr>
            <p:cNvPr id="23" name="Freeform 40">
              <a:extLst>
                <a:ext uri="{FF2B5EF4-FFF2-40B4-BE49-F238E27FC236}">
                  <a16:creationId xmlns:a16="http://schemas.microsoft.com/office/drawing/2014/main" id="{482CEB8C-90E5-4152-8B52-A2881B98A3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9848850" y="330887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PK"/>
            </a:p>
          </p:txBody>
        </p:sp>
        <p:sp>
          <p:nvSpPr>
            <p:cNvPr id="24" name="Rectangle 41">
              <a:extLst>
                <a:ext uri="{FF2B5EF4-FFF2-40B4-BE49-F238E27FC236}">
                  <a16:creationId xmlns:a16="http://schemas.microsoft.com/office/drawing/2014/main" id="{85010FC2-BC4C-4692-876D-7FE363BFC6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9721056" y="3284272"/>
              <a:ext cx="23813" cy="252413"/>
            </a:xfrm>
            <a:prstGeom prst="rect">
              <a:avLst/>
            </a:pr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PK"/>
            </a:p>
          </p:txBody>
        </p:sp>
        <p:sp>
          <p:nvSpPr>
            <p:cNvPr id="25" name="Freeform 32">
              <a:extLst>
                <a:ext uri="{FF2B5EF4-FFF2-40B4-BE49-F238E27FC236}">
                  <a16:creationId xmlns:a16="http://schemas.microsoft.com/office/drawing/2014/main" id="{714C1223-2B78-4715-9ACB-079A60D16D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 flipV="1">
              <a:off x="2122751" y="3532184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PK"/>
            </a:p>
          </p:txBody>
        </p:sp>
        <p:sp>
          <p:nvSpPr>
            <p:cNvPr id="26" name="Freeform 33">
              <a:extLst>
                <a:ext uri="{FF2B5EF4-FFF2-40B4-BE49-F238E27FC236}">
                  <a16:creationId xmlns:a16="http://schemas.microsoft.com/office/drawing/2014/main" id="{1D9109D3-C92A-410B-9B43-5F02B2D84E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 flipV="1">
              <a:off x="1958445" y="3463128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PK"/>
            </a:p>
          </p:txBody>
        </p:sp>
        <p:sp>
          <p:nvSpPr>
            <p:cNvPr id="27" name="Freeform 34">
              <a:extLst>
                <a:ext uri="{FF2B5EF4-FFF2-40B4-BE49-F238E27FC236}">
                  <a16:creationId xmlns:a16="http://schemas.microsoft.com/office/drawing/2014/main" id="{EF5B327A-A1AE-42F3-815E-84F4AA2948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 flipV="1">
              <a:off x="858308" y="3726653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PK"/>
            </a:p>
          </p:txBody>
        </p:sp>
        <p:sp>
          <p:nvSpPr>
            <p:cNvPr id="28" name="Freeform 37">
              <a:extLst>
                <a:ext uri="{FF2B5EF4-FFF2-40B4-BE49-F238E27FC236}">
                  <a16:creationId xmlns:a16="http://schemas.microsoft.com/office/drawing/2014/main" id="{77738BDE-751F-4D4C-B4C4-C9DF3EA29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 flipV="1">
              <a:off x="1658407" y="3186902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PK"/>
            </a:p>
          </p:txBody>
        </p:sp>
        <p:sp>
          <p:nvSpPr>
            <p:cNvPr id="29" name="Freeform 35">
              <a:extLst>
                <a:ext uri="{FF2B5EF4-FFF2-40B4-BE49-F238E27FC236}">
                  <a16:creationId xmlns:a16="http://schemas.microsoft.com/office/drawing/2014/main" id="{9C8C4AD6-72BF-490C-963C-97C7FD7E7E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1860814" y="271515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PK"/>
            </a:p>
          </p:txBody>
        </p:sp>
        <p:sp>
          <p:nvSpPr>
            <p:cNvPr id="30" name="Freeform 36">
              <a:extLst>
                <a:ext uri="{FF2B5EF4-FFF2-40B4-BE49-F238E27FC236}">
                  <a16:creationId xmlns:a16="http://schemas.microsoft.com/office/drawing/2014/main" id="{94990E31-5AA8-4502-A963-CE1B539DAC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1289314" y="3385079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PK"/>
            </a:p>
          </p:txBody>
        </p:sp>
        <p:sp>
          <p:nvSpPr>
            <p:cNvPr id="31" name="Freeform 38">
              <a:extLst>
                <a:ext uri="{FF2B5EF4-FFF2-40B4-BE49-F238E27FC236}">
                  <a16:creationId xmlns:a16="http://schemas.microsoft.com/office/drawing/2014/main" id="{9E703E9D-ED76-449C-A8C0-7A1E24B8B2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605895" y="3247760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PK"/>
            </a:p>
          </p:txBody>
        </p:sp>
        <p:sp>
          <p:nvSpPr>
            <p:cNvPr id="32" name="Freeform 39">
              <a:extLst>
                <a:ext uri="{FF2B5EF4-FFF2-40B4-BE49-F238E27FC236}">
                  <a16:creationId xmlns:a16="http://schemas.microsoft.com/office/drawing/2014/main" id="{C70A75E8-C815-4CCF-ABEE-83F19BFE05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1532202" y="2305578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PK"/>
            </a:p>
          </p:txBody>
        </p:sp>
        <p:sp>
          <p:nvSpPr>
            <p:cNvPr id="33" name="Freeform 40">
              <a:extLst>
                <a:ext uri="{FF2B5EF4-FFF2-40B4-BE49-F238E27FC236}">
                  <a16:creationId xmlns:a16="http://schemas.microsoft.com/office/drawing/2014/main" id="{E15638E1-6A92-4D31-A034-853A65A754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2154501" y="346127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PK"/>
            </a:p>
          </p:txBody>
        </p:sp>
        <p:sp>
          <p:nvSpPr>
            <p:cNvPr id="34" name="Rectangle 41">
              <a:extLst>
                <a:ext uri="{FF2B5EF4-FFF2-40B4-BE49-F238E27FC236}">
                  <a16:creationId xmlns:a16="http://schemas.microsoft.com/office/drawing/2014/main" id="{EA3E8D58-D52B-4300-8A50-5696430D1A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2448983" y="3436672"/>
              <a:ext cx="23813" cy="252413"/>
            </a:xfrm>
            <a:prstGeom prst="rect">
              <a:avLst/>
            </a:pr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PK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55F7143-8E3C-80DE-5CE3-62D66AA1CA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67000" y="2714624"/>
            <a:ext cx="6858000" cy="1367896"/>
          </a:xfrm>
        </p:spPr>
        <p:txBody>
          <a:bodyPr>
            <a:noAutofit/>
          </a:bodyPr>
          <a:lstStyle/>
          <a:p>
            <a:pPr algn="ctr"/>
            <a:r>
              <a:rPr lang="en-MY" sz="3200" b="1" dirty="0">
                <a:solidFill>
                  <a:srgbClr val="FFFFFF"/>
                </a:solidFill>
              </a:rPr>
              <a:t>LAB – 7</a:t>
            </a:r>
            <a:br>
              <a:rPr lang="en-MY" sz="3200" b="1" dirty="0">
                <a:solidFill>
                  <a:srgbClr val="FFFFFF"/>
                </a:solidFill>
              </a:rPr>
            </a:br>
            <a:br>
              <a:rPr lang="en-MY" sz="3200" b="1" dirty="0">
                <a:solidFill>
                  <a:srgbClr val="FFFFFF"/>
                </a:solidFill>
              </a:rPr>
            </a:br>
            <a:r>
              <a:rPr lang="en-MY" sz="3200" b="1" dirty="0">
                <a:solidFill>
                  <a:srgbClr val="FFFFFF"/>
                </a:solidFill>
              </a:rPr>
              <a:t>trees - i</a:t>
            </a:r>
            <a:endParaRPr lang="en-PK" sz="32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7825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433231-4B9B-AB58-C50B-D6F5EED71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0" name="Rectangle 49">
            <a:extLst>
              <a:ext uri="{FF2B5EF4-FFF2-40B4-BE49-F238E27FC236}">
                <a16:creationId xmlns:a16="http://schemas.microsoft.com/office/drawing/2014/main" id="{91E01204-9D6F-D989-ACF7-56ED1490BE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660E2A31-2EF4-7753-B61A-E321DE9428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tx2">
                  <a:alpha val="60000"/>
                </a:schemeClr>
              </a:gs>
              <a:gs pos="100000">
                <a:schemeClr val="bg2">
                  <a:lumMod val="60000"/>
                  <a:lumOff val="40000"/>
                  <a:alpha val="80000"/>
                </a:schemeClr>
              </a:gs>
            </a:gsLst>
            <a:lin ang="5400000" scaled="0"/>
            <a:tileRect/>
          </a:gradFill>
        </p:grpSpPr>
        <p:sp>
          <p:nvSpPr>
            <p:cNvPr id="52" name="Rectangle 5">
              <a:extLst>
                <a:ext uri="{FF2B5EF4-FFF2-40B4-BE49-F238E27FC236}">
                  <a16:creationId xmlns:a16="http://schemas.microsoft.com/office/drawing/2014/main" id="{A0B3BED0-C036-2B3C-CBCB-C58DD6AD5D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53" name="Freeform 6">
              <a:extLst>
                <a:ext uri="{FF2B5EF4-FFF2-40B4-BE49-F238E27FC236}">
                  <a16:creationId xmlns:a16="http://schemas.microsoft.com/office/drawing/2014/main" id="{36A33668-F09C-E430-E587-623C99AF0D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54" name="Freeform 7">
              <a:extLst>
                <a:ext uri="{FF2B5EF4-FFF2-40B4-BE49-F238E27FC236}">
                  <a16:creationId xmlns:a16="http://schemas.microsoft.com/office/drawing/2014/main" id="{75FA545D-5C29-0E68-5693-469FB3BE5C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55" name="Freeform 8">
              <a:extLst>
                <a:ext uri="{FF2B5EF4-FFF2-40B4-BE49-F238E27FC236}">
                  <a16:creationId xmlns:a16="http://schemas.microsoft.com/office/drawing/2014/main" id="{FF50CDD2-B099-1678-793A-0706A2C75D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56" name="Freeform 9">
              <a:extLst>
                <a:ext uri="{FF2B5EF4-FFF2-40B4-BE49-F238E27FC236}">
                  <a16:creationId xmlns:a16="http://schemas.microsoft.com/office/drawing/2014/main" id="{04784818-94CA-D621-FBB6-6F20EB6D4B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57" name="Freeform 10">
              <a:extLst>
                <a:ext uri="{FF2B5EF4-FFF2-40B4-BE49-F238E27FC236}">
                  <a16:creationId xmlns:a16="http://schemas.microsoft.com/office/drawing/2014/main" id="{7BA2DFBA-38BC-ABB4-A806-01AB5C3F9C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EBC8788E-26E0-FA56-101C-7C57971C6D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58" name="Freeform 12">
              <a:extLst>
                <a:ext uri="{FF2B5EF4-FFF2-40B4-BE49-F238E27FC236}">
                  <a16:creationId xmlns:a16="http://schemas.microsoft.com/office/drawing/2014/main" id="{4ED205C7-CAD0-59C4-558F-D31F531321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59" name="Freeform 13">
              <a:extLst>
                <a:ext uri="{FF2B5EF4-FFF2-40B4-BE49-F238E27FC236}">
                  <a16:creationId xmlns:a16="http://schemas.microsoft.com/office/drawing/2014/main" id="{D8D08DF9-B232-D0FA-467E-F2D53F8266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60" name="Freeform 14">
              <a:extLst>
                <a:ext uri="{FF2B5EF4-FFF2-40B4-BE49-F238E27FC236}">
                  <a16:creationId xmlns:a16="http://schemas.microsoft.com/office/drawing/2014/main" id="{DBED4CC3-E727-ABB4-DBFB-AC92A34C97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61" name="Freeform 15">
              <a:extLst>
                <a:ext uri="{FF2B5EF4-FFF2-40B4-BE49-F238E27FC236}">
                  <a16:creationId xmlns:a16="http://schemas.microsoft.com/office/drawing/2014/main" id="{EA4BC3A6-A074-8F06-E961-7943471002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62" name="Line 16">
              <a:extLst>
                <a:ext uri="{FF2B5EF4-FFF2-40B4-BE49-F238E27FC236}">
                  <a16:creationId xmlns:a16="http://schemas.microsoft.com/office/drawing/2014/main" id="{00B5CC85-2A92-8FDE-0C88-8272B3CD27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B49B96A8-67B1-2513-0F95-E3F5ED28C0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63" name="Freeform 18">
              <a:extLst>
                <a:ext uri="{FF2B5EF4-FFF2-40B4-BE49-F238E27FC236}">
                  <a16:creationId xmlns:a16="http://schemas.microsoft.com/office/drawing/2014/main" id="{E8FF8649-71EF-DB43-E488-15A5156F72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64" name="Freeform 19">
              <a:extLst>
                <a:ext uri="{FF2B5EF4-FFF2-40B4-BE49-F238E27FC236}">
                  <a16:creationId xmlns:a16="http://schemas.microsoft.com/office/drawing/2014/main" id="{0A380316-BE1D-BC11-BD34-FB1D61E4C6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65" name="Freeform 20">
              <a:extLst>
                <a:ext uri="{FF2B5EF4-FFF2-40B4-BE49-F238E27FC236}">
                  <a16:creationId xmlns:a16="http://schemas.microsoft.com/office/drawing/2014/main" id="{2A8B955F-C9E9-AE77-76B8-970C140046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66" name="Rectangle 21">
              <a:extLst>
                <a:ext uri="{FF2B5EF4-FFF2-40B4-BE49-F238E27FC236}">
                  <a16:creationId xmlns:a16="http://schemas.microsoft.com/office/drawing/2014/main" id="{68EBE71B-07A7-7B01-8723-B2F2F505C1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67" name="Freeform 22">
              <a:extLst>
                <a:ext uri="{FF2B5EF4-FFF2-40B4-BE49-F238E27FC236}">
                  <a16:creationId xmlns:a16="http://schemas.microsoft.com/office/drawing/2014/main" id="{CE5D1CF5-DD3C-6BC4-FCAF-B78076A906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29" name="Freeform 23">
              <a:extLst>
                <a:ext uri="{FF2B5EF4-FFF2-40B4-BE49-F238E27FC236}">
                  <a16:creationId xmlns:a16="http://schemas.microsoft.com/office/drawing/2014/main" id="{837661A3-CD86-6834-028C-BA88B7F4C5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68" name="Freeform 24">
              <a:extLst>
                <a:ext uri="{FF2B5EF4-FFF2-40B4-BE49-F238E27FC236}">
                  <a16:creationId xmlns:a16="http://schemas.microsoft.com/office/drawing/2014/main" id="{FC68E5E3-FC67-AC66-246D-CD13D57364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69" name="Freeform 25">
              <a:extLst>
                <a:ext uri="{FF2B5EF4-FFF2-40B4-BE49-F238E27FC236}">
                  <a16:creationId xmlns:a16="http://schemas.microsoft.com/office/drawing/2014/main" id="{26DC1E49-99D6-7070-4124-B1DD81F587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70" name="Freeform 26">
              <a:extLst>
                <a:ext uri="{FF2B5EF4-FFF2-40B4-BE49-F238E27FC236}">
                  <a16:creationId xmlns:a16="http://schemas.microsoft.com/office/drawing/2014/main" id="{75B0309F-72FA-D770-D65C-561BAB8398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71" name="Freeform 27">
              <a:extLst>
                <a:ext uri="{FF2B5EF4-FFF2-40B4-BE49-F238E27FC236}">
                  <a16:creationId xmlns:a16="http://schemas.microsoft.com/office/drawing/2014/main" id="{5A2F272B-D96C-CA9D-6318-9C9D2800BB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72" name="Freeform 28">
              <a:extLst>
                <a:ext uri="{FF2B5EF4-FFF2-40B4-BE49-F238E27FC236}">
                  <a16:creationId xmlns:a16="http://schemas.microsoft.com/office/drawing/2014/main" id="{BBA39DD8-1B0E-6CAE-A337-D03FD6FA76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73" name="Freeform 29">
              <a:extLst>
                <a:ext uri="{FF2B5EF4-FFF2-40B4-BE49-F238E27FC236}">
                  <a16:creationId xmlns:a16="http://schemas.microsoft.com/office/drawing/2014/main" id="{ABF3A735-0DD2-3C86-4F18-A4B7CF8E9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74" name="Freeform 30">
              <a:extLst>
                <a:ext uri="{FF2B5EF4-FFF2-40B4-BE49-F238E27FC236}">
                  <a16:creationId xmlns:a16="http://schemas.microsoft.com/office/drawing/2014/main" id="{B547F847-F53B-AC0F-4A24-ECEE9C7BDE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37" name="Freeform 31">
              <a:extLst>
                <a:ext uri="{FF2B5EF4-FFF2-40B4-BE49-F238E27FC236}">
                  <a16:creationId xmlns:a16="http://schemas.microsoft.com/office/drawing/2014/main" id="{D80AF14A-B6B8-008E-E8C8-42F2A87DF8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1887192-6BB2-47E1-D4CF-573D6CAD8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3925" y="594533"/>
            <a:ext cx="6858000" cy="1478570"/>
          </a:xfrm>
        </p:spPr>
        <p:txBody>
          <a:bodyPr>
            <a:normAutofit/>
          </a:bodyPr>
          <a:lstStyle/>
          <a:p>
            <a:pPr algn="ctr"/>
            <a:r>
              <a:rPr lang="en-US" b="1" u="sng" dirty="0"/>
              <a:t>Objectives </a:t>
            </a:r>
            <a:r>
              <a:rPr lang="en-US" b="1" u="sng"/>
              <a:t>for lab-7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974F72-A199-45AE-E00D-80D7062F8F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7375" y="2249487"/>
            <a:ext cx="5692774" cy="4013980"/>
          </a:xfrm>
        </p:spPr>
        <p:txBody>
          <a:bodyPr>
            <a:normAutofit fontScale="85000" lnSpcReduction="10000"/>
          </a:bodyPr>
          <a:lstStyle/>
          <a:p>
            <a:pPr lvl="0" algn="just"/>
            <a:r>
              <a:rPr lang="en-US" dirty="0"/>
              <a:t>Learn to implement a tree ADT using an array.</a:t>
            </a:r>
          </a:p>
          <a:p>
            <a:pPr lvl="0" algn="just"/>
            <a:endParaRPr lang="en-PK" dirty="0"/>
          </a:p>
          <a:p>
            <a:pPr lvl="0" algn="just"/>
            <a:r>
              <a:rPr lang="en-US" dirty="0"/>
              <a:t>Ability to implement a tree ADT using a Linked List.</a:t>
            </a:r>
          </a:p>
          <a:p>
            <a:pPr lvl="0" algn="just"/>
            <a:endParaRPr lang="en-PK" dirty="0"/>
          </a:p>
          <a:p>
            <a:pPr lvl="0" algn="just"/>
            <a:r>
              <a:rPr lang="en-US" dirty="0"/>
              <a:t>Learn to implement various tree traversal methods.</a:t>
            </a:r>
          </a:p>
          <a:p>
            <a:pPr lvl="0" algn="just"/>
            <a:endParaRPr lang="en-PK" dirty="0"/>
          </a:p>
          <a:p>
            <a:pPr lvl="0" algn="just"/>
            <a:r>
              <a:rPr lang="en-US" dirty="0"/>
              <a:t>Develop the ability to use an appropriate tree data structure to solve real-world problems.</a:t>
            </a:r>
            <a:endParaRPr lang="en-PK" dirty="0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A7C6423F-08B9-CC5E-4AD8-EC008238AC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364912" y="0"/>
            <a:ext cx="674688" cy="6848476"/>
            <a:chOff x="11364912" y="0"/>
            <a:chExt cx="674688" cy="6848476"/>
          </a:xfrm>
          <a:gradFill flip="none" rotWithShape="1">
            <a:gsLst>
              <a:gs pos="0">
                <a:schemeClr val="tx2">
                  <a:alpha val="60000"/>
                </a:schemeClr>
              </a:gs>
              <a:gs pos="100000">
                <a:schemeClr val="bg2">
                  <a:lumMod val="60000"/>
                  <a:lumOff val="40000"/>
                  <a:alpha val="60000"/>
                </a:schemeClr>
              </a:gs>
            </a:gsLst>
            <a:lin ang="5400000" scaled="0"/>
            <a:tileRect/>
          </a:gradFill>
        </p:grpSpPr>
        <p:sp>
          <p:nvSpPr>
            <p:cNvPr id="75" name="Freeform 32">
              <a:extLst>
                <a:ext uri="{FF2B5EF4-FFF2-40B4-BE49-F238E27FC236}">
                  <a16:creationId xmlns:a16="http://schemas.microsoft.com/office/drawing/2014/main" id="{3AB5F2D8-A73C-3A1A-E74F-579D43A45E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83975" y="0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41" name="Freeform 33">
              <a:extLst>
                <a:ext uri="{FF2B5EF4-FFF2-40B4-BE49-F238E27FC236}">
                  <a16:creationId xmlns:a16="http://schemas.microsoft.com/office/drawing/2014/main" id="{A34DBAD3-701C-D700-9758-73A3184B12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364912" y="47466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42" name="Freeform 34">
              <a:extLst>
                <a:ext uri="{FF2B5EF4-FFF2-40B4-BE49-F238E27FC236}">
                  <a16:creationId xmlns:a16="http://schemas.microsoft.com/office/drawing/2014/main" id="{573D7B77-44FB-ACB9-255D-D3BC8EFAFA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1612" y="1539875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43" name="Freeform 35">
              <a:extLst>
                <a:ext uri="{FF2B5EF4-FFF2-40B4-BE49-F238E27FC236}">
                  <a16:creationId xmlns:a16="http://schemas.microsoft.com/office/drawing/2014/main" id="{50202ECB-5666-B6E9-A565-6722566950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31600" y="569436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44" name="Freeform 36">
              <a:extLst>
                <a:ext uri="{FF2B5EF4-FFF2-40B4-BE49-F238E27FC236}">
                  <a16:creationId xmlns:a16="http://schemas.microsoft.com/office/drawing/2014/main" id="{4EC62EB3-C89C-3108-FD9A-3BF06FC0EA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72900" y="5551488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45" name="Freeform 37">
              <a:extLst>
                <a:ext uri="{FF2B5EF4-FFF2-40B4-BE49-F238E27FC236}">
                  <a16:creationId xmlns:a16="http://schemas.microsoft.com/office/drawing/2014/main" id="{995408F3-BE88-7CA8-4993-0A1A6083B9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10987" y="4763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46" name="Freeform 38">
              <a:extLst>
                <a:ext uri="{FF2B5EF4-FFF2-40B4-BE49-F238E27FC236}">
                  <a16:creationId xmlns:a16="http://schemas.microsoft.com/office/drawing/2014/main" id="{21722397-1A0C-9116-4670-919733CAC0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6375" y="4867275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47" name="Freeform 39">
              <a:extLst>
                <a:ext uri="{FF2B5EF4-FFF2-40B4-BE49-F238E27FC236}">
                  <a16:creationId xmlns:a16="http://schemas.microsoft.com/office/drawing/2014/main" id="{ECD9B675-5FB8-991A-4F89-58449B2187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41112" y="5046663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48" name="Freeform 40">
              <a:extLst>
                <a:ext uri="{FF2B5EF4-FFF2-40B4-BE49-F238E27FC236}">
                  <a16:creationId xmlns:a16="http://schemas.microsoft.com/office/drawing/2014/main" id="{1432D68E-149E-C491-FEC5-4B9D417021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849100" y="64166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49" name="Rectangle 41">
              <a:extLst>
                <a:ext uri="{FF2B5EF4-FFF2-40B4-BE49-F238E27FC236}">
                  <a16:creationId xmlns:a16="http://schemas.microsoft.com/office/drawing/2014/main" id="{DD294C30-2631-61C6-D5AF-50A7BB0557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939587" y="6596063"/>
              <a:ext cx="23813" cy="2524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</p:grp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747DC7A5-D7ED-5085-A58E-5B6335AA09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4288" y="9525"/>
            <a:ext cx="5486400" cy="6853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7253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092856-FAFE-9671-90A7-BBF412618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5" name="Rectangle 124">
            <a:extLst>
              <a:ext uri="{FF2B5EF4-FFF2-40B4-BE49-F238E27FC236}">
                <a16:creationId xmlns:a16="http://schemas.microsoft.com/office/drawing/2014/main" id="{CC892AB0-7D6D-4FC9-9105-0CB4271618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-1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807353E4-FA19-40CB-8AF8-3A8E6704B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72533" y="0"/>
            <a:ext cx="598488" cy="1981201"/>
            <a:chOff x="194733" y="0"/>
            <a:chExt cx="598488" cy="1981201"/>
          </a:xfrm>
        </p:grpSpPr>
        <p:sp>
          <p:nvSpPr>
            <p:cNvPr id="127" name="Freeform 35">
              <a:extLst>
                <a:ext uri="{FF2B5EF4-FFF2-40B4-BE49-F238E27FC236}">
                  <a16:creationId xmlns:a16="http://schemas.microsoft.com/office/drawing/2014/main" id="{697D009D-8E70-460A-BE57-321BB07641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285221" y="0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28" name="Freeform 36">
              <a:extLst>
                <a:ext uri="{FF2B5EF4-FFF2-40B4-BE49-F238E27FC236}">
                  <a16:creationId xmlns:a16="http://schemas.microsoft.com/office/drawing/2014/main" id="{D0001F35-F282-403E-8D08-0D204D851F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526521" y="1141413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29" name="Freeform 38">
              <a:extLst>
                <a:ext uri="{FF2B5EF4-FFF2-40B4-BE49-F238E27FC236}">
                  <a16:creationId xmlns:a16="http://schemas.microsoft.com/office/drawing/2014/main" id="{3F8A69A2-2D15-40CD-8C14-A18643ABA5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389996" y="1792288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30" name="Freeform 39">
              <a:extLst>
                <a:ext uri="{FF2B5EF4-FFF2-40B4-BE49-F238E27FC236}">
                  <a16:creationId xmlns:a16="http://schemas.microsoft.com/office/drawing/2014/main" id="{B665CA2A-9D55-4786-9343-EB46672627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194733" y="0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31" name="Freeform 40">
              <a:extLst>
                <a:ext uri="{FF2B5EF4-FFF2-40B4-BE49-F238E27FC236}">
                  <a16:creationId xmlns:a16="http://schemas.microsoft.com/office/drawing/2014/main" id="{CEE9BD85-96DF-4CDF-BC0F-C4E46062B3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602721" y="24288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32" name="Rectangle 41">
              <a:extLst>
                <a:ext uri="{FF2B5EF4-FFF2-40B4-BE49-F238E27FC236}">
                  <a16:creationId xmlns:a16="http://schemas.microsoft.com/office/drawing/2014/main" id="{6BB6F5E5-6CA3-4B20-86A7-1174D6E71F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693208" y="0"/>
              <a:ext cx="23813" cy="252413"/>
            </a:xfrm>
            <a:prstGeom prst="rect">
              <a:avLst/>
            </a:pr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0328E69E-CE3D-4110-8BF7-AD3C0C10CB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085512" y="0"/>
            <a:ext cx="650875" cy="1730375"/>
            <a:chOff x="11347978" y="0"/>
            <a:chExt cx="650875" cy="1730375"/>
          </a:xfrm>
        </p:grpSpPr>
        <p:sp>
          <p:nvSpPr>
            <p:cNvPr id="134" name="Freeform 32">
              <a:extLst>
                <a:ext uri="{FF2B5EF4-FFF2-40B4-BE49-F238E27FC236}">
                  <a16:creationId xmlns:a16="http://schemas.microsoft.com/office/drawing/2014/main" id="{30F84C80-9E12-4460-B88F-D03839F0C8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67041" y="0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35" name="Freeform 33">
              <a:extLst>
                <a:ext uri="{FF2B5EF4-FFF2-40B4-BE49-F238E27FC236}">
                  <a16:creationId xmlns:a16="http://schemas.microsoft.com/office/drawing/2014/main" id="{2F84C18C-5783-48FF-9DE0-FDA327CFC4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347978" y="47466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36" name="Freeform 34">
              <a:extLst>
                <a:ext uri="{FF2B5EF4-FFF2-40B4-BE49-F238E27FC236}">
                  <a16:creationId xmlns:a16="http://schemas.microsoft.com/office/drawing/2014/main" id="{08C6A855-346C-4589-9AD4-5E15BCBC7A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14678" y="1539875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37" name="Freeform 37">
              <a:extLst>
                <a:ext uri="{FF2B5EF4-FFF2-40B4-BE49-F238E27FC236}">
                  <a16:creationId xmlns:a16="http://schemas.microsoft.com/office/drawing/2014/main" id="{7E64BEE6-1157-421C-A02A-47639E4D9F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94053" y="4763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F64806C9-3599-45A7-BCFF-F762C54276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440267" y="5118101"/>
            <a:ext cx="650875" cy="1730375"/>
            <a:chOff x="118533" y="5118101"/>
            <a:chExt cx="650875" cy="1730375"/>
          </a:xfrm>
        </p:grpSpPr>
        <p:sp>
          <p:nvSpPr>
            <p:cNvPr id="139" name="Freeform 32">
              <a:extLst>
                <a:ext uri="{FF2B5EF4-FFF2-40B4-BE49-F238E27FC236}">
                  <a16:creationId xmlns:a16="http://schemas.microsoft.com/office/drawing/2014/main" id="{41D6E755-9558-4CAA-8F56-469D231C35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237596" y="6335713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40" name="Freeform 33">
              <a:extLst>
                <a:ext uri="{FF2B5EF4-FFF2-40B4-BE49-F238E27FC236}">
                  <a16:creationId xmlns:a16="http://schemas.microsoft.com/office/drawing/2014/main" id="{8FCD41C4-606C-446C-8C81-6353C64424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118533" y="622141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41" name="Freeform 34">
              <a:extLst>
                <a:ext uri="{FF2B5EF4-FFF2-40B4-BE49-F238E27FC236}">
                  <a16:creationId xmlns:a16="http://schemas.microsoft.com/office/drawing/2014/main" id="{274CFBE4-CEA6-4C81-BB1E-83E1896771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385233" y="5118101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42" name="Freeform 37">
              <a:extLst>
                <a:ext uri="{FF2B5EF4-FFF2-40B4-BE49-F238E27FC236}">
                  <a16:creationId xmlns:a16="http://schemas.microsoft.com/office/drawing/2014/main" id="{24813D3D-7B30-42F2-9065-1B40F140C7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464608" y="5299075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1287AC97-A8E8-4B45-A50A-3057A88B40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1229445" y="4867275"/>
            <a:ext cx="598488" cy="1981201"/>
            <a:chOff x="11424178" y="4867275"/>
            <a:chExt cx="598488" cy="1981201"/>
          </a:xfrm>
        </p:grpSpPr>
        <p:sp>
          <p:nvSpPr>
            <p:cNvPr id="144" name="Freeform 35">
              <a:extLst>
                <a:ext uri="{FF2B5EF4-FFF2-40B4-BE49-F238E27FC236}">
                  <a16:creationId xmlns:a16="http://schemas.microsoft.com/office/drawing/2014/main" id="{57D70AA8-D36C-4DF9-B7D7-4E2C9BEFD9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14666" y="569436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45" name="Freeform 36">
              <a:extLst>
                <a:ext uri="{FF2B5EF4-FFF2-40B4-BE49-F238E27FC236}">
                  <a16:creationId xmlns:a16="http://schemas.microsoft.com/office/drawing/2014/main" id="{74D88556-8C5B-41AF-9FA0-92D2734708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55966" y="5551488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46" name="Freeform 38">
              <a:extLst>
                <a:ext uri="{FF2B5EF4-FFF2-40B4-BE49-F238E27FC236}">
                  <a16:creationId xmlns:a16="http://schemas.microsoft.com/office/drawing/2014/main" id="{17E00558-8912-48C6-8202-D8A2D854B7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19441" y="4867275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47" name="Freeform 39">
              <a:extLst>
                <a:ext uri="{FF2B5EF4-FFF2-40B4-BE49-F238E27FC236}">
                  <a16:creationId xmlns:a16="http://schemas.microsoft.com/office/drawing/2014/main" id="{7E4C092A-90EF-4870-97FC-C2D97FD2CE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24178" y="5046663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48" name="Freeform 40">
              <a:extLst>
                <a:ext uri="{FF2B5EF4-FFF2-40B4-BE49-F238E27FC236}">
                  <a16:creationId xmlns:a16="http://schemas.microsoft.com/office/drawing/2014/main" id="{0C8C091A-4902-4B98-BB6B-AF6FA1174B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832166" y="64166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49" name="Rectangle 41">
              <a:extLst>
                <a:ext uri="{FF2B5EF4-FFF2-40B4-BE49-F238E27FC236}">
                  <a16:creationId xmlns:a16="http://schemas.microsoft.com/office/drawing/2014/main" id="{50C57AA3-5B6E-4C49-9AE3-D130A25404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922653" y="6596063"/>
              <a:ext cx="23813" cy="252413"/>
            </a:xfrm>
            <a:prstGeom prst="rect">
              <a:avLst/>
            </a:pr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</p:grpSp>
      <p:sp>
        <p:nvSpPr>
          <p:cNvPr id="110" name="Rectangle 109">
            <a:extLst>
              <a:ext uri="{FF2B5EF4-FFF2-40B4-BE49-F238E27FC236}">
                <a16:creationId xmlns:a16="http://schemas.microsoft.com/office/drawing/2014/main" id="{6D29BE04-4454-4832-B83F-10D001BFF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5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2" name="Round Diagonal Corner Rectangle 7">
            <a:extLst>
              <a:ext uri="{FF2B5EF4-FFF2-40B4-BE49-F238E27FC236}">
                <a16:creationId xmlns:a16="http://schemas.microsoft.com/office/drawing/2014/main" id="{98714CE9-3C2C-48E1-8B8F-CFB7735C43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2867" y="766234"/>
            <a:ext cx="10346266" cy="5325532"/>
          </a:xfrm>
          <a:prstGeom prst="round2DiagRect">
            <a:avLst>
              <a:gd name="adj1" fmla="val 4147"/>
              <a:gd name="adj2" fmla="val 0"/>
            </a:avLst>
          </a:prstGeom>
          <a:solidFill>
            <a:schemeClr val="bg2">
              <a:lumMod val="50000"/>
              <a:alpha val="80000"/>
            </a:schemeClr>
          </a:solidFill>
          <a:ln w="19050" cap="sq">
            <a:solidFill>
              <a:srgbClr val="FFFFFF">
                <a:alpha val="60000"/>
              </a:srgb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382759-A4AA-965F-EE30-3D0C2FF38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7445" y="1168078"/>
            <a:ext cx="9048219" cy="1092200"/>
          </a:xfrm>
        </p:spPr>
        <p:txBody>
          <a:bodyPr anchor="ctr">
            <a:normAutofit/>
          </a:bodyPr>
          <a:lstStyle/>
          <a:p>
            <a:pPr algn="ctr"/>
            <a:r>
              <a:rPr lang="en-US" b="1" u="sng" dirty="0"/>
              <a:t>Brief history</a:t>
            </a:r>
            <a:endParaRPr lang="en-PK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0E4D17-C167-FD5B-6885-3061D97BB3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8449" y="1981201"/>
            <a:ext cx="9585978" cy="3962400"/>
          </a:xfrm>
        </p:spPr>
        <p:txBody>
          <a:bodyPr anchor="ctr">
            <a:normAutofit/>
          </a:bodyPr>
          <a:lstStyle/>
          <a:p>
            <a:pPr algn="just"/>
            <a:r>
              <a:rPr lang="en-US" sz="2000" dirty="0"/>
              <a:t>The tree is a non-linear data structure in which data is stored hierarchically. A tree can be defined as a finite set of one or more nodes such that:</a:t>
            </a:r>
          </a:p>
          <a:p>
            <a:pPr algn="just"/>
            <a:endParaRPr lang="en-US" sz="1200" dirty="0"/>
          </a:p>
          <a:p>
            <a:pPr lvl="1" algn="just"/>
            <a:r>
              <a:rPr lang="en-US" sz="1800" dirty="0"/>
              <a:t>There is a specially designated node called the root.</a:t>
            </a:r>
          </a:p>
          <a:p>
            <a:pPr lvl="1" algn="just"/>
            <a:endParaRPr lang="en-PK" sz="1200" dirty="0"/>
          </a:p>
          <a:p>
            <a:pPr lvl="1" algn="just"/>
            <a:r>
              <a:rPr lang="en-US" sz="1800" dirty="0"/>
              <a:t>The remaining nodes are portioned into 𝑛 ≥ 0 disjoint sets 𝑇1,…, 𝑇𝑛, where each of these sets is a tree. 𝑇1,…, 𝑇𝑛 are called the subtrees of the root. For example, in the below tree, A is a root node, and the node within the orange circle is a subtree of A. Similarly, {C, G} and {D, H, I, J, M} are two other subtrees of root A.</a:t>
            </a:r>
          </a:p>
        </p:txBody>
      </p:sp>
    </p:spTree>
    <p:extLst>
      <p:ext uri="{BB962C8B-B14F-4D97-AF65-F5344CB8AC3E}">
        <p14:creationId xmlns:p14="http://schemas.microsoft.com/office/powerpoint/2010/main" val="2124860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C73AC6-8FE8-E501-3555-2A01D8F48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5" name="Rectangle 124">
            <a:extLst>
              <a:ext uri="{FF2B5EF4-FFF2-40B4-BE49-F238E27FC236}">
                <a16:creationId xmlns:a16="http://schemas.microsoft.com/office/drawing/2014/main" id="{A5004C51-E530-5E53-AC09-ADA53D984D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-1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C5FC3E5D-AA8D-BA2C-8774-8D4E1837AF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72533" y="0"/>
            <a:ext cx="598488" cy="1981201"/>
            <a:chOff x="194733" y="0"/>
            <a:chExt cx="598488" cy="1981201"/>
          </a:xfrm>
        </p:grpSpPr>
        <p:sp>
          <p:nvSpPr>
            <p:cNvPr id="127" name="Freeform 35">
              <a:extLst>
                <a:ext uri="{FF2B5EF4-FFF2-40B4-BE49-F238E27FC236}">
                  <a16:creationId xmlns:a16="http://schemas.microsoft.com/office/drawing/2014/main" id="{842BFA2E-94F3-6C8E-D4F5-A70D483E54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285221" y="0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28" name="Freeform 36">
              <a:extLst>
                <a:ext uri="{FF2B5EF4-FFF2-40B4-BE49-F238E27FC236}">
                  <a16:creationId xmlns:a16="http://schemas.microsoft.com/office/drawing/2014/main" id="{A1CA6CCC-016E-4B19-2F71-1C789105EC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526521" y="1141413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29" name="Freeform 38">
              <a:extLst>
                <a:ext uri="{FF2B5EF4-FFF2-40B4-BE49-F238E27FC236}">
                  <a16:creationId xmlns:a16="http://schemas.microsoft.com/office/drawing/2014/main" id="{C98B72AC-E0F0-8EE9-C1D0-ED170D2195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389996" y="1792288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30" name="Freeform 39">
              <a:extLst>
                <a:ext uri="{FF2B5EF4-FFF2-40B4-BE49-F238E27FC236}">
                  <a16:creationId xmlns:a16="http://schemas.microsoft.com/office/drawing/2014/main" id="{EDAFD890-E5CD-05D0-8B80-CCBDAC1B47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194733" y="0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31" name="Freeform 40">
              <a:extLst>
                <a:ext uri="{FF2B5EF4-FFF2-40B4-BE49-F238E27FC236}">
                  <a16:creationId xmlns:a16="http://schemas.microsoft.com/office/drawing/2014/main" id="{907E5BFA-C08A-A1C8-460A-59099EAE56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602721" y="24288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32" name="Rectangle 41">
              <a:extLst>
                <a:ext uri="{FF2B5EF4-FFF2-40B4-BE49-F238E27FC236}">
                  <a16:creationId xmlns:a16="http://schemas.microsoft.com/office/drawing/2014/main" id="{20842745-58DD-7953-1B96-2281E7C2A6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693208" y="0"/>
              <a:ext cx="23813" cy="252413"/>
            </a:xfrm>
            <a:prstGeom prst="rect">
              <a:avLst/>
            </a:pr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0C048A60-2F08-47DC-7285-ABC160CBE5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085512" y="0"/>
            <a:ext cx="650875" cy="1730375"/>
            <a:chOff x="11347978" y="0"/>
            <a:chExt cx="650875" cy="1730375"/>
          </a:xfrm>
        </p:grpSpPr>
        <p:sp>
          <p:nvSpPr>
            <p:cNvPr id="134" name="Freeform 32">
              <a:extLst>
                <a:ext uri="{FF2B5EF4-FFF2-40B4-BE49-F238E27FC236}">
                  <a16:creationId xmlns:a16="http://schemas.microsoft.com/office/drawing/2014/main" id="{C1360931-4206-74C6-9795-76A339D21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67041" y="0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35" name="Freeform 33">
              <a:extLst>
                <a:ext uri="{FF2B5EF4-FFF2-40B4-BE49-F238E27FC236}">
                  <a16:creationId xmlns:a16="http://schemas.microsoft.com/office/drawing/2014/main" id="{5FA71BAC-3063-CB98-4825-4319163591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347978" y="47466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36" name="Freeform 34">
              <a:extLst>
                <a:ext uri="{FF2B5EF4-FFF2-40B4-BE49-F238E27FC236}">
                  <a16:creationId xmlns:a16="http://schemas.microsoft.com/office/drawing/2014/main" id="{8544935E-76F7-8C27-29BA-4E37A16842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14678" y="1539875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37" name="Freeform 37">
              <a:extLst>
                <a:ext uri="{FF2B5EF4-FFF2-40B4-BE49-F238E27FC236}">
                  <a16:creationId xmlns:a16="http://schemas.microsoft.com/office/drawing/2014/main" id="{00A6F829-2B44-ABF4-EC0C-127A26773F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94053" y="4763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41A72698-2FB8-0B13-B295-E04DCC636A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440267" y="5118101"/>
            <a:ext cx="650875" cy="1730375"/>
            <a:chOff x="118533" y="5118101"/>
            <a:chExt cx="650875" cy="1730375"/>
          </a:xfrm>
        </p:grpSpPr>
        <p:sp>
          <p:nvSpPr>
            <p:cNvPr id="139" name="Freeform 32">
              <a:extLst>
                <a:ext uri="{FF2B5EF4-FFF2-40B4-BE49-F238E27FC236}">
                  <a16:creationId xmlns:a16="http://schemas.microsoft.com/office/drawing/2014/main" id="{7FFD9AC9-1AA9-B646-9FC8-6F47944501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237596" y="6335713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40" name="Freeform 33">
              <a:extLst>
                <a:ext uri="{FF2B5EF4-FFF2-40B4-BE49-F238E27FC236}">
                  <a16:creationId xmlns:a16="http://schemas.microsoft.com/office/drawing/2014/main" id="{20C51345-9304-2F3F-214C-2731AA26A2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118533" y="622141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41" name="Freeform 34">
              <a:extLst>
                <a:ext uri="{FF2B5EF4-FFF2-40B4-BE49-F238E27FC236}">
                  <a16:creationId xmlns:a16="http://schemas.microsoft.com/office/drawing/2014/main" id="{7DDAD9C0-67A9-DADA-F4AB-C2A380D70D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385233" y="5118101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42" name="Freeform 37">
              <a:extLst>
                <a:ext uri="{FF2B5EF4-FFF2-40B4-BE49-F238E27FC236}">
                  <a16:creationId xmlns:a16="http://schemas.microsoft.com/office/drawing/2014/main" id="{D3515BFB-72AD-9E6F-92CC-8C9087EA07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464608" y="5299075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0677B079-6BA6-DB54-795E-F94D0E2E47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1229445" y="4867275"/>
            <a:ext cx="598488" cy="1981201"/>
            <a:chOff x="11424178" y="4867275"/>
            <a:chExt cx="598488" cy="1981201"/>
          </a:xfrm>
        </p:grpSpPr>
        <p:sp>
          <p:nvSpPr>
            <p:cNvPr id="144" name="Freeform 35">
              <a:extLst>
                <a:ext uri="{FF2B5EF4-FFF2-40B4-BE49-F238E27FC236}">
                  <a16:creationId xmlns:a16="http://schemas.microsoft.com/office/drawing/2014/main" id="{D7C16D66-4784-F19E-D33B-68B56A6A21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14666" y="569436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45" name="Freeform 36">
              <a:extLst>
                <a:ext uri="{FF2B5EF4-FFF2-40B4-BE49-F238E27FC236}">
                  <a16:creationId xmlns:a16="http://schemas.microsoft.com/office/drawing/2014/main" id="{9C06D069-4FA4-B161-A796-0DADAF6981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55966" y="5551488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46" name="Freeform 38">
              <a:extLst>
                <a:ext uri="{FF2B5EF4-FFF2-40B4-BE49-F238E27FC236}">
                  <a16:creationId xmlns:a16="http://schemas.microsoft.com/office/drawing/2014/main" id="{50D2E073-EB9A-F639-DE2C-49EC10803C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19441" y="4867275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47" name="Freeform 39">
              <a:extLst>
                <a:ext uri="{FF2B5EF4-FFF2-40B4-BE49-F238E27FC236}">
                  <a16:creationId xmlns:a16="http://schemas.microsoft.com/office/drawing/2014/main" id="{D978FC2C-98B3-839E-EDD6-9F57D7B000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24178" y="5046663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48" name="Freeform 40">
              <a:extLst>
                <a:ext uri="{FF2B5EF4-FFF2-40B4-BE49-F238E27FC236}">
                  <a16:creationId xmlns:a16="http://schemas.microsoft.com/office/drawing/2014/main" id="{4D6B2293-8355-FC41-8EAC-8A9ED85352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832166" y="64166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49" name="Rectangle 41">
              <a:extLst>
                <a:ext uri="{FF2B5EF4-FFF2-40B4-BE49-F238E27FC236}">
                  <a16:creationId xmlns:a16="http://schemas.microsoft.com/office/drawing/2014/main" id="{AA27F96E-E1CA-CD1F-5EA6-DCDCDFD6D7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922653" y="6596063"/>
              <a:ext cx="23813" cy="252413"/>
            </a:xfrm>
            <a:prstGeom prst="rect">
              <a:avLst/>
            </a:pr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</p:grpSp>
      <p:sp>
        <p:nvSpPr>
          <p:cNvPr id="110" name="Rectangle 109">
            <a:extLst>
              <a:ext uri="{FF2B5EF4-FFF2-40B4-BE49-F238E27FC236}">
                <a16:creationId xmlns:a16="http://schemas.microsoft.com/office/drawing/2014/main" id="{8E11270D-A982-96A0-80C0-D321A733B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5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2" name="Round Diagonal Corner Rectangle 7">
            <a:extLst>
              <a:ext uri="{FF2B5EF4-FFF2-40B4-BE49-F238E27FC236}">
                <a16:creationId xmlns:a16="http://schemas.microsoft.com/office/drawing/2014/main" id="{D0F11AB6-84B5-9F2A-D852-8336EB68E2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2867" y="766234"/>
            <a:ext cx="10346266" cy="5325532"/>
          </a:xfrm>
          <a:prstGeom prst="round2DiagRect">
            <a:avLst>
              <a:gd name="adj1" fmla="val 4147"/>
              <a:gd name="adj2" fmla="val 0"/>
            </a:avLst>
          </a:prstGeom>
          <a:solidFill>
            <a:schemeClr val="bg2">
              <a:lumMod val="50000"/>
              <a:alpha val="80000"/>
            </a:schemeClr>
          </a:solidFill>
          <a:ln w="19050" cap="sq">
            <a:solidFill>
              <a:srgbClr val="FFFFFF">
                <a:alpha val="60000"/>
              </a:srgb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33D897-6A86-8272-DFE1-3DA8E6D19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7445" y="1168078"/>
            <a:ext cx="9048219" cy="1092200"/>
          </a:xfrm>
        </p:spPr>
        <p:txBody>
          <a:bodyPr anchor="ctr">
            <a:normAutofit/>
          </a:bodyPr>
          <a:lstStyle/>
          <a:p>
            <a:pPr algn="ctr"/>
            <a:r>
              <a:rPr lang="en-US" b="1" u="sng" dirty="0"/>
              <a:t>Brief history</a:t>
            </a:r>
            <a:endParaRPr lang="en-PK" dirty="0">
              <a:solidFill>
                <a:srgbClr val="FFFFFF"/>
              </a:solidFill>
            </a:endParaRPr>
          </a:p>
        </p:txBody>
      </p:sp>
      <p:pic>
        <p:nvPicPr>
          <p:cNvPr id="6" name="Image 50">
            <a:extLst>
              <a:ext uri="{FF2B5EF4-FFF2-40B4-BE49-F238E27FC236}">
                <a16:creationId xmlns:a16="http://schemas.microsoft.com/office/drawing/2014/main" id="{EA853117-E472-D209-FFDF-A068CCC4248B}"/>
              </a:ext>
            </a:extLst>
          </p:cNvPr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152757" y="2260278"/>
            <a:ext cx="3886486" cy="3291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418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4B81B0-E7E7-B32E-632F-7EC41932B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5" name="Rectangle 124">
            <a:extLst>
              <a:ext uri="{FF2B5EF4-FFF2-40B4-BE49-F238E27FC236}">
                <a16:creationId xmlns:a16="http://schemas.microsoft.com/office/drawing/2014/main" id="{CFD59D95-DB2C-F3B7-D9C3-0F21B5545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-1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09C0ED7D-9CAC-E9CD-6D33-57730B72A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72533" y="0"/>
            <a:ext cx="598488" cy="1981201"/>
            <a:chOff x="194733" y="0"/>
            <a:chExt cx="598488" cy="1981201"/>
          </a:xfrm>
        </p:grpSpPr>
        <p:sp>
          <p:nvSpPr>
            <p:cNvPr id="127" name="Freeform 35">
              <a:extLst>
                <a:ext uri="{FF2B5EF4-FFF2-40B4-BE49-F238E27FC236}">
                  <a16:creationId xmlns:a16="http://schemas.microsoft.com/office/drawing/2014/main" id="{93EBB71D-FFB5-2D00-416D-AB69AFF856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285221" y="0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28" name="Freeform 36">
              <a:extLst>
                <a:ext uri="{FF2B5EF4-FFF2-40B4-BE49-F238E27FC236}">
                  <a16:creationId xmlns:a16="http://schemas.microsoft.com/office/drawing/2014/main" id="{4BB5170E-E93F-46D1-A996-9D53404FA2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526521" y="1141413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29" name="Freeform 38">
              <a:extLst>
                <a:ext uri="{FF2B5EF4-FFF2-40B4-BE49-F238E27FC236}">
                  <a16:creationId xmlns:a16="http://schemas.microsoft.com/office/drawing/2014/main" id="{215DE717-45E2-AEB5-CFD2-8F5C505272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389996" y="1792288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30" name="Freeform 39">
              <a:extLst>
                <a:ext uri="{FF2B5EF4-FFF2-40B4-BE49-F238E27FC236}">
                  <a16:creationId xmlns:a16="http://schemas.microsoft.com/office/drawing/2014/main" id="{87D5AA0A-A8C5-4EFF-B877-D4AEF32F94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194733" y="0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31" name="Freeform 40">
              <a:extLst>
                <a:ext uri="{FF2B5EF4-FFF2-40B4-BE49-F238E27FC236}">
                  <a16:creationId xmlns:a16="http://schemas.microsoft.com/office/drawing/2014/main" id="{854178BF-DFDE-0307-5CE9-49AE387241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602721" y="24288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32" name="Rectangle 41">
              <a:extLst>
                <a:ext uri="{FF2B5EF4-FFF2-40B4-BE49-F238E27FC236}">
                  <a16:creationId xmlns:a16="http://schemas.microsoft.com/office/drawing/2014/main" id="{11CCA902-48A0-DCB5-6E5A-78513E8E7D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693208" y="0"/>
              <a:ext cx="23813" cy="252413"/>
            </a:xfrm>
            <a:prstGeom prst="rect">
              <a:avLst/>
            </a:pr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B138A014-5ECD-1C8D-9B61-6E946FFCFC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085512" y="0"/>
            <a:ext cx="650875" cy="1730375"/>
            <a:chOff x="11347978" y="0"/>
            <a:chExt cx="650875" cy="1730375"/>
          </a:xfrm>
        </p:grpSpPr>
        <p:sp>
          <p:nvSpPr>
            <p:cNvPr id="134" name="Freeform 32">
              <a:extLst>
                <a:ext uri="{FF2B5EF4-FFF2-40B4-BE49-F238E27FC236}">
                  <a16:creationId xmlns:a16="http://schemas.microsoft.com/office/drawing/2014/main" id="{8EC42507-D88E-EB43-D356-194FCCD06B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67041" y="0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35" name="Freeform 33">
              <a:extLst>
                <a:ext uri="{FF2B5EF4-FFF2-40B4-BE49-F238E27FC236}">
                  <a16:creationId xmlns:a16="http://schemas.microsoft.com/office/drawing/2014/main" id="{AC5EF6DB-C3E2-A527-3D34-B06EC47FE0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347978" y="47466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36" name="Freeform 34">
              <a:extLst>
                <a:ext uri="{FF2B5EF4-FFF2-40B4-BE49-F238E27FC236}">
                  <a16:creationId xmlns:a16="http://schemas.microsoft.com/office/drawing/2014/main" id="{ED692042-3336-C74C-4B22-24DFA20D41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14678" y="1539875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37" name="Freeform 37">
              <a:extLst>
                <a:ext uri="{FF2B5EF4-FFF2-40B4-BE49-F238E27FC236}">
                  <a16:creationId xmlns:a16="http://schemas.microsoft.com/office/drawing/2014/main" id="{A575E28A-405B-FBCF-B314-95D2CD8F8A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94053" y="4763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9B1865DF-889F-5800-140C-B85380746B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440267" y="5118101"/>
            <a:ext cx="650875" cy="1730375"/>
            <a:chOff x="118533" y="5118101"/>
            <a:chExt cx="650875" cy="1730375"/>
          </a:xfrm>
        </p:grpSpPr>
        <p:sp>
          <p:nvSpPr>
            <p:cNvPr id="139" name="Freeform 32">
              <a:extLst>
                <a:ext uri="{FF2B5EF4-FFF2-40B4-BE49-F238E27FC236}">
                  <a16:creationId xmlns:a16="http://schemas.microsoft.com/office/drawing/2014/main" id="{70CF40F7-AC8C-6211-67E5-3BE9D33B2F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237596" y="6335713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40" name="Freeform 33">
              <a:extLst>
                <a:ext uri="{FF2B5EF4-FFF2-40B4-BE49-F238E27FC236}">
                  <a16:creationId xmlns:a16="http://schemas.microsoft.com/office/drawing/2014/main" id="{27C76CF6-9F35-3D3D-1459-510A0D6BA8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118533" y="622141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41" name="Freeform 34">
              <a:extLst>
                <a:ext uri="{FF2B5EF4-FFF2-40B4-BE49-F238E27FC236}">
                  <a16:creationId xmlns:a16="http://schemas.microsoft.com/office/drawing/2014/main" id="{26691EEF-4235-8A40-78A2-75316DCC46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385233" y="5118101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42" name="Freeform 37">
              <a:extLst>
                <a:ext uri="{FF2B5EF4-FFF2-40B4-BE49-F238E27FC236}">
                  <a16:creationId xmlns:a16="http://schemas.microsoft.com/office/drawing/2014/main" id="{FE8E00F5-B43C-3679-E527-0992607DAE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464608" y="5299075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4C220B80-5BC6-E897-860B-76D53D757B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1229445" y="4867275"/>
            <a:ext cx="598488" cy="1981201"/>
            <a:chOff x="11424178" y="4867275"/>
            <a:chExt cx="598488" cy="1981201"/>
          </a:xfrm>
        </p:grpSpPr>
        <p:sp>
          <p:nvSpPr>
            <p:cNvPr id="144" name="Freeform 35">
              <a:extLst>
                <a:ext uri="{FF2B5EF4-FFF2-40B4-BE49-F238E27FC236}">
                  <a16:creationId xmlns:a16="http://schemas.microsoft.com/office/drawing/2014/main" id="{B78B87ED-FE06-E0B2-3753-F247515A3F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14666" y="569436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45" name="Freeform 36">
              <a:extLst>
                <a:ext uri="{FF2B5EF4-FFF2-40B4-BE49-F238E27FC236}">
                  <a16:creationId xmlns:a16="http://schemas.microsoft.com/office/drawing/2014/main" id="{0D477C9A-FA34-25BF-A706-0C8A18C2B8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55966" y="5551488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46" name="Freeform 38">
              <a:extLst>
                <a:ext uri="{FF2B5EF4-FFF2-40B4-BE49-F238E27FC236}">
                  <a16:creationId xmlns:a16="http://schemas.microsoft.com/office/drawing/2014/main" id="{5A01B115-8166-DDF9-1016-98D54D4487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19441" y="4867275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47" name="Freeform 39">
              <a:extLst>
                <a:ext uri="{FF2B5EF4-FFF2-40B4-BE49-F238E27FC236}">
                  <a16:creationId xmlns:a16="http://schemas.microsoft.com/office/drawing/2014/main" id="{811A6BAA-5F9D-2BBA-223E-C2A68BF18A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24178" y="5046663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48" name="Freeform 40">
              <a:extLst>
                <a:ext uri="{FF2B5EF4-FFF2-40B4-BE49-F238E27FC236}">
                  <a16:creationId xmlns:a16="http://schemas.microsoft.com/office/drawing/2014/main" id="{E8F4C645-9F20-29D4-D57E-DA40D6DF89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832166" y="64166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49" name="Rectangle 41">
              <a:extLst>
                <a:ext uri="{FF2B5EF4-FFF2-40B4-BE49-F238E27FC236}">
                  <a16:creationId xmlns:a16="http://schemas.microsoft.com/office/drawing/2014/main" id="{7CA4DC20-3060-463E-ED43-C50F2FB5BB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922653" y="6596063"/>
              <a:ext cx="23813" cy="252413"/>
            </a:xfrm>
            <a:prstGeom prst="rect">
              <a:avLst/>
            </a:pr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</p:grpSp>
      <p:sp>
        <p:nvSpPr>
          <p:cNvPr id="110" name="Rectangle 109">
            <a:extLst>
              <a:ext uri="{FF2B5EF4-FFF2-40B4-BE49-F238E27FC236}">
                <a16:creationId xmlns:a16="http://schemas.microsoft.com/office/drawing/2014/main" id="{C2D36AA1-6281-405F-63AF-36E86B4B2A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5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2" name="Round Diagonal Corner Rectangle 7">
            <a:extLst>
              <a:ext uri="{FF2B5EF4-FFF2-40B4-BE49-F238E27FC236}">
                <a16:creationId xmlns:a16="http://schemas.microsoft.com/office/drawing/2014/main" id="{3C0B35A4-7B4F-3DF2-55BF-B60E6D0BD8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2867" y="766234"/>
            <a:ext cx="10346266" cy="5325532"/>
          </a:xfrm>
          <a:prstGeom prst="round2DiagRect">
            <a:avLst>
              <a:gd name="adj1" fmla="val 4147"/>
              <a:gd name="adj2" fmla="val 0"/>
            </a:avLst>
          </a:prstGeom>
          <a:solidFill>
            <a:schemeClr val="bg2">
              <a:lumMod val="50000"/>
              <a:alpha val="80000"/>
            </a:schemeClr>
          </a:solidFill>
          <a:ln w="19050" cap="sq">
            <a:solidFill>
              <a:srgbClr val="FFFFFF">
                <a:alpha val="60000"/>
              </a:srgb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3CA87B-32E2-631C-8D44-20AA61825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7445" y="1168078"/>
            <a:ext cx="9048219" cy="1092200"/>
          </a:xfrm>
        </p:spPr>
        <p:txBody>
          <a:bodyPr anchor="ctr">
            <a:normAutofit/>
          </a:bodyPr>
          <a:lstStyle/>
          <a:p>
            <a:pPr algn="ctr"/>
            <a:r>
              <a:rPr lang="en-US" b="1" u="sng" dirty="0">
                <a:solidFill>
                  <a:srgbClr val="FFFFFF"/>
                </a:solidFill>
              </a:rPr>
              <a:t>Tree terminologies</a:t>
            </a:r>
            <a:endParaRPr lang="en-PK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F306DE-8265-34D3-7EAD-BF33AFFE8A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9042" y="2272641"/>
            <a:ext cx="9585978" cy="3434422"/>
          </a:xfrm>
        </p:spPr>
        <p:txBody>
          <a:bodyPr anchor="ctr">
            <a:noAutofit/>
          </a:bodyPr>
          <a:lstStyle/>
          <a:p>
            <a:pPr algn="just"/>
            <a:r>
              <a:rPr lang="en-US" sz="1800" b="1" dirty="0"/>
              <a:t>Edge: </a:t>
            </a:r>
            <a:r>
              <a:rPr lang="en-US" sz="1800" dirty="0"/>
              <a:t>In a tree data structure, the connecting link between any two nodes is called an edge. In a tree with 'N' number of nodes, there will be a maximum of 'N-1' number of edges.</a:t>
            </a:r>
          </a:p>
          <a:p>
            <a:pPr algn="just"/>
            <a:endParaRPr lang="en-PK" sz="1200" dirty="0"/>
          </a:p>
          <a:p>
            <a:pPr algn="just"/>
            <a:r>
              <a:rPr lang="en-US" sz="1800" b="1" dirty="0"/>
              <a:t>Parent Node: </a:t>
            </a:r>
            <a:r>
              <a:rPr lang="en-US" sz="1800" dirty="0"/>
              <a:t>If N is an immediate predecessor of a node X, then N is called the parent of X. In the above tree, A is the parent node of B and C.</a:t>
            </a:r>
          </a:p>
          <a:p>
            <a:pPr algn="just"/>
            <a:endParaRPr lang="en-PK" sz="1200" dirty="0"/>
          </a:p>
          <a:p>
            <a:pPr algn="just"/>
            <a:r>
              <a:rPr lang="en-US" sz="1800" b="1" dirty="0"/>
              <a:t>Sibling: </a:t>
            </a:r>
            <a:r>
              <a:rPr lang="en-US" sz="1800" dirty="0"/>
              <a:t>Nodes that belong to the same Parent are called siblings. E and F are siblings in the above tree.</a:t>
            </a:r>
            <a:endParaRPr lang="en-PK" sz="1800" dirty="0"/>
          </a:p>
        </p:txBody>
      </p:sp>
    </p:spTree>
    <p:extLst>
      <p:ext uri="{BB962C8B-B14F-4D97-AF65-F5344CB8AC3E}">
        <p14:creationId xmlns:p14="http://schemas.microsoft.com/office/powerpoint/2010/main" val="2369244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E7ACFE-46DF-D6F7-B4E6-92B3EC160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5" name="Rectangle 124">
            <a:extLst>
              <a:ext uri="{FF2B5EF4-FFF2-40B4-BE49-F238E27FC236}">
                <a16:creationId xmlns:a16="http://schemas.microsoft.com/office/drawing/2014/main" id="{D53E2784-802A-9CAC-C66C-47CABD6AB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-1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6C2BCE9A-CF63-1002-5EDD-A007215BD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72533" y="0"/>
            <a:ext cx="598488" cy="1981201"/>
            <a:chOff x="194733" y="0"/>
            <a:chExt cx="598488" cy="1981201"/>
          </a:xfrm>
        </p:grpSpPr>
        <p:sp>
          <p:nvSpPr>
            <p:cNvPr id="127" name="Freeform 35">
              <a:extLst>
                <a:ext uri="{FF2B5EF4-FFF2-40B4-BE49-F238E27FC236}">
                  <a16:creationId xmlns:a16="http://schemas.microsoft.com/office/drawing/2014/main" id="{629B9A92-F17E-B19D-9F3D-83F9F3034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285221" y="0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28" name="Freeform 36">
              <a:extLst>
                <a:ext uri="{FF2B5EF4-FFF2-40B4-BE49-F238E27FC236}">
                  <a16:creationId xmlns:a16="http://schemas.microsoft.com/office/drawing/2014/main" id="{745C8788-5AD0-8534-35FB-89F5114944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526521" y="1141413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29" name="Freeform 38">
              <a:extLst>
                <a:ext uri="{FF2B5EF4-FFF2-40B4-BE49-F238E27FC236}">
                  <a16:creationId xmlns:a16="http://schemas.microsoft.com/office/drawing/2014/main" id="{BF28D2ED-E2CF-19C8-5762-6990180A66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389996" y="1792288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30" name="Freeform 39">
              <a:extLst>
                <a:ext uri="{FF2B5EF4-FFF2-40B4-BE49-F238E27FC236}">
                  <a16:creationId xmlns:a16="http://schemas.microsoft.com/office/drawing/2014/main" id="{4AF420B5-6A8B-185C-4BE9-CFF98D1A86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194733" y="0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31" name="Freeform 40">
              <a:extLst>
                <a:ext uri="{FF2B5EF4-FFF2-40B4-BE49-F238E27FC236}">
                  <a16:creationId xmlns:a16="http://schemas.microsoft.com/office/drawing/2014/main" id="{D9A0F816-9772-45AE-88E8-8360A74D1A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602721" y="24288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32" name="Rectangle 41">
              <a:extLst>
                <a:ext uri="{FF2B5EF4-FFF2-40B4-BE49-F238E27FC236}">
                  <a16:creationId xmlns:a16="http://schemas.microsoft.com/office/drawing/2014/main" id="{66CC077E-0F92-4879-F18B-ED46CF01AF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693208" y="0"/>
              <a:ext cx="23813" cy="252413"/>
            </a:xfrm>
            <a:prstGeom prst="rect">
              <a:avLst/>
            </a:pr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1CC52A87-E4D7-0E35-AC4F-6FC468F5A6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085512" y="0"/>
            <a:ext cx="650875" cy="1730375"/>
            <a:chOff x="11347978" y="0"/>
            <a:chExt cx="650875" cy="1730375"/>
          </a:xfrm>
        </p:grpSpPr>
        <p:sp>
          <p:nvSpPr>
            <p:cNvPr id="134" name="Freeform 32">
              <a:extLst>
                <a:ext uri="{FF2B5EF4-FFF2-40B4-BE49-F238E27FC236}">
                  <a16:creationId xmlns:a16="http://schemas.microsoft.com/office/drawing/2014/main" id="{FC4AF43B-0BE2-BC2A-294D-2F5A078BDA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67041" y="0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35" name="Freeform 33">
              <a:extLst>
                <a:ext uri="{FF2B5EF4-FFF2-40B4-BE49-F238E27FC236}">
                  <a16:creationId xmlns:a16="http://schemas.microsoft.com/office/drawing/2014/main" id="{FA9ED1F7-6D8F-54A4-B166-C666D10DD8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347978" y="47466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36" name="Freeform 34">
              <a:extLst>
                <a:ext uri="{FF2B5EF4-FFF2-40B4-BE49-F238E27FC236}">
                  <a16:creationId xmlns:a16="http://schemas.microsoft.com/office/drawing/2014/main" id="{A1A9F8B4-9DF8-7BF2-A26C-A9BE38F6A1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14678" y="1539875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37" name="Freeform 37">
              <a:extLst>
                <a:ext uri="{FF2B5EF4-FFF2-40B4-BE49-F238E27FC236}">
                  <a16:creationId xmlns:a16="http://schemas.microsoft.com/office/drawing/2014/main" id="{556B4CFB-C98F-C7FD-A4DB-E9E12E9F74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94053" y="4763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E17F7E54-6AF9-48F2-B2CA-688E6D9F0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440267" y="5118101"/>
            <a:ext cx="650875" cy="1730375"/>
            <a:chOff x="118533" y="5118101"/>
            <a:chExt cx="650875" cy="1730375"/>
          </a:xfrm>
        </p:grpSpPr>
        <p:sp>
          <p:nvSpPr>
            <p:cNvPr id="139" name="Freeform 32">
              <a:extLst>
                <a:ext uri="{FF2B5EF4-FFF2-40B4-BE49-F238E27FC236}">
                  <a16:creationId xmlns:a16="http://schemas.microsoft.com/office/drawing/2014/main" id="{9DEE8AB2-40F5-FEAB-A068-F9273532E3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237596" y="6335713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40" name="Freeform 33">
              <a:extLst>
                <a:ext uri="{FF2B5EF4-FFF2-40B4-BE49-F238E27FC236}">
                  <a16:creationId xmlns:a16="http://schemas.microsoft.com/office/drawing/2014/main" id="{D49E35C0-8260-C105-8587-7AF5D2AB3B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118533" y="622141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41" name="Freeform 34">
              <a:extLst>
                <a:ext uri="{FF2B5EF4-FFF2-40B4-BE49-F238E27FC236}">
                  <a16:creationId xmlns:a16="http://schemas.microsoft.com/office/drawing/2014/main" id="{DE7BAECB-FB01-E8DE-0177-C61EC76808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385233" y="5118101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42" name="Freeform 37">
              <a:extLst>
                <a:ext uri="{FF2B5EF4-FFF2-40B4-BE49-F238E27FC236}">
                  <a16:creationId xmlns:a16="http://schemas.microsoft.com/office/drawing/2014/main" id="{3543DF75-B8F1-5F56-E53F-D165B1A03B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464608" y="5299075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58F70840-3440-874F-804F-A755AC8B1E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1229445" y="4867275"/>
            <a:ext cx="598488" cy="1981201"/>
            <a:chOff x="11424178" y="4867275"/>
            <a:chExt cx="598488" cy="1981201"/>
          </a:xfrm>
        </p:grpSpPr>
        <p:sp>
          <p:nvSpPr>
            <p:cNvPr id="144" name="Freeform 35">
              <a:extLst>
                <a:ext uri="{FF2B5EF4-FFF2-40B4-BE49-F238E27FC236}">
                  <a16:creationId xmlns:a16="http://schemas.microsoft.com/office/drawing/2014/main" id="{6B07B51D-89C4-1BB5-98CC-2EAC616A1C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14666" y="569436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45" name="Freeform 36">
              <a:extLst>
                <a:ext uri="{FF2B5EF4-FFF2-40B4-BE49-F238E27FC236}">
                  <a16:creationId xmlns:a16="http://schemas.microsoft.com/office/drawing/2014/main" id="{EBF50502-6659-4249-C3A9-D59BF8772C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55966" y="5551488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46" name="Freeform 38">
              <a:extLst>
                <a:ext uri="{FF2B5EF4-FFF2-40B4-BE49-F238E27FC236}">
                  <a16:creationId xmlns:a16="http://schemas.microsoft.com/office/drawing/2014/main" id="{925292C5-A8E3-83CF-2F6B-9E6DCEA85A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19441" y="4867275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47" name="Freeform 39">
              <a:extLst>
                <a:ext uri="{FF2B5EF4-FFF2-40B4-BE49-F238E27FC236}">
                  <a16:creationId xmlns:a16="http://schemas.microsoft.com/office/drawing/2014/main" id="{18125931-9ACB-3074-CC13-AD1432E736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24178" y="5046663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48" name="Freeform 40">
              <a:extLst>
                <a:ext uri="{FF2B5EF4-FFF2-40B4-BE49-F238E27FC236}">
                  <a16:creationId xmlns:a16="http://schemas.microsoft.com/office/drawing/2014/main" id="{6CE22C9B-82D4-3D6F-CCD8-EBD485B569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832166" y="64166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49" name="Rectangle 41">
              <a:extLst>
                <a:ext uri="{FF2B5EF4-FFF2-40B4-BE49-F238E27FC236}">
                  <a16:creationId xmlns:a16="http://schemas.microsoft.com/office/drawing/2014/main" id="{5CF164DF-A120-DD8F-EC86-4995948399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922653" y="6596063"/>
              <a:ext cx="23813" cy="252413"/>
            </a:xfrm>
            <a:prstGeom prst="rect">
              <a:avLst/>
            </a:pr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</p:grpSp>
      <p:sp>
        <p:nvSpPr>
          <p:cNvPr id="110" name="Rectangle 109">
            <a:extLst>
              <a:ext uri="{FF2B5EF4-FFF2-40B4-BE49-F238E27FC236}">
                <a16:creationId xmlns:a16="http://schemas.microsoft.com/office/drawing/2014/main" id="{29025691-C9CC-6A6E-5E94-68BCA7FB83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5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2" name="Round Diagonal Corner Rectangle 7">
            <a:extLst>
              <a:ext uri="{FF2B5EF4-FFF2-40B4-BE49-F238E27FC236}">
                <a16:creationId xmlns:a16="http://schemas.microsoft.com/office/drawing/2014/main" id="{8F2A61A4-8C43-E51B-8B01-47EBB8E00A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2867" y="766234"/>
            <a:ext cx="10346266" cy="5325532"/>
          </a:xfrm>
          <a:prstGeom prst="round2DiagRect">
            <a:avLst>
              <a:gd name="adj1" fmla="val 4147"/>
              <a:gd name="adj2" fmla="val 0"/>
            </a:avLst>
          </a:prstGeom>
          <a:solidFill>
            <a:schemeClr val="bg2">
              <a:lumMod val="50000"/>
              <a:alpha val="80000"/>
            </a:schemeClr>
          </a:solidFill>
          <a:ln w="19050" cap="sq">
            <a:solidFill>
              <a:srgbClr val="FFFFFF">
                <a:alpha val="60000"/>
              </a:srgb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10DE23-25CA-637B-F774-89408585B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7445" y="1168078"/>
            <a:ext cx="9048219" cy="1092200"/>
          </a:xfrm>
        </p:spPr>
        <p:txBody>
          <a:bodyPr anchor="ctr">
            <a:normAutofit/>
          </a:bodyPr>
          <a:lstStyle/>
          <a:p>
            <a:pPr algn="ctr"/>
            <a:r>
              <a:rPr lang="en-US" b="1" u="sng" dirty="0">
                <a:solidFill>
                  <a:srgbClr val="FFFFFF"/>
                </a:solidFill>
              </a:rPr>
              <a:t>Tree terminologies</a:t>
            </a:r>
            <a:endParaRPr lang="en-PK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6E9450-0D9D-7B28-85B9-8532B6C843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9042" y="2272641"/>
            <a:ext cx="9585978" cy="3434422"/>
          </a:xfrm>
        </p:spPr>
        <p:txBody>
          <a:bodyPr anchor="ctr">
            <a:noAutofit/>
          </a:bodyPr>
          <a:lstStyle/>
          <a:p>
            <a:r>
              <a:rPr lang="en-US" sz="1800" b="1" dirty="0"/>
              <a:t>Internal Node: </a:t>
            </a:r>
            <a:r>
              <a:rPr lang="en-US" sz="1800" dirty="0"/>
              <a:t>In A data structure nodes which have at least one child is called an internal Node. A, B, C, D, E, F, G, H, I, J are the internal nodes in the above tree.</a:t>
            </a:r>
          </a:p>
          <a:p>
            <a:endParaRPr lang="en-PK" sz="1200" dirty="0"/>
          </a:p>
          <a:p>
            <a:r>
              <a:rPr lang="en-US" sz="1800" b="1" dirty="0"/>
              <a:t>Level: </a:t>
            </a:r>
            <a:r>
              <a:rPr lang="en-US" sz="1800" dirty="0"/>
              <a:t>The number of edges present in a path from a node to the root is called the level of that node. The level of a root is zero, if a node is at level 𝑙, its children are at level 𝑙 + 1. For example, the level of node H is 2.</a:t>
            </a:r>
          </a:p>
          <a:p>
            <a:endParaRPr lang="en-US" sz="1200" dirty="0"/>
          </a:p>
          <a:p>
            <a:r>
              <a:rPr lang="en-US" sz="1800" b="1" dirty="0"/>
              <a:t>Height: </a:t>
            </a:r>
            <a:r>
              <a:rPr lang="en-US" sz="1800" dirty="0"/>
              <a:t>In a tree data structure, the total number of edges from a leaf node to a particular node in the longest path is called as height of that particular Node. The height of H is 1.</a:t>
            </a:r>
            <a:endParaRPr lang="en-PK" sz="1800" dirty="0"/>
          </a:p>
        </p:txBody>
      </p:sp>
    </p:spTree>
    <p:extLst>
      <p:ext uri="{BB962C8B-B14F-4D97-AF65-F5344CB8AC3E}">
        <p14:creationId xmlns:p14="http://schemas.microsoft.com/office/powerpoint/2010/main" val="461100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4699C3-2DAB-375A-6E48-D9ECC98AB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5" name="Rectangle 124">
            <a:extLst>
              <a:ext uri="{FF2B5EF4-FFF2-40B4-BE49-F238E27FC236}">
                <a16:creationId xmlns:a16="http://schemas.microsoft.com/office/drawing/2014/main" id="{F71420DC-BD71-36F2-B14A-0E83F3E4AA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-1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9C746ADD-11A6-C526-C31B-D47144BDA0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72533" y="0"/>
            <a:ext cx="598488" cy="1981201"/>
            <a:chOff x="194733" y="0"/>
            <a:chExt cx="598488" cy="1981201"/>
          </a:xfrm>
        </p:grpSpPr>
        <p:sp>
          <p:nvSpPr>
            <p:cNvPr id="127" name="Freeform 35">
              <a:extLst>
                <a:ext uri="{FF2B5EF4-FFF2-40B4-BE49-F238E27FC236}">
                  <a16:creationId xmlns:a16="http://schemas.microsoft.com/office/drawing/2014/main" id="{61E40226-9EBF-38F8-9753-89B92EC294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285221" y="0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28" name="Freeform 36">
              <a:extLst>
                <a:ext uri="{FF2B5EF4-FFF2-40B4-BE49-F238E27FC236}">
                  <a16:creationId xmlns:a16="http://schemas.microsoft.com/office/drawing/2014/main" id="{07F1FE68-EB57-4F6F-AA6D-B4810CB8CF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526521" y="1141413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29" name="Freeform 38">
              <a:extLst>
                <a:ext uri="{FF2B5EF4-FFF2-40B4-BE49-F238E27FC236}">
                  <a16:creationId xmlns:a16="http://schemas.microsoft.com/office/drawing/2014/main" id="{B6033171-22ED-18A2-00BF-94E3CE2A22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389996" y="1792288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30" name="Freeform 39">
              <a:extLst>
                <a:ext uri="{FF2B5EF4-FFF2-40B4-BE49-F238E27FC236}">
                  <a16:creationId xmlns:a16="http://schemas.microsoft.com/office/drawing/2014/main" id="{8C091CC8-DD7E-CD1E-57CC-ECE901E3A9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194733" y="0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31" name="Freeform 40">
              <a:extLst>
                <a:ext uri="{FF2B5EF4-FFF2-40B4-BE49-F238E27FC236}">
                  <a16:creationId xmlns:a16="http://schemas.microsoft.com/office/drawing/2014/main" id="{25FC0992-B6D6-EAFC-FB5B-71B2118A61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602721" y="24288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32" name="Rectangle 41">
              <a:extLst>
                <a:ext uri="{FF2B5EF4-FFF2-40B4-BE49-F238E27FC236}">
                  <a16:creationId xmlns:a16="http://schemas.microsoft.com/office/drawing/2014/main" id="{2D836F27-E881-3079-1C84-33BA5820C1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693208" y="0"/>
              <a:ext cx="23813" cy="252413"/>
            </a:xfrm>
            <a:prstGeom prst="rect">
              <a:avLst/>
            </a:pr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70C2146C-7B9F-D3AA-A007-FD0D5858ED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085512" y="0"/>
            <a:ext cx="650875" cy="1730375"/>
            <a:chOff x="11347978" y="0"/>
            <a:chExt cx="650875" cy="1730375"/>
          </a:xfrm>
        </p:grpSpPr>
        <p:sp>
          <p:nvSpPr>
            <p:cNvPr id="134" name="Freeform 32">
              <a:extLst>
                <a:ext uri="{FF2B5EF4-FFF2-40B4-BE49-F238E27FC236}">
                  <a16:creationId xmlns:a16="http://schemas.microsoft.com/office/drawing/2014/main" id="{495E4BD2-EF73-7999-5FEC-A20A2670EE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67041" y="0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35" name="Freeform 33">
              <a:extLst>
                <a:ext uri="{FF2B5EF4-FFF2-40B4-BE49-F238E27FC236}">
                  <a16:creationId xmlns:a16="http://schemas.microsoft.com/office/drawing/2014/main" id="{4CD2009B-CFA4-F5D8-CD11-E606134942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347978" y="47466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36" name="Freeform 34">
              <a:extLst>
                <a:ext uri="{FF2B5EF4-FFF2-40B4-BE49-F238E27FC236}">
                  <a16:creationId xmlns:a16="http://schemas.microsoft.com/office/drawing/2014/main" id="{080092A7-50F2-809E-31A3-7779A10BBA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14678" y="1539875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37" name="Freeform 37">
              <a:extLst>
                <a:ext uri="{FF2B5EF4-FFF2-40B4-BE49-F238E27FC236}">
                  <a16:creationId xmlns:a16="http://schemas.microsoft.com/office/drawing/2014/main" id="{0E9F7C8E-75A3-AADC-EB36-26B5ECFC5C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94053" y="4763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7D9C7E77-23FB-C45A-04AF-D3230D31CB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440267" y="5118101"/>
            <a:ext cx="650875" cy="1730375"/>
            <a:chOff x="118533" y="5118101"/>
            <a:chExt cx="650875" cy="1730375"/>
          </a:xfrm>
        </p:grpSpPr>
        <p:sp>
          <p:nvSpPr>
            <p:cNvPr id="139" name="Freeform 32">
              <a:extLst>
                <a:ext uri="{FF2B5EF4-FFF2-40B4-BE49-F238E27FC236}">
                  <a16:creationId xmlns:a16="http://schemas.microsoft.com/office/drawing/2014/main" id="{B4EE01E5-C05C-1D6F-4D33-CC22E9D94C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237596" y="6335713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40" name="Freeform 33">
              <a:extLst>
                <a:ext uri="{FF2B5EF4-FFF2-40B4-BE49-F238E27FC236}">
                  <a16:creationId xmlns:a16="http://schemas.microsoft.com/office/drawing/2014/main" id="{62A4D5A8-A302-F584-7FDC-9131D48B36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118533" y="622141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41" name="Freeform 34">
              <a:extLst>
                <a:ext uri="{FF2B5EF4-FFF2-40B4-BE49-F238E27FC236}">
                  <a16:creationId xmlns:a16="http://schemas.microsoft.com/office/drawing/2014/main" id="{E2C8D53F-72AF-3CD3-DF8E-C5482F0359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385233" y="5118101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42" name="Freeform 37">
              <a:extLst>
                <a:ext uri="{FF2B5EF4-FFF2-40B4-BE49-F238E27FC236}">
                  <a16:creationId xmlns:a16="http://schemas.microsoft.com/office/drawing/2014/main" id="{516CAF2D-3448-461A-0088-5459C0FDC3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464608" y="5299075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317F4E22-4E25-21C7-148D-04A69DC7F2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1229445" y="4867275"/>
            <a:ext cx="598488" cy="1981201"/>
            <a:chOff x="11424178" y="4867275"/>
            <a:chExt cx="598488" cy="1981201"/>
          </a:xfrm>
        </p:grpSpPr>
        <p:sp>
          <p:nvSpPr>
            <p:cNvPr id="144" name="Freeform 35">
              <a:extLst>
                <a:ext uri="{FF2B5EF4-FFF2-40B4-BE49-F238E27FC236}">
                  <a16:creationId xmlns:a16="http://schemas.microsoft.com/office/drawing/2014/main" id="{06E6627A-FDB0-45F1-37FA-814662AAEE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14666" y="569436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45" name="Freeform 36">
              <a:extLst>
                <a:ext uri="{FF2B5EF4-FFF2-40B4-BE49-F238E27FC236}">
                  <a16:creationId xmlns:a16="http://schemas.microsoft.com/office/drawing/2014/main" id="{4307C5D0-8C09-435C-A91C-702538B1F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55966" y="5551488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46" name="Freeform 38">
              <a:extLst>
                <a:ext uri="{FF2B5EF4-FFF2-40B4-BE49-F238E27FC236}">
                  <a16:creationId xmlns:a16="http://schemas.microsoft.com/office/drawing/2014/main" id="{F8B2AFB9-4645-7411-B321-71041195A2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19441" y="4867275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47" name="Freeform 39">
              <a:extLst>
                <a:ext uri="{FF2B5EF4-FFF2-40B4-BE49-F238E27FC236}">
                  <a16:creationId xmlns:a16="http://schemas.microsoft.com/office/drawing/2014/main" id="{900F25EF-39F7-73E8-6BB3-F889554255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24178" y="5046663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48" name="Freeform 40">
              <a:extLst>
                <a:ext uri="{FF2B5EF4-FFF2-40B4-BE49-F238E27FC236}">
                  <a16:creationId xmlns:a16="http://schemas.microsoft.com/office/drawing/2014/main" id="{8335EA35-297F-B750-3B62-8B818D04ED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832166" y="64166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49" name="Rectangle 41">
              <a:extLst>
                <a:ext uri="{FF2B5EF4-FFF2-40B4-BE49-F238E27FC236}">
                  <a16:creationId xmlns:a16="http://schemas.microsoft.com/office/drawing/2014/main" id="{F1907086-466E-6A63-1C15-32045F314C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922653" y="6596063"/>
              <a:ext cx="23813" cy="252413"/>
            </a:xfrm>
            <a:prstGeom prst="rect">
              <a:avLst/>
            </a:pr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</p:grpSp>
      <p:sp>
        <p:nvSpPr>
          <p:cNvPr id="110" name="Rectangle 109">
            <a:extLst>
              <a:ext uri="{FF2B5EF4-FFF2-40B4-BE49-F238E27FC236}">
                <a16:creationId xmlns:a16="http://schemas.microsoft.com/office/drawing/2014/main" id="{E1831EB2-8D21-88CC-65E1-BAAFD6B29A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5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2" name="Round Diagonal Corner Rectangle 7">
            <a:extLst>
              <a:ext uri="{FF2B5EF4-FFF2-40B4-BE49-F238E27FC236}">
                <a16:creationId xmlns:a16="http://schemas.microsoft.com/office/drawing/2014/main" id="{6BB6A687-D221-3C33-A7FE-B57F5EAA15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2867" y="766234"/>
            <a:ext cx="10346266" cy="5325532"/>
          </a:xfrm>
          <a:prstGeom prst="round2DiagRect">
            <a:avLst>
              <a:gd name="adj1" fmla="val 4147"/>
              <a:gd name="adj2" fmla="val 0"/>
            </a:avLst>
          </a:prstGeom>
          <a:solidFill>
            <a:schemeClr val="bg2">
              <a:lumMod val="50000"/>
              <a:alpha val="80000"/>
            </a:schemeClr>
          </a:solidFill>
          <a:ln w="19050" cap="sq">
            <a:solidFill>
              <a:srgbClr val="FFFFFF">
                <a:alpha val="60000"/>
              </a:srgb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8F23EF-30D2-75AF-71AE-934A32C18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7445" y="1168078"/>
            <a:ext cx="9048219" cy="1092200"/>
          </a:xfrm>
        </p:spPr>
        <p:txBody>
          <a:bodyPr anchor="ctr">
            <a:normAutofit/>
          </a:bodyPr>
          <a:lstStyle/>
          <a:p>
            <a:pPr algn="ctr"/>
            <a:r>
              <a:rPr lang="en-US" b="1" u="sng" dirty="0">
                <a:solidFill>
                  <a:srgbClr val="FFFFFF"/>
                </a:solidFill>
              </a:rPr>
              <a:t>Tree traversal</a:t>
            </a:r>
            <a:endParaRPr lang="en-PK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652F8B-E9ED-521A-A90A-C3EE2B6956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9042" y="2272641"/>
            <a:ext cx="9585978" cy="3434422"/>
          </a:xfrm>
        </p:spPr>
        <p:txBody>
          <a:bodyPr anchor="ctr">
            <a:noAutofit/>
          </a:bodyPr>
          <a:lstStyle/>
          <a:p>
            <a:pPr algn="just"/>
            <a:r>
              <a:rPr lang="en-US" sz="2000" dirty="0"/>
              <a:t>Visiting every node of the tree exactly once is known as traversal. Any hierarchical data structure, like a tree, can be traversed in different ways. </a:t>
            </a:r>
          </a:p>
          <a:p>
            <a:pPr algn="just"/>
            <a:r>
              <a:rPr lang="en-US" sz="2000" dirty="0"/>
              <a:t>The tree can be traversed in three ways; </a:t>
            </a:r>
          </a:p>
          <a:p>
            <a:pPr lvl="1" algn="just"/>
            <a:r>
              <a:rPr lang="en-US" sz="1800" b="1" dirty="0"/>
              <a:t>In order traversal, </a:t>
            </a:r>
            <a:r>
              <a:rPr lang="en-US" sz="1800" dirty="0"/>
              <a:t>which for every node first left subtree is visited then the root, and then the right subtree is visited.</a:t>
            </a:r>
          </a:p>
          <a:p>
            <a:pPr lvl="1" algn="just"/>
            <a:r>
              <a:rPr lang="en-US" sz="1800" b="1" dirty="0"/>
              <a:t>Pre-order traversal </a:t>
            </a:r>
            <a:r>
              <a:rPr lang="en-US" sz="1800" dirty="0"/>
              <a:t>in which for every node, first the root then the left subtree then and then the right subtree will be visited, </a:t>
            </a:r>
          </a:p>
          <a:p>
            <a:pPr lvl="1" algn="just"/>
            <a:r>
              <a:rPr lang="en-US" sz="1800" b="1" dirty="0"/>
              <a:t>Post Order traversal </a:t>
            </a:r>
            <a:r>
              <a:rPr lang="en-US" sz="1800" dirty="0"/>
              <a:t>in which the first left subtree, then the right subtree, and then the root will be visited.</a:t>
            </a:r>
            <a:r>
              <a:rPr lang="en-PK" sz="12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711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7B9370-8453-AF7B-9345-4E5CDC2FB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5" name="Rectangle 124">
            <a:extLst>
              <a:ext uri="{FF2B5EF4-FFF2-40B4-BE49-F238E27FC236}">
                <a16:creationId xmlns:a16="http://schemas.microsoft.com/office/drawing/2014/main" id="{DD0A524F-F82E-C62E-7522-9C1FDC2B3C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-1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858CE91A-C53B-EE58-974C-0F7C1F7ADE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72533" y="0"/>
            <a:ext cx="598488" cy="1981201"/>
            <a:chOff x="194733" y="0"/>
            <a:chExt cx="598488" cy="1981201"/>
          </a:xfrm>
        </p:grpSpPr>
        <p:sp>
          <p:nvSpPr>
            <p:cNvPr id="127" name="Freeform 35">
              <a:extLst>
                <a:ext uri="{FF2B5EF4-FFF2-40B4-BE49-F238E27FC236}">
                  <a16:creationId xmlns:a16="http://schemas.microsoft.com/office/drawing/2014/main" id="{56FC22D8-A8BB-8903-C943-7F109BEBB0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285221" y="0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28" name="Freeform 36">
              <a:extLst>
                <a:ext uri="{FF2B5EF4-FFF2-40B4-BE49-F238E27FC236}">
                  <a16:creationId xmlns:a16="http://schemas.microsoft.com/office/drawing/2014/main" id="{D221E73A-CEE5-CEE2-B630-078F093F3C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526521" y="1141413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29" name="Freeform 38">
              <a:extLst>
                <a:ext uri="{FF2B5EF4-FFF2-40B4-BE49-F238E27FC236}">
                  <a16:creationId xmlns:a16="http://schemas.microsoft.com/office/drawing/2014/main" id="{41B9796E-C819-72A6-104A-67BB64DA64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389996" y="1792288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30" name="Freeform 39">
              <a:extLst>
                <a:ext uri="{FF2B5EF4-FFF2-40B4-BE49-F238E27FC236}">
                  <a16:creationId xmlns:a16="http://schemas.microsoft.com/office/drawing/2014/main" id="{8BAB9151-CC51-BB80-57DA-34D8883314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194733" y="0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31" name="Freeform 40">
              <a:extLst>
                <a:ext uri="{FF2B5EF4-FFF2-40B4-BE49-F238E27FC236}">
                  <a16:creationId xmlns:a16="http://schemas.microsoft.com/office/drawing/2014/main" id="{D24BE005-1B35-2B73-9BAE-1DDD83187A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602721" y="24288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32" name="Rectangle 41">
              <a:extLst>
                <a:ext uri="{FF2B5EF4-FFF2-40B4-BE49-F238E27FC236}">
                  <a16:creationId xmlns:a16="http://schemas.microsoft.com/office/drawing/2014/main" id="{25246A3F-6A26-B929-DA15-56A31C6A61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693208" y="0"/>
              <a:ext cx="23813" cy="252413"/>
            </a:xfrm>
            <a:prstGeom prst="rect">
              <a:avLst/>
            </a:pr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3DF513F9-D2DF-7D9D-EEA9-52C4824710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085512" y="0"/>
            <a:ext cx="650875" cy="1730375"/>
            <a:chOff x="11347978" y="0"/>
            <a:chExt cx="650875" cy="1730375"/>
          </a:xfrm>
        </p:grpSpPr>
        <p:sp>
          <p:nvSpPr>
            <p:cNvPr id="134" name="Freeform 32">
              <a:extLst>
                <a:ext uri="{FF2B5EF4-FFF2-40B4-BE49-F238E27FC236}">
                  <a16:creationId xmlns:a16="http://schemas.microsoft.com/office/drawing/2014/main" id="{A6AD6B0E-3E0E-FEC9-A59A-C334FB960F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67041" y="0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35" name="Freeform 33">
              <a:extLst>
                <a:ext uri="{FF2B5EF4-FFF2-40B4-BE49-F238E27FC236}">
                  <a16:creationId xmlns:a16="http://schemas.microsoft.com/office/drawing/2014/main" id="{CA21940C-BA9E-7503-0191-1CA2EE327C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347978" y="47466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36" name="Freeform 34">
              <a:extLst>
                <a:ext uri="{FF2B5EF4-FFF2-40B4-BE49-F238E27FC236}">
                  <a16:creationId xmlns:a16="http://schemas.microsoft.com/office/drawing/2014/main" id="{37A822F2-62F2-FA91-0420-E3CAFAF47D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14678" y="1539875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37" name="Freeform 37">
              <a:extLst>
                <a:ext uri="{FF2B5EF4-FFF2-40B4-BE49-F238E27FC236}">
                  <a16:creationId xmlns:a16="http://schemas.microsoft.com/office/drawing/2014/main" id="{92852C01-C015-E70A-25CE-172BE4FD6A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94053" y="4763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3C4AB255-15CE-A93E-BDF5-73D10B6E9C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440267" y="5118101"/>
            <a:ext cx="650875" cy="1730375"/>
            <a:chOff x="118533" y="5118101"/>
            <a:chExt cx="650875" cy="1730375"/>
          </a:xfrm>
        </p:grpSpPr>
        <p:sp>
          <p:nvSpPr>
            <p:cNvPr id="139" name="Freeform 32">
              <a:extLst>
                <a:ext uri="{FF2B5EF4-FFF2-40B4-BE49-F238E27FC236}">
                  <a16:creationId xmlns:a16="http://schemas.microsoft.com/office/drawing/2014/main" id="{F09B2EE4-BD25-9F40-FEC0-7E28B55DED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237596" y="6335713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40" name="Freeform 33">
              <a:extLst>
                <a:ext uri="{FF2B5EF4-FFF2-40B4-BE49-F238E27FC236}">
                  <a16:creationId xmlns:a16="http://schemas.microsoft.com/office/drawing/2014/main" id="{F2018938-30CB-1250-4EE9-465635005F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118533" y="622141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41" name="Freeform 34">
              <a:extLst>
                <a:ext uri="{FF2B5EF4-FFF2-40B4-BE49-F238E27FC236}">
                  <a16:creationId xmlns:a16="http://schemas.microsoft.com/office/drawing/2014/main" id="{2FC74D9E-FDBE-93FE-7E53-FE73339225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385233" y="5118101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42" name="Freeform 37">
              <a:extLst>
                <a:ext uri="{FF2B5EF4-FFF2-40B4-BE49-F238E27FC236}">
                  <a16:creationId xmlns:a16="http://schemas.microsoft.com/office/drawing/2014/main" id="{D267F113-83A2-B109-9685-3542FF3793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464608" y="5299075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55B76201-3434-C074-977D-EDF503B96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1229445" y="4867275"/>
            <a:ext cx="598488" cy="1981201"/>
            <a:chOff x="11424178" y="4867275"/>
            <a:chExt cx="598488" cy="1981201"/>
          </a:xfrm>
        </p:grpSpPr>
        <p:sp>
          <p:nvSpPr>
            <p:cNvPr id="144" name="Freeform 35">
              <a:extLst>
                <a:ext uri="{FF2B5EF4-FFF2-40B4-BE49-F238E27FC236}">
                  <a16:creationId xmlns:a16="http://schemas.microsoft.com/office/drawing/2014/main" id="{06DA2EEC-6409-6EAB-CB10-F564DC4D87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14666" y="569436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45" name="Freeform 36">
              <a:extLst>
                <a:ext uri="{FF2B5EF4-FFF2-40B4-BE49-F238E27FC236}">
                  <a16:creationId xmlns:a16="http://schemas.microsoft.com/office/drawing/2014/main" id="{AFF38CDD-9AA5-1A94-589A-5D6FDE00E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55966" y="5551488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46" name="Freeform 38">
              <a:extLst>
                <a:ext uri="{FF2B5EF4-FFF2-40B4-BE49-F238E27FC236}">
                  <a16:creationId xmlns:a16="http://schemas.microsoft.com/office/drawing/2014/main" id="{19325C3D-954C-14DE-CBBF-DB58F4F9EC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19441" y="4867275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47" name="Freeform 39">
              <a:extLst>
                <a:ext uri="{FF2B5EF4-FFF2-40B4-BE49-F238E27FC236}">
                  <a16:creationId xmlns:a16="http://schemas.microsoft.com/office/drawing/2014/main" id="{A3919F95-2DBD-264F-5BDD-84ABD760DD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24178" y="5046663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48" name="Freeform 40">
              <a:extLst>
                <a:ext uri="{FF2B5EF4-FFF2-40B4-BE49-F238E27FC236}">
                  <a16:creationId xmlns:a16="http://schemas.microsoft.com/office/drawing/2014/main" id="{71829482-1A28-B03F-0947-F712835900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832166" y="64166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49" name="Rectangle 41">
              <a:extLst>
                <a:ext uri="{FF2B5EF4-FFF2-40B4-BE49-F238E27FC236}">
                  <a16:creationId xmlns:a16="http://schemas.microsoft.com/office/drawing/2014/main" id="{9CEBFCBE-9657-693B-B823-A00F34EE04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922653" y="6596063"/>
              <a:ext cx="23813" cy="252413"/>
            </a:xfrm>
            <a:prstGeom prst="rect">
              <a:avLst/>
            </a:pr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</p:grpSp>
      <p:sp>
        <p:nvSpPr>
          <p:cNvPr id="110" name="Rectangle 109">
            <a:extLst>
              <a:ext uri="{FF2B5EF4-FFF2-40B4-BE49-F238E27FC236}">
                <a16:creationId xmlns:a16="http://schemas.microsoft.com/office/drawing/2014/main" id="{135B49DF-5E5A-DF33-F9D3-D3C8C66C03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5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2" name="Round Diagonal Corner Rectangle 7">
            <a:extLst>
              <a:ext uri="{FF2B5EF4-FFF2-40B4-BE49-F238E27FC236}">
                <a16:creationId xmlns:a16="http://schemas.microsoft.com/office/drawing/2014/main" id="{95050A4F-3750-2719-5B69-CCDC304A4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2867" y="766234"/>
            <a:ext cx="10346266" cy="5325532"/>
          </a:xfrm>
          <a:prstGeom prst="round2DiagRect">
            <a:avLst>
              <a:gd name="adj1" fmla="val 4147"/>
              <a:gd name="adj2" fmla="val 0"/>
            </a:avLst>
          </a:prstGeom>
          <a:solidFill>
            <a:schemeClr val="bg2">
              <a:lumMod val="50000"/>
              <a:alpha val="80000"/>
            </a:schemeClr>
          </a:solidFill>
          <a:ln w="19050" cap="sq">
            <a:solidFill>
              <a:srgbClr val="FFFFFF">
                <a:alpha val="60000"/>
              </a:srgb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6FE4D8-6EB1-4FF0-B7B8-238C616FD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7445" y="1168078"/>
            <a:ext cx="9048219" cy="1092200"/>
          </a:xfrm>
        </p:spPr>
        <p:txBody>
          <a:bodyPr anchor="ctr">
            <a:normAutofit/>
          </a:bodyPr>
          <a:lstStyle/>
          <a:p>
            <a:pPr algn="ctr"/>
            <a:r>
              <a:rPr lang="en-US" b="1" u="sng" dirty="0">
                <a:solidFill>
                  <a:srgbClr val="FFFFFF"/>
                </a:solidFill>
              </a:rPr>
              <a:t>Binary Tree</a:t>
            </a:r>
            <a:endParaRPr lang="en-PK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497E8A-2502-9975-1029-64886A24B6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9042" y="2272641"/>
            <a:ext cx="9585978" cy="3434422"/>
          </a:xfrm>
        </p:spPr>
        <p:txBody>
          <a:bodyPr anchor="ctr">
            <a:noAutofit/>
          </a:bodyPr>
          <a:lstStyle/>
          <a:p>
            <a:pPr algn="just"/>
            <a:r>
              <a:rPr lang="en-US" sz="2000" dirty="0"/>
              <a:t>Binary tree is a special kind of tree in which every node can have at most two children. </a:t>
            </a:r>
          </a:p>
          <a:p>
            <a:pPr algn="just"/>
            <a:r>
              <a:rPr lang="en-US" sz="2000" dirty="0"/>
              <a:t>A binary tree can be represented either using an array or a linked list. </a:t>
            </a:r>
          </a:p>
          <a:p>
            <a:pPr algn="just"/>
            <a:r>
              <a:rPr lang="en-US" sz="2000" dirty="0"/>
              <a:t>For array representation, if a root node is stored at array index 𝐼, then its left child will be stored at index 2 × 𝐼 and the right child will be stored at index 2 × 𝐼 + 1. </a:t>
            </a:r>
          </a:p>
          <a:p>
            <a:pPr algn="just"/>
            <a:r>
              <a:rPr lang="en-US" sz="2000" dirty="0"/>
              <a:t>For a linked list representation, along with data fields, every node will contain two pointers, one will be linked with the left child, and another will be linked with the right child.</a:t>
            </a:r>
            <a:r>
              <a:rPr lang="en-PK" sz="11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92320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2E0EAC-D9A4-3943-D759-E510DE4EE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0" name="Rectangle 79">
            <a:extLst>
              <a:ext uri="{FF2B5EF4-FFF2-40B4-BE49-F238E27FC236}">
                <a16:creationId xmlns:a16="http://schemas.microsoft.com/office/drawing/2014/main" id="{4E63A8FC-8920-F54D-E6F8-60A2317547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-1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2" name="Group 81">
            <a:extLst>
              <a:ext uri="{FF2B5EF4-FFF2-40B4-BE49-F238E27FC236}">
                <a16:creationId xmlns:a16="http://schemas.microsoft.com/office/drawing/2014/main" id="{1B0E008A-38EC-9D3F-D904-C92AAE1BB8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72533" y="0"/>
            <a:ext cx="598488" cy="1981201"/>
            <a:chOff x="194733" y="0"/>
            <a:chExt cx="598488" cy="1981201"/>
          </a:xfrm>
        </p:grpSpPr>
        <p:sp>
          <p:nvSpPr>
            <p:cNvPr id="83" name="Freeform 35">
              <a:extLst>
                <a:ext uri="{FF2B5EF4-FFF2-40B4-BE49-F238E27FC236}">
                  <a16:creationId xmlns:a16="http://schemas.microsoft.com/office/drawing/2014/main" id="{C546FAB2-C185-2731-0CE9-BC5613A41D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285221" y="0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84" name="Freeform 36">
              <a:extLst>
                <a:ext uri="{FF2B5EF4-FFF2-40B4-BE49-F238E27FC236}">
                  <a16:creationId xmlns:a16="http://schemas.microsoft.com/office/drawing/2014/main" id="{A9518736-1CA3-2D50-BBB6-9AFF665C4C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526521" y="1141413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85" name="Freeform 38">
              <a:extLst>
                <a:ext uri="{FF2B5EF4-FFF2-40B4-BE49-F238E27FC236}">
                  <a16:creationId xmlns:a16="http://schemas.microsoft.com/office/drawing/2014/main" id="{22BC30F3-4BF4-9F5A-8D6E-D9F3C61C70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389996" y="1792288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86" name="Freeform 39">
              <a:extLst>
                <a:ext uri="{FF2B5EF4-FFF2-40B4-BE49-F238E27FC236}">
                  <a16:creationId xmlns:a16="http://schemas.microsoft.com/office/drawing/2014/main" id="{79BB2B59-F1DF-9E52-6CE3-34CE0EF680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194733" y="0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87" name="Freeform 40">
              <a:extLst>
                <a:ext uri="{FF2B5EF4-FFF2-40B4-BE49-F238E27FC236}">
                  <a16:creationId xmlns:a16="http://schemas.microsoft.com/office/drawing/2014/main" id="{8865C487-FBE9-E4C6-5225-5E8E728EC3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602721" y="24288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88" name="Rectangle 41">
              <a:extLst>
                <a:ext uri="{FF2B5EF4-FFF2-40B4-BE49-F238E27FC236}">
                  <a16:creationId xmlns:a16="http://schemas.microsoft.com/office/drawing/2014/main" id="{7816092B-F075-2A17-352D-1E714B9A76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693208" y="0"/>
              <a:ext cx="23813" cy="252413"/>
            </a:xfrm>
            <a:prstGeom prst="rect">
              <a:avLst/>
            </a:pr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3C6BD63F-EE17-3681-4C1C-5B13AFD12E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085512" y="0"/>
            <a:ext cx="650875" cy="1730375"/>
            <a:chOff x="11347978" y="0"/>
            <a:chExt cx="650875" cy="1730375"/>
          </a:xfrm>
        </p:grpSpPr>
        <p:sp>
          <p:nvSpPr>
            <p:cNvPr id="91" name="Freeform 32">
              <a:extLst>
                <a:ext uri="{FF2B5EF4-FFF2-40B4-BE49-F238E27FC236}">
                  <a16:creationId xmlns:a16="http://schemas.microsoft.com/office/drawing/2014/main" id="{E0C32DEA-1B8B-F58E-7FDA-9A2EAFE7C1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67041" y="0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92" name="Freeform 33">
              <a:extLst>
                <a:ext uri="{FF2B5EF4-FFF2-40B4-BE49-F238E27FC236}">
                  <a16:creationId xmlns:a16="http://schemas.microsoft.com/office/drawing/2014/main" id="{4468D505-CA63-982E-6870-42C8E82C21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347978" y="47466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93" name="Freeform 34">
              <a:extLst>
                <a:ext uri="{FF2B5EF4-FFF2-40B4-BE49-F238E27FC236}">
                  <a16:creationId xmlns:a16="http://schemas.microsoft.com/office/drawing/2014/main" id="{054D9C9C-262D-4D6E-D251-89FFD1A876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14678" y="1539875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94" name="Freeform 37">
              <a:extLst>
                <a:ext uri="{FF2B5EF4-FFF2-40B4-BE49-F238E27FC236}">
                  <a16:creationId xmlns:a16="http://schemas.microsoft.com/office/drawing/2014/main" id="{9DC7DE0F-71BC-49B8-4572-3A4150AA1C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94053" y="4763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CDAA6E03-8B9A-D44E-662C-2F0C090A8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440267" y="5118101"/>
            <a:ext cx="650875" cy="1730375"/>
            <a:chOff x="118533" y="5118101"/>
            <a:chExt cx="650875" cy="1730375"/>
          </a:xfrm>
        </p:grpSpPr>
        <p:sp>
          <p:nvSpPr>
            <p:cNvPr id="97" name="Freeform 32">
              <a:extLst>
                <a:ext uri="{FF2B5EF4-FFF2-40B4-BE49-F238E27FC236}">
                  <a16:creationId xmlns:a16="http://schemas.microsoft.com/office/drawing/2014/main" id="{BD678F65-B6AC-FEE1-E639-F1F8D210EA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237596" y="6335713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98" name="Freeform 33">
              <a:extLst>
                <a:ext uri="{FF2B5EF4-FFF2-40B4-BE49-F238E27FC236}">
                  <a16:creationId xmlns:a16="http://schemas.microsoft.com/office/drawing/2014/main" id="{78830A76-063E-3281-58BD-571A0CC49A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118533" y="622141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99" name="Freeform 34">
              <a:extLst>
                <a:ext uri="{FF2B5EF4-FFF2-40B4-BE49-F238E27FC236}">
                  <a16:creationId xmlns:a16="http://schemas.microsoft.com/office/drawing/2014/main" id="{1409A92B-AD0D-ED4D-D57E-9E891369DA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385233" y="5118101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00" name="Freeform 37">
              <a:extLst>
                <a:ext uri="{FF2B5EF4-FFF2-40B4-BE49-F238E27FC236}">
                  <a16:creationId xmlns:a16="http://schemas.microsoft.com/office/drawing/2014/main" id="{D31EEE4F-7C3F-EA80-1191-86F8A205B8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464608" y="5299075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4E8120ED-40D9-AA0A-4230-C7A711FCDB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1229445" y="4867275"/>
            <a:ext cx="598488" cy="1981201"/>
            <a:chOff x="11424178" y="4867275"/>
            <a:chExt cx="598488" cy="1981201"/>
          </a:xfrm>
        </p:grpSpPr>
        <p:sp>
          <p:nvSpPr>
            <p:cNvPr id="103" name="Freeform 35">
              <a:extLst>
                <a:ext uri="{FF2B5EF4-FFF2-40B4-BE49-F238E27FC236}">
                  <a16:creationId xmlns:a16="http://schemas.microsoft.com/office/drawing/2014/main" id="{23F9A224-58DC-3ADA-FCFC-040A38200C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14666" y="569436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04" name="Freeform 36">
              <a:extLst>
                <a:ext uri="{FF2B5EF4-FFF2-40B4-BE49-F238E27FC236}">
                  <a16:creationId xmlns:a16="http://schemas.microsoft.com/office/drawing/2014/main" id="{D843FC86-EF27-02E2-162B-E436A20C75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55966" y="5551488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05" name="Freeform 38">
              <a:extLst>
                <a:ext uri="{FF2B5EF4-FFF2-40B4-BE49-F238E27FC236}">
                  <a16:creationId xmlns:a16="http://schemas.microsoft.com/office/drawing/2014/main" id="{4AC2A121-3BF7-554B-9571-4B034B54ED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19441" y="4867275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06" name="Freeform 39">
              <a:extLst>
                <a:ext uri="{FF2B5EF4-FFF2-40B4-BE49-F238E27FC236}">
                  <a16:creationId xmlns:a16="http://schemas.microsoft.com/office/drawing/2014/main" id="{97798BA7-49EF-749C-E7AD-4832D3A91F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24178" y="5046663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07" name="Freeform 40">
              <a:extLst>
                <a:ext uri="{FF2B5EF4-FFF2-40B4-BE49-F238E27FC236}">
                  <a16:creationId xmlns:a16="http://schemas.microsoft.com/office/drawing/2014/main" id="{E02C15F8-C37E-31C8-6DF6-2AC1456306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832166" y="64166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08" name="Rectangle 41">
              <a:extLst>
                <a:ext uri="{FF2B5EF4-FFF2-40B4-BE49-F238E27FC236}">
                  <a16:creationId xmlns:a16="http://schemas.microsoft.com/office/drawing/2014/main" id="{8C99BE8F-7A2E-828D-AA73-B15DB4E226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922653" y="6596063"/>
              <a:ext cx="23813" cy="252413"/>
            </a:xfrm>
            <a:prstGeom prst="rect">
              <a:avLst/>
            </a:pr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</p:grpSp>
      <p:sp>
        <p:nvSpPr>
          <p:cNvPr id="110" name="Rectangle 109">
            <a:extLst>
              <a:ext uri="{FF2B5EF4-FFF2-40B4-BE49-F238E27FC236}">
                <a16:creationId xmlns:a16="http://schemas.microsoft.com/office/drawing/2014/main" id="{9CAC2520-76EF-28E5-70DC-94591359CD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5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2" name="Round Diagonal Corner Rectangle 7">
            <a:extLst>
              <a:ext uri="{FF2B5EF4-FFF2-40B4-BE49-F238E27FC236}">
                <a16:creationId xmlns:a16="http://schemas.microsoft.com/office/drawing/2014/main" id="{7129F3BF-E019-DCC7-6267-FA26231A04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2867" y="766234"/>
            <a:ext cx="10346266" cy="5325532"/>
          </a:xfrm>
          <a:prstGeom prst="round2DiagRect">
            <a:avLst>
              <a:gd name="adj1" fmla="val 4147"/>
              <a:gd name="adj2" fmla="val 0"/>
            </a:avLst>
          </a:prstGeom>
          <a:solidFill>
            <a:schemeClr val="bg2">
              <a:lumMod val="50000"/>
              <a:alpha val="80000"/>
            </a:schemeClr>
          </a:solidFill>
          <a:ln w="19050" cap="sq">
            <a:solidFill>
              <a:srgbClr val="FFFFFF">
                <a:alpha val="60000"/>
              </a:srgb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3A3ACC-F136-F1EB-5974-424B8FB5E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7445" y="1168078"/>
            <a:ext cx="9048219" cy="1092200"/>
          </a:xfrm>
        </p:spPr>
        <p:txBody>
          <a:bodyPr anchor="ctr">
            <a:normAutofit/>
          </a:bodyPr>
          <a:lstStyle/>
          <a:p>
            <a:pPr algn="ctr"/>
            <a:r>
              <a:rPr lang="en-US" b="1" u="sng" dirty="0"/>
              <a:t>Lab-task</a:t>
            </a:r>
            <a:endParaRPr lang="en-PK" dirty="0">
              <a:solidFill>
                <a:srgbClr val="FFFFFF"/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7DCC3AA-4404-5698-B199-B773E7A5B1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07596" y="2260278"/>
            <a:ext cx="9048218" cy="3250629"/>
          </a:xfrm>
        </p:spPr>
        <p:txBody>
          <a:bodyPr anchor="ctr">
            <a:normAutofit/>
          </a:bodyPr>
          <a:lstStyle/>
          <a:p>
            <a:pPr lvl="0" algn="just">
              <a:lnSpc>
                <a:spcPct val="150000"/>
              </a:lnSpc>
            </a:pPr>
            <a:r>
              <a:rPr lang="en-US" dirty="0"/>
              <a:t>Tree representation.</a:t>
            </a:r>
            <a:endParaRPr lang="en-PK" dirty="0"/>
          </a:p>
          <a:p>
            <a:pPr lvl="0" algn="just">
              <a:lnSpc>
                <a:spcPct val="150000"/>
              </a:lnSpc>
            </a:pPr>
            <a:r>
              <a:rPr lang="en-US" dirty="0"/>
              <a:t>Binary tree implementation.</a:t>
            </a:r>
            <a:endParaRPr lang="en-PK" dirty="0"/>
          </a:p>
          <a:p>
            <a:pPr lvl="0" algn="just">
              <a:lnSpc>
                <a:spcPct val="150000"/>
              </a:lnSpc>
            </a:pPr>
            <a:r>
              <a:rPr lang="en-US" dirty="0"/>
              <a:t>Implementation of different tree traversal algorithms.</a:t>
            </a:r>
            <a:endParaRPr lang="en-PK" dirty="0"/>
          </a:p>
          <a:p>
            <a:pPr lvl="0" algn="just">
              <a:lnSpc>
                <a:spcPct val="150000"/>
              </a:lnSpc>
            </a:pPr>
            <a:r>
              <a:rPr lang="en-US" dirty="0"/>
              <a:t>Inserting new elements, deleting existing elements, and updating elements in tree.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564553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Gre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1094</TotalTime>
  <Words>722</Words>
  <Application>Microsoft Macintosh PowerPoint</Application>
  <PresentationFormat>Widescreen</PresentationFormat>
  <Paragraphs>47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Tw Cen MT</vt:lpstr>
      <vt:lpstr>Circuit</vt:lpstr>
      <vt:lpstr>Algorithms and Data Structures  TEB1113/TFB2023 - may 2025</vt:lpstr>
      <vt:lpstr>LAB – 7  trees - i</vt:lpstr>
      <vt:lpstr>Objectives for lab-7</vt:lpstr>
      <vt:lpstr>Brief history</vt:lpstr>
      <vt:lpstr>Brief history</vt:lpstr>
      <vt:lpstr>Tree terminologies</vt:lpstr>
      <vt:lpstr>Tree terminologies</vt:lpstr>
      <vt:lpstr>Tree traversal</vt:lpstr>
      <vt:lpstr>Binary Tree</vt:lpstr>
      <vt:lpstr>Lab-task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Khan Reeyan Afzal</dc:creator>
  <cp:lastModifiedBy>Khan Reeyan Afzal</cp:lastModifiedBy>
  <cp:revision>201</cp:revision>
  <dcterms:created xsi:type="dcterms:W3CDTF">2025-05-20T03:20:14Z</dcterms:created>
  <dcterms:modified xsi:type="dcterms:W3CDTF">2026-07-03T03:28:33Z</dcterms:modified>
</cp:coreProperties>
</file>