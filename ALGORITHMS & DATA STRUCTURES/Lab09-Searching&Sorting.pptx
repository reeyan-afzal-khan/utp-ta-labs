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notesMasterIdLst>
    <p:notesMasterId r:id="rId15"/>
  </p:notesMasterIdLst>
  <p:sldIdLst>
    <p:sldId id="256" r:id="rId2"/>
    <p:sldId id="270" r:id="rId3"/>
    <p:sldId id="258" r:id="rId4"/>
    <p:sldId id="261" r:id="rId5"/>
    <p:sldId id="274" r:id="rId6"/>
    <p:sldId id="286" r:id="rId7"/>
    <p:sldId id="287" r:id="rId8"/>
    <p:sldId id="288" r:id="rId9"/>
    <p:sldId id="289" r:id="rId10"/>
    <p:sldId id="290" r:id="rId11"/>
    <p:sldId id="291" r:id="rId12"/>
    <p:sldId id="292" r:id="rId13"/>
    <p:sldId id="29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54"/>
    <p:restoredTop sz="94636"/>
  </p:normalViewPr>
  <p:slideViewPr>
    <p:cSldViewPr snapToGrid="0">
      <p:cViewPr varScale="1">
        <p:scale>
          <a:sx n="105" d="100"/>
          <a:sy n="105" d="100"/>
        </p:scale>
        <p:origin x="10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89529-089E-6C4A-9D3C-D17D436A8580}" type="datetimeFigureOut">
              <a:rPr lang="en-PK" smtClean="0"/>
              <a:t>07/16/2026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6B9A6-B2B1-534D-B588-971C6DF2020E}" type="slidenum">
              <a:rPr lang="en-PK" smtClean="0"/>
              <a:t>‹#›</a:t>
            </a:fld>
            <a:endParaRPr lang="en-PK"/>
          </a:p>
        </p:txBody>
      </p:sp>
    </p:spTree>
    <p:extLst>
      <p:ext uri="{BB962C8B-B14F-4D97-AF65-F5344CB8AC3E}">
        <p14:creationId xmlns:p14="http://schemas.microsoft.com/office/powerpoint/2010/main" val="69270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61B6B9A6-B2B1-534D-B588-971C6DF2020E}" type="slidenum">
              <a:rPr lang="en-PK" smtClean="0"/>
              <a:t>3</a:t>
            </a:fld>
            <a:endParaRPr lang="en-PK"/>
          </a:p>
        </p:txBody>
      </p:sp>
    </p:spTree>
    <p:extLst>
      <p:ext uri="{BB962C8B-B14F-4D97-AF65-F5344CB8AC3E}">
        <p14:creationId xmlns:p14="http://schemas.microsoft.com/office/powerpoint/2010/main" val="34467421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7/16/2026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727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312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0753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942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640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595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844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6458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8743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551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1159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55631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9324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1281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12743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6435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4195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MY"/>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MY"/>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MY"/>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7/16/2026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36246617"/>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7A070EAD-1DCD-4F3D-BA84-799B891A0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8075C-96CF-B9F5-0486-9F30AE741672}"/>
              </a:ext>
            </a:extLst>
          </p:cNvPr>
          <p:cNvSpPr>
            <a:spLocks noGrp="1"/>
          </p:cNvSpPr>
          <p:nvPr>
            <p:ph type="ctrTitle"/>
          </p:nvPr>
        </p:nvSpPr>
        <p:spPr>
          <a:xfrm>
            <a:off x="2671285" y="1816101"/>
            <a:ext cx="8578215" cy="1782760"/>
          </a:xfrm>
        </p:spPr>
        <p:txBody>
          <a:bodyPr>
            <a:normAutofit/>
          </a:bodyPr>
          <a:lstStyle/>
          <a:p>
            <a:pPr algn="ctr"/>
            <a:r>
              <a:rPr lang="en-MY" sz="4000" b="1" u="sng" dirty="0"/>
              <a:t>Algorithms and Data Structures</a:t>
            </a:r>
            <a:br>
              <a:rPr lang="en-MY" sz="4000" b="1" dirty="0"/>
            </a:br>
            <a:br>
              <a:rPr lang="en-MY" sz="4200" b="1" dirty="0"/>
            </a:br>
            <a:r>
              <a:rPr lang="en-MY" sz="2400" dirty="0"/>
              <a:t>TEB1113/TFB2023 - may 2025</a:t>
            </a:r>
            <a:endParaRPr lang="en-PK" sz="4200" dirty="0"/>
          </a:p>
        </p:txBody>
      </p:sp>
      <p:sp>
        <p:nvSpPr>
          <p:cNvPr id="3" name="Subtitle 2">
            <a:extLst>
              <a:ext uri="{FF2B5EF4-FFF2-40B4-BE49-F238E27FC236}">
                <a16:creationId xmlns:a16="http://schemas.microsoft.com/office/drawing/2014/main" id="{4460126B-6154-9A82-4A9D-539A8B36CF44}"/>
              </a:ext>
            </a:extLst>
          </p:cNvPr>
          <p:cNvSpPr>
            <a:spLocks noGrp="1"/>
          </p:cNvSpPr>
          <p:nvPr>
            <p:ph type="subTitle" idx="1"/>
          </p:nvPr>
        </p:nvSpPr>
        <p:spPr>
          <a:xfrm>
            <a:off x="3066574" y="4313237"/>
            <a:ext cx="7539989" cy="1108075"/>
          </a:xfrm>
        </p:spPr>
        <p:txBody>
          <a:bodyPr>
            <a:normAutofit/>
          </a:bodyPr>
          <a:lstStyle/>
          <a:p>
            <a:pPr algn="ctr"/>
            <a:r>
              <a:rPr lang="en-PK" sz="2400" b="1" dirty="0">
                <a:solidFill>
                  <a:schemeClr val="tx1"/>
                </a:solidFill>
              </a:rPr>
              <a:t>LAB TA: </a:t>
            </a:r>
            <a:r>
              <a:rPr lang="en-PK" sz="2400" dirty="0">
                <a:solidFill>
                  <a:schemeClr val="tx1"/>
                </a:solidFill>
              </a:rPr>
              <a:t>Reeyan afzal</a:t>
            </a:r>
          </a:p>
        </p:txBody>
      </p:sp>
      <p:grpSp>
        <p:nvGrpSpPr>
          <p:cNvPr id="125" name="Group 124">
            <a:extLst>
              <a:ext uri="{FF2B5EF4-FFF2-40B4-BE49-F238E27FC236}">
                <a16:creationId xmlns:a16="http://schemas.microsoft.com/office/drawing/2014/main" id="{DE471E13-6104-4637-8A8F-B545529B1D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26" name="Rectangle 5">
              <a:extLst>
                <a:ext uri="{FF2B5EF4-FFF2-40B4-BE49-F238E27FC236}">
                  <a16:creationId xmlns:a16="http://schemas.microsoft.com/office/drawing/2014/main" id="{802F412D-6781-427D-AB79-09FD610CCE5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27" name="Freeform 6">
              <a:extLst>
                <a:ext uri="{FF2B5EF4-FFF2-40B4-BE49-F238E27FC236}">
                  <a16:creationId xmlns:a16="http://schemas.microsoft.com/office/drawing/2014/main" id="{8471B962-D824-43CE-B5DD-704B305B2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28" name="Freeform 7">
              <a:extLst>
                <a:ext uri="{FF2B5EF4-FFF2-40B4-BE49-F238E27FC236}">
                  <a16:creationId xmlns:a16="http://schemas.microsoft.com/office/drawing/2014/main" id="{ED60EBD3-FA75-460B-AFBD-3F234A0CAA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29" name="Rectangle 8">
              <a:extLst>
                <a:ext uri="{FF2B5EF4-FFF2-40B4-BE49-F238E27FC236}">
                  <a16:creationId xmlns:a16="http://schemas.microsoft.com/office/drawing/2014/main" id="{D0791244-FBF2-49D9-BDBC-E2E58C86B4D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30" name="Freeform 9">
              <a:extLst>
                <a:ext uri="{FF2B5EF4-FFF2-40B4-BE49-F238E27FC236}">
                  <a16:creationId xmlns:a16="http://schemas.microsoft.com/office/drawing/2014/main" id="{FEE4C4B1-195C-40F5-A78F-2EB7ED6E6F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1" name="Freeform 10">
              <a:extLst>
                <a:ext uri="{FF2B5EF4-FFF2-40B4-BE49-F238E27FC236}">
                  <a16:creationId xmlns:a16="http://schemas.microsoft.com/office/drawing/2014/main" id="{22766AF8-3850-41E4-80D0-321D9A13D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2" name="Freeform 11">
              <a:extLst>
                <a:ext uri="{FF2B5EF4-FFF2-40B4-BE49-F238E27FC236}">
                  <a16:creationId xmlns:a16="http://schemas.microsoft.com/office/drawing/2014/main" id="{8834F8EE-AB04-42FE-AE7B-3E9C6ACA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3" name="Freeform 12">
              <a:extLst>
                <a:ext uri="{FF2B5EF4-FFF2-40B4-BE49-F238E27FC236}">
                  <a16:creationId xmlns:a16="http://schemas.microsoft.com/office/drawing/2014/main" id="{C86BB534-4617-4275-908E-357CF2246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4" name="Freeform 13">
              <a:extLst>
                <a:ext uri="{FF2B5EF4-FFF2-40B4-BE49-F238E27FC236}">
                  <a16:creationId xmlns:a16="http://schemas.microsoft.com/office/drawing/2014/main" id="{B6DEB58B-8D28-4BE9-9CA9-F4B3A083B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5" name="Freeform 14">
              <a:extLst>
                <a:ext uri="{FF2B5EF4-FFF2-40B4-BE49-F238E27FC236}">
                  <a16:creationId xmlns:a16="http://schemas.microsoft.com/office/drawing/2014/main" id="{25A772BC-4720-4EC2-AD61-A7B74E9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6" name="Freeform 15">
              <a:extLst>
                <a:ext uri="{FF2B5EF4-FFF2-40B4-BE49-F238E27FC236}">
                  <a16:creationId xmlns:a16="http://schemas.microsoft.com/office/drawing/2014/main" id="{60D6B27E-FAC5-4267-80A9-DE4D2E02B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7" name="Freeform 16">
              <a:extLst>
                <a:ext uri="{FF2B5EF4-FFF2-40B4-BE49-F238E27FC236}">
                  <a16:creationId xmlns:a16="http://schemas.microsoft.com/office/drawing/2014/main" id="{1F39FA83-D8C8-4CE3-9C62-10375FD041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8" name="Freeform 17">
              <a:extLst>
                <a:ext uri="{FF2B5EF4-FFF2-40B4-BE49-F238E27FC236}">
                  <a16:creationId xmlns:a16="http://schemas.microsoft.com/office/drawing/2014/main" id="{E09B4CF3-A51F-4787-81FE-F5C79BA42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39" name="Freeform 18">
              <a:extLst>
                <a:ext uri="{FF2B5EF4-FFF2-40B4-BE49-F238E27FC236}">
                  <a16:creationId xmlns:a16="http://schemas.microsoft.com/office/drawing/2014/main" id="{6695CB35-74E4-43C0-89F5-9FDA59B3A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0" name="Freeform 19">
              <a:extLst>
                <a:ext uri="{FF2B5EF4-FFF2-40B4-BE49-F238E27FC236}">
                  <a16:creationId xmlns:a16="http://schemas.microsoft.com/office/drawing/2014/main" id="{945450CE-FB13-4C46-825F-5BB191703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1" name="Freeform 20">
              <a:extLst>
                <a:ext uri="{FF2B5EF4-FFF2-40B4-BE49-F238E27FC236}">
                  <a16:creationId xmlns:a16="http://schemas.microsoft.com/office/drawing/2014/main" id="{E80AA0B2-7FE7-4B75-AC25-E0F6C0FE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2" name="Freeform 21">
              <a:extLst>
                <a:ext uri="{FF2B5EF4-FFF2-40B4-BE49-F238E27FC236}">
                  <a16:creationId xmlns:a16="http://schemas.microsoft.com/office/drawing/2014/main" id="{2E81F7C1-AD8F-41A0-91A8-E05F66CB0E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3" name="Freeform 22">
              <a:extLst>
                <a:ext uri="{FF2B5EF4-FFF2-40B4-BE49-F238E27FC236}">
                  <a16:creationId xmlns:a16="http://schemas.microsoft.com/office/drawing/2014/main" id="{F4E8A538-9FFA-4C76-BCE2-D54F56A11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4" name="Freeform 23">
              <a:extLst>
                <a:ext uri="{FF2B5EF4-FFF2-40B4-BE49-F238E27FC236}">
                  <a16:creationId xmlns:a16="http://schemas.microsoft.com/office/drawing/2014/main" id="{3C412824-3CBA-4E74-B2FD-936EA70486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5" name="Freeform 24">
              <a:extLst>
                <a:ext uri="{FF2B5EF4-FFF2-40B4-BE49-F238E27FC236}">
                  <a16:creationId xmlns:a16="http://schemas.microsoft.com/office/drawing/2014/main" id="{E28DC1F0-74FF-4D97-BD4D-FD42DE4AC6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6" name="Freeform 25">
              <a:extLst>
                <a:ext uri="{FF2B5EF4-FFF2-40B4-BE49-F238E27FC236}">
                  <a16:creationId xmlns:a16="http://schemas.microsoft.com/office/drawing/2014/main" id="{77CEC4FA-6FD3-4ABF-BF98-94E7947A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7" name="Freeform 26">
              <a:extLst>
                <a:ext uri="{FF2B5EF4-FFF2-40B4-BE49-F238E27FC236}">
                  <a16:creationId xmlns:a16="http://schemas.microsoft.com/office/drawing/2014/main" id="{D4E61DA7-BFA9-48AF-BD6F-EBB15C235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8" name="Freeform 27">
              <a:extLst>
                <a:ext uri="{FF2B5EF4-FFF2-40B4-BE49-F238E27FC236}">
                  <a16:creationId xmlns:a16="http://schemas.microsoft.com/office/drawing/2014/main" id="{57164D6A-1DD9-43AE-878F-A413DC26FB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49" name="Freeform 28">
              <a:extLst>
                <a:ext uri="{FF2B5EF4-FFF2-40B4-BE49-F238E27FC236}">
                  <a16:creationId xmlns:a16="http://schemas.microsoft.com/office/drawing/2014/main" id="{4949EBA6-53D9-4F2D-91DB-EA7AE260F6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0" name="Freeform 29">
              <a:extLst>
                <a:ext uri="{FF2B5EF4-FFF2-40B4-BE49-F238E27FC236}">
                  <a16:creationId xmlns:a16="http://schemas.microsoft.com/office/drawing/2014/main" id="{0AFEA5FA-F759-441C-A0BC-7EDC79A67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1" name="Freeform 30">
              <a:extLst>
                <a:ext uri="{FF2B5EF4-FFF2-40B4-BE49-F238E27FC236}">
                  <a16:creationId xmlns:a16="http://schemas.microsoft.com/office/drawing/2014/main" id="{5B913AE0-5DC8-4244-8C26-ED97F834E3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2" name="Freeform 31">
              <a:extLst>
                <a:ext uri="{FF2B5EF4-FFF2-40B4-BE49-F238E27FC236}">
                  <a16:creationId xmlns:a16="http://schemas.microsoft.com/office/drawing/2014/main" id="{A87DB58A-25D2-46F1-85E3-06F964D016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3" name="Freeform 32">
              <a:extLst>
                <a:ext uri="{FF2B5EF4-FFF2-40B4-BE49-F238E27FC236}">
                  <a16:creationId xmlns:a16="http://schemas.microsoft.com/office/drawing/2014/main" id="{E7AE8209-F3E7-4ACA-98D0-90B282A147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4" name="Rectangle 33">
              <a:extLst>
                <a:ext uri="{FF2B5EF4-FFF2-40B4-BE49-F238E27FC236}">
                  <a16:creationId xmlns:a16="http://schemas.microsoft.com/office/drawing/2014/main" id="{1CED7927-A7C7-444A-A8F3-6348852AEF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55" name="Freeform 34">
              <a:extLst>
                <a:ext uri="{FF2B5EF4-FFF2-40B4-BE49-F238E27FC236}">
                  <a16:creationId xmlns:a16="http://schemas.microsoft.com/office/drawing/2014/main" id="{08BEDF90-F9A6-4DE4-94B6-43E4160394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6" name="Freeform 35">
              <a:extLst>
                <a:ext uri="{FF2B5EF4-FFF2-40B4-BE49-F238E27FC236}">
                  <a16:creationId xmlns:a16="http://schemas.microsoft.com/office/drawing/2014/main" id="{36540D5F-1C77-438A-BF12-56455C472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7" name="Freeform 36">
              <a:extLst>
                <a:ext uri="{FF2B5EF4-FFF2-40B4-BE49-F238E27FC236}">
                  <a16:creationId xmlns:a16="http://schemas.microsoft.com/office/drawing/2014/main" id="{52FC779A-BC55-40AC-8FFD-E014F8C05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8" name="Freeform 37">
              <a:extLst>
                <a:ext uri="{FF2B5EF4-FFF2-40B4-BE49-F238E27FC236}">
                  <a16:creationId xmlns:a16="http://schemas.microsoft.com/office/drawing/2014/main" id="{63E42DE5-DC0E-4043-8A35-20C53074A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59" name="Freeform 38">
              <a:extLst>
                <a:ext uri="{FF2B5EF4-FFF2-40B4-BE49-F238E27FC236}">
                  <a16:creationId xmlns:a16="http://schemas.microsoft.com/office/drawing/2014/main" id="{41581FA6-993A-4899-ADF1-0A83A623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0" name="Freeform 39">
              <a:extLst>
                <a:ext uri="{FF2B5EF4-FFF2-40B4-BE49-F238E27FC236}">
                  <a16:creationId xmlns:a16="http://schemas.microsoft.com/office/drawing/2014/main" id="{33C4FDB9-01D2-4CB0-BFED-216CAC7EB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1" name="Freeform 40">
              <a:extLst>
                <a:ext uri="{FF2B5EF4-FFF2-40B4-BE49-F238E27FC236}">
                  <a16:creationId xmlns:a16="http://schemas.microsoft.com/office/drawing/2014/main" id="{34E715AB-2B68-41C4-A61F-02C413F242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2" name="Freeform 41">
              <a:extLst>
                <a:ext uri="{FF2B5EF4-FFF2-40B4-BE49-F238E27FC236}">
                  <a16:creationId xmlns:a16="http://schemas.microsoft.com/office/drawing/2014/main" id="{D3861C35-D060-408D-9871-4DA2D0547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3" name="Freeform 42">
              <a:extLst>
                <a:ext uri="{FF2B5EF4-FFF2-40B4-BE49-F238E27FC236}">
                  <a16:creationId xmlns:a16="http://schemas.microsoft.com/office/drawing/2014/main" id="{B4F4F38F-33FE-48A0-986D-FB771F18BE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4" name="Freeform 43">
              <a:extLst>
                <a:ext uri="{FF2B5EF4-FFF2-40B4-BE49-F238E27FC236}">
                  <a16:creationId xmlns:a16="http://schemas.microsoft.com/office/drawing/2014/main" id="{50FCFC8E-2DC3-4F27-9E02-196830E78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5" name="Freeform 44">
              <a:extLst>
                <a:ext uri="{FF2B5EF4-FFF2-40B4-BE49-F238E27FC236}">
                  <a16:creationId xmlns:a16="http://schemas.microsoft.com/office/drawing/2014/main" id="{3A6EE414-1500-4144-B453-BA950E5107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6" name="Rectangle 45">
              <a:extLst>
                <a:ext uri="{FF2B5EF4-FFF2-40B4-BE49-F238E27FC236}">
                  <a16:creationId xmlns:a16="http://schemas.microsoft.com/office/drawing/2014/main" id="{0C1A9D8A-5515-4C84-AE17-A6D51243834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67" name="Freeform 46">
              <a:extLst>
                <a:ext uri="{FF2B5EF4-FFF2-40B4-BE49-F238E27FC236}">
                  <a16:creationId xmlns:a16="http://schemas.microsoft.com/office/drawing/2014/main" id="{E8E7C8C7-FE85-4C8F-960C-3748511E0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8" name="Freeform 47">
              <a:extLst>
                <a:ext uri="{FF2B5EF4-FFF2-40B4-BE49-F238E27FC236}">
                  <a16:creationId xmlns:a16="http://schemas.microsoft.com/office/drawing/2014/main" id="{33DF2ED7-F601-4A9F-AA50-822ED85D56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69" name="Freeform 48">
              <a:extLst>
                <a:ext uri="{FF2B5EF4-FFF2-40B4-BE49-F238E27FC236}">
                  <a16:creationId xmlns:a16="http://schemas.microsoft.com/office/drawing/2014/main" id="{FEDB3A05-6FDD-4E87-B800-8F9975244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0" name="Freeform 49">
              <a:extLst>
                <a:ext uri="{FF2B5EF4-FFF2-40B4-BE49-F238E27FC236}">
                  <a16:creationId xmlns:a16="http://schemas.microsoft.com/office/drawing/2014/main" id="{AD6225C0-E391-49D5-9A7B-57C5ED60E1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1" name="Freeform 50">
              <a:extLst>
                <a:ext uri="{FF2B5EF4-FFF2-40B4-BE49-F238E27FC236}">
                  <a16:creationId xmlns:a16="http://schemas.microsoft.com/office/drawing/2014/main" id="{B814B458-45E5-451C-9CBD-027E3776A4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2" name="Freeform 51">
              <a:extLst>
                <a:ext uri="{FF2B5EF4-FFF2-40B4-BE49-F238E27FC236}">
                  <a16:creationId xmlns:a16="http://schemas.microsoft.com/office/drawing/2014/main" id="{59167140-9A0D-4FE7-8E37-2CD61301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3" name="Freeform 52">
              <a:extLst>
                <a:ext uri="{FF2B5EF4-FFF2-40B4-BE49-F238E27FC236}">
                  <a16:creationId xmlns:a16="http://schemas.microsoft.com/office/drawing/2014/main" id="{2D38B213-991B-495D-8886-04CAD44C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4" name="Freeform 53">
              <a:extLst>
                <a:ext uri="{FF2B5EF4-FFF2-40B4-BE49-F238E27FC236}">
                  <a16:creationId xmlns:a16="http://schemas.microsoft.com/office/drawing/2014/main" id="{67C1C3DA-3972-4D98-9D9E-390461B28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5" name="Freeform 54">
              <a:extLst>
                <a:ext uri="{FF2B5EF4-FFF2-40B4-BE49-F238E27FC236}">
                  <a16:creationId xmlns:a16="http://schemas.microsoft.com/office/drawing/2014/main" id="{972F8941-61DB-48E1-B9C1-E732470563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6" name="Freeform 55">
              <a:extLst>
                <a:ext uri="{FF2B5EF4-FFF2-40B4-BE49-F238E27FC236}">
                  <a16:creationId xmlns:a16="http://schemas.microsoft.com/office/drawing/2014/main" id="{857B495F-5C9B-435F-8D39-45CC57471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7" name="Freeform 56">
              <a:extLst>
                <a:ext uri="{FF2B5EF4-FFF2-40B4-BE49-F238E27FC236}">
                  <a16:creationId xmlns:a16="http://schemas.microsoft.com/office/drawing/2014/main" id="{B607428B-B7C9-4017-84F8-19C9B2134A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8" name="Freeform 57">
              <a:extLst>
                <a:ext uri="{FF2B5EF4-FFF2-40B4-BE49-F238E27FC236}">
                  <a16:creationId xmlns:a16="http://schemas.microsoft.com/office/drawing/2014/main" id="{A20C5139-2108-4F5E-B892-64F1D8605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79" name="Freeform 58">
              <a:extLst>
                <a:ext uri="{FF2B5EF4-FFF2-40B4-BE49-F238E27FC236}">
                  <a16:creationId xmlns:a16="http://schemas.microsoft.com/office/drawing/2014/main" id="{C2A51623-F2F3-4584-93F5-598E56A5F4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grpSp>
    </p:spTree>
    <p:extLst>
      <p:ext uri="{BB962C8B-B14F-4D97-AF65-F5344CB8AC3E}">
        <p14:creationId xmlns:p14="http://schemas.microsoft.com/office/powerpoint/2010/main" val="11462141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a:extLst>
            <a:ext uri="{FF2B5EF4-FFF2-40B4-BE49-F238E27FC236}">
              <a16:creationId xmlns:a16="http://schemas.microsoft.com/office/drawing/2014/main" id="{32A46E1D-E3C1-2F92-F651-BB05727876A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12"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15"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6"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7"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8"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19"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0"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1"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2"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3"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4"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5"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6"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7"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8"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29"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0"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1"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2"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3"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sp>
          <p:nvSpPr>
            <p:cNvPr id="34"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PK"/>
            </a:p>
          </p:txBody>
        </p:sp>
      </p:grpSp>
      <p:sp>
        <p:nvSpPr>
          <p:cNvPr id="2" name="Title 1">
            <a:extLst>
              <a:ext uri="{FF2B5EF4-FFF2-40B4-BE49-F238E27FC236}">
                <a16:creationId xmlns:a16="http://schemas.microsoft.com/office/drawing/2014/main" id="{955F7143-8E3C-80DE-5CE3-62D66AA1CA6E}"/>
              </a:ext>
            </a:extLst>
          </p:cNvPr>
          <p:cNvSpPr>
            <a:spLocks noGrp="1"/>
          </p:cNvSpPr>
          <p:nvPr>
            <p:ph type="ctrTitle"/>
          </p:nvPr>
        </p:nvSpPr>
        <p:spPr>
          <a:xfrm>
            <a:off x="2667000" y="2714624"/>
            <a:ext cx="6858000" cy="1367896"/>
          </a:xfrm>
        </p:spPr>
        <p:txBody>
          <a:bodyPr>
            <a:noAutofit/>
          </a:bodyPr>
          <a:lstStyle/>
          <a:p>
            <a:pPr algn="ctr"/>
            <a:r>
              <a:rPr lang="en-MY" sz="3200" b="1" dirty="0">
                <a:solidFill>
                  <a:srgbClr val="FFFFFF"/>
                </a:solidFill>
              </a:rPr>
              <a:t>LAB – 10</a:t>
            </a:r>
            <a:br>
              <a:rPr lang="en-MY" sz="3200" b="1" dirty="0">
                <a:solidFill>
                  <a:srgbClr val="FFFFFF"/>
                </a:solidFill>
              </a:rPr>
            </a:br>
            <a:br>
              <a:rPr lang="en-MY" sz="3200" b="1" dirty="0">
                <a:solidFill>
                  <a:srgbClr val="FFFFFF"/>
                </a:solidFill>
              </a:rPr>
            </a:br>
            <a:r>
              <a:rPr lang="en-MY" sz="3200" b="1" dirty="0">
                <a:solidFill>
                  <a:srgbClr val="FFFFFF"/>
                </a:solidFill>
              </a:rPr>
              <a:t>Searching &amp; sorting</a:t>
            </a:r>
            <a:endParaRPr lang="en-PK" sz="3200" dirty="0">
              <a:solidFill>
                <a:srgbClr val="FFFFFF"/>
              </a:solidFill>
            </a:endParaRPr>
          </a:p>
        </p:txBody>
      </p:sp>
    </p:spTree>
    <p:extLst>
      <p:ext uri="{BB962C8B-B14F-4D97-AF65-F5344CB8AC3E}">
        <p14:creationId xmlns:p14="http://schemas.microsoft.com/office/powerpoint/2010/main" val="148782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433231-4B9B-AB58-C50B-D6F5EED715F8}"/>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91E01204-9D6F-D989-ACF7-56ED1490B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 name="Group 50">
            <a:extLst>
              <a:ext uri="{FF2B5EF4-FFF2-40B4-BE49-F238E27FC236}">
                <a16:creationId xmlns:a16="http://schemas.microsoft.com/office/drawing/2014/main" id="{660E2A31-2EF4-7753-B61A-E321DE9428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52" name="Rectangle 5">
              <a:extLst>
                <a:ext uri="{FF2B5EF4-FFF2-40B4-BE49-F238E27FC236}">
                  <a16:creationId xmlns:a16="http://schemas.microsoft.com/office/drawing/2014/main" id="{A0B3BED0-C036-2B3C-CBCB-C58DD6AD5D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53" name="Freeform 6">
              <a:extLst>
                <a:ext uri="{FF2B5EF4-FFF2-40B4-BE49-F238E27FC236}">
                  <a16:creationId xmlns:a16="http://schemas.microsoft.com/office/drawing/2014/main" id="{36A33668-F09C-E430-E587-623C99AF0D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4" name="Freeform 7">
              <a:extLst>
                <a:ext uri="{FF2B5EF4-FFF2-40B4-BE49-F238E27FC236}">
                  <a16:creationId xmlns:a16="http://schemas.microsoft.com/office/drawing/2014/main" id="{75FA545D-5C29-0E68-5693-469FB3BE5C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5" name="Freeform 8">
              <a:extLst>
                <a:ext uri="{FF2B5EF4-FFF2-40B4-BE49-F238E27FC236}">
                  <a16:creationId xmlns:a16="http://schemas.microsoft.com/office/drawing/2014/main" id="{FF50CDD2-B099-1678-793A-0706A2C75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6" name="Freeform 9">
              <a:extLst>
                <a:ext uri="{FF2B5EF4-FFF2-40B4-BE49-F238E27FC236}">
                  <a16:creationId xmlns:a16="http://schemas.microsoft.com/office/drawing/2014/main" id="{04784818-94CA-D621-FBB6-6F20EB6D4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7" name="Freeform 10">
              <a:extLst>
                <a:ext uri="{FF2B5EF4-FFF2-40B4-BE49-F238E27FC236}">
                  <a16:creationId xmlns:a16="http://schemas.microsoft.com/office/drawing/2014/main" id="{7BA2DFBA-38BC-ABB4-A806-01AB5C3F9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17" name="Freeform 11">
              <a:extLst>
                <a:ext uri="{FF2B5EF4-FFF2-40B4-BE49-F238E27FC236}">
                  <a16:creationId xmlns:a16="http://schemas.microsoft.com/office/drawing/2014/main" id="{EBC8788E-26E0-FA56-101C-7C57971C6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8" name="Freeform 12">
              <a:extLst>
                <a:ext uri="{FF2B5EF4-FFF2-40B4-BE49-F238E27FC236}">
                  <a16:creationId xmlns:a16="http://schemas.microsoft.com/office/drawing/2014/main" id="{4ED205C7-CAD0-59C4-558F-D31F531321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59" name="Freeform 13">
              <a:extLst>
                <a:ext uri="{FF2B5EF4-FFF2-40B4-BE49-F238E27FC236}">
                  <a16:creationId xmlns:a16="http://schemas.microsoft.com/office/drawing/2014/main" id="{D8D08DF9-B232-D0FA-467E-F2D53F8266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0" name="Freeform 14">
              <a:extLst>
                <a:ext uri="{FF2B5EF4-FFF2-40B4-BE49-F238E27FC236}">
                  <a16:creationId xmlns:a16="http://schemas.microsoft.com/office/drawing/2014/main" id="{DBED4CC3-E727-ABB4-DBFB-AC92A34C9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1" name="Freeform 15">
              <a:extLst>
                <a:ext uri="{FF2B5EF4-FFF2-40B4-BE49-F238E27FC236}">
                  <a16:creationId xmlns:a16="http://schemas.microsoft.com/office/drawing/2014/main" id="{EA4BC3A6-A074-8F06-E961-7943471002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2" name="Line 16">
              <a:extLst>
                <a:ext uri="{FF2B5EF4-FFF2-40B4-BE49-F238E27FC236}">
                  <a16:creationId xmlns:a16="http://schemas.microsoft.com/office/drawing/2014/main" id="{00B5CC85-2A92-8FDE-0C88-8272B3CD27C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PK"/>
            </a:p>
          </p:txBody>
        </p:sp>
        <p:sp>
          <p:nvSpPr>
            <p:cNvPr id="23" name="Freeform 17">
              <a:extLst>
                <a:ext uri="{FF2B5EF4-FFF2-40B4-BE49-F238E27FC236}">
                  <a16:creationId xmlns:a16="http://schemas.microsoft.com/office/drawing/2014/main" id="{B49B96A8-67B1-2513-0F95-E3F5ED28C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3" name="Freeform 18">
              <a:extLst>
                <a:ext uri="{FF2B5EF4-FFF2-40B4-BE49-F238E27FC236}">
                  <a16:creationId xmlns:a16="http://schemas.microsoft.com/office/drawing/2014/main" id="{E8FF8649-71EF-DB43-E488-15A5156F7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4" name="Freeform 19">
              <a:extLst>
                <a:ext uri="{FF2B5EF4-FFF2-40B4-BE49-F238E27FC236}">
                  <a16:creationId xmlns:a16="http://schemas.microsoft.com/office/drawing/2014/main" id="{0A380316-BE1D-BC11-BD34-FB1D61E4C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5" name="Freeform 20">
              <a:extLst>
                <a:ext uri="{FF2B5EF4-FFF2-40B4-BE49-F238E27FC236}">
                  <a16:creationId xmlns:a16="http://schemas.microsoft.com/office/drawing/2014/main" id="{2A8B955F-C9E9-AE77-76B8-970C140046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6" name="Rectangle 21">
              <a:extLst>
                <a:ext uri="{FF2B5EF4-FFF2-40B4-BE49-F238E27FC236}">
                  <a16:creationId xmlns:a16="http://schemas.microsoft.com/office/drawing/2014/main" id="{68EBE71B-07A7-7B01-8723-B2F2F505C1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sp>
          <p:nvSpPr>
            <p:cNvPr id="67" name="Freeform 22">
              <a:extLst>
                <a:ext uri="{FF2B5EF4-FFF2-40B4-BE49-F238E27FC236}">
                  <a16:creationId xmlns:a16="http://schemas.microsoft.com/office/drawing/2014/main" id="{CE5D1CF5-DD3C-6BC4-FCAF-B78076A90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29" name="Freeform 23">
              <a:extLst>
                <a:ext uri="{FF2B5EF4-FFF2-40B4-BE49-F238E27FC236}">
                  <a16:creationId xmlns:a16="http://schemas.microsoft.com/office/drawing/2014/main" id="{837661A3-CD86-6834-028C-BA88B7F4C5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8" name="Freeform 24">
              <a:extLst>
                <a:ext uri="{FF2B5EF4-FFF2-40B4-BE49-F238E27FC236}">
                  <a16:creationId xmlns:a16="http://schemas.microsoft.com/office/drawing/2014/main" id="{FC68E5E3-FC67-AC66-246D-CD13D57364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69" name="Freeform 25">
              <a:extLst>
                <a:ext uri="{FF2B5EF4-FFF2-40B4-BE49-F238E27FC236}">
                  <a16:creationId xmlns:a16="http://schemas.microsoft.com/office/drawing/2014/main" id="{26DC1E49-99D6-7070-4124-B1DD81F587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0" name="Freeform 26">
              <a:extLst>
                <a:ext uri="{FF2B5EF4-FFF2-40B4-BE49-F238E27FC236}">
                  <a16:creationId xmlns:a16="http://schemas.microsoft.com/office/drawing/2014/main" id="{75B0309F-72FA-D770-D65C-561BAB839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1" name="Freeform 27">
              <a:extLst>
                <a:ext uri="{FF2B5EF4-FFF2-40B4-BE49-F238E27FC236}">
                  <a16:creationId xmlns:a16="http://schemas.microsoft.com/office/drawing/2014/main" id="{5A2F272B-D96C-CA9D-6318-9C9D2800BB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2" name="Freeform 28">
              <a:extLst>
                <a:ext uri="{FF2B5EF4-FFF2-40B4-BE49-F238E27FC236}">
                  <a16:creationId xmlns:a16="http://schemas.microsoft.com/office/drawing/2014/main" id="{BBA39DD8-1B0E-6CAE-A337-D03FD6FA76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3" name="Freeform 29">
              <a:extLst>
                <a:ext uri="{FF2B5EF4-FFF2-40B4-BE49-F238E27FC236}">
                  <a16:creationId xmlns:a16="http://schemas.microsoft.com/office/drawing/2014/main" id="{ABF3A735-0DD2-3C86-4F18-A4B7CF8E90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74" name="Freeform 30">
              <a:extLst>
                <a:ext uri="{FF2B5EF4-FFF2-40B4-BE49-F238E27FC236}">
                  <a16:creationId xmlns:a16="http://schemas.microsoft.com/office/drawing/2014/main" id="{B547F847-F53B-AC0F-4A24-ECEE9C7BD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37" name="Freeform 31">
              <a:extLst>
                <a:ext uri="{FF2B5EF4-FFF2-40B4-BE49-F238E27FC236}">
                  <a16:creationId xmlns:a16="http://schemas.microsoft.com/office/drawing/2014/main" id="{D80AF14A-B6B8-008E-E8C8-42F2A87DF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grpSp>
      <p:sp>
        <p:nvSpPr>
          <p:cNvPr id="2" name="Title 1">
            <a:extLst>
              <a:ext uri="{FF2B5EF4-FFF2-40B4-BE49-F238E27FC236}">
                <a16:creationId xmlns:a16="http://schemas.microsoft.com/office/drawing/2014/main" id="{31887192-6BB2-47E1-D4CF-573D6CAD89E6}"/>
              </a:ext>
            </a:extLst>
          </p:cNvPr>
          <p:cNvSpPr>
            <a:spLocks noGrp="1"/>
          </p:cNvSpPr>
          <p:nvPr>
            <p:ph type="title"/>
          </p:nvPr>
        </p:nvSpPr>
        <p:spPr>
          <a:xfrm>
            <a:off x="4733925" y="594533"/>
            <a:ext cx="6858000" cy="1478570"/>
          </a:xfrm>
        </p:spPr>
        <p:txBody>
          <a:bodyPr>
            <a:normAutofit/>
          </a:bodyPr>
          <a:lstStyle/>
          <a:p>
            <a:pPr algn="ctr"/>
            <a:r>
              <a:rPr lang="en-US" b="1" u="sng" dirty="0"/>
              <a:t>Objectives for lab-10</a:t>
            </a:r>
            <a:endParaRPr lang="en-PK" dirty="0"/>
          </a:p>
        </p:txBody>
      </p:sp>
      <p:sp>
        <p:nvSpPr>
          <p:cNvPr id="3" name="Content Placeholder 2">
            <a:extLst>
              <a:ext uri="{FF2B5EF4-FFF2-40B4-BE49-F238E27FC236}">
                <a16:creationId xmlns:a16="http://schemas.microsoft.com/office/drawing/2014/main" id="{52974F72-A199-45AE-E00D-80D7062F8FCD}"/>
              </a:ext>
            </a:extLst>
          </p:cNvPr>
          <p:cNvSpPr>
            <a:spLocks noGrp="1"/>
          </p:cNvSpPr>
          <p:nvPr>
            <p:ph idx="1"/>
          </p:nvPr>
        </p:nvSpPr>
        <p:spPr>
          <a:xfrm>
            <a:off x="5667375" y="2249487"/>
            <a:ext cx="5692774" cy="4013980"/>
          </a:xfrm>
        </p:spPr>
        <p:txBody>
          <a:bodyPr>
            <a:normAutofit fontScale="85000" lnSpcReduction="10000"/>
          </a:bodyPr>
          <a:lstStyle/>
          <a:p>
            <a:pPr algn="just"/>
            <a:r>
              <a:rPr lang="en-US" dirty="0"/>
              <a:t>To search for an element from a list of elements.</a:t>
            </a:r>
          </a:p>
          <a:p>
            <a:pPr algn="just"/>
            <a:endParaRPr lang="en-PK" sz="2200" dirty="0"/>
          </a:p>
          <a:p>
            <a:pPr algn="just"/>
            <a:r>
              <a:rPr lang="en-US" dirty="0"/>
              <a:t>To perform sorting using different sorting techniques.</a:t>
            </a:r>
          </a:p>
          <a:p>
            <a:pPr algn="just"/>
            <a:endParaRPr lang="en-US" dirty="0"/>
          </a:p>
          <a:p>
            <a:pPr lvl="0" algn="just"/>
            <a:r>
              <a:rPr lang="en-US" dirty="0"/>
              <a:t>To understand the different searching techniques.</a:t>
            </a:r>
          </a:p>
          <a:p>
            <a:pPr lvl="0" algn="just"/>
            <a:endParaRPr lang="en-PK" dirty="0"/>
          </a:p>
          <a:p>
            <a:pPr lvl="0" algn="just"/>
            <a:r>
              <a:rPr lang="en-US" dirty="0"/>
              <a:t>To understand the working of different types of sorting techniques.</a:t>
            </a:r>
            <a:endParaRPr lang="en-PK" dirty="0"/>
          </a:p>
          <a:p>
            <a:pPr algn="just"/>
            <a:endParaRPr lang="en-PK" sz="2200" dirty="0"/>
          </a:p>
          <a:p>
            <a:pPr marL="0" indent="0" algn="just">
              <a:lnSpc>
                <a:spcPct val="170000"/>
              </a:lnSpc>
              <a:buNone/>
            </a:pPr>
            <a:endParaRPr lang="en-US" sz="2700" dirty="0"/>
          </a:p>
        </p:txBody>
      </p:sp>
      <p:grpSp>
        <p:nvGrpSpPr>
          <p:cNvPr id="39" name="Group 38">
            <a:extLst>
              <a:ext uri="{FF2B5EF4-FFF2-40B4-BE49-F238E27FC236}">
                <a16:creationId xmlns:a16="http://schemas.microsoft.com/office/drawing/2014/main" id="{A7C6423F-08B9-CC5E-4AD8-EC008238AC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75" name="Freeform 32">
              <a:extLst>
                <a:ext uri="{FF2B5EF4-FFF2-40B4-BE49-F238E27FC236}">
                  <a16:creationId xmlns:a16="http://schemas.microsoft.com/office/drawing/2014/main" id="{3AB5F2D8-A73C-3A1A-E74F-579D43A45E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1" name="Freeform 33">
              <a:extLst>
                <a:ext uri="{FF2B5EF4-FFF2-40B4-BE49-F238E27FC236}">
                  <a16:creationId xmlns:a16="http://schemas.microsoft.com/office/drawing/2014/main" id="{A34DBAD3-701C-D700-9758-73A3184B12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2" name="Freeform 34">
              <a:extLst>
                <a:ext uri="{FF2B5EF4-FFF2-40B4-BE49-F238E27FC236}">
                  <a16:creationId xmlns:a16="http://schemas.microsoft.com/office/drawing/2014/main" id="{573D7B77-44FB-ACB9-255D-D3BC8EFAFA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3" name="Freeform 35">
              <a:extLst>
                <a:ext uri="{FF2B5EF4-FFF2-40B4-BE49-F238E27FC236}">
                  <a16:creationId xmlns:a16="http://schemas.microsoft.com/office/drawing/2014/main" id="{50202ECB-5666-B6E9-A565-672256695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4" name="Freeform 36">
              <a:extLst>
                <a:ext uri="{FF2B5EF4-FFF2-40B4-BE49-F238E27FC236}">
                  <a16:creationId xmlns:a16="http://schemas.microsoft.com/office/drawing/2014/main" id="{4EC62EB3-C89C-3108-FD9A-3BF06FC0EA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5" name="Freeform 37">
              <a:extLst>
                <a:ext uri="{FF2B5EF4-FFF2-40B4-BE49-F238E27FC236}">
                  <a16:creationId xmlns:a16="http://schemas.microsoft.com/office/drawing/2014/main" id="{995408F3-BE88-7CA8-4993-0A1A6083B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6" name="Freeform 38">
              <a:extLst>
                <a:ext uri="{FF2B5EF4-FFF2-40B4-BE49-F238E27FC236}">
                  <a16:creationId xmlns:a16="http://schemas.microsoft.com/office/drawing/2014/main" id="{21722397-1A0C-9116-4670-919733CAC0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7" name="Freeform 39">
              <a:extLst>
                <a:ext uri="{FF2B5EF4-FFF2-40B4-BE49-F238E27FC236}">
                  <a16:creationId xmlns:a16="http://schemas.microsoft.com/office/drawing/2014/main" id="{ECD9B675-5FB8-991A-4F89-58449B2187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8" name="Freeform 40">
              <a:extLst>
                <a:ext uri="{FF2B5EF4-FFF2-40B4-BE49-F238E27FC236}">
                  <a16:creationId xmlns:a16="http://schemas.microsoft.com/office/drawing/2014/main" id="{1432D68E-149E-C491-FEC5-4B9D417021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PK"/>
            </a:p>
          </p:txBody>
        </p:sp>
        <p:sp>
          <p:nvSpPr>
            <p:cNvPr id="49" name="Rectangle 41">
              <a:extLst>
                <a:ext uri="{FF2B5EF4-FFF2-40B4-BE49-F238E27FC236}">
                  <a16:creationId xmlns:a16="http://schemas.microsoft.com/office/drawing/2014/main" id="{DD294C30-2631-61C6-D5AF-50A7BB05576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PK"/>
            </a:p>
          </p:txBody>
        </p:sp>
      </p:grpSp>
      <p:pic>
        <p:nvPicPr>
          <p:cNvPr id="4" name="Image 0" descr="preencoded.png">
            <a:extLst>
              <a:ext uri="{FF2B5EF4-FFF2-40B4-BE49-F238E27FC236}">
                <a16:creationId xmlns:a16="http://schemas.microsoft.com/office/drawing/2014/main" id="{747DC7A5-D7ED-5085-A58E-5B6335AA09A5}"/>
              </a:ext>
            </a:extLst>
          </p:cNvPr>
          <p:cNvPicPr>
            <a:picLocks noChangeAspect="1"/>
          </p:cNvPicPr>
          <p:nvPr/>
        </p:nvPicPr>
        <p:blipFill>
          <a:blip r:embed="rId3"/>
          <a:stretch>
            <a:fillRect/>
          </a:stretch>
        </p:blipFill>
        <p:spPr>
          <a:xfrm>
            <a:off x="-14288" y="9525"/>
            <a:ext cx="5486400" cy="6853239"/>
          </a:xfrm>
          <a:prstGeom prst="rect">
            <a:avLst/>
          </a:prstGeom>
        </p:spPr>
      </p:pic>
    </p:spTree>
    <p:extLst>
      <p:ext uri="{BB962C8B-B14F-4D97-AF65-F5344CB8AC3E}">
        <p14:creationId xmlns:p14="http://schemas.microsoft.com/office/powerpoint/2010/main" val="132725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ssolv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C8092856-FAFE-9671-90A7-BBF4126180FD}"/>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382759-A4AA-965F-EE30-3D0C2FF38517}"/>
              </a:ext>
            </a:extLst>
          </p:cNvPr>
          <p:cNvSpPr>
            <a:spLocks noGrp="1"/>
          </p:cNvSpPr>
          <p:nvPr>
            <p:ph type="title"/>
          </p:nvPr>
        </p:nvSpPr>
        <p:spPr>
          <a:xfrm>
            <a:off x="1577445" y="1168078"/>
            <a:ext cx="9048219" cy="1092200"/>
          </a:xfrm>
        </p:spPr>
        <p:txBody>
          <a:bodyPr anchor="ctr">
            <a:normAutofit/>
          </a:bodyPr>
          <a:lstStyle/>
          <a:p>
            <a:pPr algn="ctr"/>
            <a:r>
              <a:rPr lang="en-US" b="1" u="sng" dirty="0"/>
              <a:t>Brief history</a:t>
            </a:r>
            <a:endParaRPr lang="en-PK" dirty="0">
              <a:solidFill>
                <a:srgbClr val="FFFFFF"/>
              </a:solidFill>
            </a:endParaRPr>
          </a:p>
        </p:txBody>
      </p:sp>
      <p:sp>
        <p:nvSpPr>
          <p:cNvPr id="3" name="Content Placeholder 2">
            <a:extLst>
              <a:ext uri="{FF2B5EF4-FFF2-40B4-BE49-F238E27FC236}">
                <a16:creationId xmlns:a16="http://schemas.microsoft.com/office/drawing/2014/main" id="{3F0E4D17-C167-FD5B-6885-3061D97BB3FF}"/>
              </a:ext>
            </a:extLst>
          </p:cNvPr>
          <p:cNvSpPr>
            <a:spLocks noGrp="1"/>
          </p:cNvSpPr>
          <p:nvPr>
            <p:ph idx="1"/>
          </p:nvPr>
        </p:nvSpPr>
        <p:spPr>
          <a:xfrm>
            <a:off x="1298449" y="1981201"/>
            <a:ext cx="9585978" cy="3962400"/>
          </a:xfrm>
        </p:spPr>
        <p:txBody>
          <a:bodyPr anchor="ctr">
            <a:normAutofit/>
          </a:bodyPr>
          <a:lstStyle/>
          <a:p>
            <a:pPr algn="just">
              <a:lnSpc>
                <a:spcPct val="150000"/>
              </a:lnSpc>
            </a:pPr>
            <a:r>
              <a:rPr lang="en-US" sz="2800" b="1" dirty="0"/>
              <a:t>Searching </a:t>
            </a:r>
            <a:r>
              <a:rPr lang="en-US" sz="2800" dirty="0"/>
              <a:t>is the method to retrieve an element or data from any data structure. The searching techniques are broadly classified into:</a:t>
            </a:r>
          </a:p>
          <a:p>
            <a:pPr lvl="1" algn="just">
              <a:lnSpc>
                <a:spcPct val="150000"/>
              </a:lnSpc>
            </a:pPr>
            <a:r>
              <a:rPr lang="en-US" sz="3200" b="1" dirty="0"/>
              <a:t>Linear Search</a:t>
            </a:r>
          </a:p>
          <a:p>
            <a:pPr lvl="1" algn="just">
              <a:lnSpc>
                <a:spcPct val="150000"/>
              </a:lnSpc>
            </a:pPr>
            <a:r>
              <a:rPr lang="en-US" sz="3200" b="1" dirty="0"/>
              <a:t>Binary Search</a:t>
            </a:r>
            <a:endParaRPr lang="en-PK" sz="3200" dirty="0"/>
          </a:p>
        </p:txBody>
      </p:sp>
    </p:spTree>
    <p:extLst>
      <p:ext uri="{BB962C8B-B14F-4D97-AF65-F5344CB8AC3E}">
        <p14:creationId xmlns:p14="http://schemas.microsoft.com/office/powerpoint/2010/main" val="212486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074B81B0-E7E7-B32E-632F-7EC41932B29E}"/>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CFD59D95-DB2C-F3B7-D9C3-0F21B55455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09C0ED7D-9CAC-E9CD-6D33-57730B72A9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93EBB71D-FFB5-2D00-416D-AB69AFF85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4BB5170E-E93F-46D1-A996-9D53404FA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215DE717-45E2-AEB5-CFD2-8F5C505272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87D5AA0A-A8C5-4EFF-B877-D4AEF32F9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854178BF-DFDE-0307-5CE9-49AE387241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11CCA902-48A0-DCB5-6E5A-78513E8E7D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B138A014-5ECD-1C8D-9B61-6E946FFCFC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8EC42507-D88E-EB43-D356-194FCCD06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AC5EF6DB-C3E2-A527-3D34-B06EC47FE0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ED692042-3336-C74C-4B22-24DFA20D41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A575E28A-405B-FBCF-B314-95D2CD8F8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9B1865DF-889F-5800-140C-B85380746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70CF40F7-AC8C-6211-67E5-3BE9D33B2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27C76CF6-9F35-3D3D-1459-510A0D6BA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26691EEF-4235-8A40-78A2-75316DCC46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FE8E00F5-B43C-3679-E527-0992607DA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4C220B80-5BC6-E897-860B-76D53D757B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B78B87ED-FE06-E0B2-3753-F247515A3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0D477C9A-FA34-25BF-A706-0C8A18C2B8E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5A01B115-8166-DDF9-1016-98D54D4487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811A6BAA-5F9D-2BBA-223E-C2A68BF18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E8F4C645-9F20-29D4-D57E-DA40D6DF89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7CA4DC20-3060-463E-ED43-C50F2FB5BBE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C2D36AA1-6281-405F-63AF-36E86B4B2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C0B35A4-7B4F-3DF2-55BF-B60E6D0BD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3CA87B-32E2-631C-8D44-20AA61825CB8}"/>
              </a:ext>
            </a:extLst>
          </p:cNvPr>
          <p:cNvSpPr>
            <a:spLocks noGrp="1"/>
          </p:cNvSpPr>
          <p:nvPr>
            <p:ph type="title"/>
          </p:nvPr>
        </p:nvSpPr>
        <p:spPr>
          <a:xfrm>
            <a:off x="1577445" y="1168078"/>
            <a:ext cx="9048219" cy="1092200"/>
          </a:xfrm>
        </p:spPr>
        <p:txBody>
          <a:bodyPr anchor="ctr">
            <a:normAutofit/>
          </a:bodyPr>
          <a:lstStyle/>
          <a:p>
            <a:pPr algn="ctr"/>
            <a:r>
              <a:rPr lang="en-US" b="1" dirty="0"/>
              <a:t>Linear Search</a:t>
            </a:r>
            <a:endParaRPr lang="en-PK" dirty="0">
              <a:solidFill>
                <a:srgbClr val="FFFFFF"/>
              </a:solidFill>
            </a:endParaRPr>
          </a:p>
        </p:txBody>
      </p:sp>
      <p:sp>
        <p:nvSpPr>
          <p:cNvPr id="3" name="Content Placeholder 2">
            <a:extLst>
              <a:ext uri="{FF2B5EF4-FFF2-40B4-BE49-F238E27FC236}">
                <a16:creationId xmlns:a16="http://schemas.microsoft.com/office/drawing/2014/main" id="{94F306DE-8265-34D3-7EAD-BF33AFFE8A24}"/>
              </a:ext>
            </a:extLst>
          </p:cNvPr>
          <p:cNvSpPr>
            <a:spLocks noGrp="1"/>
          </p:cNvSpPr>
          <p:nvPr>
            <p:ph idx="1"/>
          </p:nvPr>
        </p:nvSpPr>
        <p:spPr>
          <a:xfrm>
            <a:off x="1299042" y="2272641"/>
            <a:ext cx="9585978" cy="3434422"/>
          </a:xfrm>
        </p:spPr>
        <p:txBody>
          <a:bodyPr anchor="ctr">
            <a:noAutofit/>
          </a:bodyPr>
          <a:lstStyle/>
          <a:p>
            <a:pPr algn="just">
              <a:lnSpc>
                <a:spcPct val="150000"/>
              </a:lnSpc>
            </a:pPr>
            <a:r>
              <a:rPr lang="en-US" dirty="0"/>
              <a:t>In Linear search, we try to retrieve an element by checking the array elements in a one-by-one fashion. </a:t>
            </a:r>
          </a:p>
          <a:p>
            <a:pPr algn="just">
              <a:lnSpc>
                <a:spcPct val="150000"/>
              </a:lnSpc>
            </a:pPr>
            <a:r>
              <a:rPr lang="en-US" dirty="0"/>
              <a:t>It takes 𝑂(𝑛) time to perform the searching operation as it requires the whole array of size 𝑛 to be traversed for checking the elements.</a:t>
            </a:r>
            <a:endParaRPr lang="en-PK" dirty="0"/>
          </a:p>
        </p:txBody>
      </p:sp>
    </p:spTree>
    <p:extLst>
      <p:ext uri="{BB962C8B-B14F-4D97-AF65-F5344CB8AC3E}">
        <p14:creationId xmlns:p14="http://schemas.microsoft.com/office/powerpoint/2010/main" val="236924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51E1A442-453A-B454-CD32-E2358CADFD59}"/>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960AABC2-61DB-7A7B-3056-A567BADCD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BAE908A2-84A7-4E53-A306-EC1038A55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D7B12B8B-72DA-F1DB-81D5-BC7D9E5AA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80183B89-45C2-F871-0CB7-7EEB2E522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3B4003D2-7FD6-3082-0DF7-882505E8C7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E7CA93F5-1E37-D129-E3A3-752C06557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B6634C5E-E5B8-1DD0-2B28-C1B48A8772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CFEF1D65-E391-F1F0-8F44-70E9055E0F8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4238C541-00A5-E897-B44B-ECC3D4CD5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B4BC581F-6AAD-59FB-7E97-6E4D7D59F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C1105653-AFDC-D03D-C12A-C5667AA809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A8F27858-9A49-8F9D-F915-24AD9A15D1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8751CFF0-B1C8-BEF1-9F6A-224830D71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0EAC2D55-3A7E-0305-EA93-978450A9E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2DEE3169-8D6B-F9D0-4E98-700369234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B9C245CC-7798-0A38-0498-95FC4C0738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AF9A9B32-28AA-A8A1-3FE8-0449C89691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B6E1A555-9E5F-CDE9-C64E-7BD0B83EC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D8935F2C-4040-73A7-53E5-FBB4FD5563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10CE5CB7-0688-B74F-875A-9745C6F05A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636BA8FC-1D5C-1287-5158-970CF7DC7E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6A110DD7-D2A9-5584-6FAD-9D0FB30192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B7D8A320-BAF3-1E48-01BE-23AB95142D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2B42F3A5-33D5-DED4-C5C0-C10B14B598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9C4D8A94-F029-B760-3DEE-7851F6B3ECF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AE8359FA-DCA5-F2DA-341A-D092FB790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0377D95-B7C7-CD30-64B3-E4F763990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67924-317D-FD3D-1EF5-A7001B895766}"/>
              </a:ext>
            </a:extLst>
          </p:cNvPr>
          <p:cNvSpPr>
            <a:spLocks noGrp="1"/>
          </p:cNvSpPr>
          <p:nvPr>
            <p:ph type="title"/>
          </p:nvPr>
        </p:nvSpPr>
        <p:spPr>
          <a:xfrm>
            <a:off x="1577445" y="1168078"/>
            <a:ext cx="9048219" cy="1092200"/>
          </a:xfrm>
        </p:spPr>
        <p:txBody>
          <a:bodyPr anchor="ctr">
            <a:normAutofit/>
          </a:bodyPr>
          <a:lstStyle/>
          <a:p>
            <a:pPr algn="ctr"/>
            <a:r>
              <a:rPr lang="en-US" b="1" dirty="0"/>
              <a:t>Binary Search</a:t>
            </a:r>
            <a:endParaRPr lang="en-PK" dirty="0">
              <a:solidFill>
                <a:srgbClr val="FFFFFF"/>
              </a:solidFill>
            </a:endParaRPr>
          </a:p>
        </p:txBody>
      </p:sp>
      <p:sp>
        <p:nvSpPr>
          <p:cNvPr id="3" name="Content Placeholder 2">
            <a:extLst>
              <a:ext uri="{FF2B5EF4-FFF2-40B4-BE49-F238E27FC236}">
                <a16:creationId xmlns:a16="http://schemas.microsoft.com/office/drawing/2014/main" id="{A4E22F3F-54CF-1DDE-06A7-EF13DF197DE9}"/>
              </a:ext>
            </a:extLst>
          </p:cNvPr>
          <p:cNvSpPr>
            <a:spLocks noGrp="1"/>
          </p:cNvSpPr>
          <p:nvPr>
            <p:ph idx="1"/>
          </p:nvPr>
        </p:nvSpPr>
        <p:spPr>
          <a:xfrm>
            <a:off x="1299042" y="2272641"/>
            <a:ext cx="9585978" cy="3434422"/>
          </a:xfrm>
        </p:spPr>
        <p:txBody>
          <a:bodyPr anchor="ctr">
            <a:noAutofit/>
          </a:bodyPr>
          <a:lstStyle/>
          <a:p>
            <a:pPr algn="just">
              <a:lnSpc>
                <a:spcPct val="150000"/>
              </a:lnSpc>
            </a:pPr>
            <a:r>
              <a:rPr lang="en-US" sz="2000" dirty="0"/>
              <a:t>This searching technique requires the array to be sorted before performing the search operation. The sorted array is given as input, which is divided into two subarrays of equal size. </a:t>
            </a:r>
          </a:p>
          <a:p>
            <a:pPr algn="just">
              <a:lnSpc>
                <a:spcPct val="150000"/>
              </a:lnSpc>
            </a:pPr>
            <a:r>
              <a:rPr lang="en-US" sz="2000" dirty="0"/>
              <a:t>The element is first searched with the middle element of the array, If the element is larger than the middle element, then it will lie in the right subarray; else, search in the left subarray. This step is performed repeatedly until the item is found.</a:t>
            </a:r>
            <a:endParaRPr lang="en-PK" sz="2000" dirty="0"/>
          </a:p>
          <a:p>
            <a:pPr algn="just">
              <a:lnSpc>
                <a:spcPct val="150000"/>
              </a:lnSpc>
            </a:pPr>
            <a:r>
              <a:rPr lang="en-US" sz="2000" dirty="0"/>
              <a:t>The time complexity for Binary search is 𝑂(𝑙𝑜𝑔 𝑛), where 𝑛 is the size of the array.</a:t>
            </a:r>
            <a:endParaRPr lang="en-PK" sz="2000" dirty="0"/>
          </a:p>
        </p:txBody>
      </p:sp>
    </p:spTree>
    <p:extLst>
      <p:ext uri="{BB962C8B-B14F-4D97-AF65-F5344CB8AC3E}">
        <p14:creationId xmlns:p14="http://schemas.microsoft.com/office/powerpoint/2010/main" val="48561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99887FF0-869D-B0E7-E8F3-4D465F4BD331}"/>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2DDC5857-DFEC-0046-8653-1A9DCEA89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69358E7C-D73D-205C-494A-32C3808F6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8B2EE0F4-09DF-077F-1255-E754A6A84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CA1E85A3-91B9-8213-B3E8-16E8D297CE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5BC5B7C0-49DA-CB2A-9F17-7E4C25D12E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ECAD879C-2553-B502-5DBC-7FE7048C0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0965061A-2B16-EF26-3243-55F3E07D9E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EDF09F46-CE93-D1CD-C0D8-3A948DBE44E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F2865595-0848-7E26-3EE7-DF9B5AF7CE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4AF04780-5BA9-0044-CC60-863E2175F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2CCF562-389F-3E35-B38B-62512ECE92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A257D772-3F20-1C8A-656F-8ECEC434AF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21C1B9B6-B60D-668A-5C43-A56F36510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B0DCEB16-2667-AFB7-0D5E-9559925F8C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CD73F032-81E2-0D16-2DAC-0851FE5A03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FF6CBFDE-C429-035A-147F-FF0E076678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B7B8AE2F-A21B-09EE-217A-64A96E5AB6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6655E508-FBE4-6861-A25A-2B730DA414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8E8B4C6E-A95D-2D11-28D7-21B1529396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4451259D-178A-BEE9-26E6-5D93C7F69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8F30216D-D3D9-2785-DEB0-6C5CE9160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AE2E3F1E-6279-0CE9-13E0-6D6BC9933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0EE23436-98CB-8C19-E7D7-29F38CBBD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7E3C330A-968C-784C-0D57-511492A114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E1A6E88B-B474-6BD4-D0BA-0B847C1431C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52E3F047-1F47-D867-6FA1-65CF6A48C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37816C84-BFF5-643C-E1AA-1FA563122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51E8D-A090-EE31-B23E-4E67FBC7B8A7}"/>
              </a:ext>
            </a:extLst>
          </p:cNvPr>
          <p:cNvSpPr>
            <a:spLocks noGrp="1"/>
          </p:cNvSpPr>
          <p:nvPr>
            <p:ph type="title"/>
          </p:nvPr>
        </p:nvSpPr>
        <p:spPr>
          <a:xfrm>
            <a:off x="1577445" y="1168078"/>
            <a:ext cx="9048219" cy="1092200"/>
          </a:xfrm>
        </p:spPr>
        <p:txBody>
          <a:bodyPr anchor="ctr">
            <a:normAutofit/>
          </a:bodyPr>
          <a:lstStyle/>
          <a:p>
            <a:pPr algn="ctr"/>
            <a:r>
              <a:rPr lang="en-US" b="1" u="sng" dirty="0"/>
              <a:t>sorting</a:t>
            </a:r>
            <a:endParaRPr lang="en-PK" dirty="0">
              <a:solidFill>
                <a:srgbClr val="FFFFFF"/>
              </a:solidFill>
            </a:endParaRPr>
          </a:p>
        </p:txBody>
      </p:sp>
      <p:sp>
        <p:nvSpPr>
          <p:cNvPr id="3" name="Content Placeholder 2">
            <a:extLst>
              <a:ext uri="{FF2B5EF4-FFF2-40B4-BE49-F238E27FC236}">
                <a16:creationId xmlns:a16="http://schemas.microsoft.com/office/drawing/2014/main" id="{6141FAD6-0D0C-D7BF-E0BA-2A3B4283B2E1}"/>
              </a:ext>
            </a:extLst>
          </p:cNvPr>
          <p:cNvSpPr>
            <a:spLocks noGrp="1"/>
          </p:cNvSpPr>
          <p:nvPr>
            <p:ph idx="1"/>
          </p:nvPr>
        </p:nvSpPr>
        <p:spPr>
          <a:xfrm>
            <a:off x="1298449" y="1981201"/>
            <a:ext cx="9585978" cy="3962400"/>
          </a:xfrm>
        </p:spPr>
        <p:txBody>
          <a:bodyPr anchor="ctr">
            <a:normAutofit/>
          </a:bodyPr>
          <a:lstStyle/>
          <a:p>
            <a:pPr algn="just">
              <a:lnSpc>
                <a:spcPct val="150000"/>
              </a:lnSpc>
            </a:pPr>
            <a:r>
              <a:rPr lang="en-US" sz="2000" b="1" dirty="0"/>
              <a:t>Sorting: </a:t>
            </a:r>
            <a:r>
              <a:rPr lang="en-US" sz="2000" dirty="0"/>
              <a:t>Sorting refers to arranging the given data in a specified order. It requires the elements to follow a particular order, e.g., Roll numbers of students are arranged in an ordered way. There are two different categories in sorting. They are:</a:t>
            </a:r>
            <a:endParaRPr lang="en-PK" sz="2000" dirty="0"/>
          </a:p>
          <a:p>
            <a:pPr lvl="0" algn="just">
              <a:lnSpc>
                <a:spcPct val="150000"/>
              </a:lnSpc>
            </a:pPr>
            <a:r>
              <a:rPr lang="en-US" sz="2000" b="1" dirty="0"/>
              <a:t>Internal Sorting: </a:t>
            </a:r>
            <a:r>
              <a:rPr lang="en-US" sz="2000" dirty="0"/>
              <a:t>When all data is placed in memory, then sorting is called internal sorting.</a:t>
            </a:r>
            <a:endParaRPr lang="en-PK" sz="2000" dirty="0"/>
          </a:p>
          <a:p>
            <a:pPr lvl="0" algn="just">
              <a:lnSpc>
                <a:spcPct val="150000"/>
              </a:lnSpc>
            </a:pPr>
            <a:r>
              <a:rPr lang="en-US" sz="2000" b="1" dirty="0"/>
              <a:t>External Sorting: </a:t>
            </a:r>
            <a:r>
              <a:rPr lang="en-US" sz="2000" dirty="0"/>
              <a:t>When all the data that needs to be sorted cannot be placed in memory at a time, the sorting is called External Sorting. External Sorting is used for the massive amount of data.</a:t>
            </a:r>
            <a:endParaRPr lang="en-PK" sz="2000" dirty="0"/>
          </a:p>
        </p:txBody>
      </p:sp>
    </p:spTree>
    <p:extLst>
      <p:ext uri="{BB962C8B-B14F-4D97-AF65-F5344CB8AC3E}">
        <p14:creationId xmlns:p14="http://schemas.microsoft.com/office/powerpoint/2010/main" val="3985459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19ABF7AE-E818-08FD-9659-8CF02D6884A8}"/>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69B6D4EB-491C-8E94-B540-A7C774103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04391B1D-D627-3B11-B1CC-127A0478E6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75A88B3D-510C-9514-1280-4F147021D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288AC2D1-8389-DF8F-EDA4-53DDB130A7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876C402E-9616-4D5C-BC20-A24DFC3BC7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B5B5ED6E-7496-7BDE-0F80-C1A04F981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EA194D82-0586-36F8-699D-524F5187EB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A76724A5-02DA-54B9-6F6F-FF52C7B7A0C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CD6F54EB-1971-9DAE-CCEB-89CE46A055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5E6CE9A5-06DB-7EFE-6652-33D9379F0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BABDDEC-2D6B-85DA-BE9C-8F98CDB86D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22AB34B8-BE45-CD8D-FBCC-06BA0F280A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EAAF9943-C4DE-762A-E992-327B88F2C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3B81EFFB-48FA-FC6A-FFE3-3139D68826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5D7B82CF-70B1-B502-62A7-946CADA1E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6ADAA7F7-0C99-AD3C-6379-608B4F3A43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46378038-FD47-46BF-E641-9476DEB816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74830340-4C71-E430-B924-F3344E6DB7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98C8B167-EEA4-5486-85D6-E2BE4ED289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B9DFC4E5-ECBE-EF90-BA7B-2007014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799307B0-D4ED-76CA-1902-C831F0FACF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4242B422-666D-FA21-D0BB-2EF91C73A7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ED50ECF2-8A77-837B-577E-0B5EB9FB2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51FB5777-67BE-0C53-A3C0-D051B5448E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4F1483BD-048A-6183-338C-E0DEA8D95FD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0A6CAEE0-82DD-75B7-0D67-C253585F2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173EDD53-BA98-7517-3749-62BB26808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3B7D46-541E-1D52-8553-4C3B1DAA5DD7}"/>
              </a:ext>
            </a:extLst>
          </p:cNvPr>
          <p:cNvSpPr>
            <a:spLocks noGrp="1"/>
          </p:cNvSpPr>
          <p:nvPr>
            <p:ph type="title"/>
          </p:nvPr>
        </p:nvSpPr>
        <p:spPr>
          <a:xfrm>
            <a:off x="1577445" y="1168078"/>
            <a:ext cx="9048219" cy="1092200"/>
          </a:xfrm>
        </p:spPr>
        <p:txBody>
          <a:bodyPr anchor="ctr">
            <a:normAutofit/>
          </a:bodyPr>
          <a:lstStyle/>
          <a:p>
            <a:pPr algn="ctr"/>
            <a:r>
              <a:rPr lang="en-US" b="1" u="sng" dirty="0"/>
              <a:t>Bubble sort</a:t>
            </a:r>
            <a:endParaRPr lang="en-PK" dirty="0">
              <a:solidFill>
                <a:srgbClr val="FFFFFF"/>
              </a:solidFill>
            </a:endParaRPr>
          </a:p>
        </p:txBody>
      </p:sp>
      <p:sp>
        <p:nvSpPr>
          <p:cNvPr id="3" name="Content Placeholder 2">
            <a:extLst>
              <a:ext uri="{FF2B5EF4-FFF2-40B4-BE49-F238E27FC236}">
                <a16:creationId xmlns:a16="http://schemas.microsoft.com/office/drawing/2014/main" id="{4537B64A-F8A3-3DA1-6EDF-20A021E1598A}"/>
              </a:ext>
            </a:extLst>
          </p:cNvPr>
          <p:cNvSpPr>
            <a:spLocks noGrp="1"/>
          </p:cNvSpPr>
          <p:nvPr>
            <p:ph idx="1"/>
          </p:nvPr>
        </p:nvSpPr>
        <p:spPr>
          <a:xfrm>
            <a:off x="1298449" y="1981201"/>
            <a:ext cx="9585978" cy="3962400"/>
          </a:xfrm>
        </p:spPr>
        <p:txBody>
          <a:bodyPr anchor="ctr">
            <a:normAutofit/>
          </a:bodyPr>
          <a:lstStyle/>
          <a:p>
            <a:pPr algn="just">
              <a:lnSpc>
                <a:spcPct val="150000"/>
              </a:lnSpc>
            </a:pPr>
            <a:r>
              <a:rPr lang="en-US" dirty="0"/>
              <a:t>It is a simple comparison-based sorting technique. </a:t>
            </a:r>
          </a:p>
          <a:p>
            <a:pPr algn="just">
              <a:lnSpc>
                <a:spcPct val="150000"/>
              </a:lnSpc>
            </a:pPr>
            <a:r>
              <a:rPr lang="en-US" dirty="0"/>
              <a:t>In this sorting technique, each element is compared with its adjacent element, and the elements are swapped if it’s not in order. </a:t>
            </a:r>
          </a:p>
          <a:p>
            <a:pPr algn="just">
              <a:lnSpc>
                <a:spcPct val="150000"/>
              </a:lnSpc>
            </a:pPr>
            <a:r>
              <a:rPr lang="en-US" dirty="0"/>
              <a:t>The time complexity of bubble sort is 𝑂(𝑛2), where n is the size of the array. It is not suitable for large data sizes.</a:t>
            </a:r>
            <a:endParaRPr lang="en-PK" dirty="0"/>
          </a:p>
        </p:txBody>
      </p:sp>
    </p:spTree>
    <p:extLst>
      <p:ext uri="{BB962C8B-B14F-4D97-AF65-F5344CB8AC3E}">
        <p14:creationId xmlns:p14="http://schemas.microsoft.com/office/powerpoint/2010/main" val="157887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AF90799F-0235-970C-5380-DB2E9D831FB5}"/>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D9C81B2D-74B0-AAC0-DC8F-9BBF987FBD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4C14CAC9-990C-B1F2-E8A2-529509061B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75B57867-F97B-6129-297C-28672FEF3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639E2BD0-E96C-EA5B-368B-5AB65C3E40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9BE93E22-D9A4-0DF5-1604-9688C69AB2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CF3638EC-8EE0-C0D5-1FD9-982772B04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ECE35811-7066-E580-897D-8FD78AE938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B7ECD4F3-74BD-D3A7-B83E-8AA015572C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5EB21C91-F26B-9DE7-CE96-5A935FC20E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DBE3165A-721A-BA1A-5750-4C99A1CDA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80D7CAFB-FC8F-2307-DB86-5BB1C968CE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4D41370D-EA53-053C-262D-3274F06BC03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09592295-4E0C-344E-F619-2AB5972F2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5F1D577D-B204-2230-E8AE-B6E5EAFB4D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5358278B-021B-EF30-8744-021AE8646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984EECE1-ED14-D7A5-4074-71A66B8988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C73E36A7-0108-DD37-CA8F-0489DDF28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B2D2C597-A62B-4B09-F2A9-6D3CB4038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0A0EA1D1-45B1-0654-CADA-16E035FFD6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307025A4-DE99-D434-66C4-DAE1F71D8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8E4D3D15-EED4-110E-F6C6-FF25DED510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2055265D-377E-2F8D-311A-7DCE0A029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BF2D3330-DFCB-1BAA-C7E4-7D365760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54933DAA-AE97-FEE0-E170-B4196F30D7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5AC10F26-FDDA-7473-EEFF-44A421A8D40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09E16CA2-8586-32D6-2BC4-980999E8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62A6ABA3-B1E6-7A7F-16C7-845098B52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2C8010-4067-E3E8-2E3D-4B7862B5FFBE}"/>
              </a:ext>
            </a:extLst>
          </p:cNvPr>
          <p:cNvSpPr>
            <a:spLocks noGrp="1"/>
          </p:cNvSpPr>
          <p:nvPr>
            <p:ph type="title"/>
          </p:nvPr>
        </p:nvSpPr>
        <p:spPr>
          <a:xfrm>
            <a:off x="1577445" y="1168078"/>
            <a:ext cx="9048219" cy="1092200"/>
          </a:xfrm>
        </p:spPr>
        <p:txBody>
          <a:bodyPr anchor="ctr">
            <a:normAutofit/>
          </a:bodyPr>
          <a:lstStyle/>
          <a:p>
            <a:pPr algn="ctr"/>
            <a:r>
              <a:rPr lang="en-US" b="1" u="sng" dirty="0"/>
              <a:t>Insertion sort</a:t>
            </a:r>
            <a:endParaRPr lang="en-PK" dirty="0">
              <a:solidFill>
                <a:srgbClr val="FFFFFF"/>
              </a:solidFill>
            </a:endParaRPr>
          </a:p>
        </p:txBody>
      </p:sp>
      <p:sp>
        <p:nvSpPr>
          <p:cNvPr id="3" name="Content Placeholder 2">
            <a:extLst>
              <a:ext uri="{FF2B5EF4-FFF2-40B4-BE49-F238E27FC236}">
                <a16:creationId xmlns:a16="http://schemas.microsoft.com/office/drawing/2014/main" id="{84F4E13A-6DD7-0B3E-4C92-82D21C1B8562}"/>
              </a:ext>
            </a:extLst>
          </p:cNvPr>
          <p:cNvSpPr>
            <a:spLocks noGrp="1"/>
          </p:cNvSpPr>
          <p:nvPr>
            <p:ph idx="1"/>
          </p:nvPr>
        </p:nvSpPr>
        <p:spPr>
          <a:xfrm>
            <a:off x="1298449" y="1981201"/>
            <a:ext cx="9585978" cy="3962400"/>
          </a:xfrm>
        </p:spPr>
        <p:txBody>
          <a:bodyPr anchor="ctr">
            <a:normAutofit fontScale="92500"/>
          </a:bodyPr>
          <a:lstStyle/>
          <a:p>
            <a:pPr algn="just">
              <a:lnSpc>
                <a:spcPct val="150000"/>
              </a:lnSpc>
            </a:pPr>
            <a:r>
              <a:rPr lang="en-US" dirty="0"/>
              <a:t>It is a comparison-based sorting technique where one of the subarrays is always sorted. </a:t>
            </a:r>
          </a:p>
          <a:p>
            <a:pPr algn="just">
              <a:lnSpc>
                <a:spcPct val="150000"/>
              </a:lnSpc>
            </a:pPr>
            <a:r>
              <a:rPr lang="en-US" dirty="0"/>
              <a:t>For an element to be placed into the sorted subarray, an appropriate place needs to be found to insert the element into the sorted subarray. </a:t>
            </a:r>
          </a:p>
          <a:p>
            <a:pPr algn="just">
              <a:lnSpc>
                <a:spcPct val="150000"/>
              </a:lnSpc>
            </a:pPr>
            <a:r>
              <a:rPr lang="en-US" dirty="0"/>
              <a:t>The worst-case time complexity for an Insertion sort is 𝑂(𝑛</a:t>
            </a:r>
            <a:r>
              <a:rPr lang="en-US" baseline="30000" dirty="0"/>
              <a:t>2</a:t>
            </a:r>
            <a:r>
              <a:rPr lang="en-US" dirty="0"/>
              <a:t> ). </a:t>
            </a:r>
          </a:p>
          <a:p>
            <a:pPr algn="just">
              <a:lnSpc>
                <a:spcPct val="150000"/>
              </a:lnSpc>
            </a:pPr>
            <a:r>
              <a:rPr lang="en-US" dirty="0"/>
              <a:t>The number of comparisons in the best case is 𝑂(𝑛) and in the worst case is 𝑂(𝑛</a:t>
            </a:r>
            <a:r>
              <a:rPr lang="en-US" baseline="30000" dirty="0"/>
              <a:t>2</a:t>
            </a:r>
            <a:r>
              <a:rPr lang="en-US" dirty="0"/>
              <a:t>).</a:t>
            </a:r>
            <a:endParaRPr lang="en-PK" dirty="0"/>
          </a:p>
        </p:txBody>
      </p:sp>
    </p:spTree>
    <p:extLst>
      <p:ext uri="{BB962C8B-B14F-4D97-AF65-F5344CB8AC3E}">
        <p14:creationId xmlns:p14="http://schemas.microsoft.com/office/powerpoint/2010/main" val="278750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5064601B-AB1F-F7B7-1C44-85F2974BAE12}"/>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62A13287-C218-D6B1-EE33-1A9FF8740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2A0EB16F-C044-D4D3-026A-91332992ED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5B74FB22-0DFE-EB3D-9DDD-03459F2A9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7D034033-211B-A491-C919-D9349A0764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B9645F71-9A71-71FF-1128-0DB1F020CF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0F24BF0F-52D4-F597-CADE-1CAB2387E2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0C68093B-A1C4-B5AC-6A13-BEBBB5C74E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535C4880-87F6-1134-450E-8DD6D8E47C8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B892821F-777B-48D6-5FA6-3E7264CEDD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5A2BB918-322B-894B-25AA-4E461FD6E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FB702197-D787-D5BF-1B64-B506FE0004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6E8526FE-54F5-9A8D-14A1-4E4EFA8AF2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3352D772-7A91-E776-B8DB-3E9BAC0FA8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8BEED583-B4CC-5755-112B-6D15CE3FF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02F457E3-B39E-F637-877B-F4026D22A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9BE70CE8-D885-A273-4281-740B4B7A2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80F35B8D-AFCB-6EC8-6844-D9CF83D06A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EF9CB5D9-31CA-E51B-CA18-EDD279834E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5B4C90DD-3F3F-4522-E6F2-467EA9A50A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FF4F7522-7674-5EE5-64ED-42E05D8DF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9873D98E-2408-B5EF-178E-18E6FF5DEF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B0026BB8-706A-AEBB-A69C-56558A2C88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B7C2C4C8-DFF6-E145-3574-4EE4E91E0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B3779B65-7041-139B-3F67-57F8090D6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97C00084-A04E-31A8-4AFB-921C6A2689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30AE4D54-2843-B5F6-DCEA-C78F40B3A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D8434037-6AED-D5FB-5ABC-7D1E633C6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0B7470-F1CD-E4D4-FFB5-CC92DD65DB86}"/>
              </a:ext>
            </a:extLst>
          </p:cNvPr>
          <p:cNvSpPr>
            <a:spLocks noGrp="1"/>
          </p:cNvSpPr>
          <p:nvPr>
            <p:ph type="title"/>
          </p:nvPr>
        </p:nvSpPr>
        <p:spPr>
          <a:xfrm>
            <a:off x="1577445" y="1168078"/>
            <a:ext cx="9048219" cy="1092200"/>
          </a:xfrm>
        </p:spPr>
        <p:txBody>
          <a:bodyPr anchor="ctr">
            <a:normAutofit/>
          </a:bodyPr>
          <a:lstStyle/>
          <a:p>
            <a:pPr algn="ctr"/>
            <a:r>
              <a:rPr lang="en-US" b="1" u="sng" dirty="0"/>
              <a:t>Selection sort</a:t>
            </a:r>
            <a:endParaRPr lang="en-PK" dirty="0">
              <a:solidFill>
                <a:srgbClr val="FFFFFF"/>
              </a:solidFill>
            </a:endParaRPr>
          </a:p>
        </p:txBody>
      </p:sp>
      <p:sp>
        <p:nvSpPr>
          <p:cNvPr id="3" name="Content Placeholder 2">
            <a:extLst>
              <a:ext uri="{FF2B5EF4-FFF2-40B4-BE49-F238E27FC236}">
                <a16:creationId xmlns:a16="http://schemas.microsoft.com/office/drawing/2014/main" id="{FD0D794A-212D-93FA-56B7-E90F541C30A0}"/>
              </a:ext>
            </a:extLst>
          </p:cNvPr>
          <p:cNvSpPr>
            <a:spLocks noGrp="1"/>
          </p:cNvSpPr>
          <p:nvPr>
            <p:ph idx="1"/>
          </p:nvPr>
        </p:nvSpPr>
        <p:spPr>
          <a:xfrm>
            <a:off x="1298449" y="1981201"/>
            <a:ext cx="9585978" cy="3962400"/>
          </a:xfrm>
        </p:spPr>
        <p:txBody>
          <a:bodyPr anchor="ctr">
            <a:normAutofit/>
          </a:bodyPr>
          <a:lstStyle/>
          <a:p>
            <a:pPr algn="just"/>
            <a:r>
              <a:rPr lang="en-US" sz="2000" dirty="0"/>
              <a:t>Selection sort is a simple sorting algorithm. This sorting algorithm is an in-place comparison-based algorithm in which the list is divided into two parts: the sorted part at the left end and the unsorted part at the right end. </a:t>
            </a:r>
          </a:p>
          <a:p>
            <a:pPr algn="just"/>
            <a:r>
              <a:rPr lang="en-US" sz="2000" dirty="0"/>
              <a:t>Initially, the sorted part is empty, and the unsorted part is the entire list. The smallest element is selected from the unsorted array and swapped with the leftmost element, and that element becomes a part of the sorted array. </a:t>
            </a:r>
          </a:p>
          <a:p>
            <a:pPr algn="just"/>
            <a:r>
              <a:rPr lang="en-US" sz="2000" dirty="0"/>
              <a:t>This process continues moving the unsorted array boundary by one element to the right. This algorithm is not suitable for large data sets as its average and worst-case complexities are of 𝑂(𝑛</a:t>
            </a:r>
            <a:r>
              <a:rPr lang="en-US" sz="2000" baseline="30000" dirty="0"/>
              <a:t>2</a:t>
            </a:r>
            <a:r>
              <a:rPr lang="en-US" sz="2000" dirty="0"/>
              <a:t>), where </a:t>
            </a:r>
            <a:r>
              <a:rPr lang="en-US" sz="2000" b="1" dirty="0"/>
              <a:t>n </a:t>
            </a:r>
            <a:r>
              <a:rPr lang="en-US" sz="2000" dirty="0"/>
              <a:t>is the number of items.</a:t>
            </a:r>
            <a:endParaRPr lang="en-PK" sz="2000" dirty="0"/>
          </a:p>
        </p:txBody>
      </p:sp>
    </p:spTree>
    <p:extLst>
      <p:ext uri="{BB962C8B-B14F-4D97-AF65-F5344CB8AC3E}">
        <p14:creationId xmlns:p14="http://schemas.microsoft.com/office/powerpoint/2010/main" val="122186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4E0B20AE-18A2-06BE-4D09-4CF551C8C6C6}"/>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1A7B42D0-B418-6568-CDFF-FA3BE6E39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B0A14919-D9A5-A5AF-A1EF-7F652E4123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96FFF0B0-7FCC-C182-FCA7-E89A6700F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C86CB640-2515-D8F7-4CF9-577404D24A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8A7EC1C2-C582-6D16-CB3E-8C2CB1CA80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06E882A1-48AC-0CCB-FDC5-3CB0EDDA0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43FD25CB-A1A5-9900-2201-9213FB2ECF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D59BA37A-FCDE-FEA5-883B-C39DD02DB5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74B1259A-F66B-74EF-04ED-1CEAC1A3B1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AA8E88E1-A57C-1017-966C-19314FE9C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EC8E3480-A554-DB2A-0ED8-EA6B17B809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99D9D1B7-7847-A84D-ECBC-5D7501B28D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4316AA37-8105-DF78-1910-302813678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2F0C384A-580E-12B1-3AC9-8FD2676E0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3056267A-B945-1968-FF39-9082E4B86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53F96C12-11AB-BC75-E6EF-4DEFFB74C1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17B358EC-E2FD-25B1-9929-ACFC28B8B8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D133FF06-62E4-22C4-3CF3-C5594177D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534B90E7-5779-388D-C11C-FC0CB3A1B9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0D07774A-0E01-D0FD-3D61-D47F79A14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825AA9D7-D8E0-A221-48CF-8C8AEEFC1A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7408DD28-6836-397B-9EEC-FC960C49F6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818B2C9F-F039-FCF7-310B-05190022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D5BFE309-A33D-2CE1-AFC5-1BD665A115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B0A59F1D-FC86-581F-128A-D2BEF444CF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CC6486EA-BE49-AEC2-0DA5-3EDEAA29E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2992B907-6469-082A-3D90-009AFC0D7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174CD6-BF65-8AFC-8875-FCD3D9B55F4B}"/>
              </a:ext>
            </a:extLst>
          </p:cNvPr>
          <p:cNvSpPr>
            <a:spLocks noGrp="1"/>
          </p:cNvSpPr>
          <p:nvPr>
            <p:ph type="title"/>
          </p:nvPr>
        </p:nvSpPr>
        <p:spPr>
          <a:xfrm>
            <a:off x="1577445" y="1168078"/>
            <a:ext cx="9048219" cy="1092200"/>
          </a:xfrm>
        </p:spPr>
        <p:txBody>
          <a:bodyPr anchor="ctr">
            <a:normAutofit/>
          </a:bodyPr>
          <a:lstStyle/>
          <a:p>
            <a:pPr algn="ctr"/>
            <a:r>
              <a:rPr lang="en-US" b="1" u="sng" dirty="0"/>
              <a:t>Merge sort</a:t>
            </a:r>
            <a:endParaRPr lang="en-PK" dirty="0">
              <a:solidFill>
                <a:srgbClr val="FFFFFF"/>
              </a:solidFill>
            </a:endParaRPr>
          </a:p>
        </p:txBody>
      </p:sp>
      <p:sp>
        <p:nvSpPr>
          <p:cNvPr id="3" name="Content Placeholder 2">
            <a:extLst>
              <a:ext uri="{FF2B5EF4-FFF2-40B4-BE49-F238E27FC236}">
                <a16:creationId xmlns:a16="http://schemas.microsoft.com/office/drawing/2014/main" id="{0AFBF31F-4F0F-BA1C-0160-9E6909FE981E}"/>
              </a:ext>
            </a:extLst>
          </p:cNvPr>
          <p:cNvSpPr>
            <a:spLocks noGrp="1"/>
          </p:cNvSpPr>
          <p:nvPr>
            <p:ph idx="1"/>
          </p:nvPr>
        </p:nvSpPr>
        <p:spPr>
          <a:xfrm>
            <a:off x="1298449" y="1981201"/>
            <a:ext cx="9585978" cy="3962400"/>
          </a:xfrm>
        </p:spPr>
        <p:txBody>
          <a:bodyPr anchor="ctr">
            <a:normAutofit/>
          </a:bodyPr>
          <a:lstStyle/>
          <a:p>
            <a:pPr algn="just">
              <a:lnSpc>
                <a:spcPct val="150000"/>
              </a:lnSpc>
            </a:pPr>
            <a:r>
              <a:rPr lang="en-US" dirty="0"/>
              <a:t>It follows the Divide and Conquer approach for sorting an array. In merge sort, an array is first divided into two halves. The two subarrays are then sorted and merged to form the complete sorted array. The sorting of subarrays continues till the number of elements in the subarray reduces to 1.</a:t>
            </a:r>
            <a:endParaRPr lang="en-PK" dirty="0"/>
          </a:p>
        </p:txBody>
      </p:sp>
    </p:spTree>
    <p:extLst>
      <p:ext uri="{BB962C8B-B14F-4D97-AF65-F5344CB8AC3E}">
        <p14:creationId xmlns:p14="http://schemas.microsoft.com/office/powerpoint/2010/main" val="419731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B676CCF6-671A-F0CE-EAD2-167493DD495A}"/>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4B56C20B-7DCB-FAB3-883F-21A58797B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87C8BB3E-03DF-76FE-15CE-485A5C9698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23F47E71-765F-096E-2E1C-352DAC94B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088D4991-91B3-C9EE-FD77-15EE56BDE4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A865A5AF-2759-4376-13B0-860ADC6BFBA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27254EC4-5959-4B79-E285-E6C0423EBA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7EBE1EB7-C9F6-537A-2FDA-54A1307E4F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A3EB6458-A6F9-8A9B-E46D-5A093B64B1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E566718B-2C89-C88E-4E73-D5DEF05D80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5320C4C4-8C90-CA3D-8375-34E3BD56D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0A54296A-4AB1-8D5E-99FF-470F38DC142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78CEBD31-7785-9D6E-DE7E-2E98A037FB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26255C88-F2C9-41DF-4032-07AA423BC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BF34A309-4041-2D43-6E06-7F8670BDA2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176F4824-2D3D-549A-DD9E-0BC721A4B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7684CBC1-79A4-4C5E-9911-8228A77CB1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E7860922-8CB7-2A2D-35FE-D0D03929F7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325A0760-4E7D-B558-FF34-D63DFF184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6030397A-E9B0-7844-A027-6B3D07C547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F8B0F9AA-A80D-EF90-A182-37BE32BE1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99C5A0BA-991D-2AE8-19AC-5208800908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06E1B06D-6B8B-B7F0-ED1F-FF3ABE4104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A4AA18C5-5080-394B-2977-7543F01132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CBB18169-3591-45CE-1308-EB514FC12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283DEE59-3607-0193-74B1-F01BE54BA3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1E80255F-E3D8-2E21-7D41-EEC566EED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882F465B-C702-9597-23A7-625E29A7B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CD54C8-AAC3-C609-BB01-DF89F8A00943}"/>
              </a:ext>
            </a:extLst>
          </p:cNvPr>
          <p:cNvSpPr>
            <a:spLocks noGrp="1"/>
          </p:cNvSpPr>
          <p:nvPr>
            <p:ph type="title"/>
          </p:nvPr>
        </p:nvSpPr>
        <p:spPr>
          <a:xfrm>
            <a:off x="1577445" y="1168078"/>
            <a:ext cx="9048219" cy="1092200"/>
          </a:xfrm>
        </p:spPr>
        <p:txBody>
          <a:bodyPr anchor="ctr">
            <a:normAutofit/>
          </a:bodyPr>
          <a:lstStyle/>
          <a:p>
            <a:pPr algn="ctr"/>
            <a:r>
              <a:rPr lang="en-US" b="1" u="sng" dirty="0"/>
              <a:t>Quick sort</a:t>
            </a:r>
            <a:endParaRPr lang="en-PK" dirty="0">
              <a:solidFill>
                <a:srgbClr val="FFFFFF"/>
              </a:solidFill>
            </a:endParaRPr>
          </a:p>
        </p:txBody>
      </p:sp>
      <p:sp>
        <p:nvSpPr>
          <p:cNvPr id="3" name="Content Placeholder 2">
            <a:extLst>
              <a:ext uri="{FF2B5EF4-FFF2-40B4-BE49-F238E27FC236}">
                <a16:creationId xmlns:a16="http://schemas.microsoft.com/office/drawing/2014/main" id="{65A2AA15-9D4C-AE47-1B14-D212431C408D}"/>
              </a:ext>
            </a:extLst>
          </p:cNvPr>
          <p:cNvSpPr>
            <a:spLocks noGrp="1"/>
          </p:cNvSpPr>
          <p:nvPr>
            <p:ph idx="1"/>
          </p:nvPr>
        </p:nvSpPr>
        <p:spPr>
          <a:xfrm>
            <a:off x="1298449" y="1981201"/>
            <a:ext cx="9585978" cy="3962400"/>
          </a:xfrm>
        </p:spPr>
        <p:txBody>
          <a:bodyPr anchor="ctr">
            <a:normAutofit lnSpcReduction="10000"/>
          </a:bodyPr>
          <a:lstStyle/>
          <a:p>
            <a:pPr algn="just"/>
            <a:r>
              <a:rPr lang="en-US" sz="2000" dirty="0"/>
              <a:t>It follows the Divide and Conquer approach to sort the array. Quick sort is a highly efficient sorting algorithm and is based on the partitioning of an array of data into smaller arrays. </a:t>
            </a:r>
          </a:p>
          <a:p>
            <a:pPr algn="just"/>
            <a:r>
              <a:rPr lang="en-US" sz="2000" dirty="0"/>
              <a:t>A large array is partitioned into two arrays, one of which holds values smaller than the specified value, say pivot, based on which the partition is made, and another array holds values greater than the pivot value. </a:t>
            </a:r>
          </a:p>
          <a:p>
            <a:pPr algn="just"/>
            <a:r>
              <a:rPr lang="en-US" sz="2000" dirty="0"/>
              <a:t>Quicksort partitions an array and then calls itself recursively twice to sort the two resulting subarrays. This algorithm is quite efficient for large-sized data sets as its average and worst-case complexities are 𝑂(𝑛</a:t>
            </a:r>
            <a:r>
              <a:rPr lang="en-US" sz="2000" baseline="30000" dirty="0"/>
              <a:t>2</a:t>
            </a:r>
            <a:r>
              <a:rPr lang="en-US" sz="2000" dirty="0"/>
              <a:t>), respectively, and the best-case complexity is 𝑂(𝑛 𝑙𝑜𝑔 𝑛).</a:t>
            </a:r>
            <a:endParaRPr lang="en-PK" sz="2000" dirty="0"/>
          </a:p>
        </p:txBody>
      </p:sp>
    </p:spTree>
    <p:extLst>
      <p:ext uri="{BB962C8B-B14F-4D97-AF65-F5344CB8AC3E}">
        <p14:creationId xmlns:p14="http://schemas.microsoft.com/office/powerpoint/2010/main" val="309286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CE762CE8-B53E-439F-6367-81A1ACB72E57}"/>
            </a:ext>
          </a:extLst>
        </p:cNvPr>
        <p:cNvGrpSpPr/>
        <p:nvPr/>
      </p:nvGrpSpPr>
      <p:grpSpPr>
        <a:xfrm>
          <a:off x="0" y="0"/>
          <a:ext cx="0" cy="0"/>
          <a:chOff x="0" y="0"/>
          <a:chExt cx="0" cy="0"/>
        </a:xfrm>
      </p:grpSpPr>
      <p:sp useBgFill="1">
        <p:nvSpPr>
          <p:cNvPr id="125" name="Rectangle 124">
            <a:extLst>
              <a:ext uri="{FF2B5EF4-FFF2-40B4-BE49-F238E27FC236}">
                <a16:creationId xmlns:a16="http://schemas.microsoft.com/office/drawing/2014/main" id="{A1259626-D714-FEFC-9909-D337E93B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6" name="Group 125">
            <a:extLst>
              <a:ext uri="{FF2B5EF4-FFF2-40B4-BE49-F238E27FC236}">
                <a16:creationId xmlns:a16="http://schemas.microsoft.com/office/drawing/2014/main" id="{A781C1F1-A079-9560-EF34-B0B1BC4225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27" name="Freeform 35">
              <a:extLst>
                <a:ext uri="{FF2B5EF4-FFF2-40B4-BE49-F238E27FC236}">
                  <a16:creationId xmlns:a16="http://schemas.microsoft.com/office/drawing/2014/main" id="{707114B6-FA4A-816D-5F66-951727FC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28" name="Freeform 36">
              <a:extLst>
                <a:ext uri="{FF2B5EF4-FFF2-40B4-BE49-F238E27FC236}">
                  <a16:creationId xmlns:a16="http://schemas.microsoft.com/office/drawing/2014/main" id="{8482C80A-3EA1-2621-F91A-EFFDEE6214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29" name="Freeform 38">
              <a:extLst>
                <a:ext uri="{FF2B5EF4-FFF2-40B4-BE49-F238E27FC236}">
                  <a16:creationId xmlns:a16="http://schemas.microsoft.com/office/drawing/2014/main" id="{01D8C171-80CD-2993-136F-DC5F796406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0" name="Freeform 39">
              <a:extLst>
                <a:ext uri="{FF2B5EF4-FFF2-40B4-BE49-F238E27FC236}">
                  <a16:creationId xmlns:a16="http://schemas.microsoft.com/office/drawing/2014/main" id="{A59A25B0-9C73-60B2-5753-AC93A825D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31" name="Freeform 40">
              <a:extLst>
                <a:ext uri="{FF2B5EF4-FFF2-40B4-BE49-F238E27FC236}">
                  <a16:creationId xmlns:a16="http://schemas.microsoft.com/office/drawing/2014/main" id="{F5B5E31B-4DB8-E332-1931-621B52184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2" name="Rectangle 41">
              <a:extLst>
                <a:ext uri="{FF2B5EF4-FFF2-40B4-BE49-F238E27FC236}">
                  <a16:creationId xmlns:a16="http://schemas.microsoft.com/office/drawing/2014/main" id="{D3E762DF-61EC-CF86-0527-58FDF8DA709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PK"/>
            </a:p>
          </p:txBody>
        </p:sp>
      </p:grpSp>
      <p:grpSp>
        <p:nvGrpSpPr>
          <p:cNvPr id="133" name="Group 132">
            <a:extLst>
              <a:ext uri="{FF2B5EF4-FFF2-40B4-BE49-F238E27FC236}">
                <a16:creationId xmlns:a16="http://schemas.microsoft.com/office/drawing/2014/main" id="{97BF7AFC-07D7-7015-8C42-196089BF9F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34" name="Freeform 32">
              <a:extLst>
                <a:ext uri="{FF2B5EF4-FFF2-40B4-BE49-F238E27FC236}">
                  <a16:creationId xmlns:a16="http://schemas.microsoft.com/office/drawing/2014/main" id="{AE0A624C-E438-54EE-0879-C5696756B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35" name="Freeform 33">
              <a:extLst>
                <a:ext uri="{FF2B5EF4-FFF2-40B4-BE49-F238E27FC236}">
                  <a16:creationId xmlns:a16="http://schemas.microsoft.com/office/drawing/2014/main" id="{213D9278-05A4-3BCC-7415-9A42C53746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36" name="Freeform 34">
              <a:extLst>
                <a:ext uri="{FF2B5EF4-FFF2-40B4-BE49-F238E27FC236}">
                  <a16:creationId xmlns:a16="http://schemas.microsoft.com/office/drawing/2014/main" id="{91511FCA-020C-6E32-BA2F-1615E08FD7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37" name="Freeform 37">
              <a:extLst>
                <a:ext uri="{FF2B5EF4-FFF2-40B4-BE49-F238E27FC236}">
                  <a16:creationId xmlns:a16="http://schemas.microsoft.com/office/drawing/2014/main" id="{26EDECEB-8B6F-8C26-1BCB-6DB1D8FF9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38" name="Group 137">
            <a:extLst>
              <a:ext uri="{FF2B5EF4-FFF2-40B4-BE49-F238E27FC236}">
                <a16:creationId xmlns:a16="http://schemas.microsoft.com/office/drawing/2014/main" id="{A7E10545-5ADB-CDB7-0F22-C3929EFDEA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39" name="Freeform 32">
              <a:extLst>
                <a:ext uri="{FF2B5EF4-FFF2-40B4-BE49-F238E27FC236}">
                  <a16:creationId xmlns:a16="http://schemas.microsoft.com/office/drawing/2014/main" id="{2DCED1E2-57F1-C9D1-E6D5-639BDD9F9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PK"/>
            </a:p>
          </p:txBody>
        </p:sp>
        <p:sp>
          <p:nvSpPr>
            <p:cNvPr id="140" name="Freeform 33">
              <a:extLst>
                <a:ext uri="{FF2B5EF4-FFF2-40B4-BE49-F238E27FC236}">
                  <a16:creationId xmlns:a16="http://schemas.microsoft.com/office/drawing/2014/main" id="{EF575B77-7FCB-3536-6667-557AC4AF9E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PK"/>
            </a:p>
          </p:txBody>
        </p:sp>
        <p:sp>
          <p:nvSpPr>
            <p:cNvPr id="141" name="Freeform 34">
              <a:extLst>
                <a:ext uri="{FF2B5EF4-FFF2-40B4-BE49-F238E27FC236}">
                  <a16:creationId xmlns:a16="http://schemas.microsoft.com/office/drawing/2014/main" id="{E3F64A48-8383-E88C-AC5C-84ABF073F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2" name="Freeform 37">
              <a:extLst>
                <a:ext uri="{FF2B5EF4-FFF2-40B4-BE49-F238E27FC236}">
                  <a16:creationId xmlns:a16="http://schemas.microsoft.com/office/drawing/2014/main" id="{8EC0363B-86DA-8503-2CCD-D745C5DD2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PK"/>
            </a:p>
          </p:txBody>
        </p:sp>
      </p:grpSp>
      <p:grpSp>
        <p:nvGrpSpPr>
          <p:cNvPr id="143" name="Group 142">
            <a:extLst>
              <a:ext uri="{FF2B5EF4-FFF2-40B4-BE49-F238E27FC236}">
                <a16:creationId xmlns:a16="http://schemas.microsoft.com/office/drawing/2014/main" id="{45E5E308-37CE-FD0B-232F-6A6598A646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44" name="Freeform 35">
              <a:extLst>
                <a:ext uri="{FF2B5EF4-FFF2-40B4-BE49-F238E27FC236}">
                  <a16:creationId xmlns:a16="http://schemas.microsoft.com/office/drawing/2014/main" id="{A1E930F6-9367-47AA-1125-CAFE29A2F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PK"/>
            </a:p>
          </p:txBody>
        </p:sp>
        <p:sp>
          <p:nvSpPr>
            <p:cNvPr id="145" name="Freeform 36">
              <a:extLst>
                <a:ext uri="{FF2B5EF4-FFF2-40B4-BE49-F238E27FC236}">
                  <a16:creationId xmlns:a16="http://schemas.microsoft.com/office/drawing/2014/main" id="{64E5F382-5A26-B390-B6BC-FBDAEF9A8B8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PK"/>
            </a:p>
          </p:txBody>
        </p:sp>
        <p:sp>
          <p:nvSpPr>
            <p:cNvPr id="146" name="Freeform 38">
              <a:extLst>
                <a:ext uri="{FF2B5EF4-FFF2-40B4-BE49-F238E27FC236}">
                  <a16:creationId xmlns:a16="http://schemas.microsoft.com/office/drawing/2014/main" id="{EE4C35A0-F7BE-56CC-F11B-96FDD2D379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7" name="Freeform 39">
              <a:extLst>
                <a:ext uri="{FF2B5EF4-FFF2-40B4-BE49-F238E27FC236}">
                  <a16:creationId xmlns:a16="http://schemas.microsoft.com/office/drawing/2014/main" id="{7A879800-8DDB-B62C-044A-76BEA4E46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PK"/>
            </a:p>
          </p:txBody>
        </p:sp>
        <p:sp>
          <p:nvSpPr>
            <p:cNvPr id="148" name="Freeform 40">
              <a:extLst>
                <a:ext uri="{FF2B5EF4-FFF2-40B4-BE49-F238E27FC236}">
                  <a16:creationId xmlns:a16="http://schemas.microsoft.com/office/drawing/2014/main" id="{C066D039-8F39-47F0-8515-093D2CCDA0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PK"/>
            </a:p>
          </p:txBody>
        </p:sp>
        <p:sp>
          <p:nvSpPr>
            <p:cNvPr id="149" name="Rectangle 41">
              <a:extLst>
                <a:ext uri="{FF2B5EF4-FFF2-40B4-BE49-F238E27FC236}">
                  <a16:creationId xmlns:a16="http://schemas.microsoft.com/office/drawing/2014/main" id="{336C50FE-F3A0-DF6C-3E49-AAAB4E0ADB8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PK"/>
            </a:p>
          </p:txBody>
        </p:sp>
      </p:grpSp>
      <p:sp>
        <p:nvSpPr>
          <p:cNvPr id="110" name="Rectangle 109">
            <a:extLst>
              <a:ext uri="{FF2B5EF4-FFF2-40B4-BE49-F238E27FC236}">
                <a16:creationId xmlns:a16="http://schemas.microsoft.com/office/drawing/2014/main" id="{700EAEF3-8D71-4991-5BE4-0CE781168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 Diagonal Corner Rectangle 7">
            <a:extLst>
              <a:ext uri="{FF2B5EF4-FFF2-40B4-BE49-F238E27FC236}">
                <a16:creationId xmlns:a16="http://schemas.microsoft.com/office/drawing/2014/main" id="{0D5EBECC-1F80-4EA1-66BE-614F22AD0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586169-8C47-16FA-B5E8-EFC2AD752D28}"/>
              </a:ext>
            </a:extLst>
          </p:cNvPr>
          <p:cNvSpPr>
            <a:spLocks noGrp="1"/>
          </p:cNvSpPr>
          <p:nvPr>
            <p:ph type="title"/>
          </p:nvPr>
        </p:nvSpPr>
        <p:spPr>
          <a:xfrm>
            <a:off x="1577445" y="1168078"/>
            <a:ext cx="9048219" cy="1092200"/>
          </a:xfrm>
        </p:spPr>
        <p:txBody>
          <a:bodyPr anchor="ctr">
            <a:normAutofit/>
          </a:bodyPr>
          <a:lstStyle/>
          <a:p>
            <a:pPr algn="ctr"/>
            <a:r>
              <a:rPr lang="en-US" b="1" u="sng" dirty="0"/>
              <a:t>heap sort</a:t>
            </a:r>
            <a:endParaRPr lang="en-PK" dirty="0">
              <a:solidFill>
                <a:srgbClr val="FFFFFF"/>
              </a:solidFill>
            </a:endParaRPr>
          </a:p>
        </p:txBody>
      </p:sp>
      <p:sp>
        <p:nvSpPr>
          <p:cNvPr id="3" name="Content Placeholder 2">
            <a:extLst>
              <a:ext uri="{FF2B5EF4-FFF2-40B4-BE49-F238E27FC236}">
                <a16:creationId xmlns:a16="http://schemas.microsoft.com/office/drawing/2014/main" id="{CAE6AE3B-1873-C032-9093-8E6790A040DD}"/>
              </a:ext>
            </a:extLst>
          </p:cNvPr>
          <p:cNvSpPr>
            <a:spLocks noGrp="1"/>
          </p:cNvSpPr>
          <p:nvPr>
            <p:ph idx="1"/>
          </p:nvPr>
        </p:nvSpPr>
        <p:spPr>
          <a:xfrm>
            <a:off x="1298449" y="1981201"/>
            <a:ext cx="9585978" cy="3962400"/>
          </a:xfrm>
        </p:spPr>
        <p:txBody>
          <a:bodyPr anchor="ctr">
            <a:normAutofit fontScale="85000" lnSpcReduction="10000"/>
          </a:bodyPr>
          <a:lstStyle/>
          <a:p>
            <a:pPr algn="just"/>
            <a:r>
              <a:rPr lang="en-US" dirty="0"/>
              <a:t>A heap is a complete binary tree, and a binary tree is a tree in which each node can have the most two children.</a:t>
            </a:r>
          </a:p>
          <a:p>
            <a:pPr algn="just"/>
            <a:r>
              <a:rPr lang="en-US" dirty="0"/>
              <a:t> Heapsort is a popular and efficient sorting algorithm. Heap sort processes the elements by creating a min-heap or a max-heap using the elements of the given array. </a:t>
            </a:r>
          </a:p>
          <a:p>
            <a:pPr algn="just"/>
            <a:r>
              <a:rPr lang="en-US" dirty="0"/>
              <a:t>Min-heap or max-heap represents the ordering of an array in which the root element represents the minimum or maximum element of the array. </a:t>
            </a:r>
          </a:p>
          <a:p>
            <a:pPr algn="just"/>
            <a:r>
              <a:rPr lang="en-US" dirty="0"/>
              <a:t>The concept of heap sort is to eliminate the elements one by one from the heap part of the list and then insert them into the sorted part of the list. </a:t>
            </a:r>
          </a:p>
          <a:p>
            <a:pPr algn="just"/>
            <a:r>
              <a:rPr lang="en-US" dirty="0"/>
              <a:t>Heapsort is an in-place sorting algorithm. The time complexity of heap sort is 𝑂(𝑛 𝑙𝑜𝑔 𝑛).</a:t>
            </a:r>
            <a:r>
              <a:rPr lang="en-PK" sz="2000" dirty="0"/>
              <a:t> </a:t>
            </a:r>
          </a:p>
        </p:txBody>
      </p:sp>
    </p:spTree>
    <p:extLst>
      <p:ext uri="{BB962C8B-B14F-4D97-AF65-F5344CB8AC3E}">
        <p14:creationId xmlns:p14="http://schemas.microsoft.com/office/powerpoint/2010/main" val="55876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1158</TotalTime>
  <Words>964</Words>
  <Application>Microsoft Office PowerPoint</Application>
  <PresentationFormat>Widescreen</PresentationFormat>
  <Paragraphs>52</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Tw Cen MT</vt:lpstr>
      <vt:lpstr>Circuit</vt:lpstr>
      <vt:lpstr>Algorithms and Data Structures  TEB1113/TFB2023 - may 2025</vt:lpstr>
      <vt:lpstr>LAB – 10  Searching &amp; sorting</vt:lpstr>
      <vt:lpstr>Objectives for lab-10</vt:lpstr>
      <vt:lpstr>Brief history</vt:lpstr>
      <vt:lpstr>Linear Search</vt:lpstr>
      <vt:lpstr>Binary Search</vt:lpstr>
      <vt:lpstr>sorting</vt:lpstr>
      <vt:lpstr>Bubble sort</vt:lpstr>
      <vt:lpstr>Insertion sort</vt:lpstr>
      <vt:lpstr>Selection sort</vt:lpstr>
      <vt:lpstr>Merge sort</vt:lpstr>
      <vt:lpstr>Quick sort</vt:lpstr>
      <vt:lpstr>heap sort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Reeyan Afzal</dc:creator>
  <cp:lastModifiedBy>Khan Reeyan Afzal</cp:lastModifiedBy>
  <cp:revision>220</cp:revision>
  <dcterms:created xsi:type="dcterms:W3CDTF">2025-05-20T03:20:14Z</dcterms:created>
  <dcterms:modified xsi:type="dcterms:W3CDTF">2026-07-16T02:29:11Z</dcterms:modified>
</cp:coreProperties>
</file>