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notesMasterIdLst>
    <p:notesMasterId r:id="rId9"/>
  </p:notesMasterIdLst>
  <p:sldIdLst>
    <p:sldId id="256" r:id="rId2"/>
    <p:sldId id="270" r:id="rId3"/>
    <p:sldId id="258" r:id="rId4"/>
    <p:sldId id="261" r:id="rId5"/>
    <p:sldId id="286" r:id="rId6"/>
    <p:sldId id="274" r:id="rId7"/>
    <p:sldId id="28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77"/>
    <p:restoredTop sz="94636"/>
  </p:normalViewPr>
  <p:slideViewPr>
    <p:cSldViewPr snapToGrid="0">
      <p:cViewPr varScale="1">
        <p:scale>
          <a:sx n="139" d="100"/>
          <a:sy n="139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89529-089E-6C4A-9D3C-D17D436A8580}" type="datetimeFigureOut">
              <a:rPr lang="en-PK" smtClean="0"/>
              <a:t>29/05/2025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6B9A6-B2B1-534D-B588-971C6DF202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92706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6B9A6-B2B1-534D-B588-971C6DF2020E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46742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27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12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753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421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406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958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4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58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430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511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159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5631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324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281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7434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4352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19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2466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7A070EAD-1DCD-4F3D-BA84-799B891A0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08075C-96CF-B9F5-0486-9F30AE741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1285" y="1816101"/>
            <a:ext cx="8578215" cy="1782760"/>
          </a:xfrm>
        </p:spPr>
        <p:txBody>
          <a:bodyPr>
            <a:normAutofit/>
          </a:bodyPr>
          <a:lstStyle/>
          <a:p>
            <a:pPr algn="ctr"/>
            <a:r>
              <a:rPr lang="en-MY" sz="4000" b="1" u="sng" dirty="0"/>
              <a:t>Algorithms and Data Structures</a:t>
            </a:r>
            <a:br>
              <a:rPr lang="en-MY" sz="4000" b="1" dirty="0"/>
            </a:br>
            <a:br>
              <a:rPr lang="en-MY" sz="4200" b="1" dirty="0"/>
            </a:br>
            <a:r>
              <a:rPr lang="en-MY" sz="2400" dirty="0"/>
              <a:t>TEB1113/TFB2023 - may 2025</a:t>
            </a:r>
            <a:endParaRPr lang="en-PK" sz="4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0126B-6154-9A82-4A9D-539A8B36C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6574" y="4313237"/>
            <a:ext cx="7539989" cy="1108075"/>
          </a:xfrm>
        </p:spPr>
        <p:txBody>
          <a:bodyPr>
            <a:normAutofit/>
          </a:bodyPr>
          <a:lstStyle/>
          <a:p>
            <a:pPr algn="ctr"/>
            <a:r>
              <a:rPr lang="en-GB" sz="2400" b="1" dirty="0">
                <a:solidFill>
                  <a:schemeClr val="tx1"/>
                </a:solidFill>
              </a:rPr>
              <a:t>lecturer</a:t>
            </a:r>
            <a:r>
              <a:rPr lang="en-PK" sz="2400" b="1" dirty="0">
                <a:solidFill>
                  <a:schemeClr val="tx1"/>
                </a:solidFill>
              </a:rPr>
              <a:t>: </a:t>
            </a:r>
            <a:r>
              <a:rPr lang="en-PK" sz="2400" dirty="0">
                <a:solidFill>
                  <a:schemeClr val="tx1"/>
                </a:solidFill>
              </a:rPr>
              <a:t>DR. Shashi Bhushan</a:t>
            </a:r>
          </a:p>
          <a:p>
            <a:pPr algn="ctr"/>
            <a:r>
              <a:rPr lang="en-PK" sz="2400" b="1" dirty="0">
                <a:solidFill>
                  <a:schemeClr val="tx1"/>
                </a:solidFill>
              </a:rPr>
              <a:t>LAB TA: </a:t>
            </a:r>
            <a:r>
              <a:rPr lang="en-PK" sz="2400" dirty="0">
                <a:solidFill>
                  <a:schemeClr val="tx1"/>
                </a:solidFill>
              </a:rPr>
              <a:t>Reeyan afzal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DE471E13-6104-4637-8A8F-B545529B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126" name="Rectangle 5">
              <a:extLst>
                <a:ext uri="{FF2B5EF4-FFF2-40B4-BE49-F238E27FC236}">
                  <a16:creationId xmlns:a16="http://schemas.microsoft.com/office/drawing/2014/main" id="{802F412D-6781-427D-AB79-09FD610CCE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27" name="Freeform 6">
              <a:extLst>
                <a:ext uri="{FF2B5EF4-FFF2-40B4-BE49-F238E27FC236}">
                  <a16:creationId xmlns:a16="http://schemas.microsoft.com/office/drawing/2014/main" id="{8471B962-D824-43CE-B5DD-704B305B2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28" name="Freeform 7">
              <a:extLst>
                <a:ext uri="{FF2B5EF4-FFF2-40B4-BE49-F238E27FC236}">
                  <a16:creationId xmlns:a16="http://schemas.microsoft.com/office/drawing/2014/main" id="{ED60EBD3-FA75-460B-AFBD-3F234A0CA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29" name="Rectangle 8">
              <a:extLst>
                <a:ext uri="{FF2B5EF4-FFF2-40B4-BE49-F238E27FC236}">
                  <a16:creationId xmlns:a16="http://schemas.microsoft.com/office/drawing/2014/main" id="{D0791244-FBF2-49D9-BDBC-E2E58C86B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0" name="Freeform 9">
              <a:extLst>
                <a:ext uri="{FF2B5EF4-FFF2-40B4-BE49-F238E27FC236}">
                  <a16:creationId xmlns:a16="http://schemas.microsoft.com/office/drawing/2014/main" id="{FEE4C4B1-195C-40F5-A78F-2EB7ED6E6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1" name="Freeform 10">
              <a:extLst>
                <a:ext uri="{FF2B5EF4-FFF2-40B4-BE49-F238E27FC236}">
                  <a16:creationId xmlns:a16="http://schemas.microsoft.com/office/drawing/2014/main" id="{22766AF8-3850-41E4-80D0-321D9A13D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2" name="Freeform 11">
              <a:extLst>
                <a:ext uri="{FF2B5EF4-FFF2-40B4-BE49-F238E27FC236}">
                  <a16:creationId xmlns:a16="http://schemas.microsoft.com/office/drawing/2014/main" id="{8834F8EE-AB04-42FE-AE7B-3E9C6ACA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3" name="Freeform 12">
              <a:extLst>
                <a:ext uri="{FF2B5EF4-FFF2-40B4-BE49-F238E27FC236}">
                  <a16:creationId xmlns:a16="http://schemas.microsoft.com/office/drawing/2014/main" id="{C86BB534-4617-4275-908E-357CF2246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4" name="Freeform 13">
              <a:extLst>
                <a:ext uri="{FF2B5EF4-FFF2-40B4-BE49-F238E27FC236}">
                  <a16:creationId xmlns:a16="http://schemas.microsoft.com/office/drawing/2014/main" id="{B6DEB58B-8D28-4BE9-9CA9-F4B3A083B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5" name="Freeform 14">
              <a:extLst>
                <a:ext uri="{FF2B5EF4-FFF2-40B4-BE49-F238E27FC236}">
                  <a16:creationId xmlns:a16="http://schemas.microsoft.com/office/drawing/2014/main" id="{25A772BC-4720-4EC2-AD61-A7B74E915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6" name="Freeform 15">
              <a:extLst>
                <a:ext uri="{FF2B5EF4-FFF2-40B4-BE49-F238E27FC236}">
                  <a16:creationId xmlns:a16="http://schemas.microsoft.com/office/drawing/2014/main" id="{60D6B27E-FAC5-4267-80A9-DE4D2E02B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7" name="Freeform 16">
              <a:extLst>
                <a:ext uri="{FF2B5EF4-FFF2-40B4-BE49-F238E27FC236}">
                  <a16:creationId xmlns:a16="http://schemas.microsoft.com/office/drawing/2014/main" id="{1F39FA83-D8C8-4CE3-9C62-10375FD04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8" name="Freeform 17">
              <a:extLst>
                <a:ext uri="{FF2B5EF4-FFF2-40B4-BE49-F238E27FC236}">
                  <a16:creationId xmlns:a16="http://schemas.microsoft.com/office/drawing/2014/main" id="{E09B4CF3-A51F-4787-81FE-F5C79BA42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9" name="Freeform 18">
              <a:extLst>
                <a:ext uri="{FF2B5EF4-FFF2-40B4-BE49-F238E27FC236}">
                  <a16:creationId xmlns:a16="http://schemas.microsoft.com/office/drawing/2014/main" id="{6695CB35-74E4-43C0-89F5-9FDA59B3A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0" name="Freeform 19">
              <a:extLst>
                <a:ext uri="{FF2B5EF4-FFF2-40B4-BE49-F238E27FC236}">
                  <a16:creationId xmlns:a16="http://schemas.microsoft.com/office/drawing/2014/main" id="{945450CE-FB13-4C46-825F-5BB191703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1" name="Freeform 20">
              <a:extLst>
                <a:ext uri="{FF2B5EF4-FFF2-40B4-BE49-F238E27FC236}">
                  <a16:creationId xmlns:a16="http://schemas.microsoft.com/office/drawing/2014/main" id="{E80AA0B2-7FE7-4B75-AC25-E0F6C0FE4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2" name="Freeform 21">
              <a:extLst>
                <a:ext uri="{FF2B5EF4-FFF2-40B4-BE49-F238E27FC236}">
                  <a16:creationId xmlns:a16="http://schemas.microsoft.com/office/drawing/2014/main" id="{2E81F7C1-AD8F-41A0-91A8-E05F66CB0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3" name="Freeform 22">
              <a:extLst>
                <a:ext uri="{FF2B5EF4-FFF2-40B4-BE49-F238E27FC236}">
                  <a16:creationId xmlns:a16="http://schemas.microsoft.com/office/drawing/2014/main" id="{F4E8A538-9FFA-4C76-BCE2-D54F56A11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4" name="Freeform 23">
              <a:extLst>
                <a:ext uri="{FF2B5EF4-FFF2-40B4-BE49-F238E27FC236}">
                  <a16:creationId xmlns:a16="http://schemas.microsoft.com/office/drawing/2014/main" id="{3C412824-3CBA-4E74-B2FD-936EA7048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5" name="Freeform 24">
              <a:extLst>
                <a:ext uri="{FF2B5EF4-FFF2-40B4-BE49-F238E27FC236}">
                  <a16:creationId xmlns:a16="http://schemas.microsoft.com/office/drawing/2014/main" id="{E28DC1F0-74FF-4D97-BD4D-FD42DE4AC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6" name="Freeform 25">
              <a:extLst>
                <a:ext uri="{FF2B5EF4-FFF2-40B4-BE49-F238E27FC236}">
                  <a16:creationId xmlns:a16="http://schemas.microsoft.com/office/drawing/2014/main" id="{77CEC4FA-6FD3-4ABF-BF98-94E7947A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7" name="Freeform 26">
              <a:extLst>
                <a:ext uri="{FF2B5EF4-FFF2-40B4-BE49-F238E27FC236}">
                  <a16:creationId xmlns:a16="http://schemas.microsoft.com/office/drawing/2014/main" id="{D4E61DA7-BFA9-48AF-BD6F-EBB15C235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8" name="Freeform 27">
              <a:extLst>
                <a:ext uri="{FF2B5EF4-FFF2-40B4-BE49-F238E27FC236}">
                  <a16:creationId xmlns:a16="http://schemas.microsoft.com/office/drawing/2014/main" id="{57164D6A-1DD9-43AE-878F-A413DC26F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9" name="Freeform 28">
              <a:extLst>
                <a:ext uri="{FF2B5EF4-FFF2-40B4-BE49-F238E27FC236}">
                  <a16:creationId xmlns:a16="http://schemas.microsoft.com/office/drawing/2014/main" id="{4949EBA6-53D9-4F2D-91DB-EA7AE260F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0" name="Freeform 29">
              <a:extLst>
                <a:ext uri="{FF2B5EF4-FFF2-40B4-BE49-F238E27FC236}">
                  <a16:creationId xmlns:a16="http://schemas.microsoft.com/office/drawing/2014/main" id="{0AFEA5FA-F759-441C-A0BC-7EDC79A67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1" name="Freeform 30">
              <a:extLst>
                <a:ext uri="{FF2B5EF4-FFF2-40B4-BE49-F238E27FC236}">
                  <a16:creationId xmlns:a16="http://schemas.microsoft.com/office/drawing/2014/main" id="{5B913AE0-5DC8-4244-8C26-ED97F834E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2" name="Freeform 31">
              <a:extLst>
                <a:ext uri="{FF2B5EF4-FFF2-40B4-BE49-F238E27FC236}">
                  <a16:creationId xmlns:a16="http://schemas.microsoft.com/office/drawing/2014/main" id="{A87DB58A-25D2-46F1-85E3-06F964D01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3" name="Freeform 32">
              <a:extLst>
                <a:ext uri="{FF2B5EF4-FFF2-40B4-BE49-F238E27FC236}">
                  <a16:creationId xmlns:a16="http://schemas.microsoft.com/office/drawing/2014/main" id="{E7AE8209-F3E7-4ACA-98D0-90B282A147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4" name="Rectangle 33">
              <a:extLst>
                <a:ext uri="{FF2B5EF4-FFF2-40B4-BE49-F238E27FC236}">
                  <a16:creationId xmlns:a16="http://schemas.microsoft.com/office/drawing/2014/main" id="{1CED7927-A7C7-444A-A8F3-6348852AE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5" name="Freeform 34">
              <a:extLst>
                <a:ext uri="{FF2B5EF4-FFF2-40B4-BE49-F238E27FC236}">
                  <a16:creationId xmlns:a16="http://schemas.microsoft.com/office/drawing/2014/main" id="{08BEDF90-F9A6-4DE4-94B6-43E416039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6" name="Freeform 35">
              <a:extLst>
                <a:ext uri="{FF2B5EF4-FFF2-40B4-BE49-F238E27FC236}">
                  <a16:creationId xmlns:a16="http://schemas.microsoft.com/office/drawing/2014/main" id="{36540D5F-1C77-438A-BF12-56455C472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7" name="Freeform 36">
              <a:extLst>
                <a:ext uri="{FF2B5EF4-FFF2-40B4-BE49-F238E27FC236}">
                  <a16:creationId xmlns:a16="http://schemas.microsoft.com/office/drawing/2014/main" id="{52FC779A-BC55-40AC-8FFD-E014F8C05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8" name="Freeform 37">
              <a:extLst>
                <a:ext uri="{FF2B5EF4-FFF2-40B4-BE49-F238E27FC236}">
                  <a16:creationId xmlns:a16="http://schemas.microsoft.com/office/drawing/2014/main" id="{63E42DE5-DC0E-4043-8A35-20C53074A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9" name="Freeform 38">
              <a:extLst>
                <a:ext uri="{FF2B5EF4-FFF2-40B4-BE49-F238E27FC236}">
                  <a16:creationId xmlns:a16="http://schemas.microsoft.com/office/drawing/2014/main" id="{41581FA6-993A-4899-ADF1-0A83A623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0" name="Freeform 39">
              <a:extLst>
                <a:ext uri="{FF2B5EF4-FFF2-40B4-BE49-F238E27FC236}">
                  <a16:creationId xmlns:a16="http://schemas.microsoft.com/office/drawing/2014/main" id="{33C4FDB9-01D2-4CB0-BFED-216CAC7EB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1" name="Freeform 40">
              <a:extLst>
                <a:ext uri="{FF2B5EF4-FFF2-40B4-BE49-F238E27FC236}">
                  <a16:creationId xmlns:a16="http://schemas.microsoft.com/office/drawing/2014/main" id="{34E715AB-2B68-41C4-A61F-02C413F242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2" name="Freeform 41">
              <a:extLst>
                <a:ext uri="{FF2B5EF4-FFF2-40B4-BE49-F238E27FC236}">
                  <a16:creationId xmlns:a16="http://schemas.microsoft.com/office/drawing/2014/main" id="{D3861C35-D060-408D-9871-4DA2D0547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3" name="Freeform 42">
              <a:extLst>
                <a:ext uri="{FF2B5EF4-FFF2-40B4-BE49-F238E27FC236}">
                  <a16:creationId xmlns:a16="http://schemas.microsoft.com/office/drawing/2014/main" id="{B4F4F38F-33FE-48A0-986D-FB771F18B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4" name="Freeform 43">
              <a:extLst>
                <a:ext uri="{FF2B5EF4-FFF2-40B4-BE49-F238E27FC236}">
                  <a16:creationId xmlns:a16="http://schemas.microsoft.com/office/drawing/2014/main" id="{50FCFC8E-2DC3-4F27-9E02-196830E78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5" name="Freeform 44">
              <a:extLst>
                <a:ext uri="{FF2B5EF4-FFF2-40B4-BE49-F238E27FC236}">
                  <a16:creationId xmlns:a16="http://schemas.microsoft.com/office/drawing/2014/main" id="{3A6EE414-1500-4144-B453-BA950E510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6" name="Rectangle 45">
              <a:extLst>
                <a:ext uri="{FF2B5EF4-FFF2-40B4-BE49-F238E27FC236}">
                  <a16:creationId xmlns:a16="http://schemas.microsoft.com/office/drawing/2014/main" id="{0C1A9D8A-5515-4C84-AE17-A6D51243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7" name="Freeform 46">
              <a:extLst>
                <a:ext uri="{FF2B5EF4-FFF2-40B4-BE49-F238E27FC236}">
                  <a16:creationId xmlns:a16="http://schemas.microsoft.com/office/drawing/2014/main" id="{E8E7C8C7-FE85-4C8F-960C-3748511E0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8" name="Freeform 47">
              <a:extLst>
                <a:ext uri="{FF2B5EF4-FFF2-40B4-BE49-F238E27FC236}">
                  <a16:creationId xmlns:a16="http://schemas.microsoft.com/office/drawing/2014/main" id="{33DF2ED7-F601-4A9F-AA50-822ED85D5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9" name="Freeform 48">
              <a:extLst>
                <a:ext uri="{FF2B5EF4-FFF2-40B4-BE49-F238E27FC236}">
                  <a16:creationId xmlns:a16="http://schemas.microsoft.com/office/drawing/2014/main" id="{FEDB3A05-6FDD-4E87-B800-8F9975244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0" name="Freeform 49">
              <a:extLst>
                <a:ext uri="{FF2B5EF4-FFF2-40B4-BE49-F238E27FC236}">
                  <a16:creationId xmlns:a16="http://schemas.microsoft.com/office/drawing/2014/main" id="{AD6225C0-E391-49D5-9A7B-57C5ED60E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1" name="Freeform 50">
              <a:extLst>
                <a:ext uri="{FF2B5EF4-FFF2-40B4-BE49-F238E27FC236}">
                  <a16:creationId xmlns:a16="http://schemas.microsoft.com/office/drawing/2014/main" id="{B814B458-45E5-451C-9CBD-027E3776A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2" name="Freeform 51">
              <a:extLst>
                <a:ext uri="{FF2B5EF4-FFF2-40B4-BE49-F238E27FC236}">
                  <a16:creationId xmlns:a16="http://schemas.microsoft.com/office/drawing/2014/main" id="{59167140-9A0D-4FE7-8E37-2CD613011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3" name="Freeform 52">
              <a:extLst>
                <a:ext uri="{FF2B5EF4-FFF2-40B4-BE49-F238E27FC236}">
                  <a16:creationId xmlns:a16="http://schemas.microsoft.com/office/drawing/2014/main" id="{2D38B213-991B-495D-8886-04CAD44C7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4" name="Freeform 53">
              <a:extLst>
                <a:ext uri="{FF2B5EF4-FFF2-40B4-BE49-F238E27FC236}">
                  <a16:creationId xmlns:a16="http://schemas.microsoft.com/office/drawing/2014/main" id="{67C1C3DA-3972-4D98-9D9E-390461B28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5" name="Freeform 54">
              <a:extLst>
                <a:ext uri="{FF2B5EF4-FFF2-40B4-BE49-F238E27FC236}">
                  <a16:creationId xmlns:a16="http://schemas.microsoft.com/office/drawing/2014/main" id="{972F8941-61DB-48E1-B9C1-E73247056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6" name="Freeform 55">
              <a:extLst>
                <a:ext uri="{FF2B5EF4-FFF2-40B4-BE49-F238E27FC236}">
                  <a16:creationId xmlns:a16="http://schemas.microsoft.com/office/drawing/2014/main" id="{857B495F-5C9B-435F-8D39-45CC57471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7" name="Freeform 56">
              <a:extLst>
                <a:ext uri="{FF2B5EF4-FFF2-40B4-BE49-F238E27FC236}">
                  <a16:creationId xmlns:a16="http://schemas.microsoft.com/office/drawing/2014/main" id="{B607428B-B7C9-4017-84F8-19C9B2134A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8" name="Freeform 57">
              <a:extLst>
                <a:ext uri="{FF2B5EF4-FFF2-40B4-BE49-F238E27FC236}">
                  <a16:creationId xmlns:a16="http://schemas.microsoft.com/office/drawing/2014/main" id="{A20C5139-2108-4F5E-B892-64F1D8605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9" name="Freeform 58">
              <a:extLst>
                <a:ext uri="{FF2B5EF4-FFF2-40B4-BE49-F238E27FC236}">
                  <a16:creationId xmlns:a16="http://schemas.microsoft.com/office/drawing/2014/main" id="{C2A51623-F2F3-4584-93F5-598E56A5F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1146214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A46E1D-E3C1-2F92-F651-BB0572787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:p14="http://schemas.microsoft.com/office/powerpoint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3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4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55F7143-8E3C-80DE-5CE3-62D66AA1C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714624"/>
            <a:ext cx="6858000" cy="1367896"/>
          </a:xfrm>
        </p:spPr>
        <p:txBody>
          <a:bodyPr>
            <a:noAutofit/>
          </a:bodyPr>
          <a:lstStyle/>
          <a:p>
            <a:pPr algn="ctr"/>
            <a:r>
              <a:rPr lang="en-MY" sz="3200" b="1" dirty="0">
                <a:solidFill>
                  <a:srgbClr val="FFFFFF"/>
                </a:solidFill>
              </a:rPr>
              <a:t>LAB – 11</a:t>
            </a:r>
            <a:br>
              <a:rPr lang="en-MY" sz="3200" b="1" dirty="0">
                <a:solidFill>
                  <a:srgbClr val="FFFFFF"/>
                </a:solidFill>
              </a:rPr>
            </a:br>
            <a:br>
              <a:rPr lang="en-MY" sz="3200" b="1" dirty="0">
                <a:solidFill>
                  <a:srgbClr val="FFFFFF"/>
                </a:solidFill>
              </a:rPr>
            </a:br>
            <a:r>
              <a:rPr lang="en-MY" sz="3200" b="1" dirty="0">
                <a:solidFill>
                  <a:srgbClr val="FFFFFF"/>
                </a:solidFill>
              </a:rPr>
              <a:t>hashing</a:t>
            </a:r>
            <a:endParaRPr lang="en-PK"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825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33231-4B9B-AB58-C50B-D6F5EED7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91E01204-9D6F-D989-ACF7-56ED1490B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60E2A31-2EF4-7753-B61A-E321DE942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52" name="Rectangle 5">
              <a:extLst>
                <a:ext uri="{FF2B5EF4-FFF2-40B4-BE49-F238E27FC236}">
                  <a16:creationId xmlns:a16="http://schemas.microsoft.com/office/drawing/2014/main" id="{A0B3BED0-C036-2B3C-CBCB-C58DD6AD5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36A33668-F09C-E430-E587-623C99AF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4" name="Freeform 7">
              <a:extLst>
                <a:ext uri="{FF2B5EF4-FFF2-40B4-BE49-F238E27FC236}">
                  <a16:creationId xmlns:a16="http://schemas.microsoft.com/office/drawing/2014/main" id="{75FA545D-5C29-0E68-5693-469FB3BE5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5" name="Freeform 8">
              <a:extLst>
                <a:ext uri="{FF2B5EF4-FFF2-40B4-BE49-F238E27FC236}">
                  <a16:creationId xmlns:a16="http://schemas.microsoft.com/office/drawing/2014/main" id="{FF50CDD2-B099-1678-793A-0706A2C75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6" name="Freeform 9">
              <a:extLst>
                <a:ext uri="{FF2B5EF4-FFF2-40B4-BE49-F238E27FC236}">
                  <a16:creationId xmlns:a16="http://schemas.microsoft.com/office/drawing/2014/main" id="{04784818-94CA-D621-FBB6-6F20EB6D4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7" name="Freeform 10">
              <a:extLst>
                <a:ext uri="{FF2B5EF4-FFF2-40B4-BE49-F238E27FC236}">
                  <a16:creationId xmlns:a16="http://schemas.microsoft.com/office/drawing/2014/main" id="{7BA2DFBA-38BC-ABB4-A806-01AB5C3F9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EBC8788E-26E0-FA56-101C-7C57971C6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8" name="Freeform 12">
              <a:extLst>
                <a:ext uri="{FF2B5EF4-FFF2-40B4-BE49-F238E27FC236}">
                  <a16:creationId xmlns:a16="http://schemas.microsoft.com/office/drawing/2014/main" id="{4ED205C7-CAD0-59C4-558F-D31F53132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9" name="Freeform 13">
              <a:extLst>
                <a:ext uri="{FF2B5EF4-FFF2-40B4-BE49-F238E27FC236}">
                  <a16:creationId xmlns:a16="http://schemas.microsoft.com/office/drawing/2014/main" id="{D8D08DF9-B232-D0FA-467E-F2D53F826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0" name="Freeform 14">
              <a:extLst>
                <a:ext uri="{FF2B5EF4-FFF2-40B4-BE49-F238E27FC236}">
                  <a16:creationId xmlns:a16="http://schemas.microsoft.com/office/drawing/2014/main" id="{DBED4CC3-E727-ABB4-DBFB-AC92A34C97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1" name="Freeform 15">
              <a:extLst>
                <a:ext uri="{FF2B5EF4-FFF2-40B4-BE49-F238E27FC236}">
                  <a16:creationId xmlns:a16="http://schemas.microsoft.com/office/drawing/2014/main" id="{EA4BC3A6-A074-8F06-E961-794347100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2" name="Line 16">
              <a:extLst>
                <a:ext uri="{FF2B5EF4-FFF2-40B4-BE49-F238E27FC236}">
                  <a16:creationId xmlns:a16="http://schemas.microsoft.com/office/drawing/2014/main" id="{00B5CC85-2A92-8FDE-0C88-8272B3CD2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B49B96A8-67B1-2513-0F95-E3F5ED28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E8FF8649-71EF-DB43-E488-15A5156F7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0A380316-BE1D-BC11-BD34-FB1D61E4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5" name="Freeform 20">
              <a:extLst>
                <a:ext uri="{FF2B5EF4-FFF2-40B4-BE49-F238E27FC236}">
                  <a16:creationId xmlns:a16="http://schemas.microsoft.com/office/drawing/2014/main" id="{2A8B955F-C9E9-AE77-76B8-970C14004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6" name="Rectangle 21">
              <a:extLst>
                <a:ext uri="{FF2B5EF4-FFF2-40B4-BE49-F238E27FC236}">
                  <a16:creationId xmlns:a16="http://schemas.microsoft.com/office/drawing/2014/main" id="{68EBE71B-07A7-7B01-8723-B2F2F505C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7" name="Freeform 22">
              <a:extLst>
                <a:ext uri="{FF2B5EF4-FFF2-40B4-BE49-F238E27FC236}">
                  <a16:creationId xmlns:a16="http://schemas.microsoft.com/office/drawing/2014/main" id="{CE5D1CF5-DD3C-6BC4-FCAF-B78076A90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837661A3-CD86-6834-028C-BA88B7F4C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FC68E5E3-FC67-AC66-246D-CD13D57364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9" name="Freeform 25">
              <a:extLst>
                <a:ext uri="{FF2B5EF4-FFF2-40B4-BE49-F238E27FC236}">
                  <a16:creationId xmlns:a16="http://schemas.microsoft.com/office/drawing/2014/main" id="{26DC1E49-99D6-7070-4124-B1DD81F587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0" name="Freeform 26">
              <a:extLst>
                <a:ext uri="{FF2B5EF4-FFF2-40B4-BE49-F238E27FC236}">
                  <a16:creationId xmlns:a16="http://schemas.microsoft.com/office/drawing/2014/main" id="{75B0309F-72FA-D770-D65C-561BAB839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1" name="Freeform 27">
              <a:extLst>
                <a:ext uri="{FF2B5EF4-FFF2-40B4-BE49-F238E27FC236}">
                  <a16:creationId xmlns:a16="http://schemas.microsoft.com/office/drawing/2014/main" id="{5A2F272B-D96C-CA9D-6318-9C9D2800B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2" name="Freeform 28">
              <a:extLst>
                <a:ext uri="{FF2B5EF4-FFF2-40B4-BE49-F238E27FC236}">
                  <a16:creationId xmlns:a16="http://schemas.microsoft.com/office/drawing/2014/main" id="{BBA39DD8-1B0E-6CAE-A337-D03FD6FA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3" name="Freeform 29">
              <a:extLst>
                <a:ext uri="{FF2B5EF4-FFF2-40B4-BE49-F238E27FC236}">
                  <a16:creationId xmlns:a16="http://schemas.microsoft.com/office/drawing/2014/main" id="{ABF3A735-0DD2-3C86-4F18-A4B7CF8E9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4" name="Freeform 30">
              <a:extLst>
                <a:ext uri="{FF2B5EF4-FFF2-40B4-BE49-F238E27FC236}">
                  <a16:creationId xmlns:a16="http://schemas.microsoft.com/office/drawing/2014/main" id="{B547F847-F53B-AC0F-4A24-ECEE9C7BD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80AF14A-B6B8-008E-E8C8-42F2A87DF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887192-6BB2-47E1-D4CF-573D6CAD8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3925" y="594533"/>
            <a:ext cx="6858000" cy="1478570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/>
              <a:t>Objectives for lab-11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74F72-A199-45AE-E00D-80D7062F8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75" y="2249487"/>
            <a:ext cx="5692774" cy="401398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To learn about hashing techniques.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Students will learn how to store data efficiently so that the data can be accessed in a very efficient manner.</a:t>
            </a:r>
            <a:endParaRPr lang="en-PK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C6423F-08B9-CC5E-4AD8-EC008238A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75" name="Freeform 32">
              <a:extLst>
                <a:ext uri="{FF2B5EF4-FFF2-40B4-BE49-F238E27FC236}">
                  <a16:creationId xmlns:a16="http://schemas.microsoft.com/office/drawing/2014/main" id="{3AB5F2D8-A73C-3A1A-E74F-579D43A45E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A34DBAD3-701C-D700-9758-73A3184B1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573D7B77-44FB-ACB9-255D-D3BC8EFAF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50202ECB-5666-B6E9-A565-672256695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4EC62EB3-C89C-3108-FD9A-3BF06FC0E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995408F3-BE88-7CA8-4993-0A1A6083B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21722397-1A0C-9116-4670-919733CA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ECD9B675-5FB8-991A-4F89-58449B2187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1432D68E-149E-C491-FEC5-4B9D41702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9" name="Rectangle 41">
              <a:extLst>
                <a:ext uri="{FF2B5EF4-FFF2-40B4-BE49-F238E27FC236}">
                  <a16:creationId xmlns:a16="http://schemas.microsoft.com/office/drawing/2014/main" id="{DD294C30-2631-61C6-D5AF-50A7BB0557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47DC7A5-D7ED-5085-A58E-5B6335AA0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8" y="9525"/>
            <a:ext cx="5486400" cy="685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25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92856-FAFE-9671-90A7-BBF41261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27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8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9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0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1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2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34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5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6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139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0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1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2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144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5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6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7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8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9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82759-A4AA-965F-EE30-3D0C2FF38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 b="1" u="sng" dirty="0"/>
              <a:t>Brief history</a:t>
            </a:r>
            <a:endParaRPr lang="en-PK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E4D17-C167-FD5B-6885-3061D97BB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449" y="1981201"/>
            <a:ext cx="9585978" cy="3962400"/>
          </a:xfrm>
        </p:spPr>
        <p:txBody>
          <a:bodyPr anchor="ctr">
            <a:normAutofit lnSpcReduction="10000"/>
          </a:bodyPr>
          <a:lstStyle/>
          <a:p>
            <a:pPr algn="just"/>
            <a:r>
              <a:rPr lang="en-US" dirty="0"/>
              <a:t>Hashing is done for faster access to elements. In hashing, a given key is converted to a smaller value 𝐼 by the help of a hash function, and then the given key is stored at the index 𝐼. </a:t>
            </a:r>
          </a:p>
          <a:p>
            <a:pPr algn="just"/>
            <a:r>
              <a:rPr lang="en-US" dirty="0"/>
              <a:t>Basically, the goal of the hash function is to determine the hash value of a particular key, and then that hash value will be used as an index to store that particular key. </a:t>
            </a:r>
          </a:p>
          <a:p>
            <a:pPr algn="just"/>
            <a:r>
              <a:rPr lang="en-US" dirty="0"/>
              <a:t>Generally, the hash functions are simple modular functions, which can determine the hash value at 𝑂(1), hence the element can be stored and accessed in 𝑂(1) time using hashing.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2486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CA787-CDEB-C1E0-2151-0D8C46855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0349784E-4890-BD37-69D4-394F252C0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E08C3D0-BDFF-4514-4649-122648DC2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27" name="Freeform 35">
              <a:extLst>
                <a:ext uri="{FF2B5EF4-FFF2-40B4-BE49-F238E27FC236}">
                  <a16:creationId xmlns:a16="http://schemas.microsoft.com/office/drawing/2014/main" id="{B79D6018-03B7-82DA-313C-AE19B174E7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8" name="Freeform 36">
              <a:extLst>
                <a:ext uri="{FF2B5EF4-FFF2-40B4-BE49-F238E27FC236}">
                  <a16:creationId xmlns:a16="http://schemas.microsoft.com/office/drawing/2014/main" id="{699B9A6B-9C2F-3850-13F3-681380BD7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9" name="Freeform 38">
              <a:extLst>
                <a:ext uri="{FF2B5EF4-FFF2-40B4-BE49-F238E27FC236}">
                  <a16:creationId xmlns:a16="http://schemas.microsoft.com/office/drawing/2014/main" id="{48B97C20-EC6D-EDDC-57BE-07C4A5970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0" name="Freeform 39">
              <a:extLst>
                <a:ext uri="{FF2B5EF4-FFF2-40B4-BE49-F238E27FC236}">
                  <a16:creationId xmlns:a16="http://schemas.microsoft.com/office/drawing/2014/main" id="{323E3825-658D-C673-EE4B-A62FF1101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1" name="Freeform 40">
              <a:extLst>
                <a:ext uri="{FF2B5EF4-FFF2-40B4-BE49-F238E27FC236}">
                  <a16:creationId xmlns:a16="http://schemas.microsoft.com/office/drawing/2014/main" id="{9D0CF896-B2CD-F9FA-5A26-B2A4F8929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2" name="Rectangle 41">
              <a:extLst>
                <a:ext uri="{FF2B5EF4-FFF2-40B4-BE49-F238E27FC236}">
                  <a16:creationId xmlns:a16="http://schemas.microsoft.com/office/drawing/2014/main" id="{3FB194B7-E2C8-4F2E-1AC7-8563740BE3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A04D109-8F52-C55E-A761-5B0197019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34" name="Freeform 32">
              <a:extLst>
                <a:ext uri="{FF2B5EF4-FFF2-40B4-BE49-F238E27FC236}">
                  <a16:creationId xmlns:a16="http://schemas.microsoft.com/office/drawing/2014/main" id="{06CB03D8-5367-AC62-C1B6-DD345061E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5" name="Freeform 33">
              <a:extLst>
                <a:ext uri="{FF2B5EF4-FFF2-40B4-BE49-F238E27FC236}">
                  <a16:creationId xmlns:a16="http://schemas.microsoft.com/office/drawing/2014/main" id="{B502D397-2AA8-6E6E-FD91-907AF62D87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6" name="Freeform 34">
              <a:extLst>
                <a:ext uri="{FF2B5EF4-FFF2-40B4-BE49-F238E27FC236}">
                  <a16:creationId xmlns:a16="http://schemas.microsoft.com/office/drawing/2014/main" id="{92ED8D88-D163-F60F-F78F-74295DAB2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76BD4486-A7B0-EC30-BCD1-CC60D8F3C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5C65A390-D0B4-2E16-7527-65F2E09D4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139" name="Freeform 32">
              <a:extLst>
                <a:ext uri="{FF2B5EF4-FFF2-40B4-BE49-F238E27FC236}">
                  <a16:creationId xmlns:a16="http://schemas.microsoft.com/office/drawing/2014/main" id="{0B4A5D9F-4219-2FE8-484F-DAEDA49D9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0" name="Freeform 33">
              <a:extLst>
                <a:ext uri="{FF2B5EF4-FFF2-40B4-BE49-F238E27FC236}">
                  <a16:creationId xmlns:a16="http://schemas.microsoft.com/office/drawing/2014/main" id="{013CDCF4-7B82-1944-F841-163259710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1" name="Freeform 34">
              <a:extLst>
                <a:ext uri="{FF2B5EF4-FFF2-40B4-BE49-F238E27FC236}">
                  <a16:creationId xmlns:a16="http://schemas.microsoft.com/office/drawing/2014/main" id="{38E2B966-0E1A-A360-F69F-06FE02E75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2" name="Freeform 37">
              <a:extLst>
                <a:ext uri="{FF2B5EF4-FFF2-40B4-BE49-F238E27FC236}">
                  <a16:creationId xmlns:a16="http://schemas.microsoft.com/office/drawing/2014/main" id="{6E3E7082-2BE4-8D98-415E-CAAB0178B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8A64212-DA4C-78A5-B6DA-766CDA304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144" name="Freeform 35">
              <a:extLst>
                <a:ext uri="{FF2B5EF4-FFF2-40B4-BE49-F238E27FC236}">
                  <a16:creationId xmlns:a16="http://schemas.microsoft.com/office/drawing/2014/main" id="{ED56D7D0-96A2-1306-6825-6E1FDDAFD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5" name="Freeform 36">
              <a:extLst>
                <a:ext uri="{FF2B5EF4-FFF2-40B4-BE49-F238E27FC236}">
                  <a16:creationId xmlns:a16="http://schemas.microsoft.com/office/drawing/2014/main" id="{2C664A68-362B-FEF8-8CE7-92C873AA9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6" name="Freeform 38">
              <a:extLst>
                <a:ext uri="{FF2B5EF4-FFF2-40B4-BE49-F238E27FC236}">
                  <a16:creationId xmlns:a16="http://schemas.microsoft.com/office/drawing/2014/main" id="{A6ADA62A-FF8A-FBFD-8DFF-D7090A9409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7" name="Freeform 39">
              <a:extLst>
                <a:ext uri="{FF2B5EF4-FFF2-40B4-BE49-F238E27FC236}">
                  <a16:creationId xmlns:a16="http://schemas.microsoft.com/office/drawing/2014/main" id="{8675BA99-D322-689B-F9CC-EC5602A0A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8" name="Freeform 40">
              <a:extLst>
                <a:ext uri="{FF2B5EF4-FFF2-40B4-BE49-F238E27FC236}">
                  <a16:creationId xmlns:a16="http://schemas.microsoft.com/office/drawing/2014/main" id="{D8C90B94-54BE-6558-A0E9-3227769422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9" name="Rectangle 41">
              <a:extLst>
                <a:ext uri="{FF2B5EF4-FFF2-40B4-BE49-F238E27FC236}">
                  <a16:creationId xmlns:a16="http://schemas.microsoft.com/office/drawing/2014/main" id="{F9682236-3908-6156-D3F9-60AF5CDDF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CACBF20-CBF6-BEDF-378C-22E9B9D57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ound Diagonal Corner Rectangle 7">
            <a:extLst>
              <a:ext uri="{FF2B5EF4-FFF2-40B4-BE49-F238E27FC236}">
                <a16:creationId xmlns:a16="http://schemas.microsoft.com/office/drawing/2014/main" id="{2D603903-B38C-233F-6BC1-7642B9348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55C2BB-0E24-5DD6-C246-A7A9060BE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 b="1" u="sng" dirty="0"/>
              <a:t>Brief history</a:t>
            </a:r>
            <a:endParaRPr lang="en-PK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F5744-955D-DC06-B16E-1CCD16014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449" y="1981201"/>
            <a:ext cx="9585978" cy="3962400"/>
          </a:xfrm>
        </p:spPr>
        <p:txBody>
          <a:bodyPr anchor="ctr">
            <a:normAutofit/>
          </a:bodyPr>
          <a:lstStyle/>
          <a:p>
            <a:pPr algn="just"/>
            <a:r>
              <a:rPr lang="en-US" sz="2000" dirty="0"/>
              <a:t>Below picture below depicts a hashing scheme.</a:t>
            </a:r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PK" sz="2000" dirty="0"/>
          </a:p>
          <a:p>
            <a:pPr algn="just"/>
            <a:r>
              <a:rPr lang="en-US" sz="2000" dirty="0"/>
              <a:t>In the hashing scheme shown in the above picture if key value 15 needs to be inserted now, then that will lead to a collision because 15 will also map to index 0.</a:t>
            </a:r>
            <a:endParaRPr lang="en-PK" sz="2000" dirty="0"/>
          </a:p>
        </p:txBody>
      </p:sp>
      <p:pic>
        <p:nvPicPr>
          <p:cNvPr id="4" name="Image 75">
            <a:extLst>
              <a:ext uri="{FF2B5EF4-FFF2-40B4-BE49-F238E27FC236}">
                <a16:creationId xmlns:a16="http://schemas.microsoft.com/office/drawing/2014/main" id="{0AE2732E-642C-6AE8-7128-795DCF1C7F83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92287" y="2576293"/>
            <a:ext cx="4018534" cy="245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417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4B81B0-E7E7-B32E-632F-7EC41932B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CFD59D95-DB2C-F3B7-D9C3-0F21B5545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9C0ED7D-9CAC-E9CD-6D33-57730B72A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27" name="Freeform 35">
              <a:extLst>
                <a:ext uri="{FF2B5EF4-FFF2-40B4-BE49-F238E27FC236}">
                  <a16:creationId xmlns:a16="http://schemas.microsoft.com/office/drawing/2014/main" id="{93EBB71D-FFB5-2D00-416D-AB69AFF856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8" name="Freeform 36">
              <a:extLst>
                <a:ext uri="{FF2B5EF4-FFF2-40B4-BE49-F238E27FC236}">
                  <a16:creationId xmlns:a16="http://schemas.microsoft.com/office/drawing/2014/main" id="{4BB5170E-E93F-46D1-A996-9D53404FA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9" name="Freeform 38">
              <a:extLst>
                <a:ext uri="{FF2B5EF4-FFF2-40B4-BE49-F238E27FC236}">
                  <a16:creationId xmlns:a16="http://schemas.microsoft.com/office/drawing/2014/main" id="{215DE717-45E2-AEB5-CFD2-8F5C50527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0" name="Freeform 39">
              <a:extLst>
                <a:ext uri="{FF2B5EF4-FFF2-40B4-BE49-F238E27FC236}">
                  <a16:creationId xmlns:a16="http://schemas.microsoft.com/office/drawing/2014/main" id="{87D5AA0A-A8C5-4EFF-B877-D4AEF32F9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1" name="Freeform 40">
              <a:extLst>
                <a:ext uri="{FF2B5EF4-FFF2-40B4-BE49-F238E27FC236}">
                  <a16:creationId xmlns:a16="http://schemas.microsoft.com/office/drawing/2014/main" id="{854178BF-DFDE-0307-5CE9-49AE38724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2" name="Rectangle 41">
              <a:extLst>
                <a:ext uri="{FF2B5EF4-FFF2-40B4-BE49-F238E27FC236}">
                  <a16:creationId xmlns:a16="http://schemas.microsoft.com/office/drawing/2014/main" id="{11CCA902-48A0-DCB5-6E5A-78513E8E7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138A014-5ECD-1C8D-9B61-6E946FFCF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34" name="Freeform 32">
              <a:extLst>
                <a:ext uri="{FF2B5EF4-FFF2-40B4-BE49-F238E27FC236}">
                  <a16:creationId xmlns:a16="http://schemas.microsoft.com/office/drawing/2014/main" id="{8EC42507-D88E-EB43-D356-194FCCD06B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5" name="Freeform 33">
              <a:extLst>
                <a:ext uri="{FF2B5EF4-FFF2-40B4-BE49-F238E27FC236}">
                  <a16:creationId xmlns:a16="http://schemas.microsoft.com/office/drawing/2014/main" id="{AC5EF6DB-C3E2-A527-3D34-B06EC47FE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6" name="Freeform 34">
              <a:extLst>
                <a:ext uri="{FF2B5EF4-FFF2-40B4-BE49-F238E27FC236}">
                  <a16:creationId xmlns:a16="http://schemas.microsoft.com/office/drawing/2014/main" id="{ED692042-3336-C74C-4B22-24DFA20D4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A575E28A-405B-FBCF-B314-95D2CD8F8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B1865DF-889F-5800-140C-B85380746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139" name="Freeform 32">
              <a:extLst>
                <a:ext uri="{FF2B5EF4-FFF2-40B4-BE49-F238E27FC236}">
                  <a16:creationId xmlns:a16="http://schemas.microsoft.com/office/drawing/2014/main" id="{70CF40F7-AC8C-6211-67E5-3BE9D33B2F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0" name="Freeform 33">
              <a:extLst>
                <a:ext uri="{FF2B5EF4-FFF2-40B4-BE49-F238E27FC236}">
                  <a16:creationId xmlns:a16="http://schemas.microsoft.com/office/drawing/2014/main" id="{27C76CF6-9F35-3D3D-1459-510A0D6BA8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1" name="Freeform 34">
              <a:extLst>
                <a:ext uri="{FF2B5EF4-FFF2-40B4-BE49-F238E27FC236}">
                  <a16:creationId xmlns:a16="http://schemas.microsoft.com/office/drawing/2014/main" id="{26691EEF-4235-8A40-78A2-75316DCC4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2" name="Freeform 37">
              <a:extLst>
                <a:ext uri="{FF2B5EF4-FFF2-40B4-BE49-F238E27FC236}">
                  <a16:creationId xmlns:a16="http://schemas.microsoft.com/office/drawing/2014/main" id="{FE8E00F5-B43C-3679-E527-0992607DA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C220B80-5BC6-E897-860B-76D53D757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144" name="Freeform 35">
              <a:extLst>
                <a:ext uri="{FF2B5EF4-FFF2-40B4-BE49-F238E27FC236}">
                  <a16:creationId xmlns:a16="http://schemas.microsoft.com/office/drawing/2014/main" id="{B78B87ED-FE06-E0B2-3753-F247515A3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5" name="Freeform 36">
              <a:extLst>
                <a:ext uri="{FF2B5EF4-FFF2-40B4-BE49-F238E27FC236}">
                  <a16:creationId xmlns:a16="http://schemas.microsoft.com/office/drawing/2014/main" id="{0D477C9A-FA34-25BF-A706-0C8A18C2B8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6" name="Freeform 38">
              <a:extLst>
                <a:ext uri="{FF2B5EF4-FFF2-40B4-BE49-F238E27FC236}">
                  <a16:creationId xmlns:a16="http://schemas.microsoft.com/office/drawing/2014/main" id="{5A01B115-8166-DDF9-1016-98D54D448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7" name="Freeform 39">
              <a:extLst>
                <a:ext uri="{FF2B5EF4-FFF2-40B4-BE49-F238E27FC236}">
                  <a16:creationId xmlns:a16="http://schemas.microsoft.com/office/drawing/2014/main" id="{811A6BAA-5F9D-2BBA-223E-C2A68BF18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8" name="Freeform 40">
              <a:extLst>
                <a:ext uri="{FF2B5EF4-FFF2-40B4-BE49-F238E27FC236}">
                  <a16:creationId xmlns:a16="http://schemas.microsoft.com/office/drawing/2014/main" id="{E8F4C645-9F20-29D4-D57E-DA40D6DF89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9" name="Rectangle 41">
              <a:extLst>
                <a:ext uri="{FF2B5EF4-FFF2-40B4-BE49-F238E27FC236}">
                  <a16:creationId xmlns:a16="http://schemas.microsoft.com/office/drawing/2014/main" id="{7CA4DC20-3060-463E-ED43-C50F2FB5B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2D36AA1-6281-405F-63AF-36E86B4B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ound Diagonal Corner Rectangle 7">
            <a:extLst>
              <a:ext uri="{FF2B5EF4-FFF2-40B4-BE49-F238E27FC236}">
                <a16:creationId xmlns:a16="http://schemas.microsoft.com/office/drawing/2014/main" id="{3C0B35A4-7B4F-3DF2-55BF-B60E6D0BD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CA87B-32E2-631C-8D44-20AA6182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 b="1" dirty="0"/>
              <a:t>Collision</a:t>
            </a:r>
            <a:endParaRPr lang="en-PK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306DE-8265-34D3-7EAD-BF33AFFE8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9042" y="2272641"/>
            <a:ext cx="9585978" cy="3434422"/>
          </a:xfrm>
        </p:spPr>
        <p:txBody>
          <a:bodyPr anchor="ctr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If the hash value calculated by the hash function is the same for more than one key, then those keys are indexed in the same slot; this is known as a collision. That collision needs to be handled properly; a few collision handling techniques are:</a:t>
            </a:r>
            <a:endParaRPr lang="en-PK" sz="2000" dirty="0"/>
          </a:p>
          <a:p>
            <a:pPr lvl="1" algn="just">
              <a:lnSpc>
                <a:spcPct val="150000"/>
              </a:lnSpc>
            </a:pPr>
            <a:r>
              <a:rPr lang="en-US" sz="1800" dirty="0"/>
              <a:t>Linear Probing.</a:t>
            </a:r>
            <a:endParaRPr lang="en-PK" sz="1800" dirty="0"/>
          </a:p>
          <a:p>
            <a:pPr lvl="1" algn="just">
              <a:lnSpc>
                <a:spcPct val="150000"/>
              </a:lnSpc>
            </a:pPr>
            <a:r>
              <a:rPr lang="en-US" sz="1800" dirty="0"/>
              <a:t>Double Hashing.</a:t>
            </a:r>
            <a:endParaRPr lang="en-PK" sz="1800" dirty="0"/>
          </a:p>
          <a:p>
            <a:pPr lvl="1" algn="just">
              <a:lnSpc>
                <a:spcPct val="150000"/>
              </a:lnSpc>
            </a:pPr>
            <a:r>
              <a:rPr lang="en-US" sz="1800" dirty="0"/>
              <a:t>Quadratic Hashing.</a:t>
            </a:r>
            <a:endParaRPr lang="en-PK" sz="1800" dirty="0"/>
          </a:p>
        </p:txBody>
      </p:sp>
    </p:spTree>
    <p:extLst>
      <p:ext uri="{BB962C8B-B14F-4D97-AF65-F5344CB8AC3E}">
        <p14:creationId xmlns:p14="http://schemas.microsoft.com/office/powerpoint/2010/main" val="236924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E0EAC-D9A4-3943-D759-E510DE4EE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4E63A8FC-8920-F54D-E6F8-60A231754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B0E008A-38EC-9D3F-D904-C92AAE1BB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83" name="Freeform 35">
              <a:extLst>
                <a:ext uri="{FF2B5EF4-FFF2-40B4-BE49-F238E27FC236}">
                  <a16:creationId xmlns:a16="http://schemas.microsoft.com/office/drawing/2014/main" id="{C546FAB2-C185-2731-0CE9-BC5613A41D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4" name="Freeform 36">
              <a:extLst>
                <a:ext uri="{FF2B5EF4-FFF2-40B4-BE49-F238E27FC236}">
                  <a16:creationId xmlns:a16="http://schemas.microsoft.com/office/drawing/2014/main" id="{A9518736-1CA3-2D50-BBB6-9AFF665C4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5" name="Freeform 38">
              <a:extLst>
                <a:ext uri="{FF2B5EF4-FFF2-40B4-BE49-F238E27FC236}">
                  <a16:creationId xmlns:a16="http://schemas.microsoft.com/office/drawing/2014/main" id="{22BC30F3-4BF4-9F5A-8D6E-D9F3C61C7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6" name="Freeform 39">
              <a:extLst>
                <a:ext uri="{FF2B5EF4-FFF2-40B4-BE49-F238E27FC236}">
                  <a16:creationId xmlns:a16="http://schemas.microsoft.com/office/drawing/2014/main" id="{79BB2B59-F1DF-9E52-6CE3-34CE0EF68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7" name="Freeform 40">
              <a:extLst>
                <a:ext uri="{FF2B5EF4-FFF2-40B4-BE49-F238E27FC236}">
                  <a16:creationId xmlns:a16="http://schemas.microsoft.com/office/drawing/2014/main" id="{8865C487-FBE9-E4C6-5225-5E8E728EC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8" name="Rectangle 41">
              <a:extLst>
                <a:ext uri="{FF2B5EF4-FFF2-40B4-BE49-F238E27FC236}">
                  <a16:creationId xmlns:a16="http://schemas.microsoft.com/office/drawing/2014/main" id="{7816092B-F075-2A17-352D-1E714B9A7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C6BD63F-EE17-3681-4C1C-5B13AFD12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91" name="Freeform 32">
              <a:extLst>
                <a:ext uri="{FF2B5EF4-FFF2-40B4-BE49-F238E27FC236}">
                  <a16:creationId xmlns:a16="http://schemas.microsoft.com/office/drawing/2014/main" id="{E0C32DEA-1B8B-F58E-7FDA-9A2EAFE7C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2" name="Freeform 33">
              <a:extLst>
                <a:ext uri="{FF2B5EF4-FFF2-40B4-BE49-F238E27FC236}">
                  <a16:creationId xmlns:a16="http://schemas.microsoft.com/office/drawing/2014/main" id="{4468D505-CA63-982E-6870-42C8E82C21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3" name="Freeform 34">
              <a:extLst>
                <a:ext uri="{FF2B5EF4-FFF2-40B4-BE49-F238E27FC236}">
                  <a16:creationId xmlns:a16="http://schemas.microsoft.com/office/drawing/2014/main" id="{054D9C9C-262D-4D6E-D251-89FFD1A876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4" name="Freeform 37">
              <a:extLst>
                <a:ext uri="{FF2B5EF4-FFF2-40B4-BE49-F238E27FC236}">
                  <a16:creationId xmlns:a16="http://schemas.microsoft.com/office/drawing/2014/main" id="{9DC7DE0F-71BC-49B8-4572-3A4150AA1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DAA6E03-8B9A-D44E-662C-2F0C090A8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97" name="Freeform 32">
              <a:extLst>
                <a:ext uri="{FF2B5EF4-FFF2-40B4-BE49-F238E27FC236}">
                  <a16:creationId xmlns:a16="http://schemas.microsoft.com/office/drawing/2014/main" id="{BD678F65-B6AC-FEE1-E639-F1F8D210EA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8" name="Freeform 33">
              <a:extLst>
                <a:ext uri="{FF2B5EF4-FFF2-40B4-BE49-F238E27FC236}">
                  <a16:creationId xmlns:a16="http://schemas.microsoft.com/office/drawing/2014/main" id="{78830A76-063E-3281-58BD-571A0CC49A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9" name="Freeform 34">
              <a:extLst>
                <a:ext uri="{FF2B5EF4-FFF2-40B4-BE49-F238E27FC236}">
                  <a16:creationId xmlns:a16="http://schemas.microsoft.com/office/drawing/2014/main" id="{1409A92B-AD0D-ED4D-D57E-9E891369DA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0" name="Freeform 37">
              <a:extLst>
                <a:ext uri="{FF2B5EF4-FFF2-40B4-BE49-F238E27FC236}">
                  <a16:creationId xmlns:a16="http://schemas.microsoft.com/office/drawing/2014/main" id="{D31EEE4F-7C3F-EA80-1191-86F8A205B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E8120ED-40D9-AA0A-4230-C7A711FCD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103" name="Freeform 35">
              <a:extLst>
                <a:ext uri="{FF2B5EF4-FFF2-40B4-BE49-F238E27FC236}">
                  <a16:creationId xmlns:a16="http://schemas.microsoft.com/office/drawing/2014/main" id="{23F9A224-58DC-3ADA-FCFC-040A38200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4" name="Freeform 36">
              <a:extLst>
                <a:ext uri="{FF2B5EF4-FFF2-40B4-BE49-F238E27FC236}">
                  <a16:creationId xmlns:a16="http://schemas.microsoft.com/office/drawing/2014/main" id="{D843FC86-EF27-02E2-162B-E436A20C7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5" name="Freeform 38">
              <a:extLst>
                <a:ext uri="{FF2B5EF4-FFF2-40B4-BE49-F238E27FC236}">
                  <a16:creationId xmlns:a16="http://schemas.microsoft.com/office/drawing/2014/main" id="{4AC2A121-3BF7-554B-9571-4B034B54E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6" name="Freeform 39">
              <a:extLst>
                <a:ext uri="{FF2B5EF4-FFF2-40B4-BE49-F238E27FC236}">
                  <a16:creationId xmlns:a16="http://schemas.microsoft.com/office/drawing/2014/main" id="{97798BA7-49EF-749C-E7AD-4832D3A91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7" name="Freeform 40">
              <a:extLst>
                <a:ext uri="{FF2B5EF4-FFF2-40B4-BE49-F238E27FC236}">
                  <a16:creationId xmlns:a16="http://schemas.microsoft.com/office/drawing/2014/main" id="{E02C15F8-C37E-31C8-6DF6-2AC1456306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8" name="Rectangle 41">
              <a:extLst>
                <a:ext uri="{FF2B5EF4-FFF2-40B4-BE49-F238E27FC236}">
                  <a16:creationId xmlns:a16="http://schemas.microsoft.com/office/drawing/2014/main" id="{8C99BE8F-7A2E-828D-AA73-B15DB4E22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CAC2520-76EF-28E5-70DC-94591359C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ound Diagonal Corner Rectangle 7">
            <a:extLst>
              <a:ext uri="{FF2B5EF4-FFF2-40B4-BE49-F238E27FC236}">
                <a16:creationId xmlns:a16="http://schemas.microsoft.com/office/drawing/2014/main" id="{7129F3BF-E019-DCC7-6267-FA26231A0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3A3ACC-F136-F1EB-5974-424B8FB5E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 b="1" u="sng" dirty="0"/>
              <a:t>Lab-task</a:t>
            </a:r>
            <a:endParaRPr lang="en-PK" dirty="0">
              <a:solidFill>
                <a:srgbClr val="FFFFFF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7DCC3AA-4404-5698-B199-B773E7A5B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7596" y="2260278"/>
            <a:ext cx="9048218" cy="3250629"/>
          </a:xfrm>
        </p:spPr>
        <p:txBody>
          <a:bodyPr anchor="ctr">
            <a:normAutofit/>
          </a:bodyPr>
          <a:lstStyle/>
          <a:p>
            <a:pPr lvl="0" algn="just">
              <a:lnSpc>
                <a:spcPct val="200000"/>
              </a:lnSpc>
            </a:pPr>
            <a:r>
              <a:rPr lang="en-US" dirty="0"/>
              <a:t>Hashing Techniques.</a:t>
            </a:r>
            <a:endParaRPr lang="en-PK" dirty="0"/>
          </a:p>
          <a:p>
            <a:pPr lvl="0" algn="just">
              <a:lnSpc>
                <a:spcPct val="200000"/>
              </a:lnSpc>
            </a:pPr>
            <a:r>
              <a:rPr lang="en-US" dirty="0"/>
              <a:t>Linear probing, double hashing, and quadratic hashing are used to resolve the collision.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6455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Gre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935</TotalTime>
  <Words>303</Words>
  <Application>Microsoft Macintosh PowerPoint</Application>
  <PresentationFormat>Widescreen</PresentationFormat>
  <Paragraphs>29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Tw Cen MT</vt:lpstr>
      <vt:lpstr>Circuit</vt:lpstr>
      <vt:lpstr>Algorithms and Data Structures  TEB1113/TFB2023 - may 2025</vt:lpstr>
      <vt:lpstr>LAB – 11  hashing</vt:lpstr>
      <vt:lpstr>Objectives for lab-11</vt:lpstr>
      <vt:lpstr>Brief history</vt:lpstr>
      <vt:lpstr>Brief history</vt:lpstr>
      <vt:lpstr>Collision</vt:lpstr>
      <vt:lpstr>Lab-task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Khan Reeyan Afzal</dc:creator>
  <cp:lastModifiedBy>Khan Reeyan Afzal</cp:lastModifiedBy>
  <cp:revision>192</cp:revision>
  <dcterms:created xsi:type="dcterms:W3CDTF">2025-05-20T03:20:14Z</dcterms:created>
  <dcterms:modified xsi:type="dcterms:W3CDTF">2025-05-29T00:58:42Z</dcterms:modified>
</cp:coreProperties>
</file>