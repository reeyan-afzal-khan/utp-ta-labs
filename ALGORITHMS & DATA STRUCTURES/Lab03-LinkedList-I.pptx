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22"/>
  </p:notesMasterIdLst>
  <p:handoutMasterIdLst>
    <p:handoutMasterId r:id="rId23"/>
  </p:handoutMasterIdLst>
  <p:sldIdLst>
    <p:sldId id="268" r:id="rId5"/>
    <p:sldId id="385" r:id="rId6"/>
    <p:sldId id="386" r:id="rId7"/>
    <p:sldId id="387" r:id="rId8"/>
    <p:sldId id="257" r:id="rId9"/>
    <p:sldId id="365" r:id="rId10"/>
    <p:sldId id="372" r:id="rId11"/>
    <p:sldId id="369" r:id="rId12"/>
    <p:sldId id="373" r:id="rId13"/>
    <p:sldId id="374" r:id="rId14"/>
    <p:sldId id="375" r:id="rId15"/>
    <p:sldId id="376" r:id="rId16"/>
    <p:sldId id="389" r:id="rId17"/>
    <p:sldId id="388" r:id="rId18"/>
    <p:sldId id="383" r:id="rId19"/>
    <p:sldId id="384" r:id="rId20"/>
    <p:sldId id="270" r:id="rId21"/>
  </p:sldIdLst>
  <p:sldSz cx="18288000" cy="10287000"/>
  <p:notesSz cx="6858000" cy="9144000"/>
  <p:embeddedFontLst>
    <p:embeddedFont>
      <p:font typeface="Museo Sans 300" panose="02000000000000000000" charset="0"/>
      <p:regular r:id="rId24"/>
      <p:bold r:id="rId25"/>
      <p:italic r:id="rId26"/>
    </p:embeddedFont>
    <p:embeddedFont>
      <p:font typeface="Segoe UI" panose="020B0502040204020203" pitchFamily="34" charset="0"/>
      <p:regular r:id="rId27"/>
      <p:bold r:id="rId28"/>
      <p:italic r:id="rId29"/>
      <p:boldItalic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E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971" autoAdjust="0"/>
  </p:normalViewPr>
  <p:slideViewPr>
    <p:cSldViewPr snapToGrid="0">
      <p:cViewPr varScale="1">
        <p:scale>
          <a:sx n="36" d="100"/>
          <a:sy n="36" d="100"/>
        </p:scale>
        <p:origin x="798"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21/5/2026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21/5/2026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87472-B57A-DFF6-0A43-599032CED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CC552-30F0-1256-EC67-0E870BAC3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63616-1342-DE35-FF3B-1B7519158B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FB132F73-39FD-42B2-1796-E58A0C6FB2B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534943F-9067-C1CD-A905-2FC1FB1AD35A}"/>
              </a:ext>
            </a:extLst>
          </p:cNvPr>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892693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7F81B-ECF4-BB8C-522E-73845160A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7BC0C-72CE-5613-37D1-A4FBDFB3A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0EEF3-C829-9F09-985B-67A215F673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21D861F0-D5FA-E53A-F7E4-0D700CBE9F0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996D872-3803-64D3-6ACC-1498C720C78D}"/>
              </a:ext>
            </a:extLst>
          </p:cNvPr>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3826528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156CB-D3B0-6A84-31B1-26FDA86EE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3A26B-64A6-D271-7F4F-97C9235A79E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C2ADC16-3448-9551-7242-4BAF4B4A04A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A9A4917-5EF6-7D79-18BC-FE462FEBE21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EF4D5C6-C248-870A-B6D2-2A4CF04AD3C1}"/>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784284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AFF86-11CF-B1DF-1C9B-D13C2D281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DBAA8-530D-57A7-B107-8EBD545CBD4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44A478A-7412-E62D-29D6-E0A856126D5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BB542AE-4A7B-01A1-A600-C4AE6C62C24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7AAF187-D08F-99E5-7D53-E3AA33607436}"/>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3989178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428AF-4FA1-FDC8-7615-315CB4949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1BBBB-3C65-0A6D-33A0-BA5B0E1407C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3578314-180E-4AB3-8848-DA0EA5E6F0D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0265224-B455-FB6A-B015-B97CC08B8DD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87CD016-DE9D-8D83-029B-AA4DDDAC61E6}"/>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2547463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603C6-7FEF-895F-8B6A-936B86607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5F9DF-E5FC-6D6E-28EF-426873AF2C9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2E3060E-32E0-8360-DFBE-55B039F80BB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1EE7836-2DDC-2955-0CC5-EC67238244C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9C4A7E8-722D-B8EC-E2D3-D3588121629C}"/>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88746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7037C-4C16-B769-6827-741E69A37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F0BBF-EE3A-8EFD-0B34-00F2911992E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083769D-BB63-59F0-A0AC-23F4AC01270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E014A5B-5478-98B8-27CE-12F95DFE384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DE6C3AA-38A5-15C7-3D4F-D7A3F482773D}"/>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1989514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0BB9-EE31-819A-A14E-6570795DB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B83D4-AC02-7651-2FE1-81CF71FFDBE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6550959-CAB9-976D-7042-A4A2B097526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89D424-23BE-E222-FFDB-37C38EE80CA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1E50313-038A-A47E-D0F5-D82D450FB1AF}"/>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3332560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0DE3F-25C6-9391-0D8F-E96F0396B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C2EBE-FCB0-8A53-45C4-391719629AC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5469EF6-59C5-E6CA-2517-7C0518F29C9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659138B-E12C-B047-4870-5106955FF15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726E54D-738C-F0F4-701B-7C8C19C55F6C}"/>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2611643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4952B-CEF0-CA66-E07B-248676CEC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95AE4-39AE-3A88-373B-6BB7F1C6832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7E63067-6A53-924A-DB31-F941581E084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637A18F-EAC4-EDFD-F040-4F907558F54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F0AC473-91D6-AF40-A5CB-F49D1297236B}"/>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3209003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2BAAB-A44F-79D7-1A55-E221F4F53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54821-DE75-2521-73DE-49ED440321B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652C7A5-7D91-4A9A-BA8E-97879D29578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DB63062-9C01-2602-28FE-9FEF2EFD103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F268E84-17A7-EF1E-7279-1892375D0182}"/>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2132418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A3B9D-D02F-4EE1-9554-FFD0B8E90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5B065-B453-9B72-28B0-03C95F466F0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2ED657D-A315-6A89-A350-3C1414F5DBE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ACC1667-D37C-25D7-E801-E5CCCAA1802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A411EB6-4DFC-8DB4-0D70-A5BDCABDE28B}"/>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2407901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31409"/>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a:t>
            </a:r>
            <a:r>
              <a:rPr lang="en-US"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III</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lang="en-US" sz="4400" b="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LINKED LIST – I (SINGULAR &amp; DOUBLY</a:t>
            </a:r>
            <a:r>
              <a:rPr lang="en-US"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a:t>
            </a:r>
            <a:endParaRPr lang="en-US" sz="4400" b="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273946" y="2210080"/>
            <a:ext cx="7340807" cy="1046312"/>
          </a:xfrm>
          <a:prstGeom prst="rect">
            <a:avLst/>
          </a:prstGeom>
        </p:spPr>
        <p:txBody>
          <a:bodyPr wrap="square" lIns="0" tIns="0" rIns="0" bIns="0" rtlCol="0" anchor="t">
            <a:spAutoFit/>
          </a:bodyPr>
          <a:lstStyle/>
          <a:p>
            <a:pPr lvl="0" algn="ctr">
              <a:lnSpc>
                <a:spcPts val="4255"/>
              </a:lnSpc>
              <a:defRPr/>
            </a:pPr>
            <a:r>
              <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ALGORITHMS AND DATA STRUCTURES</a:t>
            </a:r>
            <a:endPar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Aptos"/>
            </a:endParaRPr>
          </a:p>
          <a:p>
            <a:pPr lvl="0" algn="ctr">
              <a:lnSpc>
                <a:spcPts val="4255"/>
              </a:lnSpc>
              <a:defRPr/>
            </a:pPr>
            <a:r>
              <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Aptos"/>
              </a:rPr>
              <a:t>TEB1113/TFB2023</a:t>
            </a:r>
            <a:endPar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14" name="TextBox 14"/>
          <p:cNvSpPr txBox="1"/>
          <p:nvPr/>
        </p:nvSpPr>
        <p:spPr>
          <a:xfrm>
            <a:off x="8527172" y="6957133"/>
            <a:ext cx="7337522" cy="381258"/>
          </a:xfrm>
          <a:prstGeom prst="rect">
            <a:avLst/>
          </a:prstGeom>
        </p:spPr>
        <p:txBody>
          <a:bodyPr wrap="square" lIns="0" tIns="0" rIns="0" bIns="0" rtlCol="0" anchor="t">
            <a:spAutoFit/>
          </a:bodyPr>
          <a:lstStyle/>
          <a:p>
            <a:pPr algn="ctr">
              <a:lnSpc>
                <a:spcPts val="3343"/>
              </a:lnSpc>
              <a:defRPr/>
            </a:pPr>
            <a:r>
              <a:rPr lang="en-MY" sz="2199"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FARAHIDA HANIM BT MAUSOR - DR (FSMC/UTP)</a:t>
            </a:r>
            <a:endPar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endParaRP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2"/>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7E1A74E1-A546-E488-26C8-703260A4C75C}"/>
              </a:ext>
            </a:extLst>
          </p:cNvPr>
          <p:cNvPicPr>
            <a:picLocks noChangeAspect="1"/>
          </p:cNvPicPr>
          <p:nvPr/>
        </p:nvPicPr>
        <p:blipFill>
          <a:blip r:embed="rId3">
            <a:extLst>
              <a:ext uri="{28A0092B-C50C-407E-A947-70E740481C1C}">
                <a14:useLocalDpi xmlns:a14="http://schemas.microsoft.com/office/drawing/2010/main" val="0"/>
              </a:ext>
            </a:extLst>
          </a:blip>
          <a:srcRect r="46457"/>
          <a:stretch>
            <a:fillRect/>
          </a:stretch>
        </p:blipFill>
        <p:spPr>
          <a:xfrm>
            <a:off x="0" y="0"/>
            <a:ext cx="6106886" cy="102869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8A4E8-D0A1-A754-557F-0B65A4FF749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1C6C398-1942-0AD5-41B2-4089BDF999A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F96DF06-58C5-DAAD-1BDB-8FC07E68A72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3612DC9-D76F-AAAB-B268-C89CDFEE7332}"/>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1EE1773E-3923-46BF-AF44-31E5B84C74B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836CEDAF-3D5D-2E59-F65F-B7220C13132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60D1664-09D5-A89C-629B-01FC06CEB87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7DD0BF8-105F-6224-C810-DE29C5995211}"/>
              </a:ext>
            </a:extLst>
          </p:cNvPr>
          <p:cNvSpPr txBox="1"/>
          <p:nvPr/>
        </p:nvSpPr>
        <p:spPr>
          <a:xfrm>
            <a:off x="756447" y="1455366"/>
            <a:ext cx="16775106" cy="5794791"/>
          </a:xfrm>
          <a:prstGeom prst="rect">
            <a:avLst/>
          </a:prstGeom>
          <a:noFill/>
        </p:spPr>
        <p:txBody>
          <a:bodyPr wrap="square" rtlCol="0">
            <a:spAutoFit/>
          </a:bodyPr>
          <a:lstStyle/>
          <a:p>
            <a:pPr marL="514350" indent="-514350" algn="just">
              <a:lnSpc>
                <a:spcPct val="200000"/>
              </a:lnSpc>
              <a:buFontTx/>
              <a:buAutoNum type="arabicPeriod"/>
            </a:pPr>
            <a:r>
              <a:rPr lang="en-US" sz="4800" dirty="0"/>
              <a:t>Arrays store same-type elements in contiguous memory.</a:t>
            </a:r>
            <a:endParaRPr lang="en-MY" sz="4800" dirty="0"/>
          </a:p>
          <a:p>
            <a:pPr marL="514350" indent="-514350" algn="just">
              <a:lnSpc>
                <a:spcPct val="200000"/>
              </a:lnSpc>
              <a:buFontTx/>
              <a:buAutoNum type="arabicPeriod"/>
            </a:pPr>
            <a:r>
              <a:rPr lang="en-US" sz="4800" dirty="0"/>
              <a:t>Array elements are accessed directly using indexes.</a:t>
            </a:r>
          </a:p>
          <a:p>
            <a:pPr marL="514350" indent="-514350" algn="just">
              <a:lnSpc>
                <a:spcPct val="200000"/>
              </a:lnSpc>
              <a:buFontTx/>
              <a:buAutoNum type="arabicPeriod"/>
            </a:pPr>
            <a:r>
              <a:rPr lang="en-US" sz="4800" dirty="0"/>
              <a:t>2D arrays represent rows and columns.</a:t>
            </a:r>
          </a:p>
          <a:p>
            <a:pPr marL="514350" indent="-514350" algn="just">
              <a:lnSpc>
                <a:spcPct val="200000"/>
              </a:lnSpc>
              <a:buFontTx/>
              <a:buAutoNum type="arabicPeriod"/>
            </a:pPr>
            <a:r>
              <a:rPr lang="en-US" sz="4800" dirty="0"/>
              <a:t>Arrays are efficient for random access but fixed in size.</a:t>
            </a:r>
          </a:p>
        </p:txBody>
      </p:sp>
    </p:spTree>
    <p:extLst>
      <p:ext uri="{BB962C8B-B14F-4D97-AF65-F5344CB8AC3E}">
        <p14:creationId xmlns:p14="http://schemas.microsoft.com/office/powerpoint/2010/main" val="2502199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endParaRPr kumimoji="0" lang="en-US" sz="3200" b="1" i="0" u="none" strike="noStrike" kern="1200" cap="none" spc="147"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8175015-C56E-A18B-9965-887E7BA6AF14}"/>
              </a:ext>
            </a:extLst>
          </p:cNvPr>
          <p:cNvSpPr txBox="1"/>
          <p:nvPr/>
        </p:nvSpPr>
        <p:spPr>
          <a:xfrm>
            <a:off x="756447" y="1455366"/>
            <a:ext cx="16775106" cy="7272119"/>
          </a:xfrm>
          <a:prstGeom prst="rect">
            <a:avLst/>
          </a:prstGeom>
          <a:noFill/>
        </p:spPr>
        <p:txBody>
          <a:bodyPr wrap="square" rtlCol="0">
            <a:spAutoFit/>
          </a:bodyPr>
          <a:lstStyle/>
          <a:p>
            <a:pPr marL="514350" indent="-514350" algn="just">
              <a:lnSpc>
                <a:spcPct val="200000"/>
              </a:lnSpc>
              <a:buFontTx/>
              <a:buAutoNum type="arabicPeriod"/>
            </a:pPr>
            <a:r>
              <a:rPr lang="en-US" sz="4800" dirty="0"/>
              <a:t>Explain the structure of a linked list using nodes and pointers.</a:t>
            </a:r>
          </a:p>
          <a:p>
            <a:pPr marL="514350" indent="-514350" algn="just">
              <a:lnSpc>
                <a:spcPct val="200000"/>
              </a:lnSpc>
              <a:buFontTx/>
              <a:buAutoNum type="arabicPeriod"/>
            </a:pPr>
            <a:r>
              <a:rPr lang="en-US" sz="4800" dirty="0"/>
              <a:t>Compare arrays and linked lists in terms of access, memory, insertion, and deletion.</a:t>
            </a:r>
          </a:p>
          <a:p>
            <a:pPr marL="514350" indent="-514350" algn="just">
              <a:lnSpc>
                <a:spcPct val="200000"/>
              </a:lnSpc>
              <a:buFontTx/>
              <a:buAutoNum type="arabicPeriod"/>
            </a:pPr>
            <a:r>
              <a:rPr lang="en-US" sz="4800" dirty="0"/>
              <a:t>Differentiate singly and doubly linked lists.</a:t>
            </a:r>
          </a:p>
          <a:p>
            <a:pPr marL="514350" indent="-514350" algn="just">
              <a:lnSpc>
                <a:spcPct val="200000"/>
              </a:lnSpc>
              <a:buFontTx/>
              <a:buAutoNum type="arabicPeriod"/>
            </a:pPr>
            <a:r>
              <a:rPr lang="en-US" sz="4800" dirty="0"/>
              <a:t>Implement insertion, traversal, and deletion operations in C++.</a:t>
            </a:r>
            <a:endParaRPr lang="en-US" sz="4000" dirty="0"/>
          </a:p>
        </p:txBody>
      </p:sp>
    </p:spTree>
    <p:extLst>
      <p:ext uri="{BB962C8B-B14F-4D97-AF65-F5344CB8AC3E}">
        <p14:creationId xmlns:p14="http://schemas.microsoft.com/office/powerpoint/2010/main" val="1035715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F617-6662-C456-227D-3275C55C5DF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F43934F-2864-661A-2BA0-DC5387E43B4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FBDD271-AED0-0592-6161-DA190BFBADB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372BB23-EF0F-750B-8106-7619BB6E6B1C}"/>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p>
        </p:txBody>
      </p:sp>
      <p:sp>
        <p:nvSpPr>
          <p:cNvPr id="9" name="Date Placeholder 8">
            <a:extLst>
              <a:ext uri="{FF2B5EF4-FFF2-40B4-BE49-F238E27FC236}">
                <a16:creationId xmlns:a16="http://schemas.microsoft.com/office/drawing/2014/main" id="{090AE56B-4BEA-5B7A-F78B-014938DB73F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F2CA9889-5D5F-2D1D-22C9-9D67842715D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351A66-EF48-9C85-4CCF-6277EE3A6C0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8A2FE96-C87E-A6ED-5539-84E36E5345F9}"/>
              </a:ext>
            </a:extLst>
          </p:cNvPr>
          <p:cNvSpPr txBox="1"/>
          <p:nvPr/>
        </p:nvSpPr>
        <p:spPr>
          <a:xfrm>
            <a:off x="756447" y="1455366"/>
            <a:ext cx="16775106" cy="7442487"/>
          </a:xfrm>
          <a:prstGeom prst="rect">
            <a:avLst/>
          </a:prstGeom>
          <a:noFill/>
        </p:spPr>
        <p:txBody>
          <a:bodyPr wrap="square" rtlCol="0">
            <a:spAutoFit/>
          </a:bodyPr>
          <a:lstStyle/>
          <a:p>
            <a:pPr marL="514350" indent="-514350">
              <a:lnSpc>
                <a:spcPct val="150000"/>
              </a:lnSpc>
              <a:buFontTx/>
              <a:buAutoNum type="arabicPeriod"/>
            </a:pPr>
            <a:r>
              <a:rPr lang="en-MY" sz="5400" dirty="0"/>
              <a:t>Linked List Concept</a:t>
            </a:r>
          </a:p>
          <a:p>
            <a:pPr marL="514350" indent="-514350">
              <a:lnSpc>
                <a:spcPct val="150000"/>
              </a:lnSpc>
              <a:buFontTx/>
              <a:buAutoNum type="arabicPeriod"/>
            </a:pPr>
            <a:r>
              <a:rPr lang="en-US" sz="5400" dirty="0"/>
              <a:t>Node, Head, and Pointer Structure</a:t>
            </a:r>
          </a:p>
          <a:p>
            <a:pPr marL="514350" indent="-514350">
              <a:lnSpc>
                <a:spcPct val="150000"/>
              </a:lnSpc>
              <a:buFontTx/>
              <a:buAutoNum type="arabicPeriod"/>
            </a:pPr>
            <a:r>
              <a:rPr lang="en-MY" sz="5400" dirty="0"/>
              <a:t>Advantages and Disadvantages</a:t>
            </a:r>
          </a:p>
          <a:p>
            <a:pPr marL="514350" indent="-514350">
              <a:lnSpc>
                <a:spcPct val="150000"/>
              </a:lnSpc>
              <a:buFontTx/>
              <a:buAutoNum type="arabicPeriod"/>
            </a:pPr>
            <a:r>
              <a:rPr lang="en-MY" sz="5400" dirty="0"/>
              <a:t>Singly Linked List</a:t>
            </a:r>
          </a:p>
          <a:p>
            <a:pPr marL="514350" indent="-514350">
              <a:lnSpc>
                <a:spcPct val="150000"/>
              </a:lnSpc>
              <a:buFontTx/>
              <a:buAutoNum type="arabicPeriod"/>
            </a:pPr>
            <a:r>
              <a:rPr lang="en-MY" sz="5400" dirty="0"/>
              <a:t>Doubly Linked List</a:t>
            </a:r>
          </a:p>
          <a:p>
            <a:pPr marL="514350" indent="-514350">
              <a:lnSpc>
                <a:spcPct val="150000"/>
              </a:lnSpc>
              <a:buFontTx/>
              <a:buAutoNum type="arabicPeriod"/>
            </a:pPr>
            <a:r>
              <a:rPr lang="en-MY" sz="5400" dirty="0"/>
              <a:t>C++ Lab Practice</a:t>
            </a:r>
          </a:p>
        </p:txBody>
      </p:sp>
    </p:spTree>
    <p:extLst>
      <p:ext uri="{BB962C8B-B14F-4D97-AF65-F5344CB8AC3E}">
        <p14:creationId xmlns:p14="http://schemas.microsoft.com/office/powerpoint/2010/main" val="3465856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LINKED LIST – I</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(SINGULAR &amp; DOUBLY)</a:t>
            </a:r>
          </a:p>
        </p:txBody>
      </p:sp>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1334276"/>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pic>
        <p:nvPicPr>
          <p:cNvPr id="2" name="Picture 1">
            <a:extLst>
              <a:ext uri="{FF2B5EF4-FFF2-40B4-BE49-F238E27FC236}">
                <a16:creationId xmlns:a16="http://schemas.microsoft.com/office/drawing/2014/main" id="{9DDDCD67-EACE-1158-9CDF-D05D35C4980F}"/>
              </a:ext>
            </a:extLst>
          </p:cNvPr>
          <p:cNvPicPr>
            <a:picLocks noChangeAspect="1"/>
          </p:cNvPicPr>
          <p:nvPr/>
        </p:nvPicPr>
        <p:blipFill>
          <a:blip r:embed="rId3">
            <a:extLst>
              <a:ext uri="{28A0092B-C50C-407E-A947-70E740481C1C}">
                <a14:useLocalDpi xmlns:a14="http://schemas.microsoft.com/office/drawing/2010/main" val="0"/>
              </a:ext>
            </a:extLst>
          </a:blip>
          <a:srcRect l="-1280" t="501" r="33683" b="-501"/>
          <a:stretch>
            <a:fillRect/>
          </a:stretch>
        </p:blipFill>
        <p:spPr>
          <a:xfrm>
            <a:off x="7414943" y="0"/>
            <a:ext cx="10873057"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WHAT IS A LINKED LIST?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22394E0-E2D1-C064-917A-689DA98B054B}"/>
              </a:ext>
            </a:extLst>
          </p:cNvPr>
          <p:cNvSpPr txBox="1"/>
          <p:nvPr/>
        </p:nvSpPr>
        <p:spPr>
          <a:xfrm>
            <a:off x="756447" y="2644758"/>
            <a:ext cx="16775106" cy="6654450"/>
          </a:xfrm>
          <a:prstGeom prst="rect">
            <a:avLst/>
          </a:prstGeom>
          <a:noFill/>
        </p:spPr>
        <p:txBody>
          <a:bodyPr wrap="square" rtlCol="0">
            <a:spAutoFit/>
          </a:bodyPr>
          <a:lstStyle/>
          <a:p>
            <a:pPr marL="514350" indent="-514350" algn="just">
              <a:lnSpc>
                <a:spcPct val="150000"/>
              </a:lnSpc>
              <a:buFont typeface="Wingdings" panose="05000000000000000000" pitchFamily="2" charset="2"/>
              <a:buChar char="§"/>
            </a:pPr>
            <a:r>
              <a:rPr lang="en-US" sz="3600" dirty="0"/>
              <a:t>A Linked List is a linear data structure, and it is a very common data structure that consists of a group of nodes in a sequence, which is divided into two parts.</a:t>
            </a:r>
          </a:p>
          <a:p>
            <a:pPr marL="514350" indent="-514350" algn="just">
              <a:lnSpc>
                <a:spcPct val="150000"/>
              </a:lnSpc>
              <a:buFont typeface="Wingdings" panose="05000000000000000000" pitchFamily="2" charset="2"/>
              <a:buChar char="§"/>
            </a:pPr>
            <a:r>
              <a:rPr lang="en-US" sz="3600" dirty="0"/>
              <a:t>Each node consists of its data field and the address field. The data field is used to store the data, and the address field is used to store the address of its adjacent nodes. </a:t>
            </a:r>
          </a:p>
          <a:p>
            <a:pPr marL="514350" indent="-514350" algn="just">
              <a:lnSpc>
                <a:spcPct val="150000"/>
              </a:lnSpc>
              <a:buFont typeface="Wingdings" panose="05000000000000000000" pitchFamily="2" charset="2"/>
              <a:buChar char="§"/>
            </a:pPr>
            <a:r>
              <a:rPr lang="en-US" sz="3600" dirty="0"/>
              <a:t>The first node of a linked list is called head, and only the address of the first node is stored to store a linked list. </a:t>
            </a:r>
          </a:p>
          <a:p>
            <a:pPr marL="514350" indent="-514350" algn="just">
              <a:lnSpc>
                <a:spcPct val="150000"/>
              </a:lnSpc>
              <a:buFont typeface="Wingdings" panose="05000000000000000000" pitchFamily="2" charset="2"/>
              <a:buChar char="§"/>
            </a:pPr>
            <a:r>
              <a:rPr lang="en-US" sz="3600" dirty="0"/>
              <a:t>All other nodes can be accessed from the first node itself by sequentially exploring the adjacent nodes. </a:t>
            </a:r>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E5512-D1B2-06D1-9703-C3F4A60D941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1E93228-3ACE-41BB-60FA-4B7854D8048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7FD9E89-9CE4-50B8-625D-0343A3D19F7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A037B0B-7A75-E0F9-3C0D-8F550590FE75}"/>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3D7C022-E434-0F5B-7686-B63FFBF1B62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4F079929-9F20-BFB5-57D9-3733D94C433F}"/>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60AACD6-88DE-C816-F289-759F1A9E20D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285B5423-420A-9BCA-D6CE-25E32B313AA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SINGLY LINKED LIST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7" name="Google Shape;548;p5">
            <a:extLst>
              <a:ext uri="{FF2B5EF4-FFF2-40B4-BE49-F238E27FC236}">
                <a16:creationId xmlns:a16="http://schemas.microsoft.com/office/drawing/2014/main" id="{017167DD-AA62-163B-E833-E7E5C79C336D}"/>
              </a:ext>
            </a:extLst>
          </p:cNvPr>
          <p:cNvPicPr preferRelativeResize="0"/>
          <p:nvPr/>
        </p:nvPicPr>
        <p:blipFill>
          <a:blip r:embed="rId3">
            <a:alphaModFix/>
            <a:extLst>
              <a:ext uri="{28A0092B-C50C-407E-A947-70E740481C1C}">
                <a14:useLocalDpi xmlns:a14="http://schemas.microsoft.com/office/drawing/2010/main" val="0"/>
              </a:ext>
            </a:extLst>
          </a:blip>
          <a:srcRect t="21591" b="21591"/>
          <a:stretch/>
        </p:blipFill>
        <p:spPr>
          <a:xfrm>
            <a:off x="1050252" y="3610608"/>
            <a:ext cx="16187495" cy="3065784"/>
          </a:xfrm>
          <a:prstGeom prst="rect">
            <a:avLst/>
          </a:prstGeom>
          <a:noFill/>
          <a:ln>
            <a:noFill/>
          </a:ln>
        </p:spPr>
      </p:pic>
    </p:spTree>
    <p:extLst>
      <p:ext uri="{BB962C8B-B14F-4D97-AF65-F5344CB8AC3E}">
        <p14:creationId xmlns:p14="http://schemas.microsoft.com/office/powerpoint/2010/main" val="2144968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E9087-7686-4286-548B-27ECB554C59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7D2AF47-346B-27DA-401E-536E2FEE179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A80032B-142A-18E6-48AB-7ACFAA89BCA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C87E1F9-71C4-824E-F8CB-59E98F34D5DA}"/>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363A301-C937-7477-E10F-97C1AEFCF0C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0F30D7B5-0D21-216A-1B3E-7BD9BDD96CE3}"/>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8FFDADF-B2C6-9256-FC5C-E901A2733C9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9AD2BC00-D3C2-9611-2463-F6B2D761E5D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ADVANTAGES OF LINKED LIST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graphicFrame>
        <p:nvGraphicFramePr>
          <p:cNvPr id="7" name="Table 6">
            <a:extLst>
              <a:ext uri="{FF2B5EF4-FFF2-40B4-BE49-F238E27FC236}">
                <a16:creationId xmlns:a16="http://schemas.microsoft.com/office/drawing/2014/main" id="{C68D740B-FFA2-79E5-8B9B-1E302E19C14A}"/>
              </a:ext>
            </a:extLst>
          </p:cNvPr>
          <p:cNvGraphicFramePr>
            <a:graphicFrameLocks noGrp="1"/>
          </p:cNvGraphicFramePr>
          <p:nvPr>
            <p:extLst>
              <p:ext uri="{D42A27DB-BD31-4B8C-83A1-F6EECF244321}">
                <p14:modId xmlns:p14="http://schemas.microsoft.com/office/powerpoint/2010/main" val="2765085221"/>
              </p:ext>
            </p:extLst>
          </p:nvPr>
        </p:nvGraphicFramePr>
        <p:xfrm>
          <a:off x="756446" y="2813801"/>
          <a:ext cx="16775106" cy="6474475"/>
        </p:xfrm>
        <a:graphic>
          <a:graphicData uri="http://schemas.openxmlformats.org/drawingml/2006/table">
            <a:tbl>
              <a:tblPr>
                <a:tableStyleId>{1FECB4D8-DB02-4DC6-A0A2-4F2EBAE1DC90}</a:tableStyleId>
              </a:tblPr>
              <a:tblGrid>
                <a:gridCol w="8387553">
                  <a:extLst>
                    <a:ext uri="{9D8B030D-6E8A-4147-A177-3AD203B41FA5}">
                      <a16:colId xmlns:a16="http://schemas.microsoft.com/office/drawing/2014/main" val="3984028110"/>
                    </a:ext>
                  </a:extLst>
                </a:gridCol>
                <a:gridCol w="8387553">
                  <a:extLst>
                    <a:ext uri="{9D8B030D-6E8A-4147-A177-3AD203B41FA5}">
                      <a16:colId xmlns:a16="http://schemas.microsoft.com/office/drawing/2014/main" val="578100929"/>
                    </a:ext>
                  </a:extLst>
                </a:gridCol>
              </a:tblGrid>
              <a:tr h="1294895">
                <a:tc>
                  <a:txBody>
                    <a:bodyPr/>
                    <a:lstStyle/>
                    <a:p>
                      <a:pPr algn="ctr">
                        <a:buNone/>
                      </a:pPr>
                      <a:r>
                        <a:rPr lang="en-MY" sz="3200" b="1" kern="1200"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mn-ea"/>
                          <a:cs typeface="Segoe UI" panose="020B0502040204020203" pitchFamily="34" charset="0"/>
                        </a:rPr>
                        <a:t>Advantage</a:t>
                      </a:r>
                    </a:p>
                  </a:txBody>
                  <a:tcPr anchor="ctr"/>
                </a:tc>
                <a:tc>
                  <a:txBody>
                    <a:bodyPr/>
                    <a:lstStyle/>
                    <a:p>
                      <a:pPr algn="ctr">
                        <a:buNone/>
                      </a:pPr>
                      <a:r>
                        <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mn-ea"/>
                          <a:cs typeface="Segoe UI" panose="020B0502040204020203" pitchFamily="34" charset="0"/>
                        </a:rPr>
                        <a:t>Meaning</a:t>
                      </a:r>
                    </a:p>
                  </a:txBody>
                  <a:tcPr anchor="ctr"/>
                </a:tc>
                <a:extLst>
                  <a:ext uri="{0D108BD9-81ED-4DB2-BD59-A6C34878D82A}">
                    <a16:rowId xmlns:a16="http://schemas.microsoft.com/office/drawing/2014/main" val="652293231"/>
                  </a:ext>
                </a:extLst>
              </a:tr>
              <a:tr h="1294895">
                <a:tc>
                  <a:txBody>
                    <a:bodyPr/>
                    <a:lstStyle/>
                    <a:p>
                      <a:pPr algn="ctr">
                        <a:buNone/>
                      </a:pPr>
                      <a:r>
                        <a:rPr lang="en-MY"/>
                        <a:t>Dynamic size</a:t>
                      </a:r>
                    </a:p>
                  </a:txBody>
                  <a:tcPr anchor="ctr"/>
                </a:tc>
                <a:tc>
                  <a:txBody>
                    <a:bodyPr/>
                    <a:lstStyle/>
                    <a:p>
                      <a:pPr algn="ctr">
                        <a:buNone/>
                      </a:pPr>
                      <a:r>
                        <a:rPr lang="en-US"/>
                        <a:t>Memory is allocated when needed</a:t>
                      </a:r>
                    </a:p>
                  </a:txBody>
                  <a:tcPr anchor="ctr"/>
                </a:tc>
                <a:extLst>
                  <a:ext uri="{0D108BD9-81ED-4DB2-BD59-A6C34878D82A}">
                    <a16:rowId xmlns:a16="http://schemas.microsoft.com/office/drawing/2014/main" val="2142037250"/>
                  </a:ext>
                </a:extLst>
              </a:tr>
              <a:tr h="1294895">
                <a:tc>
                  <a:txBody>
                    <a:bodyPr/>
                    <a:lstStyle/>
                    <a:p>
                      <a:pPr algn="ctr">
                        <a:buNone/>
                      </a:pPr>
                      <a:r>
                        <a:rPr lang="en-MY" dirty="0"/>
                        <a:t>Easy insertion/deletion</a:t>
                      </a:r>
                    </a:p>
                  </a:txBody>
                  <a:tcPr anchor="ctr"/>
                </a:tc>
                <a:tc>
                  <a:txBody>
                    <a:bodyPr/>
                    <a:lstStyle/>
                    <a:p>
                      <a:pPr algn="ctr">
                        <a:buNone/>
                      </a:pPr>
                      <a:r>
                        <a:rPr lang="en-US"/>
                        <a:t>Nodes can be added or removed by changing pointers</a:t>
                      </a:r>
                    </a:p>
                  </a:txBody>
                  <a:tcPr anchor="ctr"/>
                </a:tc>
                <a:extLst>
                  <a:ext uri="{0D108BD9-81ED-4DB2-BD59-A6C34878D82A}">
                    <a16:rowId xmlns:a16="http://schemas.microsoft.com/office/drawing/2014/main" val="3237433766"/>
                  </a:ext>
                </a:extLst>
              </a:tr>
              <a:tr h="1294895">
                <a:tc>
                  <a:txBody>
                    <a:bodyPr/>
                    <a:lstStyle/>
                    <a:p>
                      <a:pPr algn="ctr">
                        <a:buNone/>
                      </a:pPr>
                      <a:r>
                        <a:rPr lang="en-MY"/>
                        <a:t>Flexible memory use</a:t>
                      </a:r>
                    </a:p>
                  </a:txBody>
                  <a:tcPr anchor="ctr"/>
                </a:tc>
                <a:tc>
                  <a:txBody>
                    <a:bodyPr/>
                    <a:lstStyle/>
                    <a:p>
                      <a:pPr algn="ctr">
                        <a:buNone/>
                      </a:pPr>
                      <a:r>
                        <a:rPr lang="en-US"/>
                        <a:t>Does not require contiguous memory</a:t>
                      </a:r>
                    </a:p>
                  </a:txBody>
                  <a:tcPr anchor="ctr"/>
                </a:tc>
                <a:extLst>
                  <a:ext uri="{0D108BD9-81ED-4DB2-BD59-A6C34878D82A}">
                    <a16:rowId xmlns:a16="http://schemas.microsoft.com/office/drawing/2014/main" val="3071875286"/>
                  </a:ext>
                </a:extLst>
              </a:tr>
              <a:tr h="1294895">
                <a:tc>
                  <a:txBody>
                    <a:bodyPr/>
                    <a:lstStyle/>
                    <a:p>
                      <a:pPr algn="ctr">
                        <a:buNone/>
                      </a:pPr>
                      <a:r>
                        <a:rPr lang="en-MY"/>
                        <a:t>Useful for ADTs</a:t>
                      </a:r>
                    </a:p>
                  </a:txBody>
                  <a:tcPr anchor="ctr"/>
                </a:tc>
                <a:tc>
                  <a:txBody>
                    <a:bodyPr/>
                    <a:lstStyle/>
                    <a:p>
                      <a:pPr algn="ctr">
                        <a:buNone/>
                      </a:pPr>
                      <a:r>
                        <a:rPr lang="en-US" dirty="0"/>
                        <a:t>Can support stacks, queues, and graphs</a:t>
                      </a:r>
                    </a:p>
                  </a:txBody>
                  <a:tcPr anchor="ctr"/>
                </a:tc>
                <a:extLst>
                  <a:ext uri="{0D108BD9-81ED-4DB2-BD59-A6C34878D82A}">
                    <a16:rowId xmlns:a16="http://schemas.microsoft.com/office/drawing/2014/main" val="3055699126"/>
                  </a:ext>
                </a:extLst>
              </a:tr>
            </a:tbl>
          </a:graphicData>
        </a:graphic>
      </p:graphicFrame>
    </p:spTree>
    <p:extLst>
      <p:ext uri="{BB962C8B-B14F-4D97-AF65-F5344CB8AC3E}">
        <p14:creationId xmlns:p14="http://schemas.microsoft.com/office/powerpoint/2010/main" val="4143984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71B0C-50C4-E4E1-FC1B-72D7549CD29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C1FDD1F-75BF-F03F-7355-3EA69AFB1F4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3C25C49-591F-5571-7572-148D1D8FA79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56DE7E5-E993-6F09-60E1-B1290B5AC1DD}"/>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EC08013-2121-370D-697E-E91CDD79714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379ADD70-246C-CEE8-34F4-699421A86D43}"/>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A25BD18-8D8B-D95E-34AA-01E798A198F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8F169BF4-EE5D-3650-5F2E-471C1CA70541}"/>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ADVANTAGES OF LINKED LIST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40A0C05-0929-7DB7-26AA-95308BCE952F}"/>
              </a:ext>
            </a:extLst>
          </p:cNvPr>
          <p:cNvSpPr txBox="1"/>
          <p:nvPr/>
        </p:nvSpPr>
        <p:spPr>
          <a:xfrm>
            <a:off x="756447" y="2644758"/>
            <a:ext cx="16775106" cy="6740307"/>
          </a:xfrm>
          <a:prstGeom prst="rect">
            <a:avLst/>
          </a:prstGeom>
          <a:noFill/>
        </p:spPr>
        <p:txBody>
          <a:bodyPr wrap="square" rtlCol="0">
            <a:spAutoFit/>
          </a:bodyPr>
          <a:lstStyle/>
          <a:p>
            <a:pPr marL="742950" indent="-742950">
              <a:buFont typeface="+mj-lt"/>
              <a:buAutoNum type="arabicPeriod"/>
            </a:pPr>
            <a:r>
              <a:rPr lang="en-US" sz="3600" b="1" dirty="0"/>
              <a:t>No random access</a:t>
            </a:r>
            <a:br>
              <a:rPr lang="en-US" sz="3600" dirty="0"/>
            </a:br>
            <a:r>
              <a:rPr lang="en-US" sz="3600" dirty="0"/>
              <a:t>To find an element, traversal starts from the head. </a:t>
            </a:r>
          </a:p>
          <a:p>
            <a:pPr marL="742950" indent="-742950">
              <a:buFont typeface="+mj-lt"/>
              <a:buAutoNum type="arabicPeriod"/>
            </a:pPr>
            <a:endParaRPr lang="en-US" sz="3600" dirty="0"/>
          </a:p>
          <a:p>
            <a:pPr marL="742950" indent="-742950">
              <a:buFont typeface="+mj-lt"/>
              <a:buAutoNum type="arabicPeriod"/>
            </a:pPr>
            <a:r>
              <a:rPr lang="en-US" sz="3600" b="1" dirty="0"/>
              <a:t>Search is slower</a:t>
            </a:r>
            <a:br>
              <a:rPr lang="en-US" sz="3600" dirty="0"/>
            </a:br>
            <a:r>
              <a:rPr lang="en-US" sz="3600" dirty="0"/>
              <a:t>Searching takes O(n) time. </a:t>
            </a:r>
          </a:p>
          <a:p>
            <a:pPr marL="742950" indent="-742950">
              <a:buFont typeface="+mj-lt"/>
              <a:buAutoNum type="arabicPeriod"/>
            </a:pPr>
            <a:endParaRPr lang="en-US" sz="3600" dirty="0"/>
          </a:p>
          <a:p>
            <a:pPr marL="742950" indent="-742950">
              <a:buFont typeface="+mj-lt"/>
              <a:buAutoNum type="arabicPeriod"/>
            </a:pPr>
            <a:r>
              <a:rPr lang="en-US" sz="3600" b="1" dirty="0"/>
              <a:t>Extra memory is required</a:t>
            </a:r>
            <a:br>
              <a:rPr lang="en-US" sz="3600" dirty="0"/>
            </a:br>
            <a:r>
              <a:rPr lang="en-US" sz="3600" dirty="0"/>
              <a:t>Each node stores one or more pointer fields. </a:t>
            </a:r>
          </a:p>
          <a:p>
            <a:pPr marL="742950" indent="-742950">
              <a:buFont typeface="+mj-lt"/>
              <a:buAutoNum type="arabicPeriod"/>
            </a:pPr>
            <a:endParaRPr lang="en-US" sz="3600" dirty="0"/>
          </a:p>
          <a:p>
            <a:pPr marL="742950" indent="-742950">
              <a:buFont typeface="+mj-lt"/>
              <a:buAutoNum type="arabicPeriod"/>
            </a:pPr>
            <a:r>
              <a:rPr lang="en-US" sz="3600" b="1" dirty="0"/>
              <a:t>This slide should include a small comparison with arrays:</a:t>
            </a:r>
          </a:p>
          <a:p>
            <a:pPr lvl="2"/>
            <a:r>
              <a:rPr lang="en-US" sz="3600" dirty="0"/>
              <a:t>Array:       A[3] → direct access</a:t>
            </a:r>
          </a:p>
          <a:p>
            <a:pPr lvl="2"/>
            <a:r>
              <a:rPr lang="en-US" sz="3600" dirty="0"/>
              <a:t>Linked List: Head → Node1 → Node2 → Node3</a:t>
            </a:r>
          </a:p>
        </p:txBody>
      </p:sp>
    </p:spTree>
    <p:extLst>
      <p:ext uri="{BB962C8B-B14F-4D97-AF65-F5344CB8AC3E}">
        <p14:creationId xmlns:p14="http://schemas.microsoft.com/office/powerpoint/2010/main" val="168558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fade">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44B5B-8E44-CB1B-2637-61F0308AE92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7D3FF5E-F7FC-EB16-2AF4-1DE92C852D4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9B89E56-EE3A-A237-E407-C07A1EA8BB9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3584142-4DF0-9499-C3A2-0020192CE1C0}"/>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324B51A-59FC-B87C-D122-F13DFD40250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11A74C69-773B-957A-A9A3-BC7CDD1D8244}"/>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7D42A3C-E04F-C34C-D73F-0DF47E3B5C0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A3741FFA-B73A-BFB5-B188-4203585BF921}"/>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SINGLY LINKED LIST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73D55B9-376D-0972-E869-48AE27C1CA90}"/>
              </a:ext>
            </a:extLst>
          </p:cNvPr>
          <p:cNvSpPr txBox="1"/>
          <p:nvPr/>
        </p:nvSpPr>
        <p:spPr>
          <a:xfrm>
            <a:off x="756447" y="2644758"/>
            <a:ext cx="16775106" cy="54772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3600" dirty="0"/>
              <a:t>Singly linked lists contain nodes that have a data part as well as an address part, i.e., next, which points to the next node in the sequence.</a:t>
            </a:r>
          </a:p>
          <a:p>
            <a:pPr marL="514350" indent="-514350" algn="just">
              <a:lnSpc>
                <a:spcPct val="200000"/>
              </a:lnSpc>
              <a:buFont typeface="Wingdings" panose="05000000000000000000" pitchFamily="2" charset="2"/>
              <a:buChar char="§"/>
            </a:pPr>
            <a:r>
              <a:rPr lang="en-US" sz="3600" dirty="0"/>
              <a:t>In a single-linked list, from any node, there is no way to reach its previous node. </a:t>
            </a:r>
          </a:p>
          <a:p>
            <a:pPr marL="514350" indent="-514350" algn="just">
              <a:lnSpc>
                <a:spcPct val="200000"/>
              </a:lnSpc>
              <a:buFont typeface="Wingdings" panose="05000000000000000000" pitchFamily="2" charset="2"/>
              <a:buChar char="§"/>
            </a:pPr>
            <a:r>
              <a:rPr lang="en-US" sz="3600" dirty="0"/>
              <a:t>The operations we can perform on singly linked lists are insertion, deletion, and traversal.</a:t>
            </a:r>
          </a:p>
        </p:txBody>
      </p:sp>
    </p:spTree>
    <p:extLst>
      <p:ext uri="{BB962C8B-B14F-4D97-AF65-F5344CB8AC3E}">
        <p14:creationId xmlns:p14="http://schemas.microsoft.com/office/powerpoint/2010/main" val="32497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A41AA-E83A-CC27-A600-D9F3395627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0E88C4-D356-E021-EE32-466AF1C20CF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C6E4E6A-DD8F-3CFA-7F5D-EC79A71EDAF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ABD06DD-5E1F-1D23-72DC-DE5E46E2808C}"/>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66A7225-30CB-08C2-CD82-5EBB4BCADF4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C2F7D333-73CE-4B94-6B31-DD20FEFC2E47}"/>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1A466BF-E10F-F188-D0FC-3EE92E4A7CF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25C7132D-9456-880D-8E73-F8535E75FAEF}"/>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DOUBLY LINKED LIST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D65561B-08AC-2AC4-6E9D-93AB5C74C86D}"/>
              </a:ext>
            </a:extLst>
          </p:cNvPr>
          <p:cNvSpPr txBox="1"/>
          <p:nvPr/>
        </p:nvSpPr>
        <p:spPr>
          <a:xfrm>
            <a:off x="756447" y="2644758"/>
            <a:ext cx="16775106" cy="658520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3600" dirty="0"/>
              <a:t>In a doubly linked list, each node maintains two pointers, namely 𝑃𝑟𝑒𝑣 and 𝑁𝑒𝑥𝑡.</a:t>
            </a:r>
          </a:p>
          <a:p>
            <a:pPr marL="514350" indent="-514350" algn="just">
              <a:lnSpc>
                <a:spcPct val="200000"/>
              </a:lnSpc>
              <a:buFont typeface="Wingdings" panose="05000000000000000000" pitchFamily="2" charset="2"/>
              <a:buChar char="§"/>
            </a:pPr>
            <a:endParaRPr lang="en-US" sz="3600" dirty="0"/>
          </a:p>
          <a:p>
            <a:pPr marL="514350" indent="-514350" algn="just">
              <a:lnSpc>
                <a:spcPct val="200000"/>
              </a:lnSpc>
              <a:buFont typeface="Wingdings" panose="05000000000000000000" pitchFamily="2" charset="2"/>
              <a:buChar char="§"/>
            </a:pPr>
            <a:r>
              <a:rPr lang="en-US" sz="3600" dirty="0"/>
              <a:t>These are used to store the previous and next adjacent elements, respectively. </a:t>
            </a:r>
          </a:p>
          <a:p>
            <a:pPr marL="514350" indent="-514350" algn="just">
              <a:lnSpc>
                <a:spcPct val="200000"/>
              </a:lnSpc>
              <a:buFont typeface="Wingdings" panose="05000000000000000000" pitchFamily="2" charset="2"/>
              <a:buChar char="§"/>
            </a:pPr>
            <a:endParaRPr lang="en-US" sz="3600" dirty="0"/>
          </a:p>
          <a:p>
            <a:pPr marL="514350" indent="-514350" algn="just">
              <a:lnSpc>
                <a:spcPct val="200000"/>
              </a:lnSpc>
              <a:buFont typeface="Wingdings" panose="05000000000000000000" pitchFamily="2" charset="2"/>
              <a:buChar char="§"/>
            </a:pPr>
            <a:r>
              <a:rPr lang="en-US" sz="3600" dirty="0"/>
              <a:t>The first link points to the previous node, and the next link points to the next node in the sequence.</a:t>
            </a:r>
          </a:p>
        </p:txBody>
      </p:sp>
    </p:spTree>
    <p:extLst>
      <p:ext uri="{BB962C8B-B14F-4D97-AF65-F5344CB8AC3E}">
        <p14:creationId xmlns:p14="http://schemas.microsoft.com/office/powerpoint/2010/main" val="184264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DF99F-B02E-5322-06FD-BC537D8A2AF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C224105-1291-6F4E-BE2E-D7F83BEEDB6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B6E03D5-2F7E-D456-C5FD-274A54CDA51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72BD758-C044-EEA9-9CD9-7FAA44C30F79}"/>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DOUBLY LINKED LIST VISUAL</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DFE82D9-DC69-55F7-2299-A79AF3574F8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0797327A-B3B2-37D4-3434-98C6E3C46CE7}"/>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D9686A7-2805-5910-F1F3-1BE9E6C6A01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pic>
        <p:nvPicPr>
          <p:cNvPr id="8" name="Google Shape;548;p5">
            <a:extLst>
              <a:ext uri="{FF2B5EF4-FFF2-40B4-BE49-F238E27FC236}">
                <a16:creationId xmlns:a16="http://schemas.microsoft.com/office/drawing/2014/main" id="{CC965159-8B33-9DEA-7ED2-37F2CEB57D0A}"/>
              </a:ext>
            </a:extLst>
          </p:cNvPr>
          <p:cNvPicPr preferRelativeResize="0"/>
          <p:nvPr/>
        </p:nvPicPr>
        <p:blipFill>
          <a:blip r:embed="rId3">
            <a:alphaModFix/>
            <a:extLst>
              <a:ext uri="{28A0092B-C50C-407E-A947-70E740481C1C}">
                <a14:useLocalDpi xmlns:a14="http://schemas.microsoft.com/office/drawing/2010/main" val="0"/>
              </a:ext>
            </a:extLst>
          </a:blip>
          <a:srcRect t="19052" b="17933"/>
          <a:stretch>
            <a:fillRect/>
          </a:stretch>
        </p:blipFill>
        <p:spPr>
          <a:xfrm>
            <a:off x="756447" y="2153215"/>
            <a:ext cx="16775105" cy="5980570"/>
          </a:xfrm>
          <a:prstGeom prst="rect">
            <a:avLst/>
          </a:prstGeom>
          <a:noFill/>
          <a:ln>
            <a:noFill/>
          </a:ln>
        </p:spPr>
      </p:pic>
      <p:cxnSp>
        <p:nvCxnSpPr>
          <p:cNvPr id="13" name="Straight Connector 12">
            <a:extLst>
              <a:ext uri="{FF2B5EF4-FFF2-40B4-BE49-F238E27FC236}">
                <a16:creationId xmlns:a16="http://schemas.microsoft.com/office/drawing/2014/main" id="{8E3F00BB-D033-DEE4-58B4-B3D523C4932C}"/>
              </a:ext>
            </a:extLst>
          </p:cNvPr>
          <p:cNvCxnSpPr>
            <a:cxnSpLocks/>
          </p:cNvCxnSpPr>
          <p:nvPr/>
        </p:nvCxnSpPr>
        <p:spPr>
          <a:xfrm>
            <a:off x="15526361" y="5085444"/>
            <a:ext cx="533400" cy="0"/>
          </a:xfrm>
          <a:prstGeom prst="line">
            <a:avLst/>
          </a:prstGeom>
          <a:ln w="76200">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55657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42B01-3B01-EE0D-982F-E79B4477497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6A7D74C-DFC2-F3C3-689D-33D4AFB35A8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57F5601-2751-C8D0-4F4C-A0377C557C6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205D9E2-8CA9-B1B4-E155-9A892ADAD63D}"/>
              </a:ext>
            </a:extLst>
          </p:cNvPr>
          <p:cNvSpPr txBox="1"/>
          <p:nvPr/>
        </p:nvSpPr>
        <p:spPr>
          <a:xfrm>
            <a:off x="990600" y="300719"/>
            <a:ext cx="10385612"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DOUBLY LINKED LIST VS SINGLY LINKED LIST</a:t>
            </a:r>
          </a:p>
        </p:txBody>
      </p:sp>
      <p:sp>
        <p:nvSpPr>
          <p:cNvPr id="9" name="Date Placeholder 8">
            <a:extLst>
              <a:ext uri="{FF2B5EF4-FFF2-40B4-BE49-F238E27FC236}">
                <a16:creationId xmlns:a16="http://schemas.microsoft.com/office/drawing/2014/main" id="{4E59533D-8AAF-6CED-1613-D9016FDA4ED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E4F95973-CB32-7B9C-7173-982D928AB864}"/>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C9F57F4-95B7-2AFF-72D7-FF9A1E5FC02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cxnSp>
        <p:nvCxnSpPr>
          <p:cNvPr id="13" name="Straight Connector 12">
            <a:extLst>
              <a:ext uri="{FF2B5EF4-FFF2-40B4-BE49-F238E27FC236}">
                <a16:creationId xmlns:a16="http://schemas.microsoft.com/office/drawing/2014/main" id="{DD49F78F-FD12-50D0-1316-D6C8092D4AB5}"/>
              </a:ext>
            </a:extLst>
          </p:cNvPr>
          <p:cNvCxnSpPr>
            <a:cxnSpLocks/>
          </p:cNvCxnSpPr>
          <p:nvPr/>
        </p:nvCxnSpPr>
        <p:spPr>
          <a:xfrm>
            <a:off x="15526361" y="5085444"/>
            <a:ext cx="533400" cy="0"/>
          </a:xfrm>
          <a:prstGeom prst="line">
            <a:avLst/>
          </a:prstGeom>
          <a:ln w="76200">
            <a:solidFill>
              <a:srgbClr val="FF0000"/>
            </a:solidFill>
          </a:ln>
        </p:spPr>
        <p:style>
          <a:lnRef idx="3">
            <a:schemeClr val="accent2"/>
          </a:lnRef>
          <a:fillRef idx="0">
            <a:schemeClr val="accent2"/>
          </a:fillRef>
          <a:effectRef idx="2">
            <a:schemeClr val="accent2"/>
          </a:effectRef>
          <a:fontRef idx="minor">
            <a:schemeClr val="tx1"/>
          </a:fontRef>
        </p:style>
      </p:cxnSp>
      <p:graphicFrame>
        <p:nvGraphicFramePr>
          <p:cNvPr id="5" name="Table 4">
            <a:extLst>
              <a:ext uri="{FF2B5EF4-FFF2-40B4-BE49-F238E27FC236}">
                <a16:creationId xmlns:a16="http://schemas.microsoft.com/office/drawing/2014/main" id="{133EE685-0986-E7BD-9874-150E96EFC0F0}"/>
              </a:ext>
            </a:extLst>
          </p:cNvPr>
          <p:cNvGraphicFramePr>
            <a:graphicFrameLocks noGrp="1"/>
          </p:cNvGraphicFramePr>
          <p:nvPr>
            <p:extLst>
              <p:ext uri="{D42A27DB-BD31-4B8C-83A1-F6EECF244321}">
                <p14:modId xmlns:p14="http://schemas.microsoft.com/office/powerpoint/2010/main" val="3603660666"/>
              </p:ext>
            </p:extLst>
          </p:nvPr>
        </p:nvGraphicFramePr>
        <p:xfrm>
          <a:off x="756446" y="1608320"/>
          <a:ext cx="16775106" cy="7679958"/>
        </p:xfrm>
        <a:graphic>
          <a:graphicData uri="http://schemas.openxmlformats.org/drawingml/2006/table">
            <a:tbl>
              <a:tblPr>
                <a:tableStyleId>{E8B1032C-EA38-4F05-BA0D-38AFFFC7BED3}</a:tableStyleId>
              </a:tblPr>
              <a:tblGrid>
                <a:gridCol w="5591702">
                  <a:extLst>
                    <a:ext uri="{9D8B030D-6E8A-4147-A177-3AD203B41FA5}">
                      <a16:colId xmlns:a16="http://schemas.microsoft.com/office/drawing/2014/main" val="2100740412"/>
                    </a:ext>
                  </a:extLst>
                </a:gridCol>
                <a:gridCol w="5591702">
                  <a:extLst>
                    <a:ext uri="{9D8B030D-6E8A-4147-A177-3AD203B41FA5}">
                      <a16:colId xmlns:a16="http://schemas.microsoft.com/office/drawing/2014/main" val="3623600655"/>
                    </a:ext>
                  </a:extLst>
                </a:gridCol>
                <a:gridCol w="5591702">
                  <a:extLst>
                    <a:ext uri="{9D8B030D-6E8A-4147-A177-3AD203B41FA5}">
                      <a16:colId xmlns:a16="http://schemas.microsoft.com/office/drawing/2014/main" val="1313327411"/>
                    </a:ext>
                  </a:extLst>
                </a:gridCol>
              </a:tblGrid>
              <a:tr h="1437628">
                <a:tc>
                  <a:txBody>
                    <a:bodyPr/>
                    <a:lstStyle/>
                    <a:p>
                      <a:pPr algn="ctr">
                        <a:buNone/>
                      </a:pPr>
                      <a:r>
                        <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rPr>
                        <a:t>Feature</a:t>
                      </a:r>
                      <a:endPar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latin typeface="+mn-lt"/>
                        <a:ea typeface="+mn-ea"/>
                        <a:cs typeface="+mn-cs"/>
                      </a:endParaRPr>
                    </a:p>
                  </a:txBody>
                  <a:tcPr anchor="ctr"/>
                </a:tc>
                <a:tc>
                  <a:txBody>
                    <a:bodyPr/>
                    <a:lstStyle/>
                    <a:p>
                      <a:pPr algn="ctr">
                        <a:buNone/>
                      </a:pPr>
                      <a:r>
                        <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rPr>
                        <a:t>Singly Linked List</a:t>
                      </a:r>
                      <a:endPar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latin typeface="+mn-lt"/>
                        <a:ea typeface="+mn-ea"/>
                        <a:cs typeface="+mn-cs"/>
                      </a:endParaRPr>
                    </a:p>
                  </a:txBody>
                  <a:tcPr anchor="ctr"/>
                </a:tc>
                <a:tc>
                  <a:txBody>
                    <a:bodyPr/>
                    <a:lstStyle/>
                    <a:p>
                      <a:pPr algn="ctr">
                        <a:buNone/>
                      </a:pPr>
                      <a:r>
                        <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rPr>
                        <a:t>Doubly Linked List</a:t>
                      </a:r>
                      <a:endPar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latin typeface="+mn-lt"/>
                        <a:ea typeface="+mn-ea"/>
                        <a:cs typeface="+mn-cs"/>
                      </a:endParaRPr>
                    </a:p>
                  </a:txBody>
                  <a:tcPr anchor="ctr"/>
                </a:tc>
                <a:extLst>
                  <a:ext uri="{0D108BD9-81ED-4DB2-BD59-A6C34878D82A}">
                    <a16:rowId xmlns:a16="http://schemas.microsoft.com/office/drawing/2014/main" val="2410149103"/>
                  </a:ext>
                </a:extLst>
              </a:tr>
              <a:tr h="1248466">
                <a:tc>
                  <a:txBody>
                    <a:bodyPr/>
                    <a:lstStyle/>
                    <a:p>
                      <a:pPr algn="ctr">
                        <a:buNone/>
                      </a:pPr>
                      <a:r>
                        <a:rPr lang="en-MY"/>
                        <a:t>Pointers per node</a:t>
                      </a:r>
                    </a:p>
                  </a:txBody>
                  <a:tcPr anchor="ctr"/>
                </a:tc>
                <a:tc>
                  <a:txBody>
                    <a:bodyPr/>
                    <a:lstStyle/>
                    <a:p>
                      <a:pPr algn="ctr">
                        <a:buNone/>
                      </a:pPr>
                      <a:r>
                        <a:rPr lang="en-MY" dirty="0"/>
                        <a:t>One: next</a:t>
                      </a:r>
                    </a:p>
                  </a:txBody>
                  <a:tcPr anchor="ctr"/>
                </a:tc>
                <a:tc>
                  <a:txBody>
                    <a:bodyPr/>
                    <a:lstStyle/>
                    <a:p>
                      <a:pPr algn="ctr">
                        <a:buNone/>
                      </a:pPr>
                      <a:r>
                        <a:rPr lang="en-MY" dirty="0"/>
                        <a:t>Two: </a:t>
                      </a:r>
                      <a:r>
                        <a:rPr lang="en-MY" dirty="0" err="1"/>
                        <a:t>prev</a:t>
                      </a:r>
                      <a:r>
                        <a:rPr lang="en-MY" dirty="0"/>
                        <a:t>, next</a:t>
                      </a:r>
                    </a:p>
                  </a:txBody>
                  <a:tcPr anchor="ctr"/>
                </a:tc>
                <a:extLst>
                  <a:ext uri="{0D108BD9-81ED-4DB2-BD59-A6C34878D82A}">
                    <a16:rowId xmlns:a16="http://schemas.microsoft.com/office/drawing/2014/main" val="3561042759"/>
                  </a:ext>
                </a:extLst>
              </a:tr>
              <a:tr h="1248466">
                <a:tc>
                  <a:txBody>
                    <a:bodyPr/>
                    <a:lstStyle/>
                    <a:p>
                      <a:pPr algn="ctr">
                        <a:buNone/>
                      </a:pPr>
                      <a:r>
                        <a:rPr lang="en-MY"/>
                        <a:t>Direction</a:t>
                      </a:r>
                    </a:p>
                  </a:txBody>
                  <a:tcPr anchor="ctr"/>
                </a:tc>
                <a:tc>
                  <a:txBody>
                    <a:bodyPr/>
                    <a:lstStyle/>
                    <a:p>
                      <a:pPr algn="ctr">
                        <a:buNone/>
                      </a:pPr>
                      <a:r>
                        <a:rPr lang="en-MY"/>
                        <a:t>Forward only</a:t>
                      </a:r>
                    </a:p>
                  </a:txBody>
                  <a:tcPr anchor="ctr"/>
                </a:tc>
                <a:tc>
                  <a:txBody>
                    <a:bodyPr/>
                    <a:lstStyle/>
                    <a:p>
                      <a:pPr algn="ctr">
                        <a:buNone/>
                      </a:pPr>
                      <a:r>
                        <a:rPr lang="en-MY" dirty="0"/>
                        <a:t>Forward and backward</a:t>
                      </a:r>
                    </a:p>
                  </a:txBody>
                  <a:tcPr anchor="ctr"/>
                </a:tc>
                <a:extLst>
                  <a:ext uri="{0D108BD9-81ED-4DB2-BD59-A6C34878D82A}">
                    <a16:rowId xmlns:a16="http://schemas.microsoft.com/office/drawing/2014/main" val="3403178003"/>
                  </a:ext>
                </a:extLst>
              </a:tr>
              <a:tr h="1248466">
                <a:tc>
                  <a:txBody>
                    <a:bodyPr/>
                    <a:lstStyle/>
                    <a:p>
                      <a:pPr algn="ctr">
                        <a:buNone/>
                      </a:pPr>
                      <a:r>
                        <a:rPr lang="en-MY"/>
                        <a:t>Memory use</a:t>
                      </a:r>
                    </a:p>
                  </a:txBody>
                  <a:tcPr anchor="ctr"/>
                </a:tc>
                <a:tc>
                  <a:txBody>
                    <a:bodyPr/>
                    <a:lstStyle/>
                    <a:p>
                      <a:pPr algn="ctr">
                        <a:buNone/>
                      </a:pPr>
                      <a:r>
                        <a:rPr lang="en-MY"/>
                        <a:t>Lower</a:t>
                      </a:r>
                    </a:p>
                  </a:txBody>
                  <a:tcPr anchor="ctr"/>
                </a:tc>
                <a:tc>
                  <a:txBody>
                    <a:bodyPr/>
                    <a:lstStyle/>
                    <a:p>
                      <a:pPr algn="ctr">
                        <a:buNone/>
                      </a:pPr>
                      <a:r>
                        <a:rPr lang="en-MY" dirty="0"/>
                        <a:t>Higher</a:t>
                      </a:r>
                    </a:p>
                  </a:txBody>
                  <a:tcPr anchor="ctr"/>
                </a:tc>
                <a:extLst>
                  <a:ext uri="{0D108BD9-81ED-4DB2-BD59-A6C34878D82A}">
                    <a16:rowId xmlns:a16="http://schemas.microsoft.com/office/drawing/2014/main" val="880748324"/>
                  </a:ext>
                </a:extLst>
              </a:tr>
              <a:tr h="1248466">
                <a:tc>
                  <a:txBody>
                    <a:bodyPr/>
                    <a:lstStyle/>
                    <a:p>
                      <a:pPr algn="ctr">
                        <a:buNone/>
                      </a:pPr>
                      <a:r>
                        <a:rPr lang="en-MY"/>
                        <a:t>Deletion</a:t>
                      </a:r>
                    </a:p>
                  </a:txBody>
                  <a:tcPr anchor="ctr"/>
                </a:tc>
                <a:tc>
                  <a:txBody>
                    <a:bodyPr/>
                    <a:lstStyle/>
                    <a:p>
                      <a:pPr algn="ctr">
                        <a:buNone/>
                      </a:pPr>
                      <a:r>
                        <a:rPr lang="en-MY"/>
                        <a:t>Needs previous node tracking</a:t>
                      </a:r>
                    </a:p>
                  </a:txBody>
                  <a:tcPr anchor="ctr"/>
                </a:tc>
                <a:tc>
                  <a:txBody>
                    <a:bodyPr/>
                    <a:lstStyle/>
                    <a:p>
                      <a:pPr algn="ctr">
                        <a:buNone/>
                      </a:pPr>
                      <a:r>
                        <a:rPr lang="en-US" dirty="0"/>
                        <a:t>Easier if node is known</a:t>
                      </a:r>
                    </a:p>
                  </a:txBody>
                  <a:tcPr anchor="ctr"/>
                </a:tc>
                <a:extLst>
                  <a:ext uri="{0D108BD9-81ED-4DB2-BD59-A6C34878D82A}">
                    <a16:rowId xmlns:a16="http://schemas.microsoft.com/office/drawing/2014/main" val="3480788143"/>
                  </a:ext>
                </a:extLst>
              </a:tr>
              <a:tr h="1248466">
                <a:tc>
                  <a:txBody>
                    <a:bodyPr/>
                    <a:lstStyle/>
                    <a:p>
                      <a:pPr algn="ctr">
                        <a:buNone/>
                      </a:pPr>
                      <a:r>
                        <a:rPr lang="en-MY"/>
                        <a:t>Complexity</a:t>
                      </a:r>
                    </a:p>
                  </a:txBody>
                  <a:tcPr anchor="ctr"/>
                </a:tc>
                <a:tc>
                  <a:txBody>
                    <a:bodyPr/>
                    <a:lstStyle/>
                    <a:p>
                      <a:pPr algn="ctr">
                        <a:buNone/>
                      </a:pPr>
                      <a:r>
                        <a:rPr lang="en-MY"/>
                        <a:t>Simpler</a:t>
                      </a:r>
                    </a:p>
                  </a:txBody>
                  <a:tcPr anchor="ctr"/>
                </a:tc>
                <a:tc>
                  <a:txBody>
                    <a:bodyPr/>
                    <a:lstStyle/>
                    <a:p>
                      <a:pPr algn="ctr">
                        <a:buNone/>
                      </a:pPr>
                      <a:r>
                        <a:rPr lang="en-MY" dirty="0"/>
                        <a:t>More flexible</a:t>
                      </a:r>
                    </a:p>
                  </a:txBody>
                  <a:tcPr anchor="ctr"/>
                </a:tc>
                <a:extLst>
                  <a:ext uri="{0D108BD9-81ED-4DB2-BD59-A6C34878D82A}">
                    <a16:rowId xmlns:a16="http://schemas.microsoft.com/office/drawing/2014/main" val="1832725213"/>
                  </a:ext>
                </a:extLst>
              </a:tr>
            </a:tbl>
          </a:graphicData>
        </a:graphic>
      </p:graphicFrame>
    </p:spTree>
    <p:extLst>
      <p:ext uri="{BB962C8B-B14F-4D97-AF65-F5344CB8AC3E}">
        <p14:creationId xmlns:p14="http://schemas.microsoft.com/office/powerpoint/2010/main" val="2009387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67809-7B79-B9E6-AD04-23C05759161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39CC182-00E0-F0A0-EF7B-85F0AD03EED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DB77352-82D7-67B2-42AF-C8685B9401A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A6BC872-5B8D-F66F-496B-C86B5EF106DB}"/>
              </a:ext>
            </a:extLst>
          </p:cNvPr>
          <p:cNvSpPr txBox="1"/>
          <p:nvPr/>
        </p:nvSpPr>
        <p:spPr>
          <a:xfrm>
            <a:off x="990600" y="300719"/>
            <a:ext cx="9356377" cy="634084"/>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ARRAY VS LINKED LIST</a:t>
            </a:r>
          </a:p>
        </p:txBody>
      </p:sp>
      <p:sp>
        <p:nvSpPr>
          <p:cNvPr id="9" name="Date Placeholder 8">
            <a:extLst>
              <a:ext uri="{FF2B5EF4-FFF2-40B4-BE49-F238E27FC236}">
                <a16:creationId xmlns:a16="http://schemas.microsoft.com/office/drawing/2014/main" id="{94CFCDAC-5EC2-46F2-27BA-379E207F302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13C1745D-2FAE-6578-CEEF-20FD42906B3B}"/>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A071EF6-1B00-2357-6A38-AD53D6DF46F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graphicFrame>
        <p:nvGraphicFramePr>
          <p:cNvPr id="7" name="Table 6">
            <a:extLst>
              <a:ext uri="{FF2B5EF4-FFF2-40B4-BE49-F238E27FC236}">
                <a16:creationId xmlns:a16="http://schemas.microsoft.com/office/drawing/2014/main" id="{F280F507-7047-B078-F7C1-724819803692}"/>
              </a:ext>
            </a:extLst>
          </p:cNvPr>
          <p:cNvGraphicFramePr>
            <a:graphicFrameLocks noGrp="1"/>
          </p:cNvGraphicFramePr>
          <p:nvPr>
            <p:extLst>
              <p:ext uri="{D42A27DB-BD31-4B8C-83A1-F6EECF244321}">
                <p14:modId xmlns:p14="http://schemas.microsoft.com/office/powerpoint/2010/main" val="1694081479"/>
              </p:ext>
            </p:extLst>
          </p:nvPr>
        </p:nvGraphicFramePr>
        <p:xfrm>
          <a:off x="756447" y="1579798"/>
          <a:ext cx="16775106" cy="7715148"/>
        </p:xfrm>
        <a:graphic>
          <a:graphicData uri="http://schemas.openxmlformats.org/drawingml/2006/table">
            <a:tbl>
              <a:tblPr>
                <a:tableStyleId>{E8B1032C-EA38-4F05-BA0D-38AFFFC7BED3}</a:tableStyleId>
              </a:tblPr>
              <a:tblGrid>
                <a:gridCol w="5591702">
                  <a:extLst>
                    <a:ext uri="{9D8B030D-6E8A-4147-A177-3AD203B41FA5}">
                      <a16:colId xmlns:a16="http://schemas.microsoft.com/office/drawing/2014/main" val="3242153353"/>
                    </a:ext>
                  </a:extLst>
                </a:gridCol>
                <a:gridCol w="5591702">
                  <a:extLst>
                    <a:ext uri="{9D8B030D-6E8A-4147-A177-3AD203B41FA5}">
                      <a16:colId xmlns:a16="http://schemas.microsoft.com/office/drawing/2014/main" val="2653571248"/>
                    </a:ext>
                  </a:extLst>
                </a:gridCol>
                <a:gridCol w="5591702">
                  <a:extLst>
                    <a:ext uri="{9D8B030D-6E8A-4147-A177-3AD203B41FA5}">
                      <a16:colId xmlns:a16="http://schemas.microsoft.com/office/drawing/2014/main" val="1411686618"/>
                    </a:ext>
                  </a:extLst>
                </a:gridCol>
              </a:tblGrid>
              <a:tr h="1285858">
                <a:tc>
                  <a:txBody>
                    <a:bodyPr/>
                    <a:lstStyle/>
                    <a:p>
                      <a:pPr algn="ctr">
                        <a:buNone/>
                      </a:pPr>
                      <a:r>
                        <a:rPr lang="en-MY" sz="3200" b="1" kern="1200" spc="147">
                          <a:gradFill>
                            <a:gsLst>
                              <a:gs pos="0">
                                <a:srgbClr val="000000">
                                  <a:alpha val="100000"/>
                                </a:srgbClr>
                              </a:gs>
                              <a:gs pos="50000">
                                <a:srgbClr val="002F31">
                                  <a:alpha val="100000"/>
                                </a:srgbClr>
                              </a:gs>
                              <a:gs pos="100000">
                                <a:srgbClr val="00959A">
                                  <a:alpha val="100000"/>
                                </a:srgbClr>
                              </a:gs>
                            </a:gsLst>
                            <a:lin ang="2700000"/>
                          </a:gradFill>
                        </a:rPr>
                        <a:t>Feature</a:t>
                      </a:r>
                      <a:endParaRPr lang="en-MY" sz="3200" b="1" kern="1200"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mn-ea"/>
                        <a:cs typeface="Segoe UI" panose="020B0502040204020203" pitchFamily="34" charset="0"/>
                      </a:endParaRPr>
                    </a:p>
                  </a:txBody>
                  <a:tcPr anchor="ctr"/>
                </a:tc>
                <a:tc>
                  <a:txBody>
                    <a:bodyPr/>
                    <a:lstStyle/>
                    <a:p>
                      <a:pPr algn="ctr">
                        <a:buNone/>
                      </a:pPr>
                      <a:r>
                        <a:rPr lang="en-MY" sz="3200" b="1" kern="1200" spc="147">
                          <a:gradFill>
                            <a:gsLst>
                              <a:gs pos="0">
                                <a:srgbClr val="000000">
                                  <a:alpha val="100000"/>
                                </a:srgbClr>
                              </a:gs>
                              <a:gs pos="50000">
                                <a:srgbClr val="002F31">
                                  <a:alpha val="100000"/>
                                </a:srgbClr>
                              </a:gs>
                              <a:gs pos="100000">
                                <a:srgbClr val="00959A">
                                  <a:alpha val="100000"/>
                                </a:srgbClr>
                              </a:gs>
                            </a:gsLst>
                            <a:lin ang="2700000"/>
                          </a:gradFill>
                        </a:rPr>
                        <a:t>Array</a:t>
                      </a:r>
                      <a:endParaRPr lang="en-MY" sz="3200" b="1" kern="1200"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mn-ea"/>
                        <a:cs typeface="Segoe UI" panose="020B0502040204020203" pitchFamily="34" charset="0"/>
                      </a:endParaRPr>
                    </a:p>
                  </a:txBody>
                  <a:tcPr anchor="ctr"/>
                </a:tc>
                <a:tc>
                  <a:txBody>
                    <a:bodyPr/>
                    <a:lstStyle/>
                    <a:p>
                      <a:pPr algn="ctr">
                        <a:buNone/>
                      </a:pPr>
                      <a:r>
                        <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rPr>
                        <a:t>Linked List</a:t>
                      </a:r>
                      <a:endParaRPr lang="en-MY" sz="3200" b="1" kern="1200"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mn-ea"/>
                        <a:cs typeface="Segoe UI" panose="020B0502040204020203" pitchFamily="34" charset="0"/>
                      </a:endParaRPr>
                    </a:p>
                  </a:txBody>
                  <a:tcPr anchor="ctr"/>
                </a:tc>
                <a:extLst>
                  <a:ext uri="{0D108BD9-81ED-4DB2-BD59-A6C34878D82A}">
                    <a16:rowId xmlns:a16="http://schemas.microsoft.com/office/drawing/2014/main" val="3649033934"/>
                  </a:ext>
                </a:extLst>
              </a:tr>
              <a:tr h="1285858">
                <a:tc>
                  <a:txBody>
                    <a:bodyPr/>
                    <a:lstStyle/>
                    <a:p>
                      <a:pPr algn="ctr">
                        <a:buNone/>
                      </a:pPr>
                      <a:r>
                        <a:rPr lang="en-MY" b="1" dirty="0"/>
                        <a:t>Memory layout</a:t>
                      </a:r>
                    </a:p>
                  </a:txBody>
                  <a:tcPr anchor="ctr"/>
                </a:tc>
                <a:tc>
                  <a:txBody>
                    <a:bodyPr/>
                    <a:lstStyle/>
                    <a:p>
                      <a:pPr algn="ctr">
                        <a:buNone/>
                      </a:pPr>
                      <a:r>
                        <a:rPr lang="en-MY"/>
                        <a:t>Contiguous</a:t>
                      </a:r>
                    </a:p>
                  </a:txBody>
                  <a:tcPr anchor="ctr"/>
                </a:tc>
                <a:tc>
                  <a:txBody>
                    <a:bodyPr/>
                    <a:lstStyle/>
                    <a:p>
                      <a:pPr algn="ctr">
                        <a:buNone/>
                      </a:pPr>
                      <a:r>
                        <a:rPr lang="en-MY" dirty="0"/>
                        <a:t>Non-contiguous</a:t>
                      </a:r>
                    </a:p>
                  </a:txBody>
                  <a:tcPr anchor="ctr"/>
                </a:tc>
                <a:extLst>
                  <a:ext uri="{0D108BD9-81ED-4DB2-BD59-A6C34878D82A}">
                    <a16:rowId xmlns:a16="http://schemas.microsoft.com/office/drawing/2014/main" val="1763723753"/>
                  </a:ext>
                </a:extLst>
              </a:tr>
              <a:tr h="1285858">
                <a:tc>
                  <a:txBody>
                    <a:bodyPr/>
                    <a:lstStyle/>
                    <a:p>
                      <a:pPr algn="ctr">
                        <a:buNone/>
                      </a:pPr>
                      <a:r>
                        <a:rPr lang="en-MY" b="1" dirty="0"/>
                        <a:t>Size</a:t>
                      </a:r>
                    </a:p>
                  </a:txBody>
                  <a:tcPr anchor="ctr"/>
                </a:tc>
                <a:tc>
                  <a:txBody>
                    <a:bodyPr/>
                    <a:lstStyle/>
                    <a:p>
                      <a:pPr algn="ctr">
                        <a:buNone/>
                      </a:pPr>
                      <a:r>
                        <a:rPr lang="en-MY"/>
                        <a:t>Fixed or resized manually</a:t>
                      </a:r>
                    </a:p>
                  </a:txBody>
                  <a:tcPr anchor="ctr"/>
                </a:tc>
                <a:tc>
                  <a:txBody>
                    <a:bodyPr/>
                    <a:lstStyle/>
                    <a:p>
                      <a:pPr algn="ctr">
                        <a:buNone/>
                      </a:pPr>
                      <a:r>
                        <a:rPr lang="en-MY" dirty="0"/>
                        <a:t>Dynamic</a:t>
                      </a:r>
                    </a:p>
                  </a:txBody>
                  <a:tcPr anchor="ctr"/>
                </a:tc>
                <a:extLst>
                  <a:ext uri="{0D108BD9-81ED-4DB2-BD59-A6C34878D82A}">
                    <a16:rowId xmlns:a16="http://schemas.microsoft.com/office/drawing/2014/main" val="930205612"/>
                  </a:ext>
                </a:extLst>
              </a:tr>
              <a:tr h="1285858">
                <a:tc>
                  <a:txBody>
                    <a:bodyPr/>
                    <a:lstStyle/>
                    <a:p>
                      <a:pPr algn="ctr">
                        <a:buNone/>
                      </a:pPr>
                      <a:r>
                        <a:rPr lang="en-MY" b="1" dirty="0"/>
                        <a:t>Access</a:t>
                      </a:r>
                    </a:p>
                  </a:txBody>
                  <a:tcPr anchor="ctr"/>
                </a:tc>
                <a:tc>
                  <a:txBody>
                    <a:bodyPr/>
                    <a:lstStyle/>
                    <a:p>
                      <a:pPr algn="ctr">
                        <a:buNone/>
                      </a:pPr>
                      <a:r>
                        <a:rPr lang="en-MY"/>
                        <a:t>Direct using index</a:t>
                      </a:r>
                    </a:p>
                  </a:txBody>
                  <a:tcPr anchor="ctr"/>
                </a:tc>
                <a:tc>
                  <a:txBody>
                    <a:bodyPr/>
                    <a:lstStyle/>
                    <a:p>
                      <a:pPr algn="ctr">
                        <a:buNone/>
                      </a:pPr>
                      <a:r>
                        <a:rPr lang="en-MY" dirty="0"/>
                        <a:t>Sequential from head</a:t>
                      </a:r>
                    </a:p>
                  </a:txBody>
                  <a:tcPr anchor="ctr"/>
                </a:tc>
                <a:extLst>
                  <a:ext uri="{0D108BD9-81ED-4DB2-BD59-A6C34878D82A}">
                    <a16:rowId xmlns:a16="http://schemas.microsoft.com/office/drawing/2014/main" val="3654081006"/>
                  </a:ext>
                </a:extLst>
              </a:tr>
              <a:tr h="1285858">
                <a:tc>
                  <a:txBody>
                    <a:bodyPr/>
                    <a:lstStyle/>
                    <a:p>
                      <a:pPr algn="ctr">
                        <a:buNone/>
                      </a:pPr>
                      <a:r>
                        <a:rPr lang="en-MY" b="1" dirty="0"/>
                        <a:t>Insertion/deletion</a:t>
                      </a:r>
                    </a:p>
                  </a:txBody>
                  <a:tcPr anchor="ctr"/>
                </a:tc>
                <a:tc>
                  <a:txBody>
                    <a:bodyPr/>
                    <a:lstStyle/>
                    <a:p>
                      <a:pPr algn="ctr">
                        <a:buNone/>
                      </a:pPr>
                      <a:r>
                        <a:rPr lang="en-MY"/>
                        <a:t>Costly in middle</a:t>
                      </a:r>
                    </a:p>
                  </a:txBody>
                  <a:tcPr anchor="ctr"/>
                </a:tc>
                <a:tc>
                  <a:txBody>
                    <a:bodyPr/>
                    <a:lstStyle/>
                    <a:p>
                      <a:pPr algn="ctr">
                        <a:buNone/>
                      </a:pPr>
                      <a:r>
                        <a:rPr lang="en-MY"/>
                        <a:t>Easier with pointer changes</a:t>
                      </a:r>
                    </a:p>
                  </a:txBody>
                  <a:tcPr anchor="ctr"/>
                </a:tc>
                <a:extLst>
                  <a:ext uri="{0D108BD9-81ED-4DB2-BD59-A6C34878D82A}">
                    <a16:rowId xmlns:a16="http://schemas.microsoft.com/office/drawing/2014/main" val="4171274025"/>
                  </a:ext>
                </a:extLst>
              </a:tr>
              <a:tr h="1285858">
                <a:tc>
                  <a:txBody>
                    <a:bodyPr/>
                    <a:lstStyle/>
                    <a:p>
                      <a:pPr algn="ctr">
                        <a:buNone/>
                      </a:pPr>
                      <a:r>
                        <a:rPr lang="en-MY" b="1" dirty="0"/>
                        <a:t>Extra memory</a:t>
                      </a:r>
                    </a:p>
                  </a:txBody>
                  <a:tcPr anchor="ctr"/>
                </a:tc>
                <a:tc>
                  <a:txBody>
                    <a:bodyPr/>
                    <a:lstStyle/>
                    <a:p>
                      <a:pPr algn="ctr">
                        <a:buNone/>
                      </a:pPr>
                      <a:r>
                        <a:rPr lang="en-MY" dirty="0"/>
                        <a:t>No pointer overhead</a:t>
                      </a:r>
                    </a:p>
                  </a:txBody>
                  <a:tcPr anchor="ctr"/>
                </a:tc>
                <a:tc>
                  <a:txBody>
                    <a:bodyPr/>
                    <a:lstStyle/>
                    <a:p>
                      <a:pPr algn="ctr">
                        <a:buNone/>
                      </a:pPr>
                      <a:r>
                        <a:rPr lang="en-MY" dirty="0"/>
                        <a:t>Requires pointer fields</a:t>
                      </a:r>
                    </a:p>
                  </a:txBody>
                  <a:tcPr anchor="ctr"/>
                </a:tc>
                <a:extLst>
                  <a:ext uri="{0D108BD9-81ED-4DB2-BD59-A6C34878D82A}">
                    <a16:rowId xmlns:a16="http://schemas.microsoft.com/office/drawing/2014/main" val="3774628024"/>
                  </a:ext>
                </a:extLst>
              </a:tr>
            </a:tbl>
          </a:graphicData>
        </a:graphic>
      </p:graphicFrame>
    </p:spTree>
    <p:extLst>
      <p:ext uri="{BB962C8B-B14F-4D97-AF65-F5344CB8AC3E}">
        <p14:creationId xmlns:p14="http://schemas.microsoft.com/office/powerpoint/2010/main" val="4234232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F03F0-00B2-007F-F68E-4143A533D6A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A9EBCC6-62B0-331D-7E32-0023A0CB0B5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172A6CA-27F3-4F23-A900-BBE3F9BCF8C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C0BC8DB-DD3E-3EA8-EE26-36244FBBFE6C}"/>
              </a:ext>
            </a:extLst>
          </p:cNvPr>
          <p:cNvSpPr txBox="1"/>
          <p:nvPr/>
        </p:nvSpPr>
        <p:spPr>
          <a:xfrm>
            <a:off x="990600" y="300719"/>
            <a:ext cx="16540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SUMMARY</a:t>
            </a: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FA2B05DA-CA44-8C0D-5458-451307C4E22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C8609057-698A-A340-86ED-00F43C9E6FC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2E807D2-BF53-446A-AE68-B2D88F6748B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78A68226-0E89-EFD5-18B3-4A031057EDBB}"/>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TODAY’S KEY TAKEAWAYS: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0F5E492-16C0-8A83-B7C0-A71CBEEB995F}"/>
              </a:ext>
            </a:extLst>
          </p:cNvPr>
          <p:cNvSpPr txBox="1"/>
          <p:nvPr/>
        </p:nvSpPr>
        <p:spPr>
          <a:xfrm>
            <a:off x="756447" y="2644758"/>
            <a:ext cx="16775106" cy="6585201"/>
          </a:xfrm>
          <a:prstGeom prst="rect">
            <a:avLst/>
          </a:prstGeom>
          <a:noFill/>
        </p:spPr>
        <p:txBody>
          <a:bodyPr wrap="square" rtlCol="0">
            <a:spAutoFit/>
          </a:bodyPr>
          <a:lstStyle/>
          <a:p>
            <a:pPr marL="514350" indent="-514350" algn="just">
              <a:lnSpc>
                <a:spcPct val="200000"/>
              </a:lnSpc>
              <a:buFont typeface="+mj-lt"/>
              <a:buAutoNum type="arabicPeriod"/>
            </a:pPr>
            <a:r>
              <a:rPr lang="en-US" sz="3600" dirty="0"/>
              <a:t>A linked list is made of nodes connected using pointers.</a:t>
            </a:r>
          </a:p>
          <a:p>
            <a:pPr marL="514350" indent="-514350" algn="just">
              <a:lnSpc>
                <a:spcPct val="200000"/>
              </a:lnSpc>
              <a:buFont typeface="+mj-lt"/>
              <a:buAutoNum type="arabicPeriod"/>
            </a:pPr>
            <a:r>
              <a:rPr lang="en-US" sz="3600" dirty="0"/>
              <a:t>The first node is called the </a:t>
            </a:r>
            <a:r>
              <a:rPr lang="en-US" sz="3600" i="1" dirty="0"/>
              <a:t>head</a:t>
            </a:r>
            <a:r>
              <a:rPr lang="en-US" sz="3600" dirty="0"/>
              <a:t>.</a:t>
            </a:r>
          </a:p>
          <a:p>
            <a:pPr marL="514350" indent="-514350" algn="just">
              <a:lnSpc>
                <a:spcPct val="200000"/>
              </a:lnSpc>
              <a:buFont typeface="+mj-lt"/>
              <a:buAutoNum type="arabicPeriod"/>
            </a:pPr>
            <a:r>
              <a:rPr lang="en-US" sz="3600" dirty="0"/>
              <a:t>Singly linked lists allow forward traversal only.</a:t>
            </a:r>
          </a:p>
          <a:p>
            <a:pPr marL="514350" indent="-514350" algn="just">
              <a:lnSpc>
                <a:spcPct val="200000"/>
              </a:lnSpc>
              <a:buFont typeface="+mj-lt"/>
              <a:buAutoNum type="arabicPeriod"/>
            </a:pPr>
            <a:r>
              <a:rPr lang="en-US" sz="3600" dirty="0"/>
              <a:t>Doubly linked lists allow forward and backward traversal.</a:t>
            </a:r>
          </a:p>
          <a:p>
            <a:pPr marL="514350" indent="-514350" algn="just">
              <a:lnSpc>
                <a:spcPct val="200000"/>
              </a:lnSpc>
              <a:buFont typeface="+mj-lt"/>
              <a:buAutoNum type="arabicPeriod"/>
            </a:pPr>
            <a:r>
              <a:rPr lang="en-US" sz="3600" dirty="0"/>
              <a:t>Linked lists are dynamic but require extra memory for pointers.</a:t>
            </a:r>
          </a:p>
          <a:p>
            <a:pPr marL="514350" indent="-514350" algn="just">
              <a:lnSpc>
                <a:spcPct val="200000"/>
              </a:lnSpc>
              <a:buFont typeface="+mj-lt"/>
              <a:buAutoNum type="arabicPeriod"/>
            </a:pPr>
            <a:r>
              <a:rPr lang="en-US" sz="3600" dirty="0"/>
              <a:t>Common operations include insertion, traversal, and deletion. </a:t>
            </a:r>
          </a:p>
        </p:txBody>
      </p:sp>
    </p:spTree>
    <p:extLst>
      <p:ext uri="{BB962C8B-B14F-4D97-AF65-F5344CB8AC3E}">
        <p14:creationId xmlns:p14="http://schemas.microsoft.com/office/powerpoint/2010/main" val="208650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3B709-FC3F-34AB-80C9-85C29F6E7CC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696CAF9-D180-AFCB-E69E-0CC01B9D8C0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E84F4BC-A485-F7AC-383E-480D031A22D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C000A2C-FD07-7DEE-60E6-BB05A228E0E3}"/>
              </a:ext>
            </a:extLst>
          </p:cNvPr>
          <p:cNvSpPr txBox="1"/>
          <p:nvPr/>
        </p:nvSpPr>
        <p:spPr>
          <a:xfrm>
            <a:off x="990600" y="300719"/>
            <a:ext cx="16540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 TASK</a:t>
            </a: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20CD82AB-E738-3F83-5042-08FF65950AC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III</a:t>
            </a:r>
          </a:p>
        </p:txBody>
      </p:sp>
      <p:sp>
        <p:nvSpPr>
          <p:cNvPr id="10" name="Footer Placeholder 9">
            <a:extLst>
              <a:ext uri="{FF2B5EF4-FFF2-40B4-BE49-F238E27FC236}">
                <a16:creationId xmlns:a16="http://schemas.microsoft.com/office/drawing/2014/main" id="{761F56A1-8DA6-C4D8-1DDD-7E3BD734374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D412E09-CB2B-15BA-1522-8A2E1B2D76B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ACD8ABEA-27C9-3E94-D644-7CAE71FC2C3F}"/>
              </a:ext>
            </a:extLst>
          </p:cNvPr>
          <p:cNvSpPr txBox="1"/>
          <p:nvPr/>
        </p:nvSpPr>
        <p:spPr>
          <a:xfrm>
            <a:off x="756447" y="1805216"/>
            <a:ext cx="13188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CREATE A C++ PROGRAM</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41BF1F4-5FB7-5A36-36B2-19264929B514}"/>
              </a:ext>
            </a:extLst>
          </p:cNvPr>
          <p:cNvSpPr txBox="1"/>
          <p:nvPr/>
        </p:nvSpPr>
        <p:spPr>
          <a:xfrm>
            <a:off x="756447" y="2644758"/>
            <a:ext cx="16775106" cy="6001643"/>
          </a:xfrm>
          <a:prstGeom prst="rect">
            <a:avLst/>
          </a:prstGeom>
          <a:noFill/>
        </p:spPr>
        <p:txBody>
          <a:bodyPr wrap="square" rtlCol="0">
            <a:spAutoFit/>
          </a:bodyPr>
          <a:lstStyle/>
          <a:p>
            <a:pPr lvl="1"/>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Part A: Singly Linked List</a:t>
            </a:r>
          </a:p>
          <a:p>
            <a:pPr lvl="2"/>
            <a:r>
              <a:rPr lang="en-US" sz="4000" dirty="0"/>
              <a:t>Add a node. </a:t>
            </a:r>
          </a:p>
          <a:p>
            <a:pPr lvl="2"/>
            <a:r>
              <a:rPr lang="en-US" sz="4000" dirty="0"/>
              <a:t>Display the list. </a:t>
            </a:r>
          </a:p>
          <a:p>
            <a:pPr lvl="2"/>
            <a:r>
              <a:rPr lang="en-US" sz="4000" dirty="0"/>
              <a:t>Delete a node by value.</a:t>
            </a:r>
          </a:p>
          <a:p>
            <a:pPr lvl="1"/>
            <a:r>
              <a:rPr lang="en-US" sz="4000" dirty="0"/>
              <a:t> </a:t>
            </a:r>
          </a:p>
          <a:p>
            <a:pPr lvl="1"/>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Part B: Doubly Linked List</a:t>
            </a:r>
          </a:p>
          <a:p>
            <a:pPr lvl="2"/>
            <a:r>
              <a:rPr lang="en-US" sz="4000" dirty="0"/>
              <a:t>Add a node. </a:t>
            </a:r>
          </a:p>
          <a:p>
            <a:pPr lvl="2"/>
            <a:r>
              <a:rPr lang="en-US" sz="4000" dirty="0"/>
              <a:t>Display the list forward. </a:t>
            </a:r>
          </a:p>
          <a:p>
            <a:pPr lvl="2"/>
            <a:r>
              <a:rPr lang="en-US" sz="4000" dirty="0"/>
              <a:t>Display the list backward. </a:t>
            </a:r>
          </a:p>
          <a:p>
            <a:pPr lvl="2"/>
            <a:r>
              <a:rPr lang="en-US" sz="4000" dirty="0"/>
              <a:t>Delete a node by value.</a:t>
            </a:r>
          </a:p>
        </p:txBody>
      </p:sp>
    </p:spTree>
    <p:extLst>
      <p:ext uri="{BB962C8B-B14F-4D97-AF65-F5344CB8AC3E}">
        <p14:creationId xmlns:p14="http://schemas.microsoft.com/office/powerpoint/2010/main" val="426539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4861220" y="5186521"/>
            <a:ext cx="7611594" cy="431465"/>
          </a:xfrm>
          <a:prstGeom prst="rect">
            <a:avLst/>
          </a:prstGeom>
        </p:spPr>
        <p:txBody>
          <a:bodyPr wrap="square"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FARAHIDA HANIM BT MAUSOR - DR (FSMC/UTP)</a:t>
            </a:r>
          </a:p>
        </p:txBody>
      </p:sp>
      <p:grpSp>
        <p:nvGrpSpPr>
          <p:cNvPr id="12" name="Group 12"/>
          <p:cNvGrpSpPr/>
          <p:nvPr/>
        </p:nvGrpSpPr>
        <p:grpSpPr>
          <a:xfrm>
            <a:off x="5509434" y="6611027"/>
            <a:ext cx="4897309" cy="425112"/>
            <a:chOff x="0" y="0"/>
            <a:chExt cx="6529743"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520169"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ea typeface="Aptos"/>
                  <a:cs typeface="Aptos"/>
                  <a:sym typeface="Aptos"/>
                </a:rPr>
                <a:t>farahida.mausor@utp.edu.my </a:t>
              </a:r>
              <a:endPar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4" y="75176"/>
              <a:ext cx="3426178" cy="478421"/>
            </a:xfrm>
            <a:prstGeom prst="rect">
              <a:avLst/>
            </a:prstGeom>
          </p:spPr>
          <p:txBody>
            <a:bodyPr lIns="0" tIns="0" rIns="0" bIns="0" rtlCol="0" anchor="t">
              <a:spAutoFit/>
            </a:bodyPr>
            <a:lstStyle/>
            <a:p>
              <a:pPr>
                <a:lnSpc>
                  <a:spcPts val="3040"/>
                </a:lnSpc>
                <a:defRPr/>
              </a:pPr>
              <a:r>
                <a:rPr lang="en-MY" sz="2000" spc="82" dirty="0">
                  <a:gradFill>
                    <a:gsLst>
                      <a:gs pos="0">
                        <a:srgbClr val="000000">
                          <a:alpha val="100000"/>
                        </a:srgbClr>
                      </a:gs>
                      <a:gs pos="50000">
                        <a:srgbClr val="002F31">
                          <a:alpha val="100000"/>
                        </a:srgbClr>
                      </a:gs>
                      <a:gs pos="100000">
                        <a:srgbClr val="00959A">
                          <a:alpha val="100000"/>
                        </a:srgbClr>
                      </a:gs>
                    </a:gsLst>
                    <a:lin ang="2700000"/>
                  </a:gradFill>
                  <a:latin typeface="Aptos"/>
                </a:rPr>
                <a:t>02-03-26</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III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459B6550-91B7-456B-A940-ECDA25AB84F3}">
  <ds:schemaRefs>
    <ds:schemaRef ds:uri="http://schemas.microsoft.com/sharepoint/v3/contenttype/forms"/>
  </ds:schemaRefs>
</ds:datastoreItem>
</file>

<file path=customXml/itemProps3.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603</TotalTime>
  <Words>1599</Words>
  <Application>Microsoft Office PowerPoint</Application>
  <PresentationFormat>Custom</PresentationFormat>
  <Paragraphs>315</Paragraphs>
  <Slides>17</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Calibri</vt:lpstr>
      <vt:lpstr>Aptos</vt:lpstr>
      <vt:lpstr>Segoe UI</vt:lpstr>
      <vt:lpstr>Arial</vt:lpstr>
      <vt:lpstr>Calibri Light</vt:lpstr>
      <vt:lpstr>Wingdings</vt:lpstr>
      <vt:lpstr>Museo Sans 300</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225</cp:revision>
  <dcterms:created xsi:type="dcterms:W3CDTF">2006-08-16T00:00:00Z</dcterms:created>
  <dcterms:modified xsi:type="dcterms:W3CDTF">2026-05-21T08:08:46Z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