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notesMasterIdLst>
    <p:notesMasterId r:id="rId15"/>
  </p:notesMasterIdLst>
  <p:sldIdLst>
    <p:sldId id="256" r:id="rId2"/>
    <p:sldId id="270" r:id="rId3"/>
    <p:sldId id="258" r:id="rId4"/>
    <p:sldId id="261" r:id="rId5"/>
    <p:sldId id="286" r:id="rId6"/>
    <p:sldId id="274" r:id="rId7"/>
    <p:sldId id="287" r:id="rId8"/>
    <p:sldId id="288" r:id="rId9"/>
    <p:sldId id="289" r:id="rId10"/>
    <p:sldId id="290" r:id="rId11"/>
    <p:sldId id="291" r:id="rId12"/>
    <p:sldId id="292" r:id="rId13"/>
    <p:sldId id="28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63"/>
    <p:restoredTop sz="94636"/>
  </p:normalViewPr>
  <p:slideViewPr>
    <p:cSldViewPr snapToGrid="0">
      <p:cViewPr varScale="1">
        <p:scale>
          <a:sx n="139" d="100"/>
          <a:sy n="139" d="100"/>
        </p:scale>
        <p:origin x="63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89529-089E-6C4A-9D3C-D17D436A8580}" type="datetimeFigureOut">
              <a:rPr lang="en-PK" smtClean="0"/>
              <a:t>10/07/2026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6B9A6-B2B1-534D-B588-971C6DF2020E}" type="slidenum">
              <a:rPr lang="en-PK" smtClean="0"/>
              <a:t>‹#›</a:t>
            </a:fld>
            <a:endParaRPr lang="en-PK"/>
          </a:p>
        </p:txBody>
      </p:sp>
    </p:spTree>
    <p:extLst>
      <p:ext uri="{BB962C8B-B14F-4D97-AF65-F5344CB8AC3E}">
        <p14:creationId xmlns:p14="http://schemas.microsoft.com/office/powerpoint/2010/main" val="69270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1B6B9A6-B2B1-534D-B588-971C6DF2020E}" type="slidenum">
              <a:rPr lang="en-PK" smtClean="0"/>
              <a:t>3</a:t>
            </a:fld>
            <a:endParaRPr lang="en-PK"/>
          </a:p>
        </p:txBody>
      </p:sp>
    </p:spTree>
    <p:extLst>
      <p:ext uri="{BB962C8B-B14F-4D97-AF65-F5344CB8AC3E}">
        <p14:creationId xmlns:p14="http://schemas.microsoft.com/office/powerpoint/2010/main" val="34467421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7/10/26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727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312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0753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942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640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595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844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458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8743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551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1159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55631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9324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1281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12743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6435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419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PK"/>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PK"/>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PK"/>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7/10/26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36246617"/>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7A070EAD-1DCD-4F3D-BA84-799B891A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8075C-96CF-B9F5-0486-9F30AE741672}"/>
              </a:ext>
            </a:extLst>
          </p:cNvPr>
          <p:cNvSpPr>
            <a:spLocks noGrp="1"/>
          </p:cNvSpPr>
          <p:nvPr>
            <p:ph type="ctrTitle"/>
          </p:nvPr>
        </p:nvSpPr>
        <p:spPr>
          <a:xfrm>
            <a:off x="2671285" y="1816101"/>
            <a:ext cx="8578215" cy="1782760"/>
          </a:xfrm>
        </p:spPr>
        <p:txBody>
          <a:bodyPr>
            <a:normAutofit/>
          </a:bodyPr>
          <a:lstStyle/>
          <a:p>
            <a:pPr algn="ctr"/>
            <a:r>
              <a:rPr lang="en-MY" sz="4000" b="1" u="sng" dirty="0"/>
              <a:t>Algorithms and Data Structures</a:t>
            </a:r>
            <a:br>
              <a:rPr lang="en-MY" sz="4000" b="1" dirty="0"/>
            </a:br>
            <a:br>
              <a:rPr lang="en-MY" sz="4200" b="1" dirty="0"/>
            </a:br>
            <a:r>
              <a:rPr lang="en-MY" sz="2400" dirty="0"/>
              <a:t>TEB1113/TFB2023 - may 2025</a:t>
            </a:r>
            <a:endParaRPr lang="en-PK" sz="4200" dirty="0"/>
          </a:p>
        </p:txBody>
      </p:sp>
      <p:sp>
        <p:nvSpPr>
          <p:cNvPr id="3" name="Subtitle 2">
            <a:extLst>
              <a:ext uri="{FF2B5EF4-FFF2-40B4-BE49-F238E27FC236}">
                <a16:creationId xmlns:a16="http://schemas.microsoft.com/office/drawing/2014/main" id="{4460126B-6154-9A82-4A9D-539A8B36CF44}"/>
              </a:ext>
            </a:extLst>
          </p:cNvPr>
          <p:cNvSpPr>
            <a:spLocks noGrp="1"/>
          </p:cNvSpPr>
          <p:nvPr>
            <p:ph type="subTitle" idx="1"/>
          </p:nvPr>
        </p:nvSpPr>
        <p:spPr>
          <a:xfrm>
            <a:off x="3066574" y="4313237"/>
            <a:ext cx="7539989" cy="1108075"/>
          </a:xfrm>
        </p:spPr>
        <p:txBody>
          <a:bodyPr>
            <a:normAutofit/>
          </a:bodyPr>
          <a:lstStyle/>
          <a:p>
            <a:pPr algn="ctr"/>
            <a:r>
              <a:rPr lang="en-PK" sz="2400" b="1" dirty="0">
                <a:solidFill>
                  <a:schemeClr val="tx1"/>
                </a:solidFill>
              </a:rPr>
              <a:t>LAB TA: </a:t>
            </a:r>
            <a:r>
              <a:rPr lang="en-PK" sz="2400" dirty="0">
                <a:solidFill>
                  <a:schemeClr val="tx1"/>
                </a:solidFill>
              </a:rPr>
              <a:t>Reeyan afzal</a:t>
            </a:r>
          </a:p>
        </p:txBody>
      </p:sp>
      <p:grpSp>
        <p:nvGrpSpPr>
          <p:cNvPr id="125" name="Group 124">
            <a:extLst>
              <a:ext uri="{FF2B5EF4-FFF2-40B4-BE49-F238E27FC236}">
                <a16:creationId xmlns:a16="http://schemas.microsoft.com/office/drawing/2014/main" id="{DE471E13-6104-4637-8A8F-B545529B1D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26" name="Rectangle 5">
              <a:extLst>
                <a:ext uri="{FF2B5EF4-FFF2-40B4-BE49-F238E27FC236}">
                  <a16:creationId xmlns:a16="http://schemas.microsoft.com/office/drawing/2014/main" id="{802F412D-6781-427D-AB79-09FD610CCE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127" name="Freeform 6">
              <a:extLst>
                <a:ext uri="{FF2B5EF4-FFF2-40B4-BE49-F238E27FC236}">
                  <a16:creationId xmlns:a16="http://schemas.microsoft.com/office/drawing/2014/main" id="{8471B962-D824-43CE-B5DD-704B305B2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28" name="Freeform 7">
              <a:extLst>
                <a:ext uri="{FF2B5EF4-FFF2-40B4-BE49-F238E27FC236}">
                  <a16:creationId xmlns:a16="http://schemas.microsoft.com/office/drawing/2014/main" id="{ED60EBD3-FA75-460B-AFBD-3F234A0CAA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29" name="Rectangle 8">
              <a:extLst>
                <a:ext uri="{FF2B5EF4-FFF2-40B4-BE49-F238E27FC236}">
                  <a16:creationId xmlns:a16="http://schemas.microsoft.com/office/drawing/2014/main" id="{D0791244-FBF2-49D9-BDBC-E2E58C86B4D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130" name="Freeform 9">
              <a:extLst>
                <a:ext uri="{FF2B5EF4-FFF2-40B4-BE49-F238E27FC236}">
                  <a16:creationId xmlns:a16="http://schemas.microsoft.com/office/drawing/2014/main" id="{FEE4C4B1-195C-40F5-A78F-2EB7ED6E6F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1" name="Freeform 10">
              <a:extLst>
                <a:ext uri="{FF2B5EF4-FFF2-40B4-BE49-F238E27FC236}">
                  <a16:creationId xmlns:a16="http://schemas.microsoft.com/office/drawing/2014/main" id="{22766AF8-3850-41E4-80D0-321D9A13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2" name="Freeform 11">
              <a:extLst>
                <a:ext uri="{FF2B5EF4-FFF2-40B4-BE49-F238E27FC236}">
                  <a16:creationId xmlns:a16="http://schemas.microsoft.com/office/drawing/2014/main" id="{8834F8EE-AB04-42FE-AE7B-3E9C6ACA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3" name="Freeform 12">
              <a:extLst>
                <a:ext uri="{FF2B5EF4-FFF2-40B4-BE49-F238E27FC236}">
                  <a16:creationId xmlns:a16="http://schemas.microsoft.com/office/drawing/2014/main" id="{C86BB534-4617-4275-908E-357CF2246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4" name="Freeform 13">
              <a:extLst>
                <a:ext uri="{FF2B5EF4-FFF2-40B4-BE49-F238E27FC236}">
                  <a16:creationId xmlns:a16="http://schemas.microsoft.com/office/drawing/2014/main" id="{B6DEB58B-8D28-4BE9-9CA9-F4B3A083B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5" name="Freeform 14">
              <a:extLst>
                <a:ext uri="{FF2B5EF4-FFF2-40B4-BE49-F238E27FC236}">
                  <a16:creationId xmlns:a16="http://schemas.microsoft.com/office/drawing/2014/main" id="{25A772BC-4720-4EC2-AD61-A7B74E9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6" name="Freeform 15">
              <a:extLst>
                <a:ext uri="{FF2B5EF4-FFF2-40B4-BE49-F238E27FC236}">
                  <a16:creationId xmlns:a16="http://schemas.microsoft.com/office/drawing/2014/main" id="{60D6B27E-FAC5-4267-80A9-DE4D2E02B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7" name="Freeform 16">
              <a:extLst>
                <a:ext uri="{FF2B5EF4-FFF2-40B4-BE49-F238E27FC236}">
                  <a16:creationId xmlns:a16="http://schemas.microsoft.com/office/drawing/2014/main" id="{1F39FA83-D8C8-4CE3-9C62-10375FD041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8" name="Freeform 17">
              <a:extLst>
                <a:ext uri="{FF2B5EF4-FFF2-40B4-BE49-F238E27FC236}">
                  <a16:creationId xmlns:a16="http://schemas.microsoft.com/office/drawing/2014/main" id="{E09B4CF3-A51F-4787-81FE-F5C79BA4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39" name="Freeform 18">
              <a:extLst>
                <a:ext uri="{FF2B5EF4-FFF2-40B4-BE49-F238E27FC236}">
                  <a16:creationId xmlns:a16="http://schemas.microsoft.com/office/drawing/2014/main" id="{6695CB35-74E4-43C0-89F5-9FDA59B3A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0" name="Freeform 19">
              <a:extLst>
                <a:ext uri="{FF2B5EF4-FFF2-40B4-BE49-F238E27FC236}">
                  <a16:creationId xmlns:a16="http://schemas.microsoft.com/office/drawing/2014/main" id="{945450CE-FB13-4C46-825F-5BB191703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1" name="Freeform 20">
              <a:extLst>
                <a:ext uri="{FF2B5EF4-FFF2-40B4-BE49-F238E27FC236}">
                  <a16:creationId xmlns:a16="http://schemas.microsoft.com/office/drawing/2014/main" id="{E80AA0B2-7FE7-4B75-AC25-E0F6C0FE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2" name="Freeform 21">
              <a:extLst>
                <a:ext uri="{FF2B5EF4-FFF2-40B4-BE49-F238E27FC236}">
                  <a16:creationId xmlns:a16="http://schemas.microsoft.com/office/drawing/2014/main" id="{2E81F7C1-AD8F-41A0-91A8-E05F66CB0E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3" name="Freeform 22">
              <a:extLst>
                <a:ext uri="{FF2B5EF4-FFF2-40B4-BE49-F238E27FC236}">
                  <a16:creationId xmlns:a16="http://schemas.microsoft.com/office/drawing/2014/main" id="{F4E8A538-9FFA-4C76-BCE2-D54F56A11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4" name="Freeform 23">
              <a:extLst>
                <a:ext uri="{FF2B5EF4-FFF2-40B4-BE49-F238E27FC236}">
                  <a16:creationId xmlns:a16="http://schemas.microsoft.com/office/drawing/2014/main" id="{3C412824-3CBA-4E74-B2FD-936EA7048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5" name="Freeform 24">
              <a:extLst>
                <a:ext uri="{FF2B5EF4-FFF2-40B4-BE49-F238E27FC236}">
                  <a16:creationId xmlns:a16="http://schemas.microsoft.com/office/drawing/2014/main" id="{E28DC1F0-74FF-4D97-BD4D-FD42DE4AC6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6" name="Freeform 25">
              <a:extLst>
                <a:ext uri="{FF2B5EF4-FFF2-40B4-BE49-F238E27FC236}">
                  <a16:creationId xmlns:a16="http://schemas.microsoft.com/office/drawing/2014/main" id="{77CEC4FA-6FD3-4ABF-BF98-94E7947A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7" name="Freeform 26">
              <a:extLst>
                <a:ext uri="{FF2B5EF4-FFF2-40B4-BE49-F238E27FC236}">
                  <a16:creationId xmlns:a16="http://schemas.microsoft.com/office/drawing/2014/main" id="{D4E61DA7-BFA9-48AF-BD6F-EBB15C235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8" name="Freeform 27">
              <a:extLst>
                <a:ext uri="{FF2B5EF4-FFF2-40B4-BE49-F238E27FC236}">
                  <a16:creationId xmlns:a16="http://schemas.microsoft.com/office/drawing/2014/main" id="{57164D6A-1DD9-43AE-878F-A413DC26F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49" name="Freeform 28">
              <a:extLst>
                <a:ext uri="{FF2B5EF4-FFF2-40B4-BE49-F238E27FC236}">
                  <a16:creationId xmlns:a16="http://schemas.microsoft.com/office/drawing/2014/main" id="{4949EBA6-53D9-4F2D-91DB-EA7AE260F6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0" name="Freeform 29">
              <a:extLst>
                <a:ext uri="{FF2B5EF4-FFF2-40B4-BE49-F238E27FC236}">
                  <a16:creationId xmlns:a16="http://schemas.microsoft.com/office/drawing/2014/main" id="{0AFEA5FA-F759-441C-A0BC-7EDC79A6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1" name="Freeform 30">
              <a:extLst>
                <a:ext uri="{FF2B5EF4-FFF2-40B4-BE49-F238E27FC236}">
                  <a16:creationId xmlns:a16="http://schemas.microsoft.com/office/drawing/2014/main" id="{5B913AE0-5DC8-4244-8C26-ED97F834E3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2" name="Freeform 31">
              <a:extLst>
                <a:ext uri="{FF2B5EF4-FFF2-40B4-BE49-F238E27FC236}">
                  <a16:creationId xmlns:a16="http://schemas.microsoft.com/office/drawing/2014/main" id="{A87DB58A-25D2-46F1-85E3-06F964D016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3" name="Freeform 32">
              <a:extLst>
                <a:ext uri="{FF2B5EF4-FFF2-40B4-BE49-F238E27FC236}">
                  <a16:creationId xmlns:a16="http://schemas.microsoft.com/office/drawing/2014/main" id="{E7AE8209-F3E7-4ACA-98D0-90B282A147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4" name="Rectangle 33">
              <a:extLst>
                <a:ext uri="{FF2B5EF4-FFF2-40B4-BE49-F238E27FC236}">
                  <a16:creationId xmlns:a16="http://schemas.microsoft.com/office/drawing/2014/main" id="{1CED7927-A7C7-444A-A8F3-6348852AEF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155" name="Freeform 34">
              <a:extLst>
                <a:ext uri="{FF2B5EF4-FFF2-40B4-BE49-F238E27FC236}">
                  <a16:creationId xmlns:a16="http://schemas.microsoft.com/office/drawing/2014/main" id="{08BEDF90-F9A6-4DE4-94B6-43E4160394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6" name="Freeform 35">
              <a:extLst>
                <a:ext uri="{FF2B5EF4-FFF2-40B4-BE49-F238E27FC236}">
                  <a16:creationId xmlns:a16="http://schemas.microsoft.com/office/drawing/2014/main" id="{36540D5F-1C77-438A-BF12-56455C472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7" name="Freeform 36">
              <a:extLst>
                <a:ext uri="{FF2B5EF4-FFF2-40B4-BE49-F238E27FC236}">
                  <a16:creationId xmlns:a16="http://schemas.microsoft.com/office/drawing/2014/main" id="{52FC779A-BC55-40AC-8FFD-E014F8C0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8" name="Freeform 37">
              <a:extLst>
                <a:ext uri="{FF2B5EF4-FFF2-40B4-BE49-F238E27FC236}">
                  <a16:creationId xmlns:a16="http://schemas.microsoft.com/office/drawing/2014/main" id="{63E42DE5-DC0E-4043-8A35-20C53074A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59" name="Freeform 38">
              <a:extLst>
                <a:ext uri="{FF2B5EF4-FFF2-40B4-BE49-F238E27FC236}">
                  <a16:creationId xmlns:a16="http://schemas.microsoft.com/office/drawing/2014/main" id="{41581FA6-993A-4899-ADF1-0A83A623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0" name="Freeform 39">
              <a:extLst>
                <a:ext uri="{FF2B5EF4-FFF2-40B4-BE49-F238E27FC236}">
                  <a16:creationId xmlns:a16="http://schemas.microsoft.com/office/drawing/2014/main" id="{33C4FDB9-01D2-4CB0-BFED-216CAC7EB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1" name="Freeform 40">
              <a:extLst>
                <a:ext uri="{FF2B5EF4-FFF2-40B4-BE49-F238E27FC236}">
                  <a16:creationId xmlns:a16="http://schemas.microsoft.com/office/drawing/2014/main" id="{34E715AB-2B68-41C4-A61F-02C413F242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2" name="Freeform 41">
              <a:extLst>
                <a:ext uri="{FF2B5EF4-FFF2-40B4-BE49-F238E27FC236}">
                  <a16:creationId xmlns:a16="http://schemas.microsoft.com/office/drawing/2014/main" id="{D3861C35-D060-408D-9871-4DA2D0547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3" name="Freeform 42">
              <a:extLst>
                <a:ext uri="{FF2B5EF4-FFF2-40B4-BE49-F238E27FC236}">
                  <a16:creationId xmlns:a16="http://schemas.microsoft.com/office/drawing/2014/main" id="{B4F4F38F-33FE-48A0-986D-FB771F18BE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4" name="Freeform 43">
              <a:extLst>
                <a:ext uri="{FF2B5EF4-FFF2-40B4-BE49-F238E27FC236}">
                  <a16:creationId xmlns:a16="http://schemas.microsoft.com/office/drawing/2014/main" id="{50FCFC8E-2DC3-4F27-9E02-196830E78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5" name="Freeform 44">
              <a:extLst>
                <a:ext uri="{FF2B5EF4-FFF2-40B4-BE49-F238E27FC236}">
                  <a16:creationId xmlns:a16="http://schemas.microsoft.com/office/drawing/2014/main" id="{3A6EE414-1500-4144-B453-BA950E5107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6" name="Rectangle 45">
              <a:extLst>
                <a:ext uri="{FF2B5EF4-FFF2-40B4-BE49-F238E27FC236}">
                  <a16:creationId xmlns:a16="http://schemas.microsoft.com/office/drawing/2014/main" id="{0C1A9D8A-5515-4C84-AE17-A6D51243834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167" name="Freeform 46">
              <a:extLst>
                <a:ext uri="{FF2B5EF4-FFF2-40B4-BE49-F238E27FC236}">
                  <a16:creationId xmlns:a16="http://schemas.microsoft.com/office/drawing/2014/main" id="{E8E7C8C7-FE85-4C8F-960C-3748511E0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8" name="Freeform 47">
              <a:extLst>
                <a:ext uri="{FF2B5EF4-FFF2-40B4-BE49-F238E27FC236}">
                  <a16:creationId xmlns:a16="http://schemas.microsoft.com/office/drawing/2014/main" id="{33DF2ED7-F601-4A9F-AA50-822ED85D56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69" name="Freeform 48">
              <a:extLst>
                <a:ext uri="{FF2B5EF4-FFF2-40B4-BE49-F238E27FC236}">
                  <a16:creationId xmlns:a16="http://schemas.microsoft.com/office/drawing/2014/main" id="{FEDB3A05-6FDD-4E87-B800-8F997524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0" name="Freeform 49">
              <a:extLst>
                <a:ext uri="{FF2B5EF4-FFF2-40B4-BE49-F238E27FC236}">
                  <a16:creationId xmlns:a16="http://schemas.microsoft.com/office/drawing/2014/main" id="{AD6225C0-E391-49D5-9A7B-57C5ED60E1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1" name="Freeform 50">
              <a:extLst>
                <a:ext uri="{FF2B5EF4-FFF2-40B4-BE49-F238E27FC236}">
                  <a16:creationId xmlns:a16="http://schemas.microsoft.com/office/drawing/2014/main" id="{B814B458-45E5-451C-9CBD-027E3776A4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2" name="Freeform 51">
              <a:extLst>
                <a:ext uri="{FF2B5EF4-FFF2-40B4-BE49-F238E27FC236}">
                  <a16:creationId xmlns:a16="http://schemas.microsoft.com/office/drawing/2014/main" id="{59167140-9A0D-4FE7-8E37-2CD61301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3" name="Freeform 52">
              <a:extLst>
                <a:ext uri="{FF2B5EF4-FFF2-40B4-BE49-F238E27FC236}">
                  <a16:creationId xmlns:a16="http://schemas.microsoft.com/office/drawing/2014/main" id="{2D38B213-991B-495D-8886-04CAD44C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4" name="Freeform 53">
              <a:extLst>
                <a:ext uri="{FF2B5EF4-FFF2-40B4-BE49-F238E27FC236}">
                  <a16:creationId xmlns:a16="http://schemas.microsoft.com/office/drawing/2014/main" id="{67C1C3DA-3972-4D98-9D9E-390461B28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5" name="Freeform 54">
              <a:extLst>
                <a:ext uri="{FF2B5EF4-FFF2-40B4-BE49-F238E27FC236}">
                  <a16:creationId xmlns:a16="http://schemas.microsoft.com/office/drawing/2014/main" id="{972F8941-61DB-48E1-B9C1-E732470563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6" name="Freeform 55">
              <a:extLst>
                <a:ext uri="{FF2B5EF4-FFF2-40B4-BE49-F238E27FC236}">
                  <a16:creationId xmlns:a16="http://schemas.microsoft.com/office/drawing/2014/main" id="{857B495F-5C9B-435F-8D39-45CC57471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7" name="Freeform 56">
              <a:extLst>
                <a:ext uri="{FF2B5EF4-FFF2-40B4-BE49-F238E27FC236}">
                  <a16:creationId xmlns:a16="http://schemas.microsoft.com/office/drawing/2014/main" id="{B607428B-B7C9-4017-84F8-19C9B2134A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8" name="Freeform 57">
              <a:extLst>
                <a:ext uri="{FF2B5EF4-FFF2-40B4-BE49-F238E27FC236}">
                  <a16:creationId xmlns:a16="http://schemas.microsoft.com/office/drawing/2014/main" id="{A20C5139-2108-4F5E-B892-64F1D8605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9" name="Freeform 58">
              <a:extLst>
                <a:ext uri="{FF2B5EF4-FFF2-40B4-BE49-F238E27FC236}">
                  <a16:creationId xmlns:a16="http://schemas.microsoft.com/office/drawing/2014/main" id="{C2A51623-F2F3-4584-93F5-598E56A5F4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grpSp>
    </p:spTree>
    <p:extLst>
      <p:ext uri="{BB962C8B-B14F-4D97-AF65-F5344CB8AC3E}">
        <p14:creationId xmlns:p14="http://schemas.microsoft.com/office/powerpoint/2010/main" val="11462141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a:extLst>
            <a:ext uri="{FF2B5EF4-FFF2-40B4-BE49-F238E27FC236}">
              <a16:creationId xmlns:a16="http://schemas.microsoft.com/office/drawing/2014/main" id="{32A46E1D-E3C1-2F92-F651-BB05727876A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sp>
        <p:nvSpPr>
          <p:cNvPr id="12"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15"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6"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7"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8"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9"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0"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1"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2"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3"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4"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5"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6"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7"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8"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9"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0"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1"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2"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3"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4"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grpSp>
      <p:sp>
        <p:nvSpPr>
          <p:cNvPr id="2" name="Title 1">
            <a:extLst>
              <a:ext uri="{FF2B5EF4-FFF2-40B4-BE49-F238E27FC236}">
                <a16:creationId xmlns:a16="http://schemas.microsoft.com/office/drawing/2014/main" id="{955F7143-8E3C-80DE-5CE3-62D66AA1CA6E}"/>
              </a:ext>
            </a:extLst>
          </p:cNvPr>
          <p:cNvSpPr>
            <a:spLocks noGrp="1"/>
          </p:cNvSpPr>
          <p:nvPr>
            <p:ph type="ctrTitle"/>
          </p:nvPr>
        </p:nvSpPr>
        <p:spPr>
          <a:xfrm>
            <a:off x="2667000" y="2714624"/>
            <a:ext cx="6858000" cy="1367896"/>
          </a:xfrm>
        </p:spPr>
        <p:txBody>
          <a:bodyPr>
            <a:noAutofit/>
          </a:bodyPr>
          <a:lstStyle/>
          <a:p>
            <a:pPr algn="ctr"/>
            <a:r>
              <a:rPr lang="en-MY" sz="3200" b="1" dirty="0">
                <a:solidFill>
                  <a:srgbClr val="FFFFFF"/>
                </a:solidFill>
              </a:rPr>
              <a:t>LAB – 9</a:t>
            </a:r>
            <a:br>
              <a:rPr lang="en-MY" sz="3200" b="1" dirty="0">
                <a:solidFill>
                  <a:srgbClr val="FFFFFF"/>
                </a:solidFill>
              </a:rPr>
            </a:br>
            <a:br>
              <a:rPr lang="en-MY" sz="3200" b="1" dirty="0">
                <a:solidFill>
                  <a:srgbClr val="FFFFFF"/>
                </a:solidFill>
              </a:rPr>
            </a:br>
            <a:r>
              <a:rPr lang="en-MY" sz="3200" b="1" dirty="0">
                <a:solidFill>
                  <a:srgbClr val="FFFFFF"/>
                </a:solidFill>
              </a:rPr>
              <a:t>graphs</a:t>
            </a:r>
            <a:endParaRPr lang="en-PK" sz="3200" dirty="0">
              <a:solidFill>
                <a:srgbClr val="FFFFFF"/>
              </a:solidFill>
            </a:endParaRPr>
          </a:p>
        </p:txBody>
      </p:sp>
    </p:spTree>
    <p:extLst>
      <p:ext uri="{BB962C8B-B14F-4D97-AF65-F5344CB8AC3E}">
        <p14:creationId xmlns:p14="http://schemas.microsoft.com/office/powerpoint/2010/main" val="148782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433231-4B9B-AB58-C50B-D6F5EED715F8}"/>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91E01204-9D6F-D989-ACF7-56ED1490B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660E2A31-2EF4-7753-B61A-E321DE9428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52" name="Rectangle 5">
              <a:extLst>
                <a:ext uri="{FF2B5EF4-FFF2-40B4-BE49-F238E27FC236}">
                  <a16:creationId xmlns:a16="http://schemas.microsoft.com/office/drawing/2014/main" id="{A0B3BED0-C036-2B3C-CBCB-C58DD6AD5D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53" name="Freeform 6">
              <a:extLst>
                <a:ext uri="{FF2B5EF4-FFF2-40B4-BE49-F238E27FC236}">
                  <a16:creationId xmlns:a16="http://schemas.microsoft.com/office/drawing/2014/main" id="{36A33668-F09C-E430-E587-623C99AF0D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4" name="Freeform 7">
              <a:extLst>
                <a:ext uri="{FF2B5EF4-FFF2-40B4-BE49-F238E27FC236}">
                  <a16:creationId xmlns:a16="http://schemas.microsoft.com/office/drawing/2014/main" id="{75FA545D-5C29-0E68-5693-469FB3BE5C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5" name="Freeform 8">
              <a:extLst>
                <a:ext uri="{FF2B5EF4-FFF2-40B4-BE49-F238E27FC236}">
                  <a16:creationId xmlns:a16="http://schemas.microsoft.com/office/drawing/2014/main" id="{FF50CDD2-B099-1678-793A-0706A2C75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6" name="Freeform 9">
              <a:extLst>
                <a:ext uri="{FF2B5EF4-FFF2-40B4-BE49-F238E27FC236}">
                  <a16:creationId xmlns:a16="http://schemas.microsoft.com/office/drawing/2014/main" id="{04784818-94CA-D621-FBB6-6F20EB6D4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7" name="Freeform 10">
              <a:extLst>
                <a:ext uri="{FF2B5EF4-FFF2-40B4-BE49-F238E27FC236}">
                  <a16:creationId xmlns:a16="http://schemas.microsoft.com/office/drawing/2014/main" id="{7BA2DFBA-38BC-ABB4-A806-01AB5C3F9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 name="Freeform 11">
              <a:extLst>
                <a:ext uri="{FF2B5EF4-FFF2-40B4-BE49-F238E27FC236}">
                  <a16:creationId xmlns:a16="http://schemas.microsoft.com/office/drawing/2014/main" id="{EBC8788E-26E0-FA56-101C-7C57971C6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8" name="Freeform 12">
              <a:extLst>
                <a:ext uri="{FF2B5EF4-FFF2-40B4-BE49-F238E27FC236}">
                  <a16:creationId xmlns:a16="http://schemas.microsoft.com/office/drawing/2014/main" id="{4ED205C7-CAD0-59C4-558F-D31F531321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59" name="Freeform 13">
              <a:extLst>
                <a:ext uri="{FF2B5EF4-FFF2-40B4-BE49-F238E27FC236}">
                  <a16:creationId xmlns:a16="http://schemas.microsoft.com/office/drawing/2014/main" id="{D8D08DF9-B232-D0FA-467E-F2D53F8266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0" name="Freeform 14">
              <a:extLst>
                <a:ext uri="{FF2B5EF4-FFF2-40B4-BE49-F238E27FC236}">
                  <a16:creationId xmlns:a16="http://schemas.microsoft.com/office/drawing/2014/main" id="{DBED4CC3-E727-ABB4-DBFB-AC92A34C9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1" name="Freeform 15">
              <a:extLst>
                <a:ext uri="{FF2B5EF4-FFF2-40B4-BE49-F238E27FC236}">
                  <a16:creationId xmlns:a16="http://schemas.microsoft.com/office/drawing/2014/main" id="{EA4BC3A6-A074-8F06-E961-794347100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2" name="Line 16">
              <a:extLst>
                <a:ext uri="{FF2B5EF4-FFF2-40B4-BE49-F238E27FC236}">
                  <a16:creationId xmlns:a16="http://schemas.microsoft.com/office/drawing/2014/main" id="{00B5CC85-2A92-8FDE-0C88-8272B3CD27C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PK"/>
            </a:p>
          </p:txBody>
        </p:sp>
        <p:sp>
          <p:nvSpPr>
            <p:cNvPr id="23" name="Freeform 17">
              <a:extLst>
                <a:ext uri="{FF2B5EF4-FFF2-40B4-BE49-F238E27FC236}">
                  <a16:creationId xmlns:a16="http://schemas.microsoft.com/office/drawing/2014/main" id="{B49B96A8-67B1-2513-0F95-E3F5ED28C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3" name="Freeform 18">
              <a:extLst>
                <a:ext uri="{FF2B5EF4-FFF2-40B4-BE49-F238E27FC236}">
                  <a16:creationId xmlns:a16="http://schemas.microsoft.com/office/drawing/2014/main" id="{E8FF8649-71EF-DB43-E488-15A5156F7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4" name="Freeform 19">
              <a:extLst>
                <a:ext uri="{FF2B5EF4-FFF2-40B4-BE49-F238E27FC236}">
                  <a16:creationId xmlns:a16="http://schemas.microsoft.com/office/drawing/2014/main" id="{0A380316-BE1D-BC11-BD34-FB1D61E4C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5" name="Freeform 20">
              <a:extLst>
                <a:ext uri="{FF2B5EF4-FFF2-40B4-BE49-F238E27FC236}">
                  <a16:creationId xmlns:a16="http://schemas.microsoft.com/office/drawing/2014/main" id="{2A8B955F-C9E9-AE77-76B8-970C140046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6" name="Rectangle 21">
              <a:extLst>
                <a:ext uri="{FF2B5EF4-FFF2-40B4-BE49-F238E27FC236}">
                  <a16:creationId xmlns:a16="http://schemas.microsoft.com/office/drawing/2014/main" id="{68EBE71B-07A7-7B01-8723-B2F2F505C1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67" name="Freeform 22">
              <a:extLst>
                <a:ext uri="{FF2B5EF4-FFF2-40B4-BE49-F238E27FC236}">
                  <a16:creationId xmlns:a16="http://schemas.microsoft.com/office/drawing/2014/main" id="{CE5D1CF5-DD3C-6BC4-FCAF-B78076A90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29" name="Freeform 23">
              <a:extLst>
                <a:ext uri="{FF2B5EF4-FFF2-40B4-BE49-F238E27FC236}">
                  <a16:creationId xmlns:a16="http://schemas.microsoft.com/office/drawing/2014/main" id="{837661A3-CD86-6834-028C-BA88B7F4C5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8" name="Freeform 24">
              <a:extLst>
                <a:ext uri="{FF2B5EF4-FFF2-40B4-BE49-F238E27FC236}">
                  <a16:creationId xmlns:a16="http://schemas.microsoft.com/office/drawing/2014/main" id="{FC68E5E3-FC67-AC66-246D-CD13D5736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69" name="Freeform 25">
              <a:extLst>
                <a:ext uri="{FF2B5EF4-FFF2-40B4-BE49-F238E27FC236}">
                  <a16:creationId xmlns:a16="http://schemas.microsoft.com/office/drawing/2014/main" id="{26DC1E49-99D6-7070-4124-B1DD81F587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70" name="Freeform 26">
              <a:extLst>
                <a:ext uri="{FF2B5EF4-FFF2-40B4-BE49-F238E27FC236}">
                  <a16:creationId xmlns:a16="http://schemas.microsoft.com/office/drawing/2014/main" id="{75B0309F-72FA-D770-D65C-561BAB839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71" name="Freeform 27">
              <a:extLst>
                <a:ext uri="{FF2B5EF4-FFF2-40B4-BE49-F238E27FC236}">
                  <a16:creationId xmlns:a16="http://schemas.microsoft.com/office/drawing/2014/main" id="{5A2F272B-D96C-CA9D-6318-9C9D2800BB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72" name="Freeform 28">
              <a:extLst>
                <a:ext uri="{FF2B5EF4-FFF2-40B4-BE49-F238E27FC236}">
                  <a16:creationId xmlns:a16="http://schemas.microsoft.com/office/drawing/2014/main" id="{BBA39DD8-1B0E-6CAE-A337-D03FD6FA7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73" name="Freeform 29">
              <a:extLst>
                <a:ext uri="{FF2B5EF4-FFF2-40B4-BE49-F238E27FC236}">
                  <a16:creationId xmlns:a16="http://schemas.microsoft.com/office/drawing/2014/main" id="{ABF3A735-0DD2-3C86-4F18-A4B7CF8E90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74" name="Freeform 30">
              <a:extLst>
                <a:ext uri="{FF2B5EF4-FFF2-40B4-BE49-F238E27FC236}">
                  <a16:creationId xmlns:a16="http://schemas.microsoft.com/office/drawing/2014/main" id="{B547F847-F53B-AC0F-4A24-ECEE9C7BD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37" name="Freeform 31">
              <a:extLst>
                <a:ext uri="{FF2B5EF4-FFF2-40B4-BE49-F238E27FC236}">
                  <a16:creationId xmlns:a16="http://schemas.microsoft.com/office/drawing/2014/main" id="{D80AF14A-B6B8-008E-E8C8-42F2A87DF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grpSp>
      <p:sp>
        <p:nvSpPr>
          <p:cNvPr id="2" name="Title 1">
            <a:extLst>
              <a:ext uri="{FF2B5EF4-FFF2-40B4-BE49-F238E27FC236}">
                <a16:creationId xmlns:a16="http://schemas.microsoft.com/office/drawing/2014/main" id="{31887192-6BB2-47E1-D4CF-573D6CAD89E6}"/>
              </a:ext>
            </a:extLst>
          </p:cNvPr>
          <p:cNvSpPr>
            <a:spLocks noGrp="1"/>
          </p:cNvSpPr>
          <p:nvPr>
            <p:ph type="title"/>
          </p:nvPr>
        </p:nvSpPr>
        <p:spPr>
          <a:xfrm>
            <a:off x="4733925" y="594533"/>
            <a:ext cx="6858000" cy="1478570"/>
          </a:xfrm>
        </p:spPr>
        <p:txBody>
          <a:bodyPr>
            <a:normAutofit/>
          </a:bodyPr>
          <a:lstStyle/>
          <a:p>
            <a:pPr algn="ctr"/>
            <a:r>
              <a:rPr lang="en-US" b="1" u="sng" dirty="0"/>
              <a:t>Objectives for lab-9</a:t>
            </a:r>
            <a:endParaRPr lang="en-PK" dirty="0"/>
          </a:p>
        </p:txBody>
      </p:sp>
      <p:sp>
        <p:nvSpPr>
          <p:cNvPr id="3" name="Content Placeholder 2">
            <a:extLst>
              <a:ext uri="{FF2B5EF4-FFF2-40B4-BE49-F238E27FC236}">
                <a16:creationId xmlns:a16="http://schemas.microsoft.com/office/drawing/2014/main" id="{52974F72-A199-45AE-E00D-80D7062F8FCD}"/>
              </a:ext>
            </a:extLst>
          </p:cNvPr>
          <p:cNvSpPr>
            <a:spLocks noGrp="1"/>
          </p:cNvSpPr>
          <p:nvPr>
            <p:ph idx="1"/>
          </p:nvPr>
        </p:nvSpPr>
        <p:spPr>
          <a:xfrm>
            <a:off x="5667375" y="2249487"/>
            <a:ext cx="5692774" cy="4013980"/>
          </a:xfrm>
        </p:spPr>
        <p:txBody>
          <a:bodyPr>
            <a:normAutofit/>
          </a:bodyPr>
          <a:lstStyle/>
          <a:p>
            <a:pPr lvl="0" algn="just"/>
            <a:r>
              <a:rPr lang="en-US" dirty="0"/>
              <a:t>Understand the properties of graph data structures.</a:t>
            </a:r>
          </a:p>
          <a:p>
            <a:pPr lvl="0" algn="just"/>
            <a:endParaRPr lang="en-PK" dirty="0"/>
          </a:p>
          <a:p>
            <a:pPr lvl="0" algn="just"/>
            <a:r>
              <a:rPr lang="en-US" dirty="0"/>
              <a:t>Learning different types of graph representations.</a:t>
            </a:r>
          </a:p>
          <a:p>
            <a:pPr lvl="0" algn="just"/>
            <a:endParaRPr lang="en-PK" dirty="0"/>
          </a:p>
          <a:p>
            <a:pPr lvl="0" algn="just"/>
            <a:r>
              <a:rPr lang="en-US" dirty="0"/>
              <a:t>Implementation of DFS and BFS traversal.</a:t>
            </a:r>
            <a:endParaRPr lang="en-PK" dirty="0"/>
          </a:p>
        </p:txBody>
      </p:sp>
      <p:grpSp>
        <p:nvGrpSpPr>
          <p:cNvPr id="39" name="Group 38">
            <a:extLst>
              <a:ext uri="{FF2B5EF4-FFF2-40B4-BE49-F238E27FC236}">
                <a16:creationId xmlns:a16="http://schemas.microsoft.com/office/drawing/2014/main" id="{A7C6423F-08B9-CC5E-4AD8-EC008238AC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75" name="Freeform 32">
              <a:extLst>
                <a:ext uri="{FF2B5EF4-FFF2-40B4-BE49-F238E27FC236}">
                  <a16:creationId xmlns:a16="http://schemas.microsoft.com/office/drawing/2014/main" id="{3AB5F2D8-A73C-3A1A-E74F-579D43A45E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1" name="Freeform 33">
              <a:extLst>
                <a:ext uri="{FF2B5EF4-FFF2-40B4-BE49-F238E27FC236}">
                  <a16:creationId xmlns:a16="http://schemas.microsoft.com/office/drawing/2014/main" id="{A34DBAD3-701C-D700-9758-73A3184B12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2" name="Freeform 34">
              <a:extLst>
                <a:ext uri="{FF2B5EF4-FFF2-40B4-BE49-F238E27FC236}">
                  <a16:creationId xmlns:a16="http://schemas.microsoft.com/office/drawing/2014/main" id="{573D7B77-44FB-ACB9-255D-D3BC8EFAFA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3" name="Freeform 35">
              <a:extLst>
                <a:ext uri="{FF2B5EF4-FFF2-40B4-BE49-F238E27FC236}">
                  <a16:creationId xmlns:a16="http://schemas.microsoft.com/office/drawing/2014/main" id="{50202ECB-5666-B6E9-A565-672256695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4" name="Freeform 36">
              <a:extLst>
                <a:ext uri="{FF2B5EF4-FFF2-40B4-BE49-F238E27FC236}">
                  <a16:creationId xmlns:a16="http://schemas.microsoft.com/office/drawing/2014/main" id="{4EC62EB3-C89C-3108-FD9A-3BF06FC0EA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5" name="Freeform 37">
              <a:extLst>
                <a:ext uri="{FF2B5EF4-FFF2-40B4-BE49-F238E27FC236}">
                  <a16:creationId xmlns:a16="http://schemas.microsoft.com/office/drawing/2014/main" id="{995408F3-BE88-7CA8-4993-0A1A6083B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6" name="Freeform 38">
              <a:extLst>
                <a:ext uri="{FF2B5EF4-FFF2-40B4-BE49-F238E27FC236}">
                  <a16:creationId xmlns:a16="http://schemas.microsoft.com/office/drawing/2014/main" id="{21722397-1A0C-9116-4670-919733CAC0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7" name="Freeform 39">
              <a:extLst>
                <a:ext uri="{FF2B5EF4-FFF2-40B4-BE49-F238E27FC236}">
                  <a16:creationId xmlns:a16="http://schemas.microsoft.com/office/drawing/2014/main" id="{ECD9B675-5FB8-991A-4F89-58449B2187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8" name="Freeform 40">
              <a:extLst>
                <a:ext uri="{FF2B5EF4-FFF2-40B4-BE49-F238E27FC236}">
                  <a16:creationId xmlns:a16="http://schemas.microsoft.com/office/drawing/2014/main" id="{1432D68E-149E-C491-FEC5-4B9D417021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49" name="Rectangle 41">
              <a:extLst>
                <a:ext uri="{FF2B5EF4-FFF2-40B4-BE49-F238E27FC236}">
                  <a16:creationId xmlns:a16="http://schemas.microsoft.com/office/drawing/2014/main" id="{DD294C30-2631-61C6-D5AF-50A7BB05576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grpSp>
      <p:pic>
        <p:nvPicPr>
          <p:cNvPr id="4" name="Image 0" descr="preencoded.png">
            <a:extLst>
              <a:ext uri="{FF2B5EF4-FFF2-40B4-BE49-F238E27FC236}">
                <a16:creationId xmlns:a16="http://schemas.microsoft.com/office/drawing/2014/main" id="{747DC7A5-D7ED-5085-A58E-5B6335AA09A5}"/>
              </a:ext>
            </a:extLst>
          </p:cNvPr>
          <p:cNvPicPr>
            <a:picLocks noChangeAspect="1"/>
          </p:cNvPicPr>
          <p:nvPr/>
        </p:nvPicPr>
        <p:blipFill>
          <a:blip r:embed="rId3"/>
          <a:stretch>
            <a:fillRect/>
          </a:stretch>
        </p:blipFill>
        <p:spPr>
          <a:xfrm>
            <a:off x="-14288" y="9525"/>
            <a:ext cx="5486400" cy="6853239"/>
          </a:xfrm>
          <a:prstGeom prst="rect">
            <a:avLst/>
          </a:prstGeom>
        </p:spPr>
      </p:pic>
    </p:spTree>
    <p:extLst>
      <p:ext uri="{BB962C8B-B14F-4D97-AF65-F5344CB8AC3E}">
        <p14:creationId xmlns:p14="http://schemas.microsoft.com/office/powerpoint/2010/main" val="132725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C8092856-FAFE-9671-90A7-BBF4126180FD}"/>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382759-A4AA-965F-EE30-3D0C2FF38517}"/>
              </a:ext>
            </a:extLst>
          </p:cNvPr>
          <p:cNvSpPr>
            <a:spLocks noGrp="1"/>
          </p:cNvSpPr>
          <p:nvPr>
            <p:ph type="title"/>
          </p:nvPr>
        </p:nvSpPr>
        <p:spPr>
          <a:xfrm>
            <a:off x="1577445" y="1168078"/>
            <a:ext cx="9048219" cy="1092200"/>
          </a:xfrm>
        </p:spPr>
        <p:txBody>
          <a:bodyPr anchor="ctr">
            <a:normAutofit/>
          </a:bodyPr>
          <a:lstStyle/>
          <a:p>
            <a:pPr algn="ctr"/>
            <a:r>
              <a:rPr lang="en-US" b="1" u="sng" dirty="0"/>
              <a:t>Brief history</a:t>
            </a:r>
            <a:endParaRPr lang="en-PK" dirty="0">
              <a:solidFill>
                <a:srgbClr val="FFFFFF"/>
              </a:solidFill>
            </a:endParaRPr>
          </a:p>
        </p:txBody>
      </p:sp>
      <p:sp>
        <p:nvSpPr>
          <p:cNvPr id="3" name="Content Placeholder 2">
            <a:extLst>
              <a:ext uri="{FF2B5EF4-FFF2-40B4-BE49-F238E27FC236}">
                <a16:creationId xmlns:a16="http://schemas.microsoft.com/office/drawing/2014/main" id="{3F0E4D17-C167-FD5B-6885-3061D97BB3FF}"/>
              </a:ext>
            </a:extLst>
          </p:cNvPr>
          <p:cNvSpPr>
            <a:spLocks noGrp="1"/>
          </p:cNvSpPr>
          <p:nvPr>
            <p:ph idx="1"/>
          </p:nvPr>
        </p:nvSpPr>
        <p:spPr>
          <a:xfrm>
            <a:off x="1298449" y="1981201"/>
            <a:ext cx="9585978" cy="3962400"/>
          </a:xfrm>
        </p:spPr>
        <p:txBody>
          <a:bodyPr anchor="ctr">
            <a:normAutofit/>
          </a:bodyPr>
          <a:lstStyle/>
          <a:p>
            <a:pPr algn="just"/>
            <a:r>
              <a:rPr lang="en-US" sz="1800" dirty="0"/>
              <a:t>A Graph 𝐺(𝑉, 𝐸) can be represented by a set of vertices denoted by 𝑉 and edges 𝐸. A graph is a collection of set of vertices connected by edges. </a:t>
            </a:r>
          </a:p>
          <a:p>
            <a:pPr algn="just"/>
            <a:r>
              <a:rPr lang="en-US" sz="1800" dirty="0"/>
              <a:t>Vertices of the graph are called nodes, and these nodes have a data field that stores the data.</a:t>
            </a:r>
          </a:p>
          <a:p>
            <a:pPr algn="just"/>
            <a:r>
              <a:rPr lang="en-US" sz="1800" dirty="0"/>
              <a:t>The difference between a tree and a graph is tree is acyclic whereas a graph may contain a cycle. Many real-world problems can be represented using a graph, and those problems can be solved using various graph algorithms. </a:t>
            </a:r>
          </a:p>
          <a:p>
            <a:pPr algn="just"/>
            <a:r>
              <a:rPr lang="en-US" sz="1800" dirty="0"/>
              <a:t>For example, let’s say we want to find the shortest distance between two cities, we can represent every city as a node of a graph and the edge as the distance between two cities. </a:t>
            </a:r>
          </a:p>
          <a:p>
            <a:pPr algn="just"/>
            <a:r>
              <a:rPr lang="en-US" sz="1800" dirty="0"/>
              <a:t>After this representation, we can apply the shortest path finding algorithm of the graph to determine the shortest path between two cities.</a:t>
            </a:r>
            <a:endParaRPr lang="en-PK" sz="1800" dirty="0"/>
          </a:p>
        </p:txBody>
      </p:sp>
    </p:spTree>
    <p:extLst>
      <p:ext uri="{BB962C8B-B14F-4D97-AF65-F5344CB8AC3E}">
        <p14:creationId xmlns:p14="http://schemas.microsoft.com/office/powerpoint/2010/main" val="212486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74F3B591-1E69-F9E1-93AF-9324A48C74DE}"/>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4AF80D90-447D-367A-16C9-DD6816E38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D20F36F2-9CD6-7811-D563-F6ECB2D25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65E2FF86-795D-1BB7-D771-D0FBF9DCF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ACE6CF3A-927F-D44C-78F2-4E10820759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718044CA-79E9-E823-FD79-81CC83E87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A8243434-5E44-2A41-E2DF-4DC49141C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8405286B-206B-4897-F7C3-1E652C065B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46D50028-BAFE-3230-E079-5B6CEC13B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DB2642B1-EEC2-AEA1-E94D-4B10E814BA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7CE3E79B-4509-7E39-31C4-01F28C790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8B2878CB-D878-EDF3-FBEA-43AD914303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8C9730DB-0FBA-3D92-C74C-8EC12096D1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5028E351-F08F-D5C1-BA67-3A937D628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944EFFB6-4477-5FF5-1D9A-68A380D4D9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1018E34F-EA05-C716-8C80-C37209A16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CB1170DF-6F6B-3ECE-6DE3-41212F627E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DB6F45EC-E3C6-96CA-C8CD-B918E3843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D6053EB2-5C69-49C3-885B-F5C89FD44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FD04DDB2-3F8D-0185-F12D-342B27E0AD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AA5C429C-D39F-B68E-8B65-1FBEC6BF0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B793EFFD-324B-B9C4-0ABD-F75FC248A4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F69C1899-A909-D1C0-72E3-276677FCFA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4B488878-C503-2D27-B0AF-6160CA12F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DCE09F0F-260C-2540-A694-B7BB39FD3A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1C3EFF41-1A16-C3D0-855A-940E2FA8C07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83E9D480-8FC9-D961-8B0F-F85CD0814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84AF293D-123C-B642-8F29-5277EB139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328E53-5612-E02F-3B53-97EF603CA196}"/>
              </a:ext>
            </a:extLst>
          </p:cNvPr>
          <p:cNvSpPr>
            <a:spLocks noGrp="1"/>
          </p:cNvSpPr>
          <p:nvPr>
            <p:ph type="title"/>
          </p:nvPr>
        </p:nvSpPr>
        <p:spPr>
          <a:xfrm>
            <a:off x="1577445" y="1168078"/>
            <a:ext cx="9048219" cy="1092200"/>
          </a:xfrm>
        </p:spPr>
        <p:txBody>
          <a:bodyPr anchor="ctr">
            <a:normAutofit/>
          </a:bodyPr>
          <a:lstStyle/>
          <a:p>
            <a:pPr algn="ctr"/>
            <a:r>
              <a:rPr lang="en-US" b="1" u="sng" dirty="0"/>
              <a:t>Brief history</a:t>
            </a:r>
            <a:endParaRPr lang="en-PK" dirty="0">
              <a:solidFill>
                <a:srgbClr val="FFFFFF"/>
              </a:solidFill>
            </a:endParaRPr>
          </a:p>
        </p:txBody>
      </p:sp>
      <p:pic>
        <p:nvPicPr>
          <p:cNvPr id="8" name="Image 61">
            <a:extLst>
              <a:ext uri="{FF2B5EF4-FFF2-40B4-BE49-F238E27FC236}">
                <a16:creationId xmlns:a16="http://schemas.microsoft.com/office/drawing/2014/main" id="{EAFD61A3-8C08-B64E-B9CF-7559252CE278}"/>
              </a:ext>
            </a:extLst>
          </p:cNvPr>
          <p:cNvPicPr>
            <a:picLocks/>
          </p:cNvPicPr>
          <p:nvPr/>
        </p:nvPicPr>
        <p:blipFill>
          <a:blip r:embed="rId3" cstate="print"/>
          <a:stretch>
            <a:fillRect/>
          </a:stretch>
        </p:blipFill>
        <p:spPr>
          <a:xfrm>
            <a:off x="4697992" y="2305521"/>
            <a:ext cx="2796016" cy="2014161"/>
          </a:xfrm>
          <a:prstGeom prst="rect">
            <a:avLst/>
          </a:prstGeom>
        </p:spPr>
      </p:pic>
      <p:sp>
        <p:nvSpPr>
          <p:cNvPr id="10" name="TextBox 9">
            <a:extLst>
              <a:ext uri="{FF2B5EF4-FFF2-40B4-BE49-F238E27FC236}">
                <a16:creationId xmlns:a16="http://schemas.microsoft.com/office/drawing/2014/main" id="{FA77D9E5-244C-431F-4099-9CBD9E14EE07}"/>
              </a:ext>
            </a:extLst>
          </p:cNvPr>
          <p:cNvSpPr txBox="1"/>
          <p:nvPr/>
        </p:nvSpPr>
        <p:spPr>
          <a:xfrm>
            <a:off x="3041904" y="4364926"/>
            <a:ext cx="6108192" cy="994759"/>
          </a:xfrm>
          <a:prstGeom prst="rect">
            <a:avLst/>
          </a:prstGeom>
          <a:noFill/>
        </p:spPr>
        <p:txBody>
          <a:bodyPr wrap="square">
            <a:spAutoFit/>
          </a:bodyPr>
          <a:lstStyle/>
          <a:p>
            <a:pPr marL="645160" algn="just">
              <a:lnSpc>
                <a:spcPct val="150000"/>
              </a:lnSpc>
              <a:spcBef>
                <a:spcPts val="845"/>
              </a:spcBef>
              <a:buNone/>
            </a:pP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𝑉</a:t>
            </a:r>
            <a:r>
              <a:rPr lang="en-US" sz="1800" spc="135" dirty="0">
                <a:effectLst/>
                <a:latin typeface="Times New Roman" panose="02020603050405020304" pitchFamily="18" charset="0"/>
                <a:ea typeface="Cambria Math" panose="02040503050406030204" pitchFamily="18" charset="0"/>
              </a:rPr>
              <a:t> </a:t>
            </a:r>
            <a:r>
              <a:rPr lang="en-US" sz="1800" dirty="0">
                <a:effectLst/>
                <a:latin typeface="Times New Roman" panose="02020603050405020304" pitchFamily="18" charset="0"/>
                <a:ea typeface="Cambria Math" panose="02040503050406030204" pitchFamily="18" charset="0"/>
              </a:rPr>
              <a:t>=</a:t>
            </a:r>
            <a:r>
              <a:rPr lang="en-US" sz="1800" spc="60" dirty="0">
                <a:effectLst/>
                <a:latin typeface="Times New Roman" panose="02020603050405020304" pitchFamily="18" charset="0"/>
                <a:ea typeface="Cambria Math" panose="02040503050406030204" pitchFamily="18" charset="0"/>
              </a:rPr>
              <a:t> </a:t>
            </a:r>
            <a:r>
              <a:rPr lang="en-US" sz="1800" dirty="0">
                <a:effectLst/>
                <a:latin typeface="Times New Roman" panose="02020603050405020304" pitchFamily="18" charset="0"/>
                <a:ea typeface="Cambria Math" panose="02040503050406030204" pitchFamily="18" charset="0"/>
              </a:rPr>
              <a:t>{</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𝐴</a:t>
            </a:r>
            <a:r>
              <a:rPr lang="en-US" sz="1800" dirty="0">
                <a:effectLst/>
                <a:latin typeface="Times New Roman" panose="02020603050405020304" pitchFamily="18" charset="0"/>
                <a:ea typeface="Cambria Math" panose="02040503050406030204" pitchFamily="18" charset="0"/>
              </a:rPr>
              <a:t>,</a:t>
            </a:r>
            <a:r>
              <a:rPr lang="en-US" sz="1800" spc="-45"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𝐵</a:t>
            </a:r>
            <a:r>
              <a:rPr lang="en-US" sz="1800" dirty="0">
                <a:effectLst/>
                <a:latin typeface="Times New Roman" panose="02020603050405020304" pitchFamily="18" charset="0"/>
                <a:ea typeface="Cambria Math" panose="02040503050406030204" pitchFamily="18" charset="0"/>
              </a:rPr>
              <a:t>,</a:t>
            </a:r>
            <a:r>
              <a:rPr lang="en-US" sz="1800" spc="-50"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𝐶</a:t>
            </a:r>
            <a:r>
              <a:rPr lang="en-US" sz="1800" dirty="0">
                <a:effectLst/>
                <a:latin typeface="Times New Roman" panose="02020603050405020304" pitchFamily="18" charset="0"/>
                <a:ea typeface="Cambria Math" panose="02040503050406030204" pitchFamily="18" charset="0"/>
              </a:rPr>
              <a:t>,</a:t>
            </a:r>
            <a:r>
              <a:rPr lang="en-US" sz="1800" spc="-50"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𝐷</a:t>
            </a:r>
            <a:r>
              <a:rPr lang="en-US" sz="1800" dirty="0">
                <a:effectLst/>
                <a:latin typeface="Times New Roman" panose="02020603050405020304" pitchFamily="18" charset="0"/>
                <a:ea typeface="Cambria Math" panose="02040503050406030204" pitchFamily="18" charset="0"/>
              </a:rPr>
              <a:t>,</a:t>
            </a:r>
            <a:r>
              <a:rPr lang="en-US" sz="1800" spc="-50" dirty="0">
                <a:effectLst/>
                <a:latin typeface="Times New Roman" panose="02020603050405020304" pitchFamily="18" charset="0"/>
                <a:ea typeface="Cambria Math" panose="02040503050406030204" pitchFamily="18" charset="0"/>
              </a:rPr>
              <a:t> </a:t>
            </a:r>
            <a:r>
              <a:rPr lang="en-US" sz="1800" spc="-25" dirty="0">
                <a:effectLst/>
                <a:latin typeface="Cambria Math" panose="02040503050406030204" pitchFamily="18" charset="0"/>
                <a:ea typeface="Cambria Math" panose="02040503050406030204" pitchFamily="18" charset="0"/>
                <a:cs typeface="Cambria Math" panose="02040503050406030204" pitchFamily="18" charset="0"/>
              </a:rPr>
              <a:t>𝐸</a:t>
            </a:r>
            <a:r>
              <a:rPr lang="en-US" sz="1800" spc="-25" dirty="0">
                <a:effectLst/>
                <a:latin typeface="Times New Roman" panose="02020603050405020304" pitchFamily="18" charset="0"/>
                <a:ea typeface="Cambria Math" panose="02040503050406030204" pitchFamily="18" charset="0"/>
              </a:rPr>
              <a:t>}</a:t>
            </a:r>
            <a:endParaRPr lang="en-PK" sz="1600" dirty="0">
              <a:effectLst/>
              <a:latin typeface="Times New Roman" panose="02020603050405020304" pitchFamily="18" charset="0"/>
              <a:ea typeface="Times New Roman" panose="02020603050405020304" pitchFamily="18" charset="0"/>
            </a:endParaRPr>
          </a:p>
          <a:p>
            <a:pPr marL="645160" algn="just">
              <a:lnSpc>
                <a:spcPct val="150000"/>
              </a:lnSpc>
              <a:spcBef>
                <a:spcPts val="870"/>
              </a:spcBef>
            </a:pP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𝐸</a:t>
            </a:r>
            <a:r>
              <a:rPr lang="en-US" sz="1800" spc="220" dirty="0">
                <a:effectLst/>
                <a:latin typeface="Times New Roman" panose="02020603050405020304" pitchFamily="18" charset="0"/>
                <a:ea typeface="Cambria Math" panose="02040503050406030204" pitchFamily="18" charset="0"/>
              </a:rPr>
              <a:t> </a:t>
            </a:r>
            <a:r>
              <a:rPr lang="en-US" sz="1800" dirty="0">
                <a:effectLst/>
                <a:latin typeface="Times New Roman" panose="02020603050405020304" pitchFamily="18" charset="0"/>
                <a:ea typeface="Cambria Math" panose="02040503050406030204" pitchFamily="18" charset="0"/>
              </a:rPr>
              <a:t>=</a:t>
            </a:r>
            <a:r>
              <a:rPr lang="en-US" sz="1800" spc="135" dirty="0">
                <a:effectLst/>
                <a:latin typeface="Times New Roman" panose="02020603050405020304" pitchFamily="18" charset="0"/>
                <a:ea typeface="Cambria Math" panose="02040503050406030204" pitchFamily="18" charset="0"/>
              </a:rPr>
              <a:t> </a:t>
            </a:r>
            <a:r>
              <a:rPr lang="en-US" sz="1800" dirty="0">
                <a:effectLst/>
                <a:latin typeface="Times New Roman" panose="02020603050405020304" pitchFamily="18" charset="0"/>
                <a:ea typeface="Cambria Math" panose="02040503050406030204" pitchFamily="18" charset="0"/>
              </a:rPr>
              <a:t>{(</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𝐴</a:t>
            </a:r>
            <a:r>
              <a:rPr lang="en-US" sz="1800" dirty="0">
                <a:effectLst/>
                <a:latin typeface="Times New Roman" panose="02020603050405020304" pitchFamily="18" charset="0"/>
                <a:ea typeface="Cambria Math" panose="02040503050406030204" pitchFamily="18" charset="0"/>
              </a:rPr>
              <a:t>,</a:t>
            </a:r>
            <a:r>
              <a:rPr lang="en-US" sz="1800" spc="-5"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𝐵</a:t>
            </a:r>
            <a:r>
              <a:rPr lang="en-US" sz="1800" dirty="0">
                <a:effectLst/>
                <a:latin typeface="Times New Roman" panose="02020603050405020304" pitchFamily="18" charset="0"/>
                <a:ea typeface="Cambria Math" panose="02040503050406030204" pitchFamily="18" charset="0"/>
              </a:rPr>
              <a:t>),(</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𝐵</a:t>
            </a:r>
            <a:r>
              <a:rPr lang="en-US" sz="1800"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𝐸</a:t>
            </a:r>
            <a:r>
              <a:rPr lang="en-US" sz="1800" dirty="0">
                <a:effectLst/>
                <a:latin typeface="Times New Roman" panose="02020603050405020304" pitchFamily="18" charset="0"/>
                <a:ea typeface="Cambria Math" panose="02040503050406030204" pitchFamily="18" charset="0"/>
              </a:rPr>
              <a:t>),(</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𝐴</a:t>
            </a:r>
            <a:r>
              <a:rPr lang="en-US" sz="1800" dirty="0">
                <a:effectLst/>
                <a:latin typeface="Times New Roman" panose="02020603050405020304" pitchFamily="18" charset="0"/>
                <a:ea typeface="Cambria Math" panose="02040503050406030204" pitchFamily="18" charset="0"/>
              </a:rPr>
              <a:t>,</a:t>
            </a:r>
            <a:r>
              <a:rPr lang="en-US" sz="1800" spc="-5" dirty="0">
                <a:effectLst/>
                <a:latin typeface="Times New Roman" panose="02020603050405020304" pitchFamily="18" charset="0"/>
                <a:ea typeface="Cambria Math" panose="02040503050406030204" pitchFamily="18" charset="0"/>
              </a:rPr>
              <a:t> </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𝐷</a:t>
            </a:r>
            <a:r>
              <a:rPr lang="en-US" sz="1800" dirty="0">
                <a:effectLst/>
                <a:latin typeface="Times New Roman" panose="02020603050405020304" pitchFamily="18" charset="0"/>
                <a:ea typeface="Cambria Math" panose="02040503050406030204" pitchFamily="18" charset="0"/>
              </a:rPr>
              <a:t>),</a:t>
            </a:r>
            <a:r>
              <a:rPr lang="en-US" sz="1800" spc="-5" dirty="0">
                <a:effectLst/>
                <a:latin typeface="Times New Roman" panose="02020603050405020304" pitchFamily="18" charset="0"/>
                <a:ea typeface="Cambria Math" panose="02040503050406030204" pitchFamily="18" charset="0"/>
              </a:rPr>
              <a:t> </a:t>
            </a:r>
            <a:r>
              <a:rPr lang="en-US" sz="1800" dirty="0">
                <a:effectLst/>
                <a:latin typeface="Times New Roman" panose="02020603050405020304" pitchFamily="18" charset="0"/>
                <a:ea typeface="Cambria Math" panose="02040503050406030204" pitchFamily="18" charset="0"/>
              </a:rPr>
              <a:t>(</a:t>
            </a:r>
            <a:r>
              <a:rPr lang="en-US" sz="1800" dirty="0">
                <a:effectLst/>
                <a:latin typeface="Cambria Math" panose="02040503050406030204" pitchFamily="18" charset="0"/>
                <a:ea typeface="Cambria Math" panose="02040503050406030204" pitchFamily="18" charset="0"/>
                <a:cs typeface="Cambria Math" panose="02040503050406030204" pitchFamily="18" charset="0"/>
              </a:rPr>
              <a:t>𝐴</a:t>
            </a:r>
            <a:r>
              <a:rPr lang="en-US" sz="1800" dirty="0">
                <a:effectLst/>
                <a:latin typeface="Times New Roman" panose="02020603050405020304" pitchFamily="18" charset="0"/>
                <a:ea typeface="Cambria Math" panose="02040503050406030204" pitchFamily="18" charset="0"/>
              </a:rPr>
              <a:t>,</a:t>
            </a:r>
            <a:r>
              <a:rPr lang="en-US" sz="1800" spc="-5" dirty="0">
                <a:effectLst/>
                <a:latin typeface="Times New Roman" panose="02020603050405020304" pitchFamily="18" charset="0"/>
                <a:ea typeface="Cambria Math" panose="02040503050406030204" pitchFamily="18" charset="0"/>
              </a:rPr>
              <a:t> </a:t>
            </a:r>
            <a:r>
              <a:rPr lang="en-US" sz="1800" spc="50" dirty="0">
                <a:effectLst/>
                <a:latin typeface="Cambria Math" panose="02040503050406030204" pitchFamily="18" charset="0"/>
                <a:ea typeface="Cambria Math" panose="02040503050406030204" pitchFamily="18" charset="0"/>
                <a:cs typeface="Cambria Math" panose="02040503050406030204" pitchFamily="18" charset="0"/>
              </a:rPr>
              <a:t>𝐶</a:t>
            </a:r>
            <a:r>
              <a:rPr lang="en-US" sz="1800" spc="50" dirty="0">
                <a:effectLst/>
                <a:latin typeface="Times New Roman" panose="02020603050405020304" pitchFamily="18" charset="0"/>
                <a:ea typeface="Cambria Math" panose="02040503050406030204" pitchFamily="18" charset="0"/>
              </a:rPr>
              <a:t>),(</a:t>
            </a:r>
            <a:r>
              <a:rPr lang="en-US" sz="1800" spc="50" dirty="0">
                <a:effectLst/>
                <a:latin typeface="Cambria Math" panose="02040503050406030204" pitchFamily="18" charset="0"/>
                <a:ea typeface="Cambria Math" panose="02040503050406030204" pitchFamily="18" charset="0"/>
                <a:cs typeface="Cambria Math" panose="02040503050406030204" pitchFamily="18" charset="0"/>
              </a:rPr>
              <a:t>𝐶</a:t>
            </a:r>
            <a:r>
              <a:rPr lang="en-US" sz="1800" spc="50" dirty="0">
                <a:effectLst/>
                <a:latin typeface="Times New Roman" panose="02020603050405020304" pitchFamily="18" charset="0"/>
                <a:ea typeface="Cambria Math" panose="02040503050406030204" pitchFamily="18" charset="0"/>
              </a:rPr>
              <a:t>,</a:t>
            </a:r>
            <a:r>
              <a:rPr lang="en-US" sz="1800" spc="-100" dirty="0">
                <a:effectLst/>
                <a:latin typeface="Times New Roman" panose="02020603050405020304" pitchFamily="18" charset="0"/>
                <a:ea typeface="Cambria Math" panose="02040503050406030204" pitchFamily="18" charset="0"/>
              </a:rPr>
              <a:t> </a:t>
            </a:r>
            <a:r>
              <a:rPr lang="en-US" sz="1800" spc="50" dirty="0">
                <a:effectLst/>
                <a:latin typeface="Cambria Math" panose="02040503050406030204" pitchFamily="18" charset="0"/>
                <a:ea typeface="Cambria Math" panose="02040503050406030204" pitchFamily="18" charset="0"/>
                <a:cs typeface="Cambria Math" panose="02040503050406030204" pitchFamily="18" charset="0"/>
              </a:rPr>
              <a:t>𝐷</a:t>
            </a:r>
            <a:r>
              <a:rPr lang="en-US" sz="1800" spc="50" dirty="0">
                <a:effectLst/>
                <a:latin typeface="Times New Roman" panose="02020603050405020304" pitchFamily="18" charset="0"/>
                <a:ea typeface="Cambria Math" panose="02040503050406030204" pitchFamily="18" charset="0"/>
              </a:rPr>
              <a:t>),(</a:t>
            </a:r>
            <a:r>
              <a:rPr lang="en-US" sz="1800" spc="50" dirty="0">
                <a:effectLst/>
                <a:latin typeface="Cambria Math" panose="02040503050406030204" pitchFamily="18" charset="0"/>
                <a:ea typeface="Cambria Math" panose="02040503050406030204" pitchFamily="18" charset="0"/>
                <a:cs typeface="Cambria Math" panose="02040503050406030204" pitchFamily="18" charset="0"/>
              </a:rPr>
              <a:t>𝐷</a:t>
            </a:r>
            <a:r>
              <a:rPr lang="en-US" sz="1800" spc="50" dirty="0">
                <a:effectLst/>
                <a:latin typeface="Times New Roman" panose="02020603050405020304" pitchFamily="18" charset="0"/>
                <a:ea typeface="Cambria Math" panose="02040503050406030204" pitchFamily="18" charset="0"/>
              </a:rPr>
              <a:t>,</a:t>
            </a:r>
            <a:r>
              <a:rPr lang="en-US" sz="1800" dirty="0">
                <a:effectLst/>
                <a:latin typeface="Times New Roman" panose="02020603050405020304" pitchFamily="18" charset="0"/>
                <a:ea typeface="Cambria Math" panose="02040503050406030204" pitchFamily="18" charset="0"/>
              </a:rPr>
              <a:t> </a:t>
            </a:r>
            <a:r>
              <a:rPr lang="en-US" sz="1800" spc="45" dirty="0">
                <a:effectLst/>
                <a:latin typeface="Cambria Math" panose="02040503050406030204" pitchFamily="18" charset="0"/>
                <a:ea typeface="Cambria Math" panose="02040503050406030204" pitchFamily="18" charset="0"/>
                <a:cs typeface="Cambria Math" panose="02040503050406030204" pitchFamily="18" charset="0"/>
              </a:rPr>
              <a:t>𝐸</a:t>
            </a:r>
            <a:r>
              <a:rPr lang="en-US" sz="1800" spc="45" dirty="0">
                <a:effectLst/>
                <a:latin typeface="Times New Roman" panose="02020603050405020304" pitchFamily="18" charset="0"/>
                <a:ea typeface="Cambria Math" panose="02040503050406030204" pitchFamily="18" charset="0"/>
              </a:rPr>
              <a:t>),(</a:t>
            </a:r>
            <a:r>
              <a:rPr lang="en-US" sz="1800" spc="45" dirty="0">
                <a:effectLst/>
                <a:latin typeface="Cambria Math" panose="02040503050406030204" pitchFamily="18" charset="0"/>
                <a:ea typeface="Cambria Math" panose="02040503050406030204" pitchFamily="18" charset="0"/>
                <a:cs typeface="Cambria Math" panose="02040503050406030204" pitchFamily="18" charset="0"/>
              </a:rPr>
              <a:t>𝐵</a:t>
            </a:r>
            <a:r>
              <a:rPr lang="en-US" sz="1800" spc="45" dirty="0">
                <a:effectLst/>
                <a:latin typeface="Times New Roman" panose="02020603050405020304" pitchFamily="18" charset="0"/>
                <a:ea typeface="Cambria Math" panose="02040503050406030204" pitchFamily="18" charset="0"/>
              </a:rPr>
              <a:t>,</a:t>
            </a:r>
            <a:r>
              <a:rPr lang="en-US" sz="1800" spc="-100" dirty="0">
                <a:effectLst/>
                <a:latin typeface="Times New Roman" panose="02020603050405020304" pitchFamily="18" charset="0"/>
                <a:ea typeface="Cambria Math" panose="02040503050406030204" pitchFamily="18" charset="0"/>
              </a:rPr>
              <a:t> </a:t>
            </a:r>
            <a:r>
              <a:rPr lang="en-US" sz="1800" spc="-25" dirty="0">
                <a:effectLst/>
                <a:latin typeface="Cambria Math" panose="02040503050406030204" pitchFamily="18" charset="0"/>
                <a:ea typeface="Cambria Math" panose="02040503050406030204" pitchFamily="18" charset="0"/>
                <a:cs typeface="Cambria Math" panose="02040503050406030204" pitchFamily="18" charset="0"/>
              </a:rPr>
              <a:t>𝐷</a:t>
            </a:r>
            <a:r>
              <a:rPr lang="en-US" sz="1800" spc="-25" dirty="0">
                <a:effectLst/>
                <a:latin typeface="Times New Roman" panose="02020603050405020304" pitchFamily="18" charset="0"/>
                <a:ea typeface="Cambria Math" panose="02040503050406030204" pitchFamily="18" charset="0"/>
              </a:rPr>
              <a:t>)}</a:t>
            </a:r>
            <a:endParaRPr lang="en-PK"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5148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074B81B0-E7E7-B32E-632F-7EC41932B29E}"/>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CFD59D95-DB2C-F3B7-D9C3-0F21B5545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09C0ED7D-9CAC-E9CD-6D33-57730B72A9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93EBB71D-FFB5-2D00-416D-AB69AFF85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4BB5170E-E93F-46D1-A996-9D53404FA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215DE717-45E2-AEB5-CFD2-8F5C505272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87D5AA0A-A8C5-4EFF-B877-D4AEF32F9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854178BF-DFDE-0307-5CE9-49AE387241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11CCA902-48A0-DCB5-6E5A-78513E8E7D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B138A014-5ECD-1C8D-9B61-6E946FFCFC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8EC42507-D88E-EB43-D356-194FCCD06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AC5EF6DB-C3E2-A527-3D34-B06EC47FE0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ED692042-3336-C74C-4B22-24DFA20D41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A575E28A-405B-FBCF-B314-95D2CD8F8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9B1865DF-889F-5800-140C-B85380746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70CF40F7-AC8C-6211-67E5-3BE9D33B2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27C76CF6-9F35-3D3D-1459-510A0D6BA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26691EEF-4235-8A40-78A2-75316DCC46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FE8E00F5-B43C-3679-E527-0992607DA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4C220B80-5BC6-E897-860B-76D53D757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B78B87ED-FE06-E0B2-3753-F247515A3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0D477C9A-FA34-25BF-A706-0C8A18C2B8E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5A01B115-8166-DDF9-1016-98D54D4487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811A6BAA-5F9D-2BBA-223E-C2A68BF18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E8F4C645-9F20-29D4-D57E-DA40D6DF89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7CA4DC20-3060-463E-ED43-C50F2FB5BBE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C2D36AA1-6281-405F-63AF-36E86B4B2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C0B35A4-7B4F-3DF2-55BF-B60E6D0BD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CA87B-32E2-631C-8D44-20AA61825CB8}"/>
              </a:ext>
            </a:extLst>
          </p:cNvPr>
          <p:cNvSpPr>
            <a:spLocks noGrp="1"/>
          </p:cNvSpPr>
          <p:nvPr>
            <p:ph type="title"/>
          </p:nvPr>
        </p:nvSpPr>
        <p:spPr>
          <a:xfrm>
            <a:off x="1577445" y="1168078"/>
            <a:ext cx="9048219" cy="1092200"/>
          </a:xfrm>
        </p:spPr>
        <p:txBody>
          <a:bodyPr anchor="ctr">
            <a:normAutofit/>
          </a:bodyPr>
          <a:lstStyle/>
          <a:p>
            <a:pPr algn="ctr"/>
            <a:r>
              <a:rPr lang="en-US" b="1" u="sng" dirty="0">
                <a:solidFill>
                  <a:srgbClr val="FFFFFF"/>
                </a:solidFill>
              </a:rPr>
              <a:t>Types of graphs</a:t>
            </a:r>
            <a:endParaRPr lang="en-PK" dirty="0">
              <a:solidFill>
                <a:srgbClr val="FFFFFF"/>
              </a:solidFill>
            </a:endParaRPr>
          </a:p>
        </p:txBody>
      </p:sp>
      <p:sp>
        <p:nvSpPr>
          <p:cNvPr id="3" name="Content Placeholder 2">
            <a:extLst>
              <a:ext uri="{FF2B5EF4-FFF2-40B4-BE49-F238E27FC236}">
                <a16:creationId xmlns:a16="http://schemas.microsoft.com/office/drawing/2014/main" id="{94F306DE-8265-34D3-7EAD-BF33AFFE8A24}"/>
              </a:ext>
            </a:extLst>
          </p:cNvPr>
          <p:cNvSpPr>
            <a:spLocks noGrp="1"/>
          </p:cNvSpPr>
          <p:nvPr>
            <p:ph idx="1"/>
          </p:nvPr>
        </p:nvSpPr>
        <p:spPr>
          <a:xfrm>
            <a:off x="1299042" y="2272641"/>
            <a:ext cx="9585978" cy="3434422"/>
          </a:xfrm>
        </p:spPr>
        <p:txBody>
          <a:bodyPr anchor="ctr">
            <a:noAutofit/>
          </a:bodyPr>
          <a:lstStyle/>
          <a:p>
            <a:pPr lvl="0" algn="just"/>
            <a:r>
              <a:rPr lang="en-US" b="1" dirty="0"/>
              <a:t>Directed graph</a:t>
            </a:r>
            <a:r>
              <a:rPr lang="en-US" dirty="0"/>
              <a:t>: In a directed graph, edges have a specific direction. Edge (𝑎, 𝑏) and edge (𝑏, 𝑎) have different meanings in the case of a directed graph.</a:t>
            </a:r>
          </a:p>
          <a:p>
            <a:pPr lvl="0" algn="just"/>
            <a:endParaRPr lang="en-PK" sz="1600" dirty="0"/>
          </a:p>
          <a:p>
            <a:pPr lvl="0" algn="just"/>
            <a:r>
              <a:rPr lang="en-US" b="1" dirty="0"/>
              <a:t>Undirected</a:t>
            </a:r>
            <a:r>
              <a:rPr lang="en-US" dirty="0"/>
              <a:t>: In an undirected graph, edges don’t represent a specific direction. Edge</a:t>
            </a:r>
            <a:r>
              <a:rPr lang="en-PK" dirty="0"/>
              <a:t> </a:t>
            </a:r>
            <a:r>
              <a:rPr lang="en-US" dirty="0"/>
              <a:t>(𝑎, 𝑏) and edge (𝑏, 𝑎) are equivalent in the case of an undirected graph.</a:t>
            </a:r>
          </a:p>
        </p:txBody>
      </p:sp>
    </p:spTree>
    <p:extLst>
      <p:ext uri="{BB962C8B-B14F-4D97-AF65-F5344CB8AC3E}">
        <p14:creationId xmlns:p14="http://schemas.microsoft.com/office/powerpoint/2010/main" val="236924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7E1B2346-DA89-6548-2F1F-F6EE1EC5E943}"/>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0C6C67B8-DD51-5D44-36DA-E8661B4838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BF8A2D26-5425-B53D-9BF4-ACE361F9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81FF8653-997C-8BCB-62F9-3FEFCBDF4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AD1A6E64-5518-9549-164E-CB8DD7E36E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5D3CD5F9-DDBF-A87E-DEEE-03B70A8BB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775A2ADA-2D95-77CF-2D41-655C58363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53B04422-B749-00FA-6C6E-3EC84EF2AC6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5A2E4284-95D8-443B-7616-99DDC20B3D2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9EA9DAB8-6448-BE40-F7AD-ED1C31C756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795D72E5-8F21-CEEC-E1F8-CAFE3CDBA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814A8AB4-35D7-649D-581E-BF953CAC60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84DDC2F8-0DE9-167E-4C51-44538E19D53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F83BDCE1-4AB1-B456-EB56-F40A0117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DF4D7190-ACAE-4095-B259-2876CF1B3E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5FFC209E-0549-8A38-4211-4C453D577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BA636DA5-DC49-13EE-424D-30A6730998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5BF354B2-A167-7072-1100-D95E85D984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7497E0DC-BDA6-DFE6-59F7-35C558E29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33F82AFD-90F4-65FB-7BAE-7CF9868653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7AC1EAFF-AE06-857B-7ADA-7CB6E4DC5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E3848B9A-4E39-2E1D-9BAC-8590654DB9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4FFA1287-5C44-2279-C8DB-F0079D7075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72E6A5A8-D1F3-37C7-0EB8-E60598B192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68D55CD5-2315-D951-CB7B-B50A602717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F4FE90BC-754C-9E5E-4585-C42301996BA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AC82025C-4545-3763-B449-537E03C3E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9D8CF45D-08E7-E53A-F272-AF662D2BB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A1B522-1D16-98B0-4F6D-33FA0A68452A}"/>
              </a:ext>
            </a:extLst>
          </p:cNvPr>
          <p:cNvSpPr>
            <a:spLocks noGrp="1"/>
          </p:cNvSpPr>
          <p:nvPr>
            <p:ph type="title"/>
          </p:nvPr>
        </p:nvSpPr>
        <p:spPr>
          <a:xfrm>
            <a:off x="1577445" y="1168078"/>
            <a:ext cx="9048219" cy="1092200"/>
          </a:xfrm>
        </p:spPr>
        <p:txBody>
          <a:bodyPr anchor="ctr">
            <a:normAutofit/>
          </a:bodyPr>
          <a:lstStyle/>
          <a:p>
            <a:pPr algn="ctr"/>
            <a:r>
              <a:rPr lang="en-US" b="1" dirty="0"/>
              <a:t>Representation of Graphs</a:t>
            </a:r>
            <a:endParaRPr lang="en-PK" dirty="0">
              <a:solidFill>
                <a:srgbClr val="FFFFFF"/>
              </a:solidFill>
            </a:endParaRPr>
          </a:p>
        </p:txBody>
      </p:sp>
      <p:sp>
        <p:nvSpPr>
          <p:cNvPr id="3" name="Content Placeholder 2">
            <a:extLst>
              <a:ext uri="{FF2B5EF4-FFF2-40B4-BE49-F238E27FC236}">
                <a16:creationId xmlns:a16="http://schemas.microsoft.com/office/drawing/2014/main" id="{DEBD544F-5503-B3C7-1DB5-5E62A95694CB}"/>
              </a:ext>
            </a:extLst>
          </p:cNvPr>
          <p:cNvSpPr>
            <a:spLocks noGrp="1"/>
          </p:cNvSpPr>
          <p:nvPr>
            <p:ph idx="1"/>
          </p:nvPr>
        </p:nvSpPr>
        <p:spPr>
          <a:xfrm>
            <a:off x="1299042" y="2272641"/>
            <a:ext cx="9585978" cy="3434422"/>
          </a:xfrm>
        </p:spPr>
        <p:txBody>
          <a:bodyPr anchor="ctr">
            <a:noAutofit/>
          </a:bodyPr>
          <a:lstStyle/>
          <a:p>
            <a:pPr marL="0" indent="0">
              <a:lnSpc>
                <a:spcPct val="200000"/>
              </a:lnSpc>
              <a:buNone/>
            </a:pPr>
            <a:r>
              <a:rPr lang="en-US" sz="3200" dirty="0"/>
              <a:t>Graphs can be stored in two ways:</a:t>
            </a:r>
            <a:endParaRPr lang="en-PK" sz="3200" dirty="0"/>
          </a:p>
          <a:p>
            <a:pPr lvl="0">
              <a:lnSpc>
                <a:spcPct val="200000"/>
              </a:lnSpc>
            </a:pPr>
            <a:r>
              <a:rPr lang="en-US" sz="3200" dirty="0"/>
              <a:t>Sequential or Adjacency Matrix Representation</a:t>
            </a:r>
            <a:endParaRPr lang="en-PK" sz="3200" dirty="0"/>
          </a:p>
          <a:p>
            <a:pPr lvl="0">
              <a:lnSpc>
                <a:spcPct val="200000"/>
              </a:lnSpc>
            </a:pPr>
            <a:r>
              <a:rPr lang="en-US" sz="3200" dirty="0"/>
              <a:t>Linked list or Adjacency List Representation</a:t>
            </a:r>
            <a:endParaRPr lang="en-PK" sz="3200" dirty="0"/>
          </a:p>
        </p:txBody>
      </p:sp>
    </p:spTree>
    <p:extLst>
      <p:ext uri="{BB962C8B-B14F-4D97-AF65-F5344CB8AC3E}">
        <p14:creationId xmlns:p14="http://schemas.microsoft.com/office/powerpoint/2010/main" val="2430598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284190BE-F87E-EE2C-DF31-1CC977077D19}"/>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7A809F71-7AB0-E724-CA41-355ED5200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6FAEE371-9A68-7D18-4BAF-5E1AC7C9D0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CB3FB14E-5C69-8DB4-9F41-B3135AF95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FA1BDE62-7E7B-6863-3A50-ABC72F3503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12F1ADDE-27E1-2363-4213-0F8951975B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35390E87-3EEC-D8A5-534F-C2C935DA16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54FADC96-126E-A515-CFE6-79530CB48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3298C741-BFA0-4B5D-50FD-9EA90C5ADE2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955E1D43-3F2C-49C8-6AEB-5F3F17B6AA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9AE3D3D6-E778-8C54-4110-24535B502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D26FDC5A-B5E6-E0B3-6C88-1EB8051CDD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1A58E4BF-AC8C-EFCE-5B8A-336F8886F1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38BDFCBF-EAC2-0D52-B07D-7C3E0A39C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F73678E9-CB70-B207-1501-73BF79669F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91BFDBBC-C210-9D95-4C10-3F2492A42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BA42DE5A-55F0-0CEB-B63D-746D162F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44AA58C8-27C6-F995-BC2D-C2C2CD61BB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7A9E7C73-533E-C29A-7C71-2F15EB2B7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ABC639E9-4E52-0326-63A7-9FCC64A5C7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2990BED3-6E3A-70D1-E128-1DA660DD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1E56223C-4808-AE7F-33D5-5A4C87C9C9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2B91BE4A-9117-0560-A49F-99965FE3D7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AC4B4F62-7EF0-33BE-ACD7-F4A4E1E45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8579F0C2-618C-47BD-52F4-FA6BB01C8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45E0AF59-7865-D54B-6017-FB9A073FA82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74B22C9E-32BF-7775-ECB4-7BEBE27FA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80DFD980-8337-2D41-81F1-F804D2022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D8697B-E028-A281-FA06-BA1D47B853E9}"/>
              </a:ext>
            </a:extLst>
          </p:cNvPr>
          <p:cNvSpPr>
            <a:spLocks noGrp="1"/>
          </p:cNvSpPr>
          <p:nvPr>
            <p:ph type="title"/>
          </p:nvPr>
        </p:nvSpPr>
        <p:spPr>
          <a:xfrm>
            <a:off x="1577445" y="1168078"/>
            <a:ext cx="9048219" cy="1092200"/>
          </a:xfrm>
        </p:spPr>
        <p:txBody>
          <a:bodyPr anchor="ctr">
            <a:normAutofit/>
          </a:bodyPr>
          <a:lstStyle/>
          <a:p>
            <a:pPr algn="ctr"/>
            <a:r>
              <a:rPr lang="en-US" b="1" dirty="0"/>
              <a:t>Adjacency matrix Representation</a:t>
            </a:r>
            <a:r>
              <a:rPr lang="en-PK" dirty="0"/>
              <a:t> </a:t>
            </a:r>
            <a:endParaRPr lang="en-PK" dirty="0">
              <a:solidFill>
                <a:srgbClr val="FFFFFF"/>
              </a:solidFill>
            </a:endParaRPr>
          </a:p>
        </p:txBody>
      </p:sp>
      <p:sp>
        <p:nvSpPr>
          <p:cNvPr id="3" name="Content Placeholder 2">
            <a:extLst>
              <a:ext uri="{FF2B5EF4-FFF2-40B4-BE49-F238E27FC236}">
                <a16:creationId xmlns:a16="http://schemas.microsoft.com/office/drawing/2014/main" id="{26CEEDFB-0D12-9E3F-DECB-384B0B995941}"/>
              </a:ext>
            </a:extLst>
          </p:cNvPr>
          <p:cNvSpPr>
            <a:spLocks noGrp="1"/>
          </p:cNvSpPr>
          <p:nvPr>
            <p:ph idx="1"/>
          </p:nvPr>
        </p:nvSpPr>
        <p:spPr>
          <a:xfrm>
            <a:off x="1299042" y="2272641"/>
            <a:ext cx="9585978" cy="3434422"/>
          </a:xfrm>
        </p:spPr>
        <p:txBody>
          <a:bodyPr anchor="ctr">
            <a:noAutofit/>
          </a:bodyPr>
          <a:lstStyle/>
          <a:p>
            <a:pPr marL="0" indent="0" algn="just">
              <a:lnSpc>
                <a:spcPct val="150000"/>
              </a:lnSpc>
              <a:buNone/>
            </a:pPr>
            <a:r>
              <a:rPr lang="en-US" sz="2000" dirty="0"/>
              <a:t>The graph G can be represented in the form of a matrix representation, and the weights associated with the edge from one node (node i) to the other (node j) form the entries (Aij) of the matrix A.</a:t>
            </a:r>
            <a:r>
              <a:rPr lang="en-PK" sz="2800" dirty="0"/>
              <a:t> </a:t>
            </a:r>
          </a:p>
          <a:p>
            <a:pPr marL="0" indent="0" algn="just">
              <a:lnSpc>
                <a:spcPct val="100000"/>
              </a:lnSpc>
              <a:buNone/>
            </a:pPr>
            <a:endParaRPr lang="en-PK" sz="2800" dirty="0"/>
          </a:p>
          <a:p>
            <a:pPr marL="0" indent="0" algn="just">
              <a:lnSpc>
                <a:spcPct val="100000"/>
              </a:lnSpc>
              <a:buNone/>
            </a:pPr>
            <a:endParaRPr lang="en-PK" sz="2800" dirty="0"/>
          </a:p>
          <a:p>
            <a:pPr marL="0" indent="0" algn="just">
              <a:lnSpc>
                <a:spcPct val="100000"/>
              </a:lnSpc>
              <a:buNone/>
            </a:pPr>
            <a:endParaRPr lang="en-PK" sz="2800" dirty="0"/>
          </a:p>
        </p:txBody>
      </p:sp>
      <p:pic>
        <p:nvPicPr>
          <p:cNvPr id="4" name="Image 64">
            <a:extLst>
              <a:ext uri="{FF2B5EF4-FFF2-40B4-BE49-F238E27FC236}">
                <a16:creationId xmlns:a16="http://schemas.microsoft.com/office/drawing/2014/main" id="{826DC411-84E0-549D-D4FD-3D2E46CEB1F2}"/>
              </a:ext>
            </a:extLst>
          </p:cNvPr>
          <p:cNvPicPr>
            <a:picLocks/>
          </p:cNvPicPr>
          <p:nvPr/>
        </p:nvPicPr>
        <p:blipFill>
          <a:blip r:embed="rId3" cstate="print"/>
          <a:stretch>
            <a:fillRect/>
          </a:stretch>
        </p:blipFill>
        <p:spPr>
          <a:xfrm>
            <a:off x="4066746" y="3907985"/>
            <a:ext cx="4050570" cy="1781937"/>
          </a:xfrm>
          <a:prstGeom prst="rect">
            <a:avLst/>
          </a:prstGeom>
        </p:spPr>
      </p:pic>
    </p:spTree>
    <p:extLst>
      <p:ext uri="{BB962C8B-B14F-4D97-AF65-F5344CB8AC3E}">
        <p14:creationId xmlns:p14="http://schemas.microsoft.com/office/powerpoint/2010/main" val="3711388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6C10C447-EE7C-0EEA-9F9A-E83F1A8CD3DB}"/>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FD96583F-A4D7-ADA6-0391-39853FEAB9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BB1DDD89-CB63-94CC-E2AD-E0721F4D3A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C09BDC4B-FEBC-0AF0-090C-B3FA00AA4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46AEF315-911C-7895-18A5-768109C617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8787EDDD-2E02-3D71-0BC5-415B2FB0E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C8B613F5-45FC-CF2B-EA70-653FBBABD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4675314F-E75A-7B94-C825-1E206ADE3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875C00AF-131B-6129-9225-13CA35BAF0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13E157AD-9800-ABE0-8234-42DCA888AC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7F9FD032-3300-00CB-DF62-BF86F96CB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A1D347A3-03FA-80BB-9572-B90EDEBB20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2FCFB197-6547-8A7A-2E05-425F10B67C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72922CF4-CB7B-641E-E8D2-90C247A73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00F61F26-2C65-1957-C6BE-A2FD3AEFEF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7155C727-EA2F-E086-CAC2-42EA95D06D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F7C9E27D-CF3A-A838-9D8E-13EC234968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7F4EB214-49E3-7D8E-602F-86D5E3AFB2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B170EBA9-36BA-D42B-343C-9FF8A0786F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DF2051F4-5616-6FDD-3827-9CA36AB5F2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C93302C2-91D5-0A4A-1BB2-E5096F497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206885F9-FD7B-8DDC-1DB6-68C4CF1A3A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69B743C7-ABD1-536F-FCE1-C04668A9DA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BD7ED479-82C9-22F7-1605-64FC7FDA39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5014B967-5CE1-A1B2-E8E8-6A24CA29288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B6A01626-A92D-9BAC-C44E-E9D61E979C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1BD6CF6B-B5AA-F67E-CDE5-BD6A169F7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991E447-61D6-CA3B-8727-23403F704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ED5D4-1551-34DA-CE09-51E9512DFA1D}"/>
              </a:ext>
            </a:extLst>
          </p:cNvPr>
          <p:cNvSpPr>
            <a:spLocks noGrp="1"/>
          </p:cNvSpPr>
          <p:nvPr>
            <p:ph type="title"/>
          </p:nvPr>
        </p:nvSpPr>
        <p:spPr>
          <a:xfrm>
            <a:off x="1577445" y="1168078"/>
            <a:ext cx="9048219" cy="1092200"/>
          </a:xfrm>
        </p:spPr>
        <p:txBody>
          <a:bodyPr anchor="ctr">
            <a:normAutofit/>
          </a:bodyPr>
          <a:lstStyle/>
          <a:p>
            <a:pPr algn="ctr"/>
            <a:r>
              <a:rPr lang="en-US" b="1" dirty="0"/>
              <a:t>Adjacency list Representation</a:t>
            </a:r>
            <a:r>
              <a:rPr lang="en-PK" dirty="0"/>
              <a:t> </a:t>
            </a:r>
            <a:endParaRPr lang="en-PK" dirty="0">
              <a:solidFill>
                <a:srgbClr val="FFFFFF"/>
              </a:solidFill>
            </a:endParaRPr>
          </a:p>
        </p:txBody>
      </p:sp>
      <p:sp>
        <p:nvSpPr>
          <p:cNvPr id="3" name="Content Placeholder 2">
            <a:extLst>
              <a:ext uri="{FF2B5EF4-FFF2-40B4-BE49-F238E27FC236}">
                <a16:creationId xmlns:a16="http://schemas.microsoft.com/office/drawing/2014/main" id="{26D67D2A-655B-DC2E-708F-380390030AD3}"/>
              </a:ext>
            </a:extLst>
          </p:cNvPr>
          <p:cNvSpPr>
            <a:spLocks noGrp="1"/>
          </p:cNvSpPr>
          <p:nvPr>
            <p:ph idx="1"/>
          </p:nvPr>
        </p:nvSpPr>
        <p:spPr>
          <a:xfrm>
            <a:off x="1299042" y="2272641"/>
            <a:ext cx="9585978" cy="3434422"/>
          </a:xfrm>
        </p:spPr>
        <p:txBody>
          <a:bodyPr anchor="ctr">
            <a:noAutofit/>
          </a:bodyPr>
          <a:lstStyle/>
          <a:p>
            <a:pPr marL="0" indent="0" algn="just">
              <a:lnSpc>
                <a:spcPct val="150000"/>
              </a:lnSpc>
              <a:buNone/>
            </a:pPr>
            <a:r>
              <a:rPr lang="en-US" sz="2000" dirty="0"/>
              <a:t>An adjacency list is used in the linked representation to store the Graph in the computer's memory. It is efficient in terms of storage, as we only have to store the values for edges.</a:t>
            </a:r>
            <a:r>
              <a:rPr lang="en-PK" sz="1800" dirty="0"/>
              <a:t> </a:t>
            </a:r>
          </a:p>
          <a:p>
            <a:pPr marL="0" indent="0" algn="just">
              <a:lnSpc>
                <a:spcPct val="150000"/>
              </a:lnSpc>
              <a:buNone/>
            </a:pPr>
            <a:endParaRPr lang="en-PK" sz="1800" dirty="0"/>
          </a:p>
          <a:p>
            <a:pPr marL="0" indent="0" algn="just">
              <a:lnSpc>
                <a:spcPct val="150000"/>
              </a:lnSpc>
              <a:buNone/>
            </a:pPr>
            <a:endParaRPr lang="en-PK" dirty="0"/>
          </a:p>
          <a:p>
            <a:pPr marL="0" indent="0" algn="just">
              <a:lnSpc>
                <a:spcPct val="100000"/>
              </a:lnSpc>
              <a:buNone/>
            </a:pPr>
            <a:endParaRPr lang="en-PK" dirty="0"/>
          </a:p>
          <a:p>
            <a:pPr marL="0" indent="0" algn="just">
              <a:lnSpc>
                <a:spcPct val="100000"/>
              </a:lnSpc>
              <a:buNone/>
            </a:pPr>
            <a:endParaRPr lang="en-PK" dirty="0"/>
          </a:p>
        </p:txBody>
      </p:sp>
      <p:pic>
        <p:nvPicPr>
          <p:cNvPr id="4" name="Image 64">
            <a:extLst>
              <a:ext uri="{FF2B5EF4-FFF2-40B4-BE49-F238E27FC236}">
                <a16:creationId xmlns:a16="http://schemas.microsoft.com/office/drawing/2014/main" id="{7A78E756-CFF0-BEC1-0E0C-019254B02E94}"/>
              </a:ext>
            </a:extLst>
          </p:cNvPr>
          <p:cNvPicPr>
            <a:picLocks/>
          </p:cNvPicPr>
          <p:nvPr/>
        </p:nvPicPr>
        <p:blipFill>
          <a:blip r:embed="rId3" cstate="print"/>
          <a:stretch>
            <a:fillRect/>
          </a:stretch>
        </p:blipFill>
        <p:spPr>
          <a:xfrm>
            <a:off x="4066746" y="3907985"/>
            <a:ext cx="4050570" cy="1781937"/>
          </a:xfrm>
          <a:prstGeom prst="rect">
            <a:avLst/>
          </a:prstGeom>
        </p:spPr>
      </p:pic>
      <p:pic>
        <p:nvPicPr>
          <p:cNvPr id="5" name="Image 65">
            <a:extLst>
              <a:ext uri="{FF2B5EF4-FFF2-40B4-BE49-F238E27FC236}">
                <a16:creationId xmlns:a16="http://schemas.microsoft.com/office/drawing/2014/main" id="{B26E1EDA-B319-1778-306D-F4553BD0A9F7}"/>
              </a:ext>
            </a:extLst>
          </p:cNvPr>
          <p:cNvPicPr>
            <a:picLocks/>
          </p:cNvPicPr>
          <p:nvPr/>
        </p:nvPicPr>
        <p:blipFill>
          <a:blip r:embed="rId4" cstate="print"/>
          <a:stretch>
            <a:fillRect/>
          </a:stretch>
        </p:blipFill>
        <p:spPr>
          <a:xfrm>
            <a:off x="3749999" y="3878480"/>
            <a:ext cx="4684063" cy="1811442"/>
          </a:xfrm>
          <a:prstGeom prst="rect">
            <a:avLst/>
          </a:prstGeom>
        </p:spPr>
      </p:pic>
    </p:spTree>
    <p:extLst>
      <p:ext uri="{BB962C8B-B14F-4D97-AF65-F5344CB8AC3E}">
        <p14:creationId xmlns:p14="http://schemas.microsoft.com/office/powerpoint/2010/main" val="119425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D3C326C1-452F-8055-C617-82A197783B82}"/>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94F1DC78-D9DB-B47D-321D-0144370EC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DF58E91C-8682-290E-2B59-32D95F73B7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CB466929-0D72-CDF3-1DA2-7805CB866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59D57382-3F08-129F-D5F6-6C468DBC0C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4BE85B47-10B4-2E35-7E34-99D15122F2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47A960E2-1978-D026-57C4-93D98EC36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8D249D98-0E92-2529-D9D3-901728A08A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8209305E-36EB-D608-38F4-201C912EA2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21B04373-E956-DF28-94BA-27556B1113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0A860415-1DF4-7967-7E09-87BB13B07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785E890B-C21B-19E8-7CFD-B4B5BE938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75F1E2FE-09C6-A00A-DE7D-54FBB2AC62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3FEF9086-5A77-647E-FFDB-B5D8E9D3AA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DCC3E08A-7B2B-49D1-2F8B-802EBA6345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D50FDC6B-F48E-8066-4889-7A0E28C21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D44C1013-34CE-9E47-2C4C-B9A693360C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EE156986-1591-B210-DF5E-24AA38E13B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58C87466-CBD2-F05A-AAF9-209E43D15A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E01E309F-D9B6-0890-2603-7BE121E385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4BC62363-A670-40E6-0766-83D4F1409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51110866-5A1A-7779-29C9-54ED76331D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445925F9-D363-6512-380A-3E6EF1EBB2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EEED55CA-1FD8-6D84-E6CB-2748942ADA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5B5C76C7-8215-A164-5255-E738D7DCCF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2F09702B-A7A9-4B27-5EBF-2059C84FF0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35F296B3-C496-8784-58B0-8E5D50834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4F315BB9-6A57-E546-62C2-A96D7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F811BE-6877-A0E7-D91C-06B8AE8F1C22}"/>
              </a:ext>
            </a:extLst>
          </p:cNvPr>
          <p:cNvSpPr>
            <a:spLocks noGrp="1"/>
          </p:cNvSpPr>
          <p:nvPr>
            <p:ph type="title"/>
          </p:nvPr>
        </p:nvSpPr>
        <p:spPr>
          <a:xfrm>
            <a:off x="1577445" y="1168078"/>
            <a:ext cx="9048219" cy="1092200"/>
          </a:xfrm>
        </p:spPr>
        <p:txBody>
          <a:bodyPr anchor="ctr">
            <a:normAutofit/>
          </a:bodyPr>
          <a:lstStyle/>
          <a:p>
            <a:pPr algn="ctr"/>
            <a:r>
              <a:rPr lang="en-US" b="1" dirty="0"/>
              <a:t>Graph Traversal</a:t>
            </a:r>
            <a:r>
              <a:rPr lang="en-PK" dirty="0"/>
              <a:t> </a:t>
            </a:r>
            <a:endParaRPr lang="en-PK" dirty="0">
              <a:solidFill>
                <a:srgbClr val="FFFFFF"/>
              </a:solidFill>
            </a:endParaRPr>
          </a:p>
        </p:txBody>
      </p:sp>
      <p:sp>
        <p:nvSpPr>
          <p:cNvPr id="3" name="Content Placeholder 2">
            <a:extLst>
              <a:ext uri="{FF2B5EF4-FFF2-40B4-BE49-F238E27FC236}">
                <a16:creationId xmlns:a16="http://schemas.microsoft.com/office/drawing/2014/main" id="{B3F355AE-07CD-E650-38F5-03749A18140B}"/>
              </a:ext>
            </a:extLst>
          </p:cNvPr>
          <p:cNvSpPr>
            <a:spLocks noGrp="1"/>
          </p:cNvSpPr>
          <p:nvPr>
            <p:ph idx="1"/>
          </p:nvPr>
        </p:nvSpPr>
        <p:spPr>
          <a:xfrm>
            <a:off x="1299042" y="2272641"/>
            <a:ext cx="9585978" cy="3434422"/>
          </a:xfrm>
        </p:spPr>
        <p:txBody>
          <a:bodyPr anchor="ctr">
            <a:noAutofit/>
          </a:bodyPr>
          <a:lstStyle/>
          <a:p>
            <a:pPr algn="just"/>
            <a:r>
              <a:rPr lang="en-US" dirty="0"/>
              <a:t>The graphs can be traversed using either Breadth-First Search (BFS) or Depth-First Search (DFS). In BFS, we traverse from the root node to the other nodes in a breadth-first manner, using a queue to move to the next node. Depth-first search (DFS) traverses the whole graph depth-wise and uses a stack to get to the next nodes.</a:t>
            </a:r>
            <a:endParaRPr lang="en-PK" dirty="0"/>
          </a:p>
          <a:p>
            <a:pPr lvl="1" algn="just"/>
            <a:r>
              <a:rPr lang="en-US" dirty="0"/>
              <a:t>𝐷𝑒𝑝𝑡ℎ 𝐹𝑖𝑟𝑠𝑡 𝑆𝑒𝑎𝑟𝑐ℎ∶ 𝐴, 𝐵, 𝐸, 𝐷, 𝐶</a:t>
            </a:r>
            <a:endParaRPr lang="en-PK" dirty="0"/>
          </a:p>
          <a:p>
            <a:pPr lvl="1" algn="just"/>
            <a:r>
              <a:rPr lang="en-US" dirty="0"/>
              <a:t>𝐵𝑟𝑒𝑎𝑑𝑡ℎ 𝐹𝑖𝑟𝑠𝑡 𝑆𝑒𝑎𝑟𝑐ℎ∶ 𝐴, 𝐵, 𝐶, 𝐷, 𝐸</a:t>
            </a:r>
            <a:endParaRPr lang="en-PK" dirty="0"/>
          </a:p>
        </p:txBody>
      </p:sp>
    </p:spTree>
    <p:extLst>
      <p:ext uri="{BB962C8B-B14F-4D97-AF65-F5344CB8AC3E}">
        <p14:creationId xmlns:p14="http://schemas.microsoft.com/office/powerpoint/2010/main" val="273866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9F868C43-327E-EA66-5A47-4EBDF154F086}"/>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5EF4AC30-FCE3-66A6-9E4A-280043F1B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170E19D4-FEBF-AFAC-3BAB-2EB17654D4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7723BEDF-1459-F3F5-0774-3566CDAC5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B6A0FE0E-D47F-D807-CAF6-477A0EC5F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24049C49-3327-233E-E34F-F4AA768DF6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7ABA2B14-4155-4CDB-D7C3-32FD126E2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D3A551A2-8C4F-5686-D0CD-527788E1B1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32DAF161-29DC-4ABA-F13D-8478AF8478F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6C8E7C41-29C3-3C0F-2597-482D6749B9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86AC8D2A-CF57-6524-9AAE-C4CCB03F6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FFBE532F-50C7-4507-67A0-7547A1D114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34DE3024-9FD1-8265-B3BA-E578F2FB23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63905957-2C58-C690-CCDD-34A140EF3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C23C3A9D-AE3D-5168-94F9-056581457A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CD2EB67A-C1E2-38AF-5CD7-9A281377E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74410ECE-CD33-9385-E1A8-FC76348368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06AE6037-D0F1-5ACD-7B9A-094D173460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76C479B1-AAE8-D238-C1AF-A3BA04C5B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09AB05FD-A590-E05D-F97B-A66BDE495A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0CEDFFE0-5C12-2C70-BB8E-D81C5C4DAA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6C2E91C1-2A70-16FA-A2BE-1454BF51D5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00CD7726-8C2A-BF4A-4A8F-3A5F1A85B9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BC2D5C41-8F08-7663-E0AE-A2AB2859E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4DF6C5F2-AB8D-357B-0740-2B86FF343E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D4678CAE-3587-D2F6-04AB-FD5F9E4E457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316439A2-2671-5838-EA45-3DF691539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55DB550D-E819-9823-463D-4609C7E51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48526-994A-AE1B-3CDE-F0C5ECD30A84}"/>
              </a:ext>
            </a:extLst>
          </p:cNvPr>
          <p:cNvSpPr>
            <a:spLocks noGrp="1"/>
          </p:cNvSpPr>
          <p:nvPr>
            <p:ph type="title"/>
          </p:nvPr>
        </p:nvSpPr>
        <p:spPr>
          <a:xfrm>
            <a:off x="1577445" y="1168078"/>
            <a:ext cx="9048219" cy="1092200"/>
          </a:xfrm>
        </p:spPr>
        <p:txBody>
          <a:bodyPr anchor="ctr">
            <a:normAutofit/>
          </a:bodyPr>
          <a:lstStyle/>
          <a:p>
            <a:pPr algn="ctr"/>
            <a:r>
              <a:rPr lang="en-US" b="1" dirty="0"/>
              <a:t>Spanning tree</a:t>
            </a:r>
            <a:endParaRPr lang="en-PK" dirty="0">
              <a:solidFill>
                <a:srgbClr val="FFFFFF"/>
              </a:solidFill>
            </a:endParaRPr>
          </a:p>
        </p:txBody>
      </p:sp>
      <p:sp>
        <p:nvSpPr>
          <p:cNvPr id="3" name="Content Placeholder 2">
            <a:extLst>
              <a:ext uri="{FF2B5EF4-FFF2-40B4-BE49-F238E27FC236}">
                <a16:creationId xmlns:a16="http://schemas.microsoft.com/office/drawing/2014/main" id="{1E2B569F-F0C6-734C-0928-F60C7D7192A0}"/>
              </a:ext>
            </a:extLst>
          </p:cNvPr>
          <p:cNvSpPr>
            <a:spLocks noGrp="1"/>
          </p:cNvSpPr>
          <p:nvPr>
            <p:ph idx="1"/>
          </p:nvPr>
        </p:nvSpPr>
        <p:spPr>
          <a:xfrm>
            <a:off x="1299042" y="2272641"/>
            <a:ext cx="9585978" cy="3434422"/>
          </a:xfrm>
        </p:spPr>
        <p:txBody>
          <a:bodyPr anchor="ctr">
            <a:noAutofit/>
          </a:bodyPr>
          <a:lstStyle/>
          <a:p>
            <a:pPr algn="just"/>
            <a:r>
              <a:rPr lang="en-US" dirty="0"/>
              <a:t>A spanning tree of a graph is a subset of the graph covers all the vertices with a minimum number of possible edges. Spanning tree is used to find the minimum path connecting all nodes in a graph.</a:t>
            </a:r>
          </a:p>
          <a:p>
            <a:pPr algn="just"/>
            <a:endParaRPr lang="en-PK" dirty="0"/>
          </a:p>
          <a:p>
            <a:pPr algn="just"/>
            <a:r>
              <a:rPr lang="en-US" dirty="0"/>
              <a:t>A spanning tree does not have cycles, and it cannot be disconnected.</a:t>
            </a:r>
            <a:endParaRPr lang="en-PK" dirty="0"/>
          </a:p>
        </p:txBody>
      </p:sp>
    </p:spTree>
    <p:extLst>
      <p:ext uri="{BB962C8B-B14F-4D97-AF65-F5344CB8AC3E}">
        <p14:creationId xmlns:p14="http://schemas.microsoft.com/office/powerpoint/2010/main" val="3100912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099EFFD2-29AD-42E4-1C6C-A067DFEE8F02}"/>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B56C7895-B5C9-C45C-1B1C-CF906F950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EBD424FC-ABA7-103F-D283-6CEF0E4A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658FE859-4D8A-8E32-F35C-9551518CB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C6B9D393-DCB1-E922-946A-4542F95755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AB8EFDE4-15ED-8665-6BEF-6340EEA82A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C6BB93BC-3E98-14D7-6B7B-4E9EC3C74A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3EEE02F9-01C1-D827-F1C8-7BA184AF0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88EC2485-9FB7-9EF0-A826-5D7A22793B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D4353EB2-90FA-2D5A-1124-603144A11C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82E21DAB-E300-39DA-0444-54AE0B6C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AFAE9B37-BF8A-1B7A-7374-0C030B8F47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298E790D-460C-E830-D571-E2E4C67CF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1CB576B5-7F69-8627-6C8E-2059ABBF4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98239CA0-6ED5-1B7C-2259-A0BA9F5941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608360F5-FD97-B9C1-3ABD-7459EB4FD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1554CA6F-1381-97F6-DE33-5915194F19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069F00BA-EC3C-3279-18C8-08803E4E55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74849FD8-308F-469A-D7DC-AF2CEA052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197DCC49-EDFB-62DA-AC3D-0DFE91BCE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C580B0B3-0DE1-DF9B-A130-F89E31920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874D0776-E291-80EC-5DA6-C9124A4DC5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882F49FC-0732-2CB7-7F9C-DD727A12BF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EC8FBCD2-02A5-E0ED-6832-18DC0E18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90113355-9E7D-9889-1E04-82F082A1921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D57DE543-3186-7D32-8B42-9B15238657E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A1E5881E-E481-9E5D-391C-4AF85FB2E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C8D2AF04-3AC3-CF11-C37E-E1E8A3E0A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FA08E4-52EA-3577-7B36-22751224FCC5}"/>
              </a:ext>
            </a:extLst>
          </p:cNvPr>
          <p:cNvSpPr>
            <a:spLocks noGrp="1"/>
          </p:cNvSpPr>
          <p:nvPr>
            <p:ph type="title"/>
          </p:nvPr>
        </p:nvSpPr>
        <p:spPr>
          <a:xfrm>
            <a:off x="1577445" y="1168078"/>
            <a:ext cx="9048219" cy="1092200"/>
          </a:xfrm>
        </p:spPr>
        <p:txBody>
          <a:bodyPr anchor="ctr">
            <a:normAutofit/>
          </a:bodyPr>
          <a:lstStyle/>
          <a:p>
            <a:pPr algn="ctr"/>
            <a:r>
              <a:rPr lang="en-US" b="1" dirty="0"/>
              <a:t>Spanning tree</a:t>
            </a:r>
            <a:endParaRPr lang="en-PK" dirty="0">
              <a:solidFill>
                <a:srgbClr val="FFFFFF"/>
              </a:solidFill>
            </a:endParaRPr>
          </a:p>
        </p:txBody>
      </p:sp>
      <p:pic>
        <p:nvPicPr>
          <p:cNvPr id="7" name="Image 68">
            <a:extLst>
              <a:ext uri="{FF2B5EF4-FFF2-40B4-BE49-F238E27FC236}">
                <a16:creationId xmlns:a16="http://schemas.microsoft.com/office/drawing/2014/main" id="{9DD60CDB-EF89-9428-84D3-A5F11D9FCC1B}"/>
              </a:ext>
            </a:extLst>
          </p:cNvPr>
          <p:cNvPicPr>
            <a:picLocks/>
          </p:cNvPicPr>
          <p:nvPr/>
        </p:nvPicPr>
        <p:blipFill>
          <a:blip r:embed="rId3" cstate="print"/>
          <a:stretch>
            <a:fillRect/>
          </a:stretch>
        </p:blipFill>
        <p:spPr>
          <a:xfrm>
            <a:off x="2577655" y="2124075"/>
            <a:ext cx="7028751" cy="3720148"/>
          </a:xfrm>
          <a:prstGeom prst="rect">
            <a:avLst/>
          </a:prstGeom>
        </p:spPr>
      </p:pic>
    </p:spTree>
    <p:extLst>
      <p:ext uri="{BB962C8B-B14F-4D97-AF65-F5344CB8AC3E}">
        <p14:creationId xmlns:p14="http://schemas.microsoft.com/office/powerpoint/2010/main" val="1160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762E0EAC-D9A4-3943-D759-E510DE4EE56A}"/>
            </a:ext>
          </a:extLst>
        </p:cNvPr>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4E63A8FC-8920-F54D-E6F8-60A231754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1B0E008A-38EC-9D3F-D904-C92AAE1BB8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83" name="Freeform 35">
              <a:extLst>
                <a:ext uri="{FF2B5EF4-FFF2-40B4-BE49-F238E27FC236}">
                  <a16:creationId xmlns:a16="http://schemas.microsoft.com/office/drawing/2014/main" id="{C546FAB2-C185-2731-0CE9-BC5613A41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84" name="Freeform 36">
              <a:extLst>
                <a:ext uri="{FF2B5EF4-FFF2-40B4-BE49-F238E27FC236}">
                  <a16:creationId xmlns:a16="http://schemas.microsoft.com/office/drawing/2014/main" id="{A9518736-1CA3-2D50-BBB6-9AFF665C4C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85" name="Freeform 38">
              <a:extLst>
                <a:ext uri="{FF2B5EF4-FFF2-40B4-BE49-F238E27FC236}">
                  <a16:creationId xmlns:a16="http://schemas.microsoft.com/office/drawing/2014/main" id="{22BC30F3-4BF4-9F5A-8D6E-D9F3C61C70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86" name="Freeform 39">
              <a:extLst>
                <a:ext uri="{FF2B5EF4-FFF2-40B4-BE49-F238E27FC236}">
                  <a16:creationId xmlns:a16="http://schemas.microsoft.com/office/drawing/2014/main" id="{79BB2B59-F1DF-9E52-6CE3-34CE0EF680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87" name="Freeform 40">
              <a:extLst>
                <a:ext uri="{FF2B5EF4-FFF2-40B4-BE49-F238E27FC236}">
                  <a16:creationId xmlns:a16="http://schemas.microsoft.com/office/drawing/2014/main" id="{8865C487-FBE9-E4C6-5225-5E8E728EC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88" name="Rectangle 41">
              <a:extLst>
                <a:ext uri="{FF2B5EF4-FFF2-40B4-BE49-F238E27FC236}">
                  <a16:creationId xmlns:a16="http://schemas.microsoft.com/office/drawing/2014/main" id="{7816092B-F075-2A17-352D-1E714B9A76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90" name="Group 89">
            <a:extLst>
              <a:ext uri="{FF2B5EF4-FFF2-40B4-BE49-F238E27FC236}">
                <a16:creationId xmlns:a16="http://schemas.microsoft.com/office/drawing/2014/main" id="{3C6BD63F-EE17-3681-4C1C-5B13AFD12E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91" name="Freeform 32">
              <a:extLst>
                <a:ext uri="{FF2B5EF4-FFF2-40B4-BE49-F238E27FC236}">
                  <a16:creationId xmlns:a16="http://schemas.microsoft.com/office/drawing/2014/main" id="{E0C32DEA-1B8B-F58E-7FDA-9A2EAFE7C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92" name="Freeform 33">
              <a:extLst>
                <a:ext uri="{FF2B5EF4-FFF2-40B4-BE49-F238E27FC236}">
                  <a16:creationId xmlns:a16="http://schemas.microsoft.com/office/drawing/2014/main" id="{4468D505-CA63-982E-6870-42C8E82C21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93" name="Freeform 34">
              <a:extLst>
                <a:ext uri="{FF2B5EF4-FFF2-40B4-BE49-F238E27FC236}">
                  <a16:creationId xmlns:a16="http://schemas.microsoft.com/office/drawing/2014/main" id="{054D9C9C-262D-4D6E-D251-89FFD1A876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94" name="Freeform 37">
              <a:extLst>
                <a:ext uri="{FF2B5EF4-FFF2-40B4-BE49-F238E27FC236}">
                  <a16:creationId xmlns:a16="http://schemas.microsoft.com/office/drawing/2014/main" id="{9DC7DE0F-71BC-49B8-4572-3A4150AA1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96" name="Group 95">
            <a:extLst>
              <a:ext uri="{FF2B5EF4-FFF2-40B4-BE49-F238E27FC236}">
                <a16:creationId xmlns:a16="http://schemas.microsoft.com/office/drawing/2014/main" id="{CDAA6E03-8B9A-D44E-662C-2F0C090A88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97" name="Freeform 32">
              <a:extLst>
                <a:ext uri="{FF2B5EF4-FFF2-40B4-BE49-F238E27FC236}">
                  <a16:creationId xmlns:a16="http://schemas.microsoft.com/office/drawing/2014/main" id="{BD678F65-B6AC-FEE1-E639-F1F8D210EA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98" name="Freeform 33">
              <a:extLst>
                <a:ext uri="{FF2B5EF4-FFF2-40B4-BE49-F238E27FC236}">
                  <a16:creationId xmlns:a16="http://schemas.microsoft.com/office/drawing/2014/main" id="{78830A76-063E-3281-58BD-571A0CC49A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99" name="Freeform 34">
              <a:extLst>
                <a:ext uri="{FF2B5EF4-FFF2-40B4-BE49-F238E27FC236}">
                  <a16:creationId xmlns:a16="http://schemas.microsoft.com/office/drawing/2014/main" id="{1409A92B-AD0D-ED4D-D57E-9E891369DA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0" name="Freeform 37">
              <a:extLst>
                <a:ext uri="{FF2B5EF4-FFF2-40B4-BE49-F238E27FC236}">
                  <a16:creationId xmlns:a16="http://schemas.microsoft.com/office/drawing/2014/main" id="{D31EEE4F-7C3F-EA80-1191-86F8A205B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02" name="Group 101">
            <a:extLst>
              <a:ext uri="{FF2B5EF4-FFF2-40B4-BE49-F238E27FC236}">
                <a16:creationId xmlns:a16="http://schemas.microsoft.com/office/drawing/2014/main" id="{4E8120ED-40D9-AA0A-4230-C7A711FCDB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03" name="Freeform 35">
              <a:extLst>
                <a:ext uri="{FF2B5EF4-FFF2-40B4-BE49-F238E27FC236}">
                  <a16:creationId xmlns:a16="http://schemas.microsoft.com/office/drawing/2014/main" id="{23F9A224-58DC-3ADA-FCFC-040A38200C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04" name="Freeform 36">
              <a:extLst>
                <a:ext uri="{FF2B5EF4-FFF2-40B4-BE49-F238E27FC236}">
                  <a16:creationId xmlns:a16="http://schemas.microsoft.com/office/drawing/2014/main" id="{D843FC86-EF27-02E2-162B-E436A20C75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05" name="Freeform 38">
              <a:extLst>
                <a:ext uri="{FF2B5EF4-FFF2-40B4-BE49-F238E27FC236}">
                  <a16:creationId xmlns:a16="http://schemas.microsoft.com/office/drawing/2014/main" id="{4AC2A121-3BF7-554B-9571-4B034B54ED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6" name="Freeform 39">
              <a:extLst>
                <a:ext uri="{FF2B5EF4-FFF2-40B4-BE49-F238E27FC236}">
                  <a16:creationId xmlns:a16="http://schemas.microsoft.com/office/drawing/2014/main" id="{97798BA7-49EF-749C-E7AD-4832D3A91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07" name="Freeform 40">
              <a:extLst>
                <a:ext uri="{FF2B5EF4-FFF2-40B4-BE49-F238E27FC236}">
                  <a16:creationId xmlns:a16="http://schemas.microsoft.com/office/drawing/2014/main" id="{E02C15F8-C37E-31C8-6DF6-2AC1456306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8" name="Rectangle 41">
              <a:extLst>
                <a:ext uri="{FF2B5EF4-FFF2-40B4-BE49-F238E27FC236}">
                  <a16:creationId xmlns:a16="http://schemas.microsoft.com/office/drawing/2014/main" id="{8C99BE8F-7A2E-828D-AA73-B15DB4E226B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9CAC2520-76EF-28E5-70DC-94591359C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7129F3BF-E019-DCC7-6267-FA26231A0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A3ACC-F136-F1EB-5974-424B8FB5E13E}"/>
              </a:ext>
            </a:extLst>
          </p:cNvPr>
          <p:cNvSpPr>
            <a:spLocks noGrp="1"/>
          </p:cNvSpPr>
          <p:nvPr>
            <p:ph type="title"/>
          </p:nvPr>
        </p:nvSpPr>
        <p:spPr>
          <a:xfrm>
            <a:off x="1577445" y="1168078"/>
            <a:ext cx="9048219" cy="1092200"/>
          </a:xfrm>
        </p:spPr>
        <p:txBody>
          <a:bodyPr anchor="ctr">
            <a:normAutofit/>
          </a:bodyPr>
          <a:lstStyle/>
          <a:p>
            <a:pPr algn="ctr"/>
            <a:r>
              <a:rPr lang="en-US" b="1" u="sng" dirty="0"/>
              <a:t>Lab-task</a:t>
            </a:r>
            <a:endParaRPr lang="en-PK" dirty="0">
              <a:solidFill>
                <a:srgbClr val="FFFFFF"/>
              </a:solidFill>
            </a:endParaRPr>
          </a:p>
        </p:txBody>
      </p:sp>
      <p:sp>
        <p:nvSpPr>
          <p:cNvPr id="6" name="Content Placeholder 2">
            <a:extLst>
              <a:ext uri="{FF2B5EF4-FFF2-40B4-BE49-F238E27FC236}">
                <a16:creationId xmlns:a16="http://schemas.microsoft.com/office/drawing/2014/main" id="{17DCC3AA-4404-5698-B199-B773E7A5B139}"/>
              </a:ext>
            </a:extLst>
          </p:cNvPr>
          <p:cNvSpPr>
            <a:spLocks noGrp="1"/>
          </p:cNvSpPr>
          <p:nvPr>
            <p:ph idx="1"/>
          </p:nvPr>
        </p:nvSpPr>
        <p:spPr>
          <a:xfrm>
            <a:off x="1507596" y="2260278"/>
            <a:ext cx="9048218" cy="3250629"/>
          </a:xfrm>
        </p:spPr>
        <p:txBody>
          <a:bodyPr anchor="ctr">
            <a:normAutofit/>
          </a:bodyPr>
          <a:lstStyle/>
          <a:p>
            <a:pPr lvl="0" algn="just"/>
            <a:r>
              <a:rPr lang="en-US" dirty="0"/>
              <a:t>Implement the adjacency list representation of a graph with m vertices and n edges. Also, check whether a path of a given length exists between any two pairs of vertices or not.</a:t>
            </a:r>
          </a:p>
          <a:p>
            <a:pPr lvl="0" algn="just"/>
            <a:endParaRPr lang="en-PK" dirty="0"/>
          </a:p>
          <a:p>
            <a:pPr lvl="0" algn="just"/>
            <a:r>
              <a:rPr lang="en-US" dirty="0"/>
              <a:t>Find the minimum spanning tree of an undirected Graph using a greedy approach.</a:t>
            </a:r>
            <a:endParaRPr lang="en-PK" dirty="0"/>
          </a:p>
        </p:txBody>
      </p:sp>
    </p:spTree>
    <p:extLst>
      <p:ext uri="{BB962C8B-B14F-4D97-AF65-F5344CB8AC3E}">
        <p14:creationId xmlns:p14="http://schemas.microsoft.com/office/powerpoint/2010/main" val="56455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1019</TotalTime>
  <Words>652</Words>
  <Application>Microsoft Macintosh PowerPoint</Application>
  <PresentationFormat>Widescreen</PresentationFormat>
  <Paragraphs>47</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Cambria Math</vt:lpstr>
      <vt:lpstr>Times New Roman</vt:lpstr>
      <vt:lpstr>Tw Cen MT</vt:lpstr>
      <vt:lpstr>Circuit</vt:lpstr>
      <vt:lpstr>Algorithms and Data Structures  TEB1113/TFB2023 - may 2025</vt:lpstr>
      <vt:lpstr>LAB – 9  graphs</vt:lpstr>
      <vt:lpstr>Objectives for lab-9</vt:lpstr>
      <vt:lpstr>Brief history</vt:lpstr>
      <vt:lpstr>Brief history</vt:lpstr>
      <vt:lpstr>Types of graphs</vt:lpstr>
      <vt:lpstr>Representation of Graphs</vt:lpstr>
      <vt:lpstr>Adjacency matrix Representation </vt:lpstr>
      <vt:lpstr>Adjacency list Representation </vt:lpstr>
      <vt:lpstr>Graph Traversal </vt:lpstr>
      <vt:lpstr>Spanning tree</vt:lpstr>
      <vt:lpstr>Spanning tree</vt:lpstr>
      <vt:lpstr>Lab-task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Reeyan Afzal</dc:creator>
  <cp:lastModifiedBy>Khan Reeyan Afzal</cp:lastModifiedBy>
  <cp:revision>207</cp:revision>
  <dcterms:created xsi:type="dcterms:W3CDTF">2025-05-20T03:20:14Z</dcterms:created>
  <dcterms:modified xsi:type="dcterms:W3CDTF">2026-07-10T00:06:12Z</dcterms:modified>
</cp:coreProperties>
</file>