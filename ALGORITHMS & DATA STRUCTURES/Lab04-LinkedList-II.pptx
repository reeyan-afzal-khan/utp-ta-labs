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31" r:id="rId4"/>
  </p:sldMasterIdLst>
  <p:notesMasterIdLst>
    <p:notesMasterId r:id="rId16"/>
  </p:notesMasterIdLst>
  <p:handoutMasterIdLst>
    <p:handoutMasterId r:id="rId17"/>
  </p:handoutMasterIdLst>
  <p:sldIdLst>
    <p:sldId id="268" r:id="rId5"/>
    <p:sldId id="385" r:id="rId6"/>
    <p:sldId id="386" r:id="rId7"/>
    <p:sldId id="387" r:id="rId8"/>
    <p:sldId id="257" r:id="rId9"/>
    <p:sldId id="365" r:id="rId10"/>
    <p:sldId id="372" r:id="rId11"/>
    <p:sldId id="388" r:id="rId12"/>
    <p:sldId id="383" r:id="rId13"/>
    <p:sldId id="384" r:id="rId14"/>
    <p:sldId id="270" r:id="rId15"/>
  </p:sldIdLst>
  <p:sldSz cx="18288000" cy="10287000"/>
  <p:notesSz cx="6858000" cy="9144000"/>
  <p:embeddedFontLst>
    <p:embeddedFont>
      <p:font typeface="Museo Sans 300" panose="02000000000000000000" charset="0"/>
      <p:regular r:id="rId18"/>
      <p:bold r:id="rId19"/>
      <p:italic r:id="rId20"/>
    </p:embeddedFont>
    <p:embeddedFont>
      <p:font typeface="Segoe UI" panose="020B0502040204020203" pitchFamily="3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E0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3971" autoAdjust="0"/>
  </p:normalViewPr>
  <p:slideViewPr>
    <p:cSldViewPr snapToGrid="0">
      <p:cViewPr varScale="1">
        <p:scale>
          <a:sx n="36" d="100"/>
          <a:sy n="36" d="100"/>
        </p:scale>
        <p:origin x="798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7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EB93D41-E753-CA08-512C-7FD9149E95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683311-34CD-10A6-71A7-5FEC1EAC08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391DD-0852-4038-9481-BE0C8E4C0068}" type="datetimeFigureOut">
              <a:rPr lang="en-MY" smtClean="0"/>
              <a:t>21/5/2026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2A957-AB6C-53B4-A4E1-0374492AD1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A79F2C-EAFF-B3B1-975D-3770C8024BD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3BE2F9-A3A4-483F-A619-855FC01C419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9590229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B1111C-7368-49FD-8B9D-8D05AE4C3340}" type="datetimeFigureOut">
              <a:rPr lang="en-MY" smtClean="0"/>
              <a:t>21/5/2026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61F1A-E494-4223-A600-C9DDF71EE41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362439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37988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87472-B57A-DFF6-0A43-599032CED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FCC552-30F0-1256-EC67-0E870BAC39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763616-1342-DE35-FF3B-1B7519158B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 Outcomes Slide</a:t>
            </a:r>
            <a:endParaRPr lang="en-MY" sz="120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en-MY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 2–4 lecture-level learning outcomes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measurable action verbs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 explicitly to Course Learning Outcomes (CLOs)</a:t>
            </a:r>
          </a:p>
          <a:p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132F73-39FD-42B2-1796-E58A0C6FB2B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34943F-9067-C1CD-A905-2FC1FB1AD3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926932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 Outcomes Slide</a:t>
            </a:r>
            <a:endParaRPr lang="en-MY" sz="120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en-MY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 2–4 lecture-level learning outcomes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measurable action verbs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 explicitly to Course Learning Outcomes (CLOs)</a:t>
            </a:r>
          </a:p>
          <a:p>
            <a:endParaRPr lang="en-MY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86465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7F81B-ECF4-BB8C-522E-73845160A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C7BC0C-72CE-5613-37D1-A4FBDFB3A1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E0EEF3-C829-9F09-985B-67A215F673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 Outcomes Slide</a:t>
            </a:r>
            <a:endParaRPr lang="en-MY" sz="120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en-MY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 2–4 lecture-level learning outcomes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measurable action verbs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 explicitly to Course Learning Outcomes (CLOs)</a:t>
            </a:r>
          </a:p>
          <a:p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D861F0-D5FA-E53A-F7E4-0D700CBE9F0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6D872-3803-64D3-6ACC-1498C720C7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265286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92746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03AB5-B534-77D9-F89C-9BF470610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1D4C31-3D26-853B-8D15-2D9A179B86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970C61-9D07-9E14-FA19-E8C5DE1006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Engagement and Activity Slides</a:t>
            </a:r>
          </a:p>
          <a:p>
            <a:endParaRPr lang="en-MY" dirty="0"/>
          </a:p>
          <a:p>
            <a:r>
              <a:rPr lang="en-MY" dirty="0"/>
              <a:t>Note: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 at least one engagement element where appropriate: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Think–Pair–Share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 task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Poll or reflection question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Suggested duration: 3–5 minutes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Activities shall align with learning outcomes</a:t>
            </a:r>
          </a:p>
          <a:p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E62F17-F868-F82B-0A34-BE664154CB2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AAFF73-1E8F-06C9-CCE4-D040194BB7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523040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156CB-D3B0-6A84-31B1-26FDA86EE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23A26B-64A6-D271-7F4F-97C9235A79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2ADC16-3448-9551-7242-4BAF4B4A04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Engagement and Activity Slides</a:t>
            </a:r>
          </a:p>
          <a:p>
            <a:endParaRPr lang="en-MY" dirty="0"/>
          </a:p>
          <a:p>
            <a:r>
              <a:rPr lang="en-MY" dirty="0"/>
              <a:t>Note: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 at least one engagement element where appropriate: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Think–Pair–Share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 task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Poll or reflection question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Suggested duration: 3–5 minutes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Activities shall align with learning outcomes</a:t>
            </a:r>
          </a:p>
          <a:p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A4917-5EF6-7D79-18BC-FE462FEBE21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F4D5C6-C248-870A-B6D2-2A4CF04AD3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842849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31FD9-59D8-CFC7-0A4C-E5ED45889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A30900-DCE8-4B75-2BDB-876062A8A6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EB35DF-5D19-0DD9-DEFE-14670B7FD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Engagement and Activity Slides</a:t>
            </a:r>
          </a:p>
          <a:p>
            <a:endParaRPr lang="en-MY" dirty="0"/>
          </a:p>
          <a:p>
            <a:r>
              <a:rPr lang="en-MY" dirty="0"/>
              <a:t>Note: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 at least one engagement element where appropriate: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Think–Pair–Share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 task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Poll or reflection question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Suggested duration: 3–5 minutes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Activities shall align with learning outcomes</a:t>
            </a:r>
          </a:p>
          <a:p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57B244-1E71-0466-64C5-D03B86F11BE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83B217-AB43-B558-91EA-F48D89D35B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889043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2BAAB-A44F-79D7-1A55-E221F4F53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C54821-DE75-2521-73DE-49ED440321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52C7A5-7D91-4A9A-BA8E-97879D295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Engagement and Activity Slides</a:t>
            </a:r>
          </a:p>
          <a:p>
            <a:endParaRPr lang="en-MY" dirty="0"/>
          </a:p>
          <a:p>
            <a:r>
              <a:rPr lang="en-MY" dirty="0"/>
              <a:t>Note: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 at least one engagement element where appropriate: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Think–Pair–Share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 task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Poll or reflection question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Suggested duration: 3–5 minutes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Activities shall align with learning outcomes</a:t>
            </a:r>
          </a:p>
          <a:p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B63062-9C01-2602-28FE-9FEF2EFD103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68E84-17A7-EF1E-7279-1892375D01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324184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A3B9D-D02F-4EE1-9554-FFD0B8E90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E5B065-B453-9B72-28B0-03C95F466F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ED657D-A315-6A89-A350-3C1414F5D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Engagement and Activity Slides</a:t>
            </a:r>
          </a:p>
          <a:p>
            <a:endParaRPr lang="en-MY" dirty="0"/>
          </a:p>
          <a:p>
            <a:r>
              <a:rPr lang="en-MY" dirty="0"/>
              <a:t>Note: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 at least one engagement element where appropriate: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Think–Pair–Share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 task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Poll or reflection question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Suggested duration: 3–5 minutes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Activities shall align with learning outcomes</a:t>
            </a:r>
          </a:p>
          <a:p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C1667-D37C-25D7-E801-E5CCCAA1802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11EB6-4DFC-8DB4-0D70-A5BDCABDE2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10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07901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53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051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934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87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058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093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636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593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842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09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Week 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60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hf hdr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106887" y="1511403"/>
            <a:ext cx="11424666" cy="5204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106887" y="9410700"/>
            <a:ext cx="1142466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7426192" y="1942813"/>
            <a:ext cx="9036316" cy="1752887"/>
            <a:chOff x="0" y="0"/>
            <a:chExt cx="2337006" cy="292155"/>
          </a:xfrm>
          <a:noFill/>
        </p:grpSpPr>
        <p:sp>
          <p:nvSpPr>
            <p:cNvPr id="5" name="Freeform 5"/>
            <p:cNvSpPr/>
            <p:nvPr/>
          </p:nvSpPr>
          <p:spPr>
            <a:xfrm>
              <a:off x="0" y="0"/>
              <a:ext cx="2337006" cy="292155"/>
            </a:xfrm>
            <a:custGeom>
              <a:avLst/>
              <a:gdLst/>
              <a:ahLst/>
              <a:cxnLst/>
              <a:rect l="l" t="t" r="r" b="b"/>
              <a:pathLst>
                <a:path w="2337006" h="292155">
                  <a:moveTo>
                    <a:pt x="0" y="0"/>
                  </a:moveTo>
                  <a:lnTo>
                    <a:pt x="2337006" y="0"/>
                  </a:lnTo>
                  <a:lnTo>
                    <a:pt x="2337006" y="292155"/>
                  </a:lnTo>
                  <a:lnTo>
                    <a:pt x="0" y="292155"/>
                  </a:lnTo>
                  <a:close/>
                </a:path>
              </a:pathLst>
            </a:custGeom>
            <a:grpFill/>
            <a:ln w="38100" cap="sq">
              <a:solidFill>
                <a:schemeClr val="tx1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337006" cy="33025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ts val="273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" y="0"/>
            <a:ext cx="6106886" cy="10286998"/>
            <a:chOff x="-10330" y="-104775"/>
            <a:chExt cx="1377733" cy="2182730"/>
          </a:xfrm>
        </p:grpSpPr>
        <p:sp>
          <p:nvSpPr>
            <p:cNvPr id="9" name="Freeform 9"/>
            <p:cNvSpPr/>
            <p:nvPr/>
          </p:nvSpPr>
          <p:spPr>
            <a:xfrm>
              <a:off x="-10330" y="-104775"/>
              <a:ext cx="1377733" cy="2182730"/>
            </a:xfrm>
            <a:custGeom>
              <a:avLst/>
              <a:gdLst/>
              <a:ahLst/>
              <a:cxnLst/>
              <a:rect l="l" t="t" r="r" b="b"/>
              <a:pathLst>
                <a:path w="1282673" h="2091166">
                  <a:moveTo>
                    <a:pt x="0" y="0"/>
                  </a:moveTo>
                  <a:lnTo>
                    <a:pt x="1282673" y="0"/>
                  </a:lnTo>
                  <a:lnTo>
                    <a:pt x="1282673" y="2091166"/>
                  </a:lnTo>
                  <a:lnTo>
                    <a:pt x="0" y="2091166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1282673" cy="19061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ts val="501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99" b="0" i="0" u="none" strike="noStrike" kern="1200" cap="none" spc="13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Aptos"/>
                  <a:cs typeface="Aptos"/>
                  <a:sym typeface="Aptos"/>
                </a:rPr>
                <a:t>Insert relevant picture related to the topic</a:t>
              </a:r>
            </a:p>
            <a:p>
              <a:pPr marL="0" marR="0" lvl="0" indent="0" algn="ctr" defTabSz="457200" rtl="0" eaLnBrk="1" fontAlgn="auto" latinLnBrk="0" hangingPunct="1">
                <a:lnSpc>
                  <a:spcPts val="501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99" b="0" i="0" u="none" strike="noStrike" kern="1200" cap="none" spc="13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Aptos"/>
                <a:cs typeface="Aptos"/>
                <a:sym typeface="Aptos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468506" y="4249467"/>
            <a:ext cx="11424666" cy="16314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6688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  <a:sym typeface="Droid Serif Bold"/>
              </a:rPr>
              <a:t>WEEK </a:t>
            </a:r>
            <a:r>
              <a:rPr lang="en-US" sz="4400" b="1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  <a:sym typeface="Droid Serif Bold"/>
              </a:rPr>
              <a:t>IV</a:t>
            </a:r>
            <a:endParaRPr kumimoji="0" lang="en-US" sz="4400" i="1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effectLst/>
              <a:uLnTx/>
              <a:uFillTx/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  <a:sym typeface="Droid Serif Bold"/>
            </a:endParaRPr>
          </a:p>
          <a:p>
            <a:pPr marL="0" marR="0" lvl="0" indent="0" algn="ctr" defTabSz="457200" rtl="0" eaLnBrk="1" fontAlgn="auto" latinLnBrk="0" hangingPunct="1">
              <a:lnSpc>
                <a:spcPts val="6688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  <a:sym typeface="Droid Serif Bold"/>
              </a:rPr>
              <a:t>LINKED LIST – II (CIRCULAR LINKED LIST)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73946" y="2210080"/>
            <a:ext cx="7340807" cy="10463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4255"/>
              </a:lnSpc>
              <a:defRPr/>
            </a:pPr>
            <a:r>
              <a:rPr lang="en-MY" sz="2799" spc="103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ALGORITHMS AND DATA STRUCTURES</a:t>
            </a:r>
            <a:endParaRPr lang="en-MY" sz="2799" spc="103" dirty="0"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latin typeface="Segoe UI" panose="020B0502040204020203" pitchFamily="34" charset="0"/>
              <a:cs typeface="Segoe UI" panose="020B0502040204020203" pitchFamily="34" charset="0"/>
              <a:sym typeface="Aptos"/>
            </a:endParaRPr>
          </a:p>
          <a:p>
            <a:pPr lvl="0" algn="ctr">
              <a:lnSpc>
                <a:spcPts val="4255"/>
              </a:lnSpc>
              <a:defRPr/>
            </a:pPr>
            <a:r>
              <a:rPr lang="en-MY" sz="2799" spc="103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  <a:sym typeface="Aptos"/>
              </a:rPr>
              <a:t>TEB1113/TFB2023</a:t>
            </a:r>
            <a:endParaRPr lang="en-MY" sz="2799" spc="103" dirty="0"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527172" y="6957133"/>
            <a:ext cx="7337522" cy="381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43"/>
              </a:lnSpc>
              <a:defRPr/>
            </a:pPr>
            <a:r>
              <a:rPr lang="en-MY" sz="2199" spc="81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FARAHIDA HANIM BT MAUSOR - DR (FSMC/UTP)</a:t>
            </a:r>
            <a:endParaRPr kumimoji="0" lang="en-US" sz="2199" b="0" i="1" u="none" strike="noStrike" kern="1200" cap="none" spc="81" normalizeH="0" baseline="0" noProof="0" dirty="0">
              <a:ln>
                <a:noFill/>
              </a:ln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effectLst/>
              <a:uLnTx/>
              <a:uFillTx/>
              <a:latin typeface="Segoe UI" panose="020B0502040204020203" pitchFamily="34" charset="0"/>
              <a:ea typeface="Aptos"/>
              <a:cs typeface="Segoe UI" panose="020B0502040204020203" pitchFamily="34" charset="0"/>
              <a:sym typeface="Apto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085066" y="7789617"/>
            <a:ext cx="8221734" cy="12400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334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90" normalizeH="0" baseline="0" noProof="0">
                <a:ln>
                  <a:noFill/>
                </a:ln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Segoe UI" panose="020B0502040204020203" pitchFamily="34" charset="0"/>
                <a:ea typeface="Aptos"/>
                <a:cs typeface="Segoe UI" panose="020B0502040204020203" pitchFamily="34" charset="0"/>
                <a:sym typeface="Aptos"/>
              </a:rPr>
              <a:t>BACHELOR OF XXXXXX</a:t>
            </a:r>
          </a:p>
          <a:p>
            <a:pPr marL="0" marR="0" lvl="0" indent="0" algn="ctr" defTabSz="457200" rtl="0" eaLnBrk="1" fontAlgn="auto" latinLnBrk="0" hangingPunct="1">
              <a:lnSpc>
                <a:spcPts val="334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90" normalizeH="0" baseline="0" noProof="0">
                <a:ln>
                  <a:noFill/>
                </a:ln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Segoe UI" panose="020B0502040204020203" pitchFamily="34" charset="0"/>
                <a:ea typeface="Aptos"/>
                <a:cs typeface="Segoe UI" panose="020B0502040204020203" pitchFamily="34" charset="0"/>
                <a:sym typeface="Aptos"/>
              </a:rPr>
              <a:t>DEPARTMENT OF COMPUTING</a:t>
            </a:r>
          </a:p>
          <a:p>
            <a:pPr marL="0" marR="0" lvl="0" indent="0" algn="ctr" defTabSz="457200" rtl="0" eaLnBrk="1" fontAlgn="auto" latinLnBrk="0" hangingPunct="1">
              <a:lnSpc>
                <a:spcPts val="334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200" spc="9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Aptos"/>
                <a:cs typeface="Segoe UI" panose="020B0502040204020203" pitchFamily="34" charset="0"/>
                <a:sym typeface="Aptos"/>
              </a:rPr>
              <a:t>FACULTY OF SCIENCE, MANAGEMENT &amp; COMPUTING</a:t>
            </a:r>
            <a:r>
              <a:rPr kumimoji="0" lang="en-US" sz="2200" b="0" i="0" u="none" strike="noStrike" kern="1200" cap="none" spc="90" normalizeH="0" baseline="0" noProof="0">
                <a:ln>
                  <a:noFill/>
                </a:ln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Segoe UI" panose="020B0502040204020203" pitchFamily="34" charset="0"/>
                <a:ea typeface="Aptos"/>
                <a:cs typeface="Segoe UI" panose="020B0502040204020203" pitchFamily="34" charset="0"/>
                <a:sym typeface="Aptos"/>
              </a:rPr>
              <a:t> </a:t>
            </a:r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id="{486EF194-5755-EE7E-90D6-9FC063183FE5}"/>
              </a:ext>
            </a:extLst>
          </p:cNvPr>
          <p:cNvSpPr txBox="1">
            <a:spLocks/>
          </p:cNvSpPr>
          <p:nvPr/>
        </p:nvSpPr>
        <p:spPr>
          <a:xfrm>
            <a:off x="6629400" y="9582308"/>
            <a:ext cx="10629900" cy="553998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wrap="square">
            <a:spAutoFit/>
          </a:bodyPr>
          <a:lstStyle/>
          <a:p>
            <a:pPr marL="237490" algn="ctr" fontAlgn="base">
              <a:buNone/>
            </a:pPr>
            <a:r>
              <a:rPr lang="en-US" sz="1000" kern="12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© 2026 INSTITUTE OF TECHNOLOGY PETRONAS SDN BHD </a:t>
            </a:r>
            <a:endParaRPr lang="en-MY" sz="1100">
              <a:effectLst/>
              <a:latin typeface="Museo Sans 300" panose="02000000000000000000" pitchFamily="50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7490" algn="ctr" fontAlgn="base">
              <a:buNone/>
            </a:pPr>
            <a:r>
              <a:rPr lang="en-US" sz="1000" kern="12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 rights reserved. No part of this document may be reproduced, stored in a retrieval system or transmitted in any form or by any means (electronic, mechanical, photocopying, recording or otherwise) without the permission of the copyright owner.</a:t>
            </a:r>
            <a:endParaRPr lang="en-MY" sz="1100">
              <a:effectLst/>
              <a:latin typeface="Museo Sans 300" panose="02000000000000000000" pitchFamily="50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58BF3AB-9F7F-0AAB-2719-430060823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3864" y="272259"/>
            <a:ext cx="2617689" cy="114439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E1A74E1-A546-E488-26C8-703260A4C7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457"/>
          <a:stretch>
            <a:fillRect/>
          </a:stretch>
        </p:blipFill>
        <p:spPr>
          <a:xfrm>
            <a:off x="0" y="0"/>
            <a:ext cx="6106886" cy="102869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8A4E8-D0A1-A754-557F-0B65A4FF7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1C6C398-1942-0AD5-41B2-4089BDF999A8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F96DF06-58C5-DAAD-1BDB-8FC07E68A720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3612DC9-D76F-AAAB-B268-C89CDFEE7332}"/>
              </a:ext>
            </a:extLst>
          </p:cNvPr>
          <p:cNvSpPr txBox="1"/>
          <p:nvPr/>
        </p:nvSpPr>
        <p:spPr>
          <a:xfrm>
            <a:off x="990600" y="300719"/>
            <a:ext cx="9356377" cy="62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5472"/>
              </a:lnSpc>
              <a:defRPr/>
            </a:pP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Droid Serif Bold"/>
                <a:cs typeface="Segoe UI" panose="020B0502040204020203" pitchFamily="34" charset="0"/>
                <a:sym typeface="Droid Serif Bold"/>
              </a:rPr>
              <a:t>RECAP FROM PREVIOUS LECTURE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EE1773E-3923-46BF-AF44-31E5B84C74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IV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36CEDAF-3D5D-2E59-F65F-B7220C131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60D1664-09D5-A89C-629B-01FC06CEB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2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DD0BF8-105F-6224-C810-DE29C5995211}"/>
              </a:ext>
            </a:extLst>
          </p:cNvPr>
          <p:cNvSpPr txBox="1"/>
          <p:nvPr/>
        </p:nvSpPr>
        <p:spPr>
          <a:xfrm>
            <a:off x="756447" y="1455366"/>
            <a:ext cx="16775106" cy="7272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lnSpc>
                <a:spcPct val="200000"/>
              </a:lnSpc>
              <a:buFontTx/>
              <a:buAutoNum type="arabicPeriod"/>
            </a:pPr>
            <a:r>
              <a:rPr lang="en-US" sz="4800" dirty="0"/>
              <a:t>A linked list is made of nodes connected by pointers.</a:t>
            </a:r>
          </a:p>
          <a:p>
            <a:pPr marL="514350" indent="-514350" algn="just">
              <a:lnSpc>
                <a:spcPct val="200000"/>
              </a:lnSpc>
              <a:buFontTx/>
              <a:buAutoNum type="arabicPeriod"/>
            </a:pPr>
            <a:r>
              <a:rPr lang="en-US" sz="4800" dirty="0"/>
              <a:t>A singly linked list supports forward traversal only.</a:t>
            </a:r>
          </a:p>
          <a:p>
            <a:pPr marL="514350" indent="-514350" algn="just">
              <a:lnSpc>
                <a:spcPct val="200000"/>
              </a:lnSpc>
              <a:buFontTx/>
              <a:buAutoNum type="arabicPeriod"/>
            </a:pPr>
            <a:r>
              <a:rPr lang="en-US" sz="4800" dirty="0"/>
              <a:t>A doubly linked list supports forward and backward traversal.</a:t>
            </a:r>
          </a:p>
          <a:p>
            <a:pPr marL="514350" indent="-514350" algn="just">
              <a:lnSpc>
                <a:spcPct val="200000"/>
              </a:lnSpc>
              <a:buFontTx/>
              <a:buAutoNum type="arabicPeriod"/>
            </a:pPr>
            <a:r>
              <a:rPr lang="en-US" sz="4800" dirty="0"/>
              <a:t>Linked lists allow dynamic memory allocation but require extra pointer memory.</a:t>
            </a:r>
          </a:p>
        </p:txBody>
      </p:sp>
    </p:spTree>
    <p:extLst>
      <p:ext uri="{BB962C8B-B14F-4D97-AF65-F5344CB8AC3E}">
        <p14:creationId xmlns:p14="http://schemas.microsoft.com/office/powerpoint/2010/main" val="2502199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9CD0D-972B-FE6D-B005-F472E53C0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2F305BD-B647-52A1-7229-8D1C689775AB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0AD37D0-AB7C-531D-442D-316B5352ACD1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EE389B7-4BDC-9F88-5E29-C825141ABF62}"/>
              </a:ext>
            </a:extLst>
          </p:cNvPr>
          <p:cNvSpPr txBox="1"/>
          <p:nvPr/>
        </p:nvSpPr>
        <p:spPr>
          <a:xfrm>
            <a:off x="990600" y="300719"/>
            <a:ext cx="9356377" cy="62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547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spc="14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Droid Serif Bold"/>
                <a:cs typeface="Segoe UI" panose="020B0502040204020203" pitchFamily="34" charset="0"/>
                <a:sym typeface="Droid Serif Bold"/>
              </a:rPr>
              <a:t>LEARNING OUTCOMES</a:t>
            </a:r>
            <a:endParaRPr kumimoji="0" lang="en-US" sz="3200" b="1" i="0" u="none" strike="noStrike" kern="1200" cap="none" spc="147" normalizeH="0" baseline="0" noProof="0">
              <a:ln>
                <a:noFill/>
              </a:ln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effectLst/>
              <a:uLnTx/>
              <a:uFillTx/>
              <a:latin typeface="Segoe UI" panose="020B0502040204020203" pitchFamily="34" charset="0"/>
              <a:ea typeface="Droid Serif Bold"/>
              <a:cs typeface="Segoe UI" panose="020B0502040204020203" pitchFamily="34" charset="0"/>
              <a:sym typeface="Droid Serif Bold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4AC5EDA-CD04-CA81-5505-46F71DF981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IV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84BAFFF-0B17-2D6B-F88C-8FD53E5AE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EFAFA90-B6A0-006E-2A2C-78E3AA19E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3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175015-C56E-A18B-9965-887E7BA6AF14}"/>
              </a:ext>
            </a:extLst>
          </p:cNvPr>
          <p:cNvSpPr txBox="1"/>
          <p:nvPr/>
        </p:nvSpPr>
        <p:spPr>
          <a:xfrm>
            <a:off x="756447" y="1455366"/>
            <a:ext cx="16775106" cy="5794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lnSpc>
                <a:spcPct val="200000"/>
              </a:lnSpc>
              <a:buFontTx/>
              <a:buAutoNum type="arabicPeriod"/>
            </a:pPr>
            <a:r>
              <a:rPr lang="en-US" sz="4800" dirty="0"/>
              <a:t>Explain the structure of a circular linked list.</a:t>
            </a:r>
          </a:p>
          <a:p>
            <a:pPr marL="514350" indent="-514350" algn="just">
              <a:lnSpc>
                <a:spcPct val="200000"/>
              </a:lnSpc>
              <a:buFontTx/>
              <a:buAutoNum type="arabicPeriod"/>
            </a:pPr>
            <a:r>
              <a:rPr lang="en-US" sz="4800" dirty="0"/>
              <a:t>Differentiate singly, doubly, and circular linked lists.</a:t>
            </a:r>
          </a:p>
          <a:p>
            <a:pPr marL="514350" indent="-514350" algn="just">
              <a:lnSpc>
                <a:spcPct val="200000"/>
              </a:lnSpc>
              <a:buFontTx/>
              <a:buAutoNum type="arabicPeriod"/>
            </a:pPr>
            <a:r>
              <a:rPr lang="en-US" sz="4800" dirty="0"/>
              <a:t>Trace insertion, deletion, and traversal in a circular linked list.</a:t>
            </a:r>
          </a:p>
          <a:p>
            <a:pPr marL="514350" indent="-514350" algn="just">
              <a:lnSpc>
                <a:spcPct val="200000"/>
              </a:lnSpc>
              <a:buFontTx/>
              <a:buAutoNum type="arabicPeriod"/>
            </a:pPr>
            <a:r>
              <a:rPr lang="en-US" sz="4800" dirty="0"/>
              <a:t>Implement circular linked list operations in C++.</a:t>
            </a:r>
          </a:p>
        </p:txBody>
      </p:sp>
    </p:spTree>
    <p:extLst>
      <p:ext uri="{BB962C8B-B14F-4D97-AF65-F5344CB8AC3E}">
        <p14:creationId xmlns:p14="http://schemas.microsoft.com/office/powerpoint/2010/main" val="1035715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5F617-6662-C456-227D-3275C55C5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F43934F-2864-661A-2BA0-DC5387E43B44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FBDD271-AED0-0592-6161-DA190BFBADB2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372BB23-EF0F-750B-8106-7619BB6E6B1C}"/>
              </a:ext>
            </a:extLst>
          </p:cNvPr>
          <p:cNvSpPr txBox="1"/>
          <p:nvPr/>
        </p:nvSpPr>
        <p:spPr>
          <a:xfrm>
            <a:off x="990600" y="300719"/>
            <a:ext cx="9356377" cy="62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5472"/>
              </a:lnSpc>
              <a:defRPr/>
            </a:pP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Droid Serif Bold"/>
                <a:cs typeface="Segoe UI" panose="020B0502040204020203" pitchFamily="34" charset="0"/>
                <a:sym typeface="Droid Serif Bold"/>
              </a:rPr>
              <a:t>TOPICS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90AE56B-4BEA-5B7A-F78B-014938DB73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IV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2CA9889-5D5F-2D1D-22C9-9D6784271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0351A66-EF48-9C85-4CCF-6277EE3A6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4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A2FE96-C87E-A6ED-5539-84E36E5345F9}"/>
              </a:ext>
            </a:extLst>
          </p:cNvPr>
          <p:cNvSpPr txBox="1"/>
          <p:nvPr/>
        </p:nvSpPr>
        <p:spPr>
          <a:xfrm>
            <a:off x="756447" y="1455366"/>
            <a:ext cx="16775106" cy="7442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Tx/>
              <a:buAutoNum type="arabicPeriod"/>
            </a:pPr>
            <a:r>
              <a:rPr lang="en-MY" sz="5400" dirty="0"/>
              <a:t>Circular Linked List Concept</a:t>
            </a:r>
          </a:p>
          <a:p>
            <a:pPr marL="514350" indent="-514350">
              <a:lnSpc>
                <a:spcPct val="150000"/>
              </a:lnSpc>
              <a:buFontTx/>
              <a:buAutoNum type="arabicPeriod"/>
            </a:pPr>
            <a:r>
              <a:rPr lang="en-US" sz="5400" dirty="0"/>
              <a:t>Difference from Singly and Doubly Linked Lists</a:t>
            </a:r>
          </a:p>
          <a:p>
            <a:pPr marL="514350" indent="-514350">
              <a:lnSpc>
                <a:spcPct val="150000"/>
              </a:lnSpc>
              <a:buFontTx/>
              <a:buAutoNum type="arabicPeriod"/>
            </a:pPr>
            <a:r>
              <a:rPr lang="en-MY" sz="5400" dirty="0"/>
              <a:t>Circular Traversal</a:t>
            </a:r>
          </a:p>
          <a:p>
            <a:pPr marL="514350" indent="-514350">
              <a:lnSpc>
                <a:spcPct val="150000"/>
              </a:lnSpc>
              <a:buFontTx/>
              <a:buAutoNum type="arabicPeriod"/>
            </a:pPr>
            <a:r>
              <a:rPr lang="en-MY" sz="5400" dirty="0"/>
              <a:t>Insertion Operations</a:t>
            </a:r>
          </a:p>
          <a:p>
            <a:pPr marL="514350" indent="-514350">
              <a:lnSpc>
                <a:spcPct val="150000"/>
              </a:lnSpc>
              <a:buFontTx/>
              <a:buAutoNum type="arabicPeriod"/>
            </a:pPr>
            <a:r>
              <a:rPr lang="en-MY" sz="5400" dirty="0"/>
              <a:t>Deletion Operations</a:t>
            </a:r>
          </a:p>
          <a:p>
            <a:pPr marL="514350" indent="-514350">
              <a:lnSpc>
                <a:spcPct val="150000"/>
              </a:lnSpc>
              <a:buFontTx/>
              <a:buAutoNum type="arabicPeriod"/>
            </a:pPr>
            <a:r>
              <a:rPr lang="en-MY" sz="5400" dirty="0"/>
              <a:t>C++ Lab Practice</a:t>
            </a:r>
          </a:p>
        </p:txBody>
      </p:sp>
    </p:spTree>
    <p:extLst>
      <p:ext uri="{BB962C8B-B14F-4D97-AF65-F5344CB8AC3E}">
        <p14:creationId xmlns:p14="http://schemas.microsoft.com/office/powerpoint/2010/main" val="3465856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902113" y="0"/>
            <a:ext cx="6256973" cy="1638077"/>
          </a:xfrm>
          <a:prstGeom prst="rect">
            <a:avLst/>
          </a:prstGeom>
        </p:spPr>
        <p:txBody>
          <a:bodyPr vert="horz" wrap="square" lIns="0" tIns="18098" rIns="0" bIns="0" rtlCol="0">
            <a:spAutoFit/>
          </a:bodyPr>
          <a:lstStyle/>
          <a:p>
            <a:pPr lvl="0" algn="ctr">
              <a:lnSpc>
                <a:spcPts val="6688"/>
              </a:lnSpc>
              <a:spcBef>
                <a:spcPct val="0"/>
              </a:spcBef>
              <a:defRPr/>
            </a:pPr>
            <a:r>
              <a:rPr lang="en-US" sz="4000" b="1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  <a:sym typeface="Droid Serif Bold"/>
              </a:rPr>
              <a:t>LINKED LIST – II</a:t>
            </a:r>
          </a:p>
          <a:p>
            <a:pPr lvl="0" algn="ctr">
              <a:lnSpc>
                <a:spcPts val="6688"/>
              </a:lnSpc>
              <a:spcBef>
                <a:spcPct val="0"/>
              </a:spcBef>
              <a:defRPr/>
            </a:pPr>
            <a:r>
              <a:rPr lang="en-US" sz="4000" b="1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  <a:sym typeface="Droid Serif Bold"/>
              </a:rPr>
              <a:t>(CIRCULAR LINKED LIST)</a:t>
            </a: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99669084-3CCA-1770-6024-E848243FA0B7}"/>
              </a:ext>
            </a:extLst>
          </p:cNvPr>
          <p:cNvSpPr txBox="1"/>
          <p:nvPr/>
        </p:nvSpPr>
        <p:spPr>
          <a:xfrm>
            <a:off x="316056" y="4076531"/>
            <a:ext cx="7098887" cy="1334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US" sz="66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  <a:endParaRPr lang="en-US" sz="6600" b="1" spc="147" dirty="0"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latin typeface="Segoe UI" panose="020B0502040204020203" pitchFamily="34" charset="0"/>
              <a:cs typeface="Segoe UI" panose="020B0502040204020203" pitchFamily="34" charset="0"/>
              <a:sym typeface="Droid Serif Bold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DDCD67-EACE-1158-9CDF-D05D35C498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80" t="501" r="33683" b="-501"/>
          <a:stretch>
            <a:fillRect/>
          </a:stretch>
        </p:blipFill>
        <p:spPr>
          <a:xfrm>
            <a:off x="7414943" y="0"/>
            <a:ext cx="10873057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6F996-7635-1787-F807-1C7FEC317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4A366B4-B572-DAE1-DF2F-B770D0BED8D4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9CF50E5-C002-3A45-783D-A8BBBE0D5202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7D3C917-8FEB-127C-5C2A-5F099C2969F8}"/>
              </a:ext>
            </a:extLst>
          </p:cNvPr>
          <p:cNvSpPr txBox="1"/>
          <p:nvPr/>
        </p:nvSpPr>
        <p:spPr>
          <a:xfrm>
            <a:off x="990600" y="300719"/>
            <a:ext cx="9356377" cy="62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5472"/>
              </a:lnSpc>
              <a:defRPr/>
            </a:pP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  <a:endParaRPr kumimoji="0" lang="en-US" sz="3200" b="1" i="0" u="none" strike="noStrike" kern="1200" cap="none" spc="147" normalizeH="0" baseline="0" noProof="0" dirty="0">
              <a:ln>
                <a:noFill/>
              </a:ln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effectLst/>
              <a:uLnTx/>
              <a:uFillTx/>
              <a:latin typeface="Segoe UI" panose="020B0502040204020203" pitchFamily="34" charset="0"/>
              <a:ea typeface="Droid Serif Bold"/>
              <a:cs typeface="Segoe UI" panose="020B0502040204020203" pitchFamily="34" charset="0"/>
              <a:sym typeface="Droid Serif Bold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5024C9A-42D5-5989-7E7B-2E9419BC75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IV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59FEC39-794D-5D70-F15F-446880331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210C44E-CE92-0AE7-E274-3C48AFC70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6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D7703A2D-8146-8388-7268-39977DADB52D}"/>
              </a:ext>
            </a:extLst>
          </p:cNvPr>
          <p:cNvSpPr txBox="1"/>
          <p:nvPr/>
        </p:nvSpPr>
        <p:spPr>
          <a:xfrm>
            <a:off x="756447" y="1805216"/>
            <a:ext cx="9356377" cy="621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472"/>
              </a:lnSpc>
              <a:defRPr/>
            </a:pP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Droid Serif Bold"/>
                <a:cs typeface="Segoe UI" panose="020B0502040204020203" pitchFamily="34" charset="0"/>
                <a:sym typeface="Droid Serif Bold"/>
              </a:rPr>
              <a:t>1.1. </a:t>
            </a: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CIRCULAR LINKED LIST</a:t>
            </a:r>
            <a:endParaRPr lang="en-GB" sz="3200" b="1" spc="147" dirty="0"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2394E0-E2D1-C064-917A-689DA98B054B}"/>
              </a:ext>
            </a:extLst>
          </p:cNvPr>
          <p:cNvSpPr txBox="1"/>
          <p:nvPr/>
        </p:nvSpPr>
        <p:spPr>
          <a:xfrm>
            <a:off x="756447" y="2644758"/>
            <a:ext cx="16775106" cy="648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A circular linked list is a linked list where the last node points back to the first node. Unlike a normal singly linked list, the final node does not point to NULL.</a:t>
            </a:r>
          </a:p>
          <a:p>
            <a:pPr marL="514350" indent="-5143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3600" dirty="0"/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The last node points back to the head.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Traversal can continue in a loop.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There is no NULL at the end.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A stopping condition is required during traversal.</a:t>
            </a:r>
          </a:p>
          <a:p>
            <a:pPr marL="514350" indent="-5143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4111208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E5512-D1B2-06D1-9703-C3F4A60D9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1E93228-3ACE-41BB-60FA-4B7854D8048D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7FD9E89-9CE4-50B8-625D-0343A3D19F70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A037B0B-7A75-E0F9-3C0D-8F550590FE75}"/>
              </a:ext>
            </a:extLst>
          </p:cNvPr>
          <p:cNvSpPr txBox="1"/>
          <p:nvPr/>
        </p:nvSpPr>
        <p:spPr>
          <a:xfrm>
            <a:off x="990600" y="300719"/>
            <a:ext cx="9356377" cy="62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5472"/>
              </a:lnSpc>
              <a:defRPr/>
            </a:pP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CIRCULAR LINKED LIST</a:t>
            </a:r>
            <a:endParaRPr kumimoji="0" lang="en-US" sz="3200" b="1" i="0" u="none" strike="noStrike" kern="1200" cap="none" spc="147" normalizeH="0" baseline="0" noProof="0" dirty="0">
              <a:ln>
                <a:noFill/>
              </a:ln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effectLst/>
              <a:uLnTx/>
              <a:uFillTx/>
              <a:latin typeface="Segoe UI" panose="020B0502040204020203" pitchFamily="34" charset="0"/>
              <a:ea typeface="Droid Serif Bold"/>
              <a:cs typeface="Segoe UI" panose="020B0502040204020203" pitchFamily="34" charset="0"/>
              <a:sym typeface="Droid Serif Bold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3D7C022-E434-0F5B-7686-B63FFBF1B6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IV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F079929-9F20-BFB5-57D9-3733D94C4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60AACD6-88DE-C816-F289-759F1A9E2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7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Google Shape;548;p5">
            <a:extLst>
              <a:ext uri="{FF2B5EF4-FFF2-40B4-BE49-F238E27FC236}">
                <a16:creationId xmlns:a16="http://schemas.microsoft.com/office/drawing/2014/main" id="{017167DD-AA62-163B-E833-E7E5C79C336D}"/>
              </a:ext>
            </a:extLst>
          </p:cNvPr>
          <p:cNvPicPr preferRelativeResize="0"/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02" b="21673"/>
          <a:stretch>
            <a:fillRect/>
          </a:stretch>
        </p:blipFill>
        <p:spPr>
          <a:xfrm>
            <a:off x="1050252" y="2178423"/>
            <a:ext cx="16187495" cy="65919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44968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9572E-5CE1-C1CB-D811-4FD2E7FE8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2A1179A-B707-3F05-CD34-30CA6939A668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6945E88-3E44-E178-8B48-90BA540254FA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563EE17-8572-873F-8467-BA77875667B0}"/>
              </a:ext>
            </a:extLst>
          </p:cNvPr>
          <p:cNvSpPr txBox="1"/>
          <p:nvPr/>
        </p:nvSpPr>
        <p:spPr>
          <a:xfrm>
            <a:off x="990600" y="300719"/>
            <a:ext cx="9356377" cy="62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5472"/>
              </a:lnSpc>
              <a:defRPr/>
            </a:pP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SINGLY VS DOUBLY VS CIRCULAR</a:t>
            </a:r>
            <a:endParaRPr kumimoji="0" lang="en-US" sz="3200" b="1" i="0" u="none" strike="noStrike" kern="1200" cap="none" spc="147" normalizeH="0" baseline="0" noProof="0" dirty="0">
              <a:ln>
                <a:noFill/>
              </a:ln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effectLst/>
              <a:uLnTx/>
              <a:uFillTx/>
              <a:latin typeface="Segoe UI" panose="020B0502040204020203" pitchFamily="34" charset="0"/>
              <a:ea typeface="Droid Serif Bold"/>
              <a:cs typeface="Segoe UI" panose="020B0502040204020203" pitchFamily="34" charset="0"/>
              <a:sym typeface="Droid Serif Bold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BD5E9729-C8D6-9FDB-93B1-B2B7A03AA2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IV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1E0CE0A-7F65-C7F0-31D1-028D3A99E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B21D544-9362-90FD-B479-D06F77D13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8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945897A-FC01-D446-BE5F-FB3AEA5DF0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449895"/>
              </p:ext>
            </p:extLst>
          </p:nvPr>
        </p:nvGraphicFramePr>
        <p:xfrm>
          <a:off x="756446" y="1451995"/>
          <a:ext cx="16775104" cy="8030982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4193776">
                  <a:extLst>
                    <a:ext uri="{9D8B030D-6E8A-4147-A177-3AD203B41FA5}">
                      <a16:colId xmlns:a16="http://schemas.microsoft.com/office/drawing/2014/main" val="2364646925"/>
                    </a:ext>
                  </a:extLst>
                </a:gridCol>
                <a:gridCol w="4193776">
                  <a:extLst>
                    <a:ext uri="{9D8B030D-6E8A-4147-A177-3AD203B41FA5}">
                      <a16:colId xmlns:a16="http://schemas.microsoft.com/office/drawing/2014/main" val="3987926654"/>
                    </a:ext>
                  </a:extLst>
                </a:gridCol>
                <a:gridCol w="4193776">
                  <a:extLst>
                    <a:ext uri="{9D8B030D-6E8A-4147-A177-3AD203B41FA5}">
                      <a16:colId xmlns:a16="http://schemas.microsoft.com/office/drawing/2014/main" val="490827413"/>
                    </a:ext>
                  </a:extLst>
                </a:gridCol>
                <a:gridCol w="4193776">
                  <a:extLst>
                    <a:ext uri="{9D8B030D-6E8A-4147-A177-3AD203B41FA5}">
                      <a16:colId xmlns:a16="http://schemas.microsoft.com/office/drawing/2014/main" val="603424043"/>
                    </a:ext>
                  </a:extLst>
                </a:gridCol>
              </a:tblGrid>
              <a:tr h="1338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3200" b="1" kern="1200" spc="147">
                          <a:gradFill>
                            <a:gsLst>
                              <a:gs pos="0">
                                <a:srgbClr val="000000">
                                  <a:alpha val="100000"/>
                                </a:srgbClr>
                              </a:gs>
                              <a:gs pos="50000">
                                <a:srgbClr val="002F31">
                                  <a:alpha val="100000"/>
                                </a:srgbClr>
                              </a:gs>
                              <a:gs pos="100000">
                                <a:srgbClr val="00959A">
                                  <a:alpha val="100000"/>
                                </a:srgbClr>
                              </a:gs>
                            </a:gsLst>
                            <a:lin ang="2700000"/>
                          </a:gra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3200" b="1" kern="1200" spc="147">
                          <a:gradFill>
                            <a:gsLst>
                              <a:gs pos="0">
                                <a:srgbClr val="000000">
                                  <a:alpha val="100000"/>
                                </a:srgbClr>
                              </a:gs>
                              <a:gs pos="50000">
                                <a:srgbClr val="002F31">
                                  <a:alpha val="100000"/>
                                </a:srgbClr>
                              </a:gs>
                              <a:gs pos="100000">
                                <a:srgbClr val="00959A">
                                  <a:alpha val="100000"/>
                                </a:srgbClr>
                              </a:gs>
                            </a:gsLst>
                            <a:lin ang="2700000"/>
                          </a:gra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Singly Linked 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3200" b="1" kern="1200" spc="147">
                          <a:gradFill>
                            <a:gsLst>
                              <a:gs pos="0">
                                <a:srgbClr val="000000">
                                  <a:alpha val="100000"/>
                                </a:srgbClr>
                              </a:gs>
                              <a:gs pos="50000">
                                <a:srgbClr val="002F31">
                                  <a:alpha val="100000"/>
                                </a:srgbClr>
                              </a:gs>
                              <a:gs pos="100000">
                                <a:srgbClr val="00959A">
                                  <a:alpha val="100000"/>
                                </a:srgbClr>
                              </a:gs>
                            </a:gsLst>
                            <a:lin ang="2700000"/>
                          </a:gra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Doubly Linked 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3200" b="1" kern="1200" spc="147" dirty="0">
                          <a:gradFill>
                            <a:gsLst>
                              <a:gs pos="0">
                                <a:srgbClr val="000000">
                                  <a:alpha val="100000"/>
                                </a:srgbClr>
                              </a:gs>
                              <a:gs pos="50000">
                                <a:srgbClr val="002F31">
                                  <a:alpha val="100000"/>
                                </a:srgbClr>
                              </a:gs>
                              <a:gs pos="100000">
                                <a:srgbClr val="00959A">
                                  <a:alpha val="100000"/>
                                </a:srgbClr>
                              </a:gs>
                            </a:gsLst>
                            <a:lin ang="2700000"/>
                          </a:gra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Circular Linked List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3686000"/>
                  </a:ext>
                </a:extLst>
              </a:tr>
              <a:tr h="1338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b="1" dirty="0"/>
                        <a:t>Last node points 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head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7002992"/>
                  </a:ext>
                </a:extLst>
              </a:tr>
              <a:tr h="1338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b="1" dirty="0"/>
                        <a:t>Direction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Forward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dirty="0"/>
                        <a:t>Forward and backward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Usually forward circular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6796689"/>
                  </a:ext>
                </a:extLst>
              </a:tr>
              <a:tr h="1338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b="1"/>
                        <a:t>Pointers per node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dirty="0"/>
                        <a:t>next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prev, next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next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7868756"/>
                  </a:ext>
                </a:extLst>
              </a:tr>
              <a:tr h="1338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b="1" dirty="0"/>
                        <a:t>Traversal stop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Back at head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656725"/>
                  </a:ext>
                </a:extLst>
              </a:tr>
              <a:tr h="1338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b="1" dirty="0"/>
                        <a:t>Main 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Simple dynamic 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Two-way navigation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dirty="0"/>
                        <a:t>Repeated/cyclic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7401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9372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F03F0-00B2-007F-F68E-4143A533D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A9EBCC6-62B0-331D-7E32-0023A0CB0B5E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172A6CA-27F3-4F23-A900-BBE3F9BCF8C2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C0BC8DB-DD3E-3EA8-EE26-36244FBBFE6C}"/>
              </a:ext>
            </a:extLst>
          </p:cNvPr>
          <p:cNvSpPr txBox="1"/>
          <p:nvPr/>
        </p:nvSpPr>
        <p:spPr>
          <a:xfrm>
            <a:off x="990600" y="300719"/>
            <a:ext cx="16540953" cy="621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72"/>
              </a:lnSpc>
              <a:defRPr/>
            </a:pP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SUMMARY</a:t>
            </a:r>
            <a:endParaRPr lang="en-MY" sz="3200" b="1" spc="147" dirty="0"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A2B05DA-CA44-8C0D-5458-451307C4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IV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8609057-698A-A340-86ED-00F43C9E6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2E807D2-BF53-446A-AE68-B2D88F674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9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78A68226-0E89-EFD5-18B3-4A031057EDBB}"/>
              </a:ext>
            </a:extLst>
          </p:cNvPr>
          <p:cNvSpPr txBox="1"/>
          <p:nvPr/>
        </p:nvSpPr>
        <p:spPr>
          <a:xfrm>
            <a:off x="756447" y="1805216"/>
            <a:ext cx="9356377" cy="621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472"/>
              </a:lnSpc>
              <a:defRPr/>
            </a:pPr>
            <a:r>
              <a:rPr lang="en-MY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TODAY’S KEY TAKEAWAYS:</a:t>
            </a:r>
            <a:endParaRPr lang="en-GB" sz="3200" b="1" spc="147" dirty="0"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F5E492-16C0-8A83-B7C0-A71CBEEB995F}"/>
              </a:ext>
            </a:extLst>
          </p:cNvPr>
          <p:cNvSpPr txBox="1"/>
          <p:nvPr/>
        </p:nvSpPr>
        <p:spPr>
          <a:xfrm>
            <a:off x="756447" y="2644758"/>
            <a:ext cx="16775106" cy="5477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en-US" sz="3600" dirty="0"/>
              <a:t>A circular linked list connects the last node back to the head.</a:t>
            </a:r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en-US" sz="3600" dirty="0"/>
              <a:t>Circular linked lists do not end with </a:t>
            </a:r>
            <a:r>
              <a:rPr lang="en-US" dirty="0"/>
              <a:t>NULL</a:t>
            </a:r>
            <a:r>
              <a:rPr lang="en-US" sz="3600" dirty="0"/>
              <a:t>.</a:t>
            </a:r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en-US" sz="3600" dirty="0"/>
              <a:t>Traversal must stop when the pointer returns to the head.</a:t>
            </a:r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en-US" sz="3600" dirty="0"/>
              <a:t>Insertions and deletions require careful pointer updates.</a:t>
            </a:r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en-US" sz="3600" dirty="0"/>
              <a:t>Circular linked lists are useful for repeated or cyclic processing.</a:t>
            </a:r>
          </a:p>
        </p:txBody>
      </p:sp>
    </p:spTree>
    <p:extLst>
      <p:ext uri="{BB962C8B-B14F-4D97-AF65-F5344CB8AC3E}">
        <p14:creationId xmlns:p14="http://schemas.microsoft.com/office/powerpoint/2010/main" val="2086505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3B709-FC3F-34AB-80C9-85C29F6E7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696CAF9-D180-AFCB-E69E-0CC01B9D8C00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E84F4BC-A485-F7AC-383E-480D031A22D3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C000A2C-FD07-7DEE-60E6-BB05A228E0E3}"/>
              </a:ext>
            </a:extLst>
          </p:cNvPr>
          <p:cNvSpPr txBox="1"/>
          <p:nvPr/>
        </p:nvSpPr>
        <p:spPr>
          <a:xfrm>
            <a:off x="990600" y="300719"/>
            <a:ext cx="16540953" cy="621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72"/>
              </a:lnSpc>
              <a:defRPr/>
            </a:pP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LAB TASK</a:t>
            </a:r>
            <a:endParaRPr lang="en-MY" sz="3200" b="1" spc="147" dirty="0"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0CD82AB-E738-3F83-5042-08FF65950A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IV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61F56A1-8DA6-C4D8-1DDD-7E3BD7343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412E09-CB2B-15BA-1522-8A2E1B2D7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10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ACD8ABEA-27C9-3E94-D644-7CAE71FC2C3F}"/>
              </a:ext>
            </a:extLst>
          </p:cNvPr>
          <p:cNvSpPr txBox="1"/>
          <p:nvPr/>
        </p:nvSpPr>
        <p:spPr>
          <a:xfrm>
            <a:off x="756447" y="1805216"/>
            <a:ext cx="13188153" cy="621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72"/>
              </a:lnSpc>
              <a:defRPr/>
            </a:pP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CREATE A C++ PROGRAM</a:t>
            </a:r>
            <a:endParaRPr lang="en-GB" sz="3200" b="1" spc="147" dirty="0"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1BF1F4-5FB7-5A36-36B2-19264929B514}"/>
              </a:ext>
            </a:extLst>
          </p:cNvPr>
          <p:cNvSpPr txBox="1"/>
          <p:nvPr/>
        </p:nvSpPr>
        <p:spPr>
          <a:xfrm>
            <a:off x="756447" y="2644758"/>
            <a:ext cx="16775106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Your program should include:</a:t>
            </a:r>
          </a:p>
          <a:p>
            <a:pPr lvl="2">
              <a:lnSpc>
                <a:spcPct val="150000"/>
              </a:lnSpc>
            </a:pPr>
            <a:r>
              <a:rPr lang="en-US" sz="4000" dirty="0"/>
              <a:t>Insert node at the beginning. </a:t>
            </a:r>
          </a:p>
          <a:p>
            <a:pPr lvl="2">
              <a:lnSpc>
                <a:spcPct val="150000"/>
              </a:lnSpc>
            </a:pPr>
            <a:r>
              <a:rPr lang="en-US" sz="4000" dirty="0"/>
              <a:t>Insert node at the end. </a:t>
            </a:r>
          </a:p>
          <a:p>
            <a:pPr lvl="2">
              <a:lnSpc>
                <a:spcPct val="150000"/>
              </a:lnSpc>
            </a:pPr>
            <a:r>
              <a:rPr lang="en-US" sz="4000" dirty="0"/>
              <a:t>Delete node from the beginning. </a:t>
            </a:r>
          </a:p>
          <a:p>
            <a:pPr lvl="2">
              <a:lnSpc>
                <a:spcPct val="150000"/>
              </a:lnSpc>
            </a:pPr>
            <a:r>
              <a:rPr lang="en-US" sz="4000" dirty="0"/>
              <a:t>Delete node from the end. </a:t>
            </a:r>
          </a:p>
          <a:p>
            <a:pPr lvl="2">
              <a:lnSpc>
                <a:spcPct val="150000"/>
              </a:lnSpc>
            </a:pPr>
            <a:r>
              <a:rPr lang="en-US" sz="4000" dirty="0"/>
              <a:t>Delete node by value. </a:t>
            </a:r>
          </a:p>
          <a:p>
            <a:pPr lvl="2">
              <a:lnSpc>
                <a:spcPct val="150000"/>
              </a:lnSpc>
            </a:pPr>
            <a:r>
              <a:rPr lang="en-US" sz="4000" dirty="0"/>
              <a:t>Display the circular linked list.</a:t>
            </a:r>
          </a:p>
          <a:p>
            <a:pPr lvl="2"/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265398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56447" y="1563443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/>
          <p:cNvSpPr/>
          <p:nvPr/>
        </p:nvSpPr>
        <p:spPr>
          <a:xfrm flipV="1">
            <a:off x="1028700" y="9534526"/>
            <a:ext cx="16502853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4648200" y="4777861"/>
            <a:ext cx="8037635" cy="3503005"/>
            <a:chOff x="0" y="0"/>
            <a:chExt cx="2337006" cy="1018527"/>
          </a:xfrm>
          <a:noFill/>
        </p:grpSpPr>
        <p:sp>
          <p:nvSpPr>
            <p:cNvPr id="5" name="Freeform 5"/>
            <p:cNvSpPr/>
            <p:nvPr/>
          </p:nvSpPr>
          <p:spPr>
            <a:xfrm>
              <a:off x="0" y="0"/>
              <a:ext cx="2337006" cy="1018527"/>
            </a:xfrm>
            <a:custGeom>
              <a:avLst/>
              <a:gdLst/>
              <a:ahLst/>
              <a:cxnLst/>
              <a:rect l="l" t="t" r="r" b="b"/>
              <a:pathLst>
                <a:path w="2337006" h="1018527">
                  <a:moveTo>
                    <a:pt x="0" y="0"/>
                  </a:moveTo>
                  <a:lnTo>
                    <a:pt x="2337006" y="0"/>
                  </a:lnTo>
                  <a:lnTo>
                    <a:pt x="2337006" y="1018527"/>
                  </a:lnTo>
                  <a:lnTo>
                    <a:pt x="0" y="1018527"/>
                  </a:lnTo>
                  <a:close/>
                </a:path>
              </a:pathLst>
            </a:custGeom>
            <a:grpFill/>
            <a:ln w="38100" cap="sq">
              <a:solidFill>
                <a:schemeClr val="tx1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337006" cy="1056627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ts val="273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042298" y="3005254"/>
            <a:ext cx="10822028" cy="1371979"/>
          </a:xfrm>
          <a:prstGeom prst="rect">
            <a:avLst/>
          </a:prstGeom>
          <a:noFill/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185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799" b="1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chemeClr val="accent5">
                        <a:lumMod val="75000"/>
                      </a:scheme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  <a:sym typeface="Droid Serif Bold"/>
              </a:rPr>
              <a:t>THANK YOU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14211" y="5660960"/>
            <a:ext cx="5678202" cy="396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334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0" i="0" u="none" strike="noStrike" kern="1200" cap="none" spc="90" normalizeH="0" baseline="0" noProof="0" dirty="0">
                <a:ln>
                  <a:noFill/>
                </a:ln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Aptos"/>
                <a:ea typeface="Aptos"/>
                <a:cs typeface="Aptos"/>
                <a:sym typeface="Aptos"/>
              </a:rPr>
              <a:t>DEPARTMENT OF COMPUTING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861220" y="5186521"/>
            <a:ext cx="7611594" cy="431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7"/>
              </a:lnSpc>
              <a:defRPr/>
            </a:pPr>
            <a:r>
              <a:rPr lang="en-MY" sz="2399" spc="98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Aptos"/>
              </a:rPr>
              <a:t>FARAHIDA HANIM BT MAUSOR - DR (FSMC/UTP)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509434" y="6611027"/>
            <a:ext cx="4897309" cy="425112"/>
            <a:chOff x="0" y="0"/>
            <a:chExt cx="6529743" cy="56681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7647" cy="566816"/>
            </a:xfrm>
            <a:custGeom>
              <a:avLst/>
              <a:gdLst/>
              <a:ahLst/>
              <a:cxnLst/>
              <a:rect l="l" t="t" r="r" b="b"/>
              <a:pathLst>
                <a:path w="577647" h="566816">
                  <a:moveTo>
                    <a:pt x="0" y="0"/>
                  </a:moveTo>
                  <a:lnTo>
                    <a:pt x="577647" y="0"/>
                  </a:lnTo>
                  <a:lnTo>
                    <a:pt x="577647" y="566816"/>
                  </a:lnTo>
                  <a:lnTo>
                    <a:pt x="0" y="566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09574" y="58111"/>
              <a:ext cx="5520169" cy="47944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lnSpc>
                  <a:spcPts val="3040"/>
                </a:lnSpc>
                <a:defRPr/>
              </a:pPr>
              <a:r>
                <a:rPr lang="en-US" sz="2000" spc="82" dirty="0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50000">
                        <a:srgbClr val="002F31">
                          <a:alpha val="100000"/>
                        </a:srgbClr>
                      </a:gs>
                      <a:gs pos="100000">
                        <a:srgbClr val="00959A">
                          <a:alpha val="100000"/>
                        </a:srgbClr>
                      </a:gs>
                    </a:gsLst>
                    <a:lin ang="2700000"/>
                  </a:gradFill>
                  <a:latin typeface="Aptos"/>
                  <a:ea typeface="Aptos"/>
                  <a:cs typeface="Aptos"/>
                  <a:sym typeface="Aptos"/>
                </a:rPr>
                <a:t>farahida.mausor@utp.edu.my </a:t>
              </a:r>
              <a:endParaRPr kumimoji="0" lang="en-US" sz="2000" b="0" i="0" u="none" strike="noStrike" kern="1200" cap="none" spc="82" normalizeH="0" baseline="0" noProof="0" dirty="0">
                <a:ln>
                  <a:noFill/>
                </a:ln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Aptos"/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509434" y="7391229"/>
            <a:ext cx="3326815" cy="512496"/>
            <a:chOff x="0" y="0"/>
            <a:chExt cx="4435752" cy="68332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50390" cy="683328"/>
            </a:xfrm>
            <a:custGeom>
              <a:avLst/>
              <a:gdLst/>
              <a:ahLst/>
              <a:cxnLst/>
              <a:rect l="l" t="t" r="r" b="b"/>
              <a:pathLst>
                <a:path w="550390" h="683328">
                  <a:moveTo>
                    <a:pt x="0" y="0"/>
                  </a:moveTo>
                  <a:lnTo>
                    <a:pt x="550390" y="0"/>
                  </a:lnTo>
                  <a:lnTo>
                    <a:pt x="550390" y="683328"/>
                  </a:lnTo>
                  <a:lnTo>
                    <a:pt x="0" y="6833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09574" y="75176"/>
              <a:ext cx="3426178" cy="4784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040"/>
                </a:lnSpc>
                <a:defRPr/>
              </a:pPr>
              <a:r>
                <a:rPr lang="en-MY" sz="2000" spc="82" dirty="0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50000">
                        <a:srgbClr val="002F31">
                          <a:alpha val="100000"/>
                        </a:srgbClr>
                      </a:gs>
                      <a:gs pos="100000">
                        <a:srgbClr val="00959A">
                          <a:alpha val="100000"/>
                        </a:srgbClr>
                      </a:gs>
                    </a:gsLst>
                    <a:lin ang="2700000"/>
                  </a:gradFill>
                  <a:latin typeface="Aptos"/>
                </a:rPr>
                <a:t>02-03-26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3452568" y="161232"/>
            <a:ext cx="3806732" cy="1350171"/>
          </a:xfrm>
          <a:custGeom>
            <a:avLst/>
            <a:gdLst/>
            <a:ahLst/>
            <a:cxnLst/>
            <a:rect l="l" t="t" r="r" b="b"/>
            <a:pathLst>
              <a:path w="3806732" h="1350171">
                <a:moveTo>
                  <a:pt x="0" y="0"/>
                </a:moveTo>
                <a:lnTo>
                  <a:pt x="3806732" y="0"/>
                </a:lnTo>
                <a:lnTo>
                  <a:pt x="3806732" y="1350171"/>
                </a:lnTo>
                <a:lnTo>
                  <a:pt x="0" y="1350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69CC0C1-CEE6-7AFD-F08C-9037DCAED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Week IV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559E3EB5-D08C-1B33-945D-C91DA725F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7900" y="9534526"/>
            <a:ext cx="7658100" cy="547688"/>
          </a:xfrm>
        </p:spPr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1A546E35-A579-1253-4F8D-BE6DFA9A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activity xmlns="f604542f-3f98-4180-a530-dccd8eb9645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C87EB35ACF9448AB6AF0166C74B31C" ma:contentTypeVersion="20" ma:contentTypeDescription="Create a new document." ma:contentTypeScope="" ma:versionID="afd188c47451dba45a86e012c1481767">
  <xsd:schema xmlns:xsd="http://www.w3.org/2001/XMLSchema" xmlns:xs="http://www.w3.org/2001/XMLSchema" xmlns:p="http://schemas.microsoft.com/office/2006/metadata/properties" xmlns:ns1="http://schemas.microsoft.com/sharepoint/v3" xmlns:ns3="f604542f-3f98-4180-a530-dccd8eb96459" xmlns:ns4="161b1d0b-c5d9-4346-b7aa-7c23791df872" targetNamespace="http://schemas.microsoft.com/office/2006/metadata/properties" ma:root="true" ma:fieldsID="f8830e1d0cf709f132b06e9cca8a370a" ns1:_="" ns3:_="" ns4:_="">
    <xsd:import namespace="http://schemas.microsoft.com/sharepoint/v3"/>
    <xsd:import namespace="f604542f-3f98-4180-a530-dccd8eb96459"/>
    <xsd:import namespace="161b1d0b-c5d9-4346-b7aa-7c23791df87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1:_ip_UnifiedCompliancePolicyProperties" minOccurs="0"/>
                <xsd:element ref="ns1:_ip_UnifiedCompliancePolicyUIAc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04542f-3f98-4180-a530-dccd8eb964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7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1b1d0b-c5d9-4346-b7aa-7c23791df87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59B6550-91B7-456B-A940-ECDA25AB84F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F8EABEC-D4DA-4635-9F5B-DEE1FFF379A2}">
  <ds:schemaRefs>
    <ds:schemaRef ds:uri="http://purl.org/dc/dcmitype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161b1d0b-c5d9-4346-b7aa-7c23791df872"/>
    <ds:schemaRef ds:uri="http://schemas.microsoft.com/office/2006/documentManagement/types"/>
    <ds:schemaRef ds:uri="http://purl.org/dc/elements/1.1/"/>
    <ds:schemaRef ds:uri="f604542f-3f98-4180-a530-dccd8eb96459"/>
    <ds:schemaRef ds:uri="http://schemas.microsoft.com/sharepoint/v3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7F07991-DBC0-402D-BD53-7E5C26CAE5A5}">
  <ds:schemaRefs>
    <ds:schemaRef ds:uri="161b1d0b-c5d9-4346-b7aa-7c23791df872"/>
    <ds:schemaRef ds:uri="f604542f-3f98-4180-a530-dccd8eb9645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655</TotalTime>
  <Words>903</Words>
  <Application>Microsoft Office PowerPoint</Application>
  <PresentationFormat>Custom</PresentationFormat>
  <Paragraphs>186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Calibri</vt:lpstr>
      <vt:lpstr>Aptos</vt:lpstr>
      <vt:lpstr>Museo Sans 300</vt:lpstr>
      <vt:lpstr>Segoe UI</vt:lpstr>
      <vt:lpstr>Arial</vt:lpstr>
      <vt:lpstr>Calibri Light</vt:lpstr>
      <vt:lpstr>Wingdings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DG Slide Ver02</dc:title>
  <dc:creator>Nurul Fazilah Bt Esa (FSMC/UTP)</dc:creator>
  <cp:lastModifiedBy>Khan Reeyan Afzal</cp:lastModifiedBy>
  <cp:revision>229</cp:revision>
  <dcterms:created xsi:type="dcterms:W3CDTF">2006-08-16T00:00:00Z</dcterms:created>
  <dcterms:modified xsi:type="dcterms:W3CDTF">2026-05-21T08:09:37Z</dcterms:modified>
  <dc:identifier>DAG_MRG_x0E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0x0101000DC87EB35ACF9448AB6AF0166C74B31C</vt:lpwstr>
  </property>
</Properties>
</file>