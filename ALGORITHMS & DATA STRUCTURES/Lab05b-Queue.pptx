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1" r:id="rId4"/>
  </p:sldMasterIdLst>
  <p:notesMasterIdLst>
    <p:notesMasterId r:id="rId20"/>
  </p:notesMasterIdLst>
  <p:handoutMasterIdLst>
    <p:handoutMasterId r:id="rId21"/>
  </p:handoutMasterIdLst>
  <p:sldIdLst>
    <p:sldId id="268" r:id="rId5"/>
    <p:sldId id="385" r:id="rId6"/>
    <p:sldId id="386" r:id="rId7"/>
    <p:sldId id="387" r:id="rId8"/>
    <p:sldId id="257" r:id="rId9"/>
    <p:sldId id="365" r:id="rId10"/>
    <p:sldId id="375" r:id="rId11"/>
    <p:sldId id="372" r:id="rId12"/>
    <p:sldId id="376" r:id="rId13"/>
    <p:sldId id="377" r:id="rId14"/>
    <p:sldId id="383" r:id="rId15"/>
    <p:sldId id="384" r:id="rId16"/>
    <p:sldId id="320" r:id="rId17"/>
    <p:sldId id="282" r:id="rId18"/>
    <p:sldId id="270" r:id="rId19"/>
  </p:sldIdLst>
  <p:sldSz cx="18288000" cy="10287000"/>
  <p:notesSz cx="6858000" cy="9144000"/>
  <p:embeddedFontLst>
    <p:embeddedFont>
      <p:font typeface="Museo Sans 300" panose="02000000000000000000" pitchFamily="2" charset="77"/>
      <p:regular r:id="rId22"/>
      <p:bold r:id="rId23"/>
      <p:italic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E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207"/>
    <p:restoredTop sz="73957" autoAdjust="0"/>
  </p:normalViewPr>
  <p:slideViewPr>
    <p:cSldViewPr snapToGrid="0">
      <p:cViewPr varScale="1">
        <p:scale>
          <a:sx n="54" d="100"/>
          <a:sy n="54" d="100"/>
        </p:scale>
        <p:origin x="248" y="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B93D41-E753-CA08-512C-7FD9149E9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83311-34CD-10A6-71A7-5FEC1EAC08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391DD-0852-4038-9481-BE0C8E4C0068}" type="datetimeFigureOut">
              <a:rPr lang="en-MY" smtClean="0"/>
              <a:t>26/06/2026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2A957-AB6C-53B4-A4E1-0374492AD1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79F2C-EAFF-B3B1-975D-3770C8024B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BE2F9-A3A4-483F-A619-855FC01C419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959022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1111C-7368-49FD-8B9D-8D05AE4C3340}" type="datetimeFigureOut">
              <a:rPr lang="en-MY" smtClean="0"/>
              <a:t>26/06/2026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F1A-E494-4223-A600-C9DDF71EE4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6243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37988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7472-B57A-DFF6-0A43-599032CE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CC552-30F0-1256-EC67-0E870BAC3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63616-1342-DE35-FF3B-1B7519158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Outcomes Slide</a:t>
            </a:r>
            <a:endParaRPr lang="en-MY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2–4 lecture-level learning outcomes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measurable action verbs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explicitly to Course Learning Outcomes (CLOs)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32F73-39FD-42B2-1796-E58A0C6FB2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4943F-9067-C1CD-A905-2FC1FB1AD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92693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Outcomes Slide</a:t>
            </a:r>
            <a:endParaRPr lang="en-MY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2–4 lecture-level learning outcomes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measurable action verbs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explicitly to Course Learning Outcomes (CLOs)</a:t>
            </a:r>
          </a:p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8646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7F81B-ECF4-BB8C-522E-73845160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7BC0C-72CE-5613-37D1-A4FBDFB3A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0EEF3-C829-9F09-985B-67A215F67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12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Outcomes Slide</a:t>
            </a:r>
            <a:endParaRPr lang="en-MY" sz="120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2–4 lecture-level learning outcomes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measurable action verbs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 explicitly to Course Learning Outcomes (CLOs)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861F0-D5FA-E53A-F7E4-0D700CBE9F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6D872-3803-64D3-6ACC-1498C720C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26528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2746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03AB5-B534-77D9-F89C-9BF470610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D4C31-3D26-853B-8D15-2D9A179B8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70C61-9D07-9E14-FA19-E8C5DE100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62F17-F868-F82B-0A34-BE664154CB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AFF73-1E8F-06C9-CCE4-D040194BB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52304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5A7F7-E392-B227-6124-EDDAAE40A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CFD55-732A-6683-668A-ADEEEF81A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D9302-25DF-34F0-CA75-CE763E0F0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92799-7370-C72B-B0A8-C4AC029E7A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9A290-CD76-1D93-E68F-BE7A0E325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46609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56CB-D3B0-6A84-31B1-26FDA86E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3A26B-64A6-D271-7F4F-97C9235A7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ADC16-3448-9551-7242-4BAF4B4A0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A4917-5EF6-7D79-18BC-FE462FEBE2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4D5C6-C248-870A-B6D2-2A4CF04AD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84284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AFB45-7336-82DF-FEB0-25D889E3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63923-AADF-F202-97C3-2483A2A1B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0BAB8-3B48-7788-E411-F85C7CA69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F877E-9ABD-C657-734D-4A750D4A89B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F4B4F-4563-AFC5-6DB0-F75D1057D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93158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B95E9-CE9A-384C-5792-7CEA9A33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D844F-266C-A1CA-27C5-159870B04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E3CBF-55CA-F3E5-AB59-F495F38EE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B0C83-7376-854F-5107-85127E904D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4A6E3-A2FD-3DA9-AC9D-D9AAF6F8B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595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BAAB-A44F-79D7-1A55-E221F4F53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54821-DE75-2521-73DE-49ED44032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2C7A5-7D91-4A9A-BA8E-97879D295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63062-9C01-2602-28FE-9FEF2EFD10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68E84-17A7-EF1E-7279-1892375D0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2418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3B9D-D02F-4EE1-9554-FFD0B8E9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5B065-B453-9B72-28B0-03C95F466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D657D-A315-6A89-A350-3C1414F5D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Engagement and Activity Slides</a:t>
            </a:r>
          </a:p>
          <a:p>
            <a:endParaRPr lang="en-MY" dirty="0"/>
          </a:p>
          <a:p>
            <a:r>
              <a:rPr lang="en-MY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 at least one engagement element where appropriate: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Think–Pair–Share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 task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 or reflection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Suggested duration: 3–5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 shall align with learning outcomes</a:t>
            </a: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C1667-D37C-25D7-E801-E5CCCAA180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11EB6-4DFC-8DB4-0D70-A5BDCABDE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07901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546BF-A5D3-EB79-8532-8103923B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EB233-6E98-A4D7-3CFA-91FC449B0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EE791-79F6-781C-908F-2C1653054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and Closure Slides</a:t>
            </a:r>
          </a:p>
          <a:p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Summarise 3–5 key takeaways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Reinforce main ideas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 CLO coverage where appropriate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Include: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Upcoming topics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Required reading</a:t>
            </a:r>
          </a:p>
          <a:p>
            <a:pPr marL="628650" lvl="1" indent="-171450">
              <a:buFont typeface="Wingdings" panose="05000000000000000000" pitchFamily="2" charset="2"/>
              <a:buChar char="ü"/>
            </a:pPr>
            <a:r>
              <a:rPr lang="en-MY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Tutorial / lab / assessment linkage</a:t>
            </a:r>
          </a:p>
          <a:p>
            <a:endParaRPr lang="en-M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66662-7A37-20FB-7C55-439CE5E4D63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BAF71-B897-AB83-45DD-3E3C58F8D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1732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35696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5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5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3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5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93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3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9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4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06887" y="1511403"/>
            <a:ext cx="11424666" cy="5204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106887" y="9410700"/>
            <a:ext cx="1142466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426192" y="1942813"/>
            <a:ext cx="9036316" cy="1752887"/>
            <a:chOff x="0" y="0"/>
            <a:chExt cx="2337006" cy="292155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006" cy="292155"/>
            </a:xfrm>
            <a:custGeom>
              <a:avLst/>
              <a:gdLst/>
              <a:ahLst/>
              <a:cxnLst/>
              <a:rect l="l" t="t" r="r" b="b"/>
              <a:pathLst>
                <a:path w="2337006" h="292155">
                  <a:moveTo>
                    <a:pt x="0" y="0"/>
                  </a:moveTo>
                  <a:lnTo>
                    <a:pt x="2337006" y="0"/>
                  </a:lnTo>
                  <a:lnTo>
                    <a:pt x="2337006" y="292155"/>
                  </a:lnTo>
                  <a:lnTo>
                    <a:pt x="0" y="292155"/>
                  </a:lnTo>
                  <a:close/>
                </a:path>
              </a:pathLst>
            </a:custGeom>
            <a:grpFill/>
            <a:ln w="38100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7006" cy="33025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273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" y="0"/>
            <a:ext cx="6106886" cy="10286998"/>
            <a:chOff x="-10330" y="-104775"/>
            <a:chExt cx="1377733" cy="2182730"/>
          </a:xfrm>
        </p:grpSpPr>
        <p:sp>
          <p:nvSpPr>
            <p:cNvPr id="9" name="Freeform 9"/>
            <p:cNvSpPr/>
            <p:nvPr/>
          </p:nvSpPr>
          <p:spPr>
            <a:xfrm>
              <a:off x="-10330" y="-104775"/>
              <a:ext cx="1377733" cy="2182730"/>
            </a:xfrm>
            <a:custGeom>
              <a:avLst/>
              <a:gdLst/>
              <a:ahLst/>
              <a:cxnLst/>
              <a:rect l="l" t="t" r="r" b="b"/>
              <a:pathLst>
                <a:path w="1282673" h="2091166">
                  <a:moveTo>
                    <a:pt x="0" y="0"/>
                  </a:moveTo>
                  <a:lnTo>
                    <a:pt x="1282673" y="0"/>
                  </a:lnTo>
                  <a:lnTo>
                    <a:pt x="1282673" y="2091166"/>
                  </a:lnTo>
                  <a:lnTo>
                    <a:pt x="0" y="2091166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282673" cy="1906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50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99" b="0" i="0" u="none" strike="noStrike" kern="1200" cap="none" spc="1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Aptos"/>
                  <a:cs typeface="Aptos"/>
                  <a:sym typeface="Aptos"/>
                </a:rPr>
                <a:t>Insert relevant picture related to the topic</a:t>
              </a:r>
            </a:p>
            <a:p>
              <a:pPr marL="0" marR="0" lvl="0" indent="0" algn="ctr" defTabSz="457200" rtl="0" eaLnBrk="1" fontAlgn="auto" latinLnBrk="0" hangingPunct="1">
                <a:lnSpc>
                  <a:spcPts val="50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99" b="0" i="0" u="none" strike="noStrike" kern="1200" cap="none" spc="13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468506" y="4249467"/>
            <a:ext cx="11424666" cy="1631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668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WEEK </a:t>
            </a:r>
            <a:r>
              <a:rPr lang="en-US" sz="4400" b="1" dirty="0" err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Vb</a:t>
            </a:r>
            <a:endParaRPr kumimoji="0" lang="en-US" sz="4400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  <a:sym typeface="Droid Serif Bold"/>
            </a:endParaRPr>
          </a:p>
          <a:p>
            <a:pPr marL="0" marR="0" lvl="0" indent="0" algn="ctr" defTabSz="457200" rtl="0" eaLnBrk="1" fontAlgn="auto" latinLnBrk="0" hangingPunct="1">
              <a:lnSpc>
                <a:spcPts val="668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QUEUE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73946" y="2210080"/>
            <a:ext cx="7340807" cy="1046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4255"/>
              </a:lnSpc>
              <a:defRPr/>
            </a:pPr>
            <a:r>
              <a:rPr lang="en-MY" sz="2799" spc="103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ALGORITHMS AND DATA STRUCTURES</a:t>
            </a:r>
            <a:endParaRPr lang="en-MY" sz="2799" spc="103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  <a:sym typeface="Aptos"/>
            </a:endParaRPr>
          </a:p>
          <a:p>
            <a:pPr lvl="0" algn="ctr">
              <a:lnSpc>
                <a:spcPts val="4255"/>
              </a:lnSpc>
              <a:defRPr/>
            </a:pPr>
            <a:r>
              <a:rPr lang="en-MY" sz="2799" spc="103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  <a:sym typeface="Aptos"/>
              </a:rPr>
              <a:t>TEB1113/TFB2023</a:t>
            </a:r>
            <a:endParaRPr lang="en-MY" sz="2799" spc="103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527172" y="6957133"/>
            <a:ext cx="7337522" cy="381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43"/>
              </a:lnSpc>
              <a:defRPr/>
            </a:pPr>
            <a:r>
              <a:rPr lang="en-MY" sz="2199" spc="8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FARAHIDA HANIM BT MAUSOR - DR (FSMC/UTP)</a:t>
            </a:r>
            <a:endParaRPr kumimoji="0" lang="en-US" sz="2199" b="0" i="1" u="none" strike="noStrike" kern="1200" cap="none" spc="81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Aptos"/>
              <a:cs typeface="Segoe UI" panose="020B0502040204020203" pitchFamily="34" charset="0"/>
              <a:sym typeface="Apto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085066" y="7789617"/>
            <a:ext cx="8221734" cy="1240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90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BACHELOR OF XXXXXX</a:t>
            </a:r>
          </a:p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90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DEPARTMENT OF COMPUTING</a:t>
            </a:r>
          </a:p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spc="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FACULTY OF SCIENCE, MANAGEMENT &amp; COMPUTING</a:t>
            </a:r>
            <a:r>
              <a:rPr kumimoji="0" lang="en-US" sz="2200" b="0" i="0" u="none" strike="noStrike" kern="1200" cap="none" spc="90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 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486EF194-5755-EE7E-90D6-9FC063183FE5}"/>
              </a:ext>
            </a:extLst>
          </p:cNvPr>
          <p:cNvSpPr txBox="1">
            <a:spLocks/>
          </p:cNvSpPr>
          <p:nvPr/>
        </p:nvSpPr>
        <p:spPr>
          <a:xfrm>
            <a:off x="6629400" y="9582308"/>
            <a:ext cx="10629900" cy="55399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237490" algn="ctr" fontAlgn="base">
              <a:buNone/>
            </a:pPr>
            <a:r>
              <a:rPr lang="en-US" sz="1000" kern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© 2026 INSTITUTE OF TECHNOLOGY PETRONAS SDN BHD </a:t>
            </a:r>
            <a:endParaRPr lang="en-MY" sz="110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490" algn="ctr" fontAlgn="base">
              <a:buNone/>
            </a:pPr>
            <a:r>
              <a:rPr lang="en-US" sz="1000" kern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rights reserved. No part of this document may be reproduced, stored in a retrieval system or transmitted in any form or by any means (electronic, mechanical, photocopying, recording or otherwise) without the permission of the copyright owner.</a:t>
            </a:r>
            <a:endParaRPr lang="en-MY" sz="110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58BF3AB-9F7F-0AAB-2719-430060823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3864" y="272259"/>
            <a:ext cx="2617689" cy="11443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E1A74E1-A546-E488-26C8-703260A4C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457"/>
          <a:stretch>
            <a:fillRect/>
          </a:stretch>
        </p:blipFill>
        <p:spPr>
          <a:xfrm>
            <a:off x="0" y="0"/>
            <a:ext cx="6106886" cy="10286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A4E8-D0A1-A754-557F-0B65A4FF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1C6C398-1942-0AD5-41B2-4089BDF999A8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F96DF06-58C5-DAAD-1BDB-8FC07E68A720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3612DC9-D76F-AAAB-B268-C89CDFEE7332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RECAP FROM PREVIOUS LECTURE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EE1773E-3923-46BF-AF44-31E5B84C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II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36CEDAF-3D5D-2E59-F65F-B7220C131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60D1664-09D5-A89C-629B-01FC06CE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D0BF8-105F-6224-C810-DE29C5995211}"/>
              </a:ext>
            </a:extLst>
          </p:cNvPr>
          <p:cNvSpPr txBox="1"/>
          <p:nvPr/>
        </p:nvSpPr>
        <p:spPr>
          <a:xfrm>
            <a:off x="756447" y="1455366"/>
            <a:ext cx="16775106" cy="7272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A stack is a linear ADT.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Stack follows LIFO: Last In, First Out.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push() inserts at the top.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pop() removes from the top.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Stack can be implemented using arrays or linked lists.</a:t>
            </a:r>
          </a:p>
        </p:txBody>
      </p:sp>
    </p:spTree>
    <p:extLst>
      <p:ext uri="{BB962C8B-B14F-4D97-AF65-F5344CB8AC3E}">
        <p14:creationId xmlns:p14="http://schemas.microsoft.com/office/powerpoint/2010/main" val="250219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9CD0D-972B-FE6D-B005-F472E53C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2F305BD-B647-52A1-7229-8D1C689775AB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0AD37D0-AB7C-531D-442D-316B5352ACD1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E389B7-4BDC-9F88-5E29-C825141ABF62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1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LEARNING OUTCOMES</a:t>
            </a:r>
            <a:endParaRPr kumimoji="0" lang="en-US" sz="3200" b="1" i="0" u="none" strike="noStrike" kern="1200" cap="none" spc="147" normalizeH="0" baseline="0" noProof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4AC5EDA-CD04-CA81-5505-46F71DF9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II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84BAFFF-0B17-2D6B-F88C-8FD53E5A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FAFA90-B6A0-006E-2A2C-78E3AA19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75015-C56E-A18B-9965-887E7BA6AF14}"/>
              </a:ext>
            </a:extLst>
          </p:cNvPr>
          <p:cNvSpPr txBox="1"/>
          <p:nvPr/>
        </p:nvSpPr>
        <p:spPr>
          <a:xfrm>
            <a:off x="756447" y="1455366"/>
            <a:ext cx="16775106" cy="7272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Explain Queue as a First-In-First-Out ADT.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Trace enqueue() and dequeue() operations using front and rear pointers.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Implement queues using arrays and linked lists in C++.</a:t>
            </a:r>
          </a:p>
          <a:p>
            <a:pPr marL="514350" indent="-514350" algn="just">
              <a:lnSpc>
                <a:spcPct val="200000"/>
              </a:lnSpc>
              <a:buFontTx/>
              <a:buAutoNum type="arabicPeriod"/>
            </a:pPr>
            <a:r>
              <a:rPr lang="en-US" sz="4800" dirty="0"/>
              <a:t>Differentiate linear, circular, and priority queues.</a:t>
            </a:r>
          </a:p>
        </p:txBody>
      </p:sp>
    </p:spTree>
    <p:extLst>
      <p:ext uri="{BB962C8B-B14F-4D97-AF65-F5344CB8AC3E}">
        <p14:creationId xmlns:p14="http://schemas.microsoft.com/office/powerpoint/2010/main" val="103571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F617-6662-C456-227D-3275C55C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F43934F-2864-661A-2BA0-DC5387E43B44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FBDD271-AED0-0592-6161-DA190BFBADB2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372BB23-EF0F-750B-8106-7619BB6E6B1C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TOPICS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90AE56B-4BEA-5B7A-F78B-014938DB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II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2CA9889-5D5F-2D1D-22C9-9D678427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351A66-EF48-9C85-4CCF-6277EE3A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4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2FE96-C87E-A6ED-5539-84E36E5345F9}"/>
              </a:ext>
            </a:extLst>
          </p:cNvPr>
          <p:cNvSpPr txBox="1"/>
          <p:nvPr/>
        </p:nvSpPr>
        <p:spPr>
          <a:xfrm>
            <a:off x="756447" y="1455366"/>
            <a:ext cx="16775106" cy="7442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US" sz="5400" dirty="0"/>
              <a:t>Queue Concept and FIFO Rule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Front and Rear Pointers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Queue Operations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Array and Linked-List Implementation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Circular Queue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MY" sz="5400" dirty="0"/>
              <a:t>Priority Queue</a:t>
            </a:r>
          </a:p>
        </p:txBody>
      </p:sp>
    </p:spTree>
    <p:extLst>
      <p:ext uri="{BB962C8B-B14F-4D97-AF65-F5344CB8AC3E}">
        <p14:creationId xmlns:p14="http://schemas.microsoft.com/office/powerpoint/2010/main" val="346585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902113" y="0"/>
            <a:ext cx="6256973" cy="778868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lvl="0" algn="ctr">
              <a:lnSpc>
                <a:spcPts val="6688"/>
              </a:lnSpc>
              <a:spcBef>
                <a:spcPct val="0"/>
              </a:spcBef>
              <a:defRPr/>
            </a:pPr>
            <a:r>
              <a:rPr lang="en-US" sz="40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QUEUE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9669084-3CCA-1770-6024-E848243FA0B7}"/>
              </a:ext>
            </a:extLst>
          </p:cNvPr>
          <p:cNvSpPr txBox="1"/>
          <p:nvPr/>
        </p:nvSpPr>
        <p:spPr>
          <a:xfrm>
            <a:off x="316056" y="4076531"/>
            <a:ext cx="7098887" cy="1334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sz="66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lang="en-US" sz="66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  <a:sym typeface="Droid Serif 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DDCD67-EACE-1158-9CDF-D05D35C49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80" t="501" r="33683" b="-501"/>
          <a:stretch>
            <a:fillRect/>
          </a:stretch>
        </p:blipFill>
        <p:spPr>
          <a:xfrm>
            <a:off x="7414943" y="0"/>
            <a:ext cx="10873057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6F996-7635-1787-F807-1C7FEC317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4A366B4-B572-DAE1-DF2F-B770D0BED8D4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9CF50E5-C002-3A45-783D-A8BBBE0D5202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7D3C917-8FEB-127C-5C2A-5F099C2969F8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24C9A-42D5-5989-7E7B-2E9419BC75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VI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59FEC39-794D-5D70-F15F-44688033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210C44E-CE92-0AE7-E274-3C48AFC7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6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7703A2D-8146-8388-7268-39977DADB52D}"/>
              </a:ext>
            </a:extLst>
          </p:cNvPr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1.1. </a:t>
            </a: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BRIEF THEORY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394E0-E2D1-C064-917A-689DA98B054B}"/>
              </a:ext>
            </a:extLst>
          </p:cNvPr>
          <p:cNvSpPr txBox="1"/>
          <p:nvPr/>
        </p:nvSpPr>
        <p:spPr>
          <a:xfrm>
            <a:off x="756447" y="2644758"/>
            <a:ext cx="16775106" cy="5925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queue is a linear data structure. It's an ordered list that follows the FIFO principle (First In - First Out). 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queue is a structure that has some insertion and deletion constraints. In the case of a Queue, insertion is done from one end, which is referred to as the rear end.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deletion is carried out by another end, which is referred to as a front end. The technical terminology for insertion and deletion in a Queue is 𝐸𝑛𝑞𝑢𝑒𝑢𝑒 () and 𝐷𝑒𝑞𝑢𝑒𝑢𝑒 (), respectively.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has two pointers in its structure: a 𝐹𝑟𝑜𝑛𝑡 pointer and 𝑟𝑒𝑎𝑟 pointer, element will be added using a rear pointer and will be deleted using a front pointer.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411120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A4D6A-2A55-B278-2926-8C1F4128A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84F1C09-AC7B-4123-438F-9584BFD1B4E7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406A57-80A9-6B94-3773-95419DFAB308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0983F05-DBF7-0349-B1CE-9BC6A909AE76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A29B5A3-6CBD-51BE-AF0A-F96204AA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VI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024BB5C-0939-8AF9-2FAE-A012C0EE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4CA621-4E58-4375-8E0A-9A67E7B0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7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BD68EBF-46A0-F15A-7909-2508871FB8CD}"/>
              </a:ext>
            </a:extLst>
          </p:cNvPr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1.1. </a:t>
            </a: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OPERATIONS IN QUEUE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918A6-DAC8-A245-FE74-C2A1A2B9C09E}"/>
              </a:ext>
            </a:extLst>
          </p:cNvPr>
          <p:cNvSpPr txBox="1"/>
          <p:nvPr/>
        </p:nvSpPr>
        <p:spPr>
          <a:xfrm>
            <a:off x="756447" y="2644758"/>
            <a:ext cx="16775106" cy="6664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𝐶𝑟𝑒𝑎𝑡𝑒 𝑸: It creates an empty queue, Q.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𝐸𝑛q𝑢𝑒𝑢𝑒 𝑸, 𝑖𝑡𝑒𝑚∶ Adds the element item to the rear of a queue and returns the new queue. The complexity of the enqueue operation is O (1).</a:t>
            </a:r>
            <a:endParaRPr lang="en-PK" sz="3200" dirty="0"/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𝐷𝑒q𝑢𝑒𝑢𝑒 𝑸∶ Returns the older element of the queue.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Queues can be implemented in two ways: </a:t>
            </a:r>
          </a:p>
          <a:p>
            <a:pPr marL="1371600" lvl="2" indent="-457200" algn="just">
              <a:lnSpc>
                <a:spcPct val="150000"/>
              </a:lnSpc>
              <a:buAutoNum type="arabicParenR"/>
            </a:pPr>
            <a:r>
              <a:rPr lang="en-US" sz="3200" dirty="0"/>
              <a:t>using an array data structure.</a:t>
            </a:r>
          </a:p>
          <a:p>
            <a:pPr marL="1371600" lvl="2" indent="-457200" algn="just">
              <a:lnSpc>
                <a:spcPct val="150000"/>
              </a:lnSpc>
              <a:buAutoNum type="arabicParenR"/>
            </a:pPr>
            <a:r>
              <a:rPr lang="en-US" sz="3200" dirty="0"/>
              <a:t>Using a linked list data structure.</a:t>
            </a:r>
            <a:endParaRPr lang="en-PK" sz="3200" dirty="0"/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PK" sz="3200" dirty="0"/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154754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5512-D1B2-06D1-9703-C3F4A60D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1E93228-3ACE-41BB-60FA-4B7854D8048D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7FD9E89-9CE4-50B8-625D-0343A3D19F70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037B0B-7A75-E0F9-3C0D-8F550590FE75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3D7C022-E434-0F5B-7686-B63FFBF1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VI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F079929-9F20-BFB5-57D9-3733D94C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0AACD6-88DE-C816-F289-759F1A9E2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8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85B5423-420A-9BCA-D6CE-25E32B313AAC}"/>
              </a:ext>
            </a:extLst>
          </p:cNvPr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1.1. STRUCTURE</a:t>
            </a: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 OF QUEUE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71E772-9EB8-982A-753E-AD5C70D8A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47" y="3011426"/>
            <a:ext cx="16775106" cy="547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6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0317C-6C81-C8F2-B5ED-E552B71F0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45CF126-1C1D-4AAF-FFFA-1749411E4F57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7911D2C-752A-ECCB-CC6C-26053FC6ACEC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6B4CED8-CD16-A9E0-8E1C-B489CFEE3C6F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4F0D5C7-CAF5-770C-9F44-415BFCFF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VI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0874D3-325C-FFC1-D17D-7E4CC347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3DC6734-7312-9D31-FFE5-B27631B0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9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02B188F-7354-C004-BF2D-3E9BDB58B88A}"/>
              </a:ext>
            </a:extLst>
          </p:cNvPr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1.1. </a:t>
            </a: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BRIEF THEORY (CIRCULAR QUEUE)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F87FD-40F7-C2E9-D7B1-C2B74A0B5BFD}"/>
              </a:ext>
            </a:extLst>
          </p:cNvPr>
          <p:cNvSpPr txBox="1"/>
          <p:nvPr/>
        </p:nvSpPr>
        <p:spPr>
          <a:xfrm>
            <a:off x="756447" y="2644758"/>
            <a:ext cx="16775106" cy="6660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There is a limitation in the array implementation of the Queue. If the rear reaches the end position of the Queue, then there might be a possibility that some vacant spaces are left in the beginning, which cannot be utilized. So, to overcome those limitations, the concept of the circular queue was introduced.</a:t>
            </a: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circular queue is like a linear queue as it is also based on the FIFO (First in First Out) principle, except that the last position is connected to the first position in a circular queue that forms a circle. It is also known as a Ring</a:t>
            </a:r>
            <a:r>
              <a:rPr lang="en-US" sz="3200" b="1" dirty="0"/>
              <a:t> Buffer</a:t>
            </a:r>
            <a:r>
              <a:rPr lang="en-US" sz="3200" dirty="0"/>
              <a:t>. A modular function is used to implement 𝐸𝑛𝑞𝑢𝑒𝑢𝑒 and 𝐷𝑒𝑞𝑢𝑒 operation in a circular queue.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59524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12B01-E2B9-54F2-6CC8-4D18E1C04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F9A709C-6A86-E043-1F22-B708796942F0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0522386-E94F-4B10-A46B-201A412D1779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9CF746-B896-8C21-D5AE-6F7FBA076606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  <a:endParaRPr kumimoji="0" lang="en-US" sz="3200" b="1" i="0" u="none" strike="noStrike" kern="1200" cap="none" spc="147" normalizeH="0" baseline="0" noProof="0" dirty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F20BE1C-1DB8-71EC-DD82-5B767BE4F2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VI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68E63B1-1DB8-19E1-AC5D-749EBBA10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670AEB-5E0C-67A7-9149-871F7DC3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10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D28EE46-03F6-C445-E856-1BB1CADBDD16}"/>
              </a:ext>
            </a:extLst>
          </p:cNvPr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1.1. STRUCTURE</a:t>
            </a: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 OF CIRCULAR QUEUE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1340B5-410E-A2A2-FE13-74A9D5A67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8269" y="2856551"/>
            <a:ext cx="6331462" cy="633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82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F03F0-00B2-007F-F68E-4143A533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A9EBCC6-62B0-331D-7E32-0023A0CB0B5E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172A6CA-27F3-4F23-A900-BBE3F9BCF8C2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0BC8DB-DD3E-3EA8-EE26-36244FBBFE6C}"/>
              </a:ext>
            </a:extLst>
          </p:cNvPr>
          <p:cNvSpPr txBox="1"/>
          <p:nvPr/>
        </p:nvSpPr>
        <p:spPr>
          <a:xfrm>
            <a:off x="990600" y="300719"/>
            <a:ext cx="16540953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SUMMARY</a:t>
            </a:r>
            <a:endParaRPr lang="en-MY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A2B05DA-CA44-8C0D-5458-451307C4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609057-698A-A340-86ED-00F43C9E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2E807D2-BF53-446A-AE68-B2D88F67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11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78A68226-0E89-EFD5-18B3-4A031057EDBB}"/>
              </a:ext>
            </a:extLst>
          </p:cNvPr>
          <p:cNvSpPr txBox="1"/>
          <p:nvPr/>
        </p:nvSpPr>
        <p:spPr>
          <a:xfrm>
            <a:off x="756447" y="1805216"/>
            <a:ext cx="9356377" cy="621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TODAY’S KEY TAKEAWAYS: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5E492-16C0-8A83-B7C0-A71CBEEB995F}"/>
              </a:ext>
            </a:extLst>
          </p:cNvPr>
          <p:cNvSpPr txBox="1"/>
          <p:nvPr/>
        </p:nvSpPr>
        <p:spPr>
          <a:xfrm>
            <a:off x="756447" y="2644758"/>
            <a:ext cx="16775106" cy="6585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A queue follows FIFO: First In, First Out.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enqueue() inserts an item at the rear.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dequeue() removes an item from the front.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Queues can be implemented using arrays or linked lists.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Circular queues use modulo arithmetic to reuse empty array spaces.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/>
              <a:t>Priority queues process items based on priority.</a:t>
            </a:r>
          </a:p>
        </p:txBody>
      </p:sp>
    </p:spTree>
    <p:extLst>
      <p:ext uri="{BB962C8B-B14F-4D97-AF65-F5344CB8AC3E}">
        <p14:creationId xmlns:p14="http://schemas.microsoft.com/office/powerpoint/2010/main" val="208650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3B709-FC3F-34AB-80C9-85C29F6E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696CAF9-D180-AFCB-E69E-0CC01B9D8C00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E84F4BC-A485-F7AC-383E-480D031A22D3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C000A2C-FD07-7DEE-60E6-BB05A228E0E3}"/>
              </a:ext>
            </a:extLst>
          </p:cNvPr>
          <p:cNvSpPr txBox="1"/>
          <p:nvPr/>
        </p:nvSpPr>
        <p:spPr>
          <a:xfrm>
            <a:off x="990600" y="300719"/>
            <a:ext cx="16540953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LAB TASK</a:t>
            </a:r>
            <a:endParaRPr lang="en-MY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0CD82AB-E738-3F83-5042-08FF6595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1F56A1-8DA6-C4D8-1DDD-7E3BD734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412E09-CB2B-15BA-1522-8A2E1B2D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ACD8ABEA-27C9-3E94-D644-7CAE71FC2C3F}"/>
              </a:ext>
            </a:extLst>
          </p:cNvPr>
          <p:cNvSpPr txBox="1"/>
          <p:nvPr/>
        </p:nvSpPr>
        <p:spPr>
          <a:xfrm>
            <a:off x="756447" y="1805216"/>
            <a:ext cx="13188153" cy="621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CREATE A C++ PROGRAM</a:t>
            </a:r>
            <a:endParaRPr lang="en-GB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BF1F4-5FB7-5A36-36B2-19264929B514}"/>
              </a:ext>
            </a:extLst>
          </p:cNvPr>
          <p:cNvSpPr txBox="1"/>
          <p:nvPr/>
        </p:nvSpPr>
        <p:spPr>
          <a:xfrm>
            <a:off x="756447" y="2644758"/>
            <a:ext cx="648656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Part A: </a:t>
            </a: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Array-Based Queue </a:t>
            </a:r>
          </a:p>
          <a:p>
            <a:pPr lvl="1"/>
            <a:r>
              <a:rPr lang="en-US" sz="4000" dirty="0"/>
              <a:t>push() </a:t>
            </a:r>
          </a:p>
          <a:p>
            <a:pPr lvl="1"/>
            <a:r>
              <a:rPr lang="en-US" sz="4000" dirty="0"/>
              <a:t>pop() </a:t>
            </a:r>
          </a:p>
          <a:p>
            <a:pPr lvl="1"/>
            <a:r>
              <a:rPr lang="en-US" sz="4000" dirty="0"/>
              <a:t>peek() </a:t>
            </a:r>
          </a:p>
          <a:p>
            <a:pPr lvl="1"/>
            <a:r>
              <a:rPr lang="en-US" sz="4000" dirty="0" err="1"/>
              <a:t>isFull</a:t>
            </a:r>
            <a:r>
              <a:rPr lang="en-US" sz="4000" dirty="0"/>
              <a:t>() </a:t>
            </a:r>
          </a:p>
          <a:p>
            <a:pPr lvl="1"/>
            <a:r>
              <a:rPr lang="en-US" sz="4000" dirty="0" err="1"/>
              <a:t>isEmpty</a:t>
            </a:r>
            <a:r>
              <a:rPr lang="en-US" sz="4000" dirty="0"/>
              <a:t>() </a:t>
            </a:r>
          </a:p>
          <a:p>
            <a:pPr lvl="1"/>
            <a:r>
              <a:rPr lang="en-US" sz="4000" dirty="0"/>
              <a:t>display()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D131D7-761D-22B9-D7C5-947B1E1544F1}"/>
              </a:ext>
            </a:extLst>
          </p:cNvPr>
          <p:cNvSpPr txBox="1"/>
          <p:nvPr/>
        </p:nvSpPr>
        <p:spPr>
          <a:xfrm>
            <a:off x="9806694" y="2644758"/>
            <a:ext cx="648656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Part B: </a:t>
            </a:r>
            <a:r>
              <a:rPr lang="en-MY" sz="3200" b="1" spc="1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Linked-List Queue</a:t>
            </a:r>
            <a:endParaRPr lang="en-MY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sz="4000" dirty="0"/>
              <a:t>push() </a:t>
            </a:r>
          </a:p>
          <a:p>
            <a:pPr lvl="1"/>
            <a:r>
              <a:rPr lang="en-US" sz="4000" dirty="0"/>
              <a:t>pop() </a:t>
            </a:r>
          </a:p>
          <a:p>
            <a:pPr lvl="1"/>
            <a:r>
              <a:rPr lang="en-US" sz="4000" dirty="0"/>
              <a:t>peek() </a:t>
            </a:r>
          </a:p>
          <a:p>
            <a:pPr lvl="1"/>
            <a:r>
              <a:rPr lang="en-US" sz="4000" dirty="0" err="1"/>
              <a:t>isFull</a:t>
            </a:r>
            <a:r>
              <a:rPr lang="en-US" sz="4000" dirty="0"/>
              <a:t>() </a:t>
            </a:r>
          </a:p>
          <a:p>
            <a:pPr lvl="1"/>
            <a:r>
              <a:rPr lang="en-US" sz="4000" dirty="0" err="1"/>
              <a:t>isEmpty</a:t>
            </a:r>
            <a:r>
              <a:rPr lang="en-US" sz="4000" dirty="0"/>
              <a:t>() </a:t>
            </a:r>
          </a:p>
          <a:p>
            <a:pPr lvl="1"/>
            <a:r>
              <a:rPr lang="en-US" sz="4000" dirty="0"/>
              <a:t>display() </a:t>
            </a:r>
          </a:p>
        </p:txBody>
      </p:sp>
    </p:spTree>
    <p:extLst>
      <p:ext uri="{BB962C8B-B14F-4D97-AF65-F5344CB8AC3E}">
        <p14:creationId xmlns:p14="http://schemas.microsoft.com/office/powerpoint/2010/main" val="426539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847C1-A82D-3BF2-849A-62786207D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B47C636-4E8C-0B81-2E26-A91E85654DD4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1DDD596-6E0A-933B-4F0F-F07E3527B0D6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BDBE504-A8C7-CAD7-2103-33BA7980051B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SUMMARY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AB8D550-A45B-54FB-0A9F-5586FE97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VI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2942FF9-ECD9-C5A7-ADA8-A9F890C1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AED30A-DCA5-9E5C-CF53-D041C3D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BE8D3-B9A3-C4AD-7329-13F8891899B2}"/>
              </a:ext>
            </a:extLst>
          </p:cNvPr>
          <p:cNvSpPr txBox="1"/>
          <p:nvPr/>
        </p:nvSpPr>
        <p:spPr>
          <a:xfrm>
            <a:off x="757618" y="1790700"/>
            <a:ext cx="16773935" cy="8114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dirty="0"/>
              <a:t>By the end of this session:</a:t>
            </a:r>
            <a:endParaRPr lang="en-MY" sz="2400" dirty="0"/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2300" dirty="0"/>
              <a:t>A queue is a linear data structure that operates strictly on the First In - First Out (FIFO) principle. 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2300" dirty="0"/>
              <a:t>Insertion is performed at the rear end via the Enqueue() operation (O(1) complexity), while deletion happens at the front end via the Dequeue() operation.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2300" dirty="0"/>
              <a:t>Queues can be structurally implemented using either a standard array or a linked list data structure. 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2300" dirty="0"/>
              <a:t>Circular queues (or ring buffers) connect the last position back to the first using modular arithmetic to prevent vacant array spaces from being wasted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2300" dirty="0"/>
              <a:t>Priority queues process elements based on assigned urgency rather than arrival order, defaulting to FIFO rules only when priorities are equal.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2300" dirty="0"/>
              <a:t>The practical lab work requires coding both array and linked list queues from scratch and analyzing problems within circular queue array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1163299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E0EAC-D9A4-3943-D759-E510DE4E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DCC3AA-4404-5698-B199-B773E7A5B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7" y="1301009"/>
            <a:ext cx="16775105" cy="8338291"/>
          </a:xfrm>
        </p:spPr>
        <p:txBody>
          <a:bodyPr anchor="ctr">
            <a:normAutofit/>
          </a:bodyPr>
          <a:lstStyle/>
          <a:p>
            <a:pPr marL="0" lvl="0" indent="0" algn="ctr">
              <a:buNone/>
            </a:pPr>
            <a:r>
              <a:rPr lang="en-US" sz="5400" spc="-15" dirty="0">
                <a:latin typeface="Times New Roman" panose="02020603050405020304" pitchFamily="18" charset="0"/>
              </a:rPr>
              <a:t>Creation of a Queue using an array and then implementation of 𝐸𝑛𝑞𝑢𝑒𝑢𝑒 and 𝐷𝑒𝑞𝑢𝑒𝑢𝑒 operations.</a:t>
            </a:r>
          </a:p>
          <a:p>
            <a:pPr marL="0" lvl="0" indent="0" algn="ctr">
              <a:buNone/>
            </a:pPr>
            <a:endParaRPr lang="en-US" sz="5400" spc="-15" dirty="0">
              <a:latin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5400" spc="-15" dirty="0">
                <a:latin typeface="Times New Roman" panose="02020603050405020304" pitchFamily="18" charset="0"/>
              </a:rPr>
              <a:t>Creation of a Queue using Linked List and then implementation of 𝐸𝑛𝑞𝑢𝑒𝑢𝑒 and 𝐷𝑒𝑞𝑢𝑒𝑢𝑒 operations.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6C219A5-D132-2A4B-2EC5-3E6688A5955C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08AB55C1-546F-59BE-2240-3245040A0489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718381-A77D-0BF6-CC1B-C3950B5C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VI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C7D22CD-2D58-59FF-E5A0-7296F342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BBE102-94B1-E599-28F9-46AE8E8C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14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940D9715-153E-9CCA-AEA5-FEE1993D2B6D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472"/>
              </a:lnSpc>
              <a:defRPr/>
            </a:pPr>
            <a:r>
              <a:rPr lang="en-US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LAB TASK</a:t>
            </a:r>
          </a:p>
        </p:txBody>
      </p:sp>
    </p:spTree>
    <p:extLst>
      <p:ext uri="{BB962C8B-B14F-4D97-AF65-F5344CB8AC3E}">
        <p14:creationId xmlns:p14="http://schemas.microsoft.com/office/powerpoint/2010/main" val="56455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447" y="1563443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1028700" y="9534526"/>
            <a:ext cx="16502853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4648200" y="4777861"/>
            <a:ext cx="8037635" cy="3503005"/>
            <a:chOff x="0" y="0"/>
            <a:chExt cx="2337006" cy="1018527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006" cy="1018527"/>
            </a:xfrm>
            <a:custGeom>
              <a:avLst/>
              <a:gdLst/>
              <a:ahLst/>
              <a:cxnLst/>
              <a:rect l="l" t="t" r="r" b="b"/>
              <a:pathLst>
                <a:path w="2337006" h="1018527">
                  <a:moveTo>
                    <a:pt x="0" y="0"/>
                  </a:moveTo>
                  <a:lnTo>
                    <a:pt x="2337006" y="0"/>
                  </a:lnTo>
                  <a:lnTo>
                    <a:pt x="2337006" y="1018527"/>
                  </a:lnTo>
                  <a:lnTo>
                    <a:pt x="0" y="1018527"/>
                  </a:lnTo>
                  <a:close/>
                </a:path>
              </a:pathLst>
            </a:custGeom>
            <a:grpFill/>
            <a:ln w="38100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7006" cy="105662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273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42298" y="3005254"/>
            <a:ext cx="10822028" cy="1371979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185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99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4211" y="5660960"/>
            <a:ext cx="5678202" cy="396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9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rPr>
              <a:t>DEPARTMENT OF COMPUTING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61220" y="5186521"/>
            <a:ext cx="7611594" cy="431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7"/>
              </a:lnSpc>
              <a:defRPr/>
            </a:pPr>
            <a:r>
              <a:rPr lang="en-MY" sz="2399" spc="98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Aptos"/>
              </a:rPr>
              <a:t>FARAHIDA HANIM BT MAUSOR - DR (FSMC/UTP)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509434" y="6611027"/>
            <a:ext cx="4897309" cy="425112"/>
            <a:chOff x="0" y="0"/>
            <a:chExt cx="6529743" cy="5668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7647" cy="566816"/>
            </a:xfrm>
            <a:custGeom>
              <a:avLst/>
              <a:gdLst/>
              <a:ahLst/>
              <a:cxnLst/>
              <a:rect l="l" t="t" r="r" b="b"/>
              <a:pathLst>
                <a:path w="577647" h="566816">
                  <a:moveTo>
                    <a:pt x="0" y="0"/>
                  </a:moveTo>
                  <a:lnTo>
                    <a:pt x="577647" y="0"/>
                  </a:lnTo>
                  <a:lnTo>
                    <a:pt x="577647" y="566816"/>
                  </a:lnTo>
                  <a:lnTo>
                    <a:pt x="0" y="56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9574" y="58111"/>
              <a:ext cx="5520169" cy="4794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040"/>
                </a:lnSpc>
                <a:defRPr/>
              </a:pPr>
              <a:r>
                <a:rPr lang="en-US" sz="2000" spc="82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50000">
                        <a:srgbClr val="002F31">
                          <a:alpha val="100000"/>
                        </a:srgbClr>
                      </a:gs>
                      <a:gs pos="100000">
                        <a:srgbClr val="00959A">
                          <a:alpha val="100000"/>
                        </a:srgbClr>
                      </a:gs>
                    </a:gsLst>
                    <a:lin ang="2700000"/>
                  </a:gradFill>
                  <a:latin typeface="Aptos"/>
                  <a:ea typeface="Aptos"/>
                  <a:cs typeface="Aptos"/>
                  <a:sym typeface="Aptos"/>
                </a:rPr>
                <a:t>farahida.mausor@utp.edu.my </a:t>
              </a:r>
              <a:endParaRPr kumimoji="0" lang="en-US" sz="2000" b="0" i="0" u="none" strike="noStrike" kern="1200" cap="none" spc="82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09434" y="7391229"/>
            <a:ext cx="3326815" cy="512496"/>
            <a:chOff x="0" y="0"/>
            <a:chExt cx="4435752" cy="6833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0390" cy="683328"/>
            </a:xfrm>
            <a:custGeom>
              <a:avLst/>
              <a:gdLst/>
              <a:ahLst/>
              <a:cxnLst/>
              <a:rect l="l" t="t" r="r" b="b"/>
              <a:pathLst>
                <a:path w="550390" h="683328">
                  <a:moveTo>
                    <a:pt x="0" y="0"/>
                  </a:moveTo>
                  <a:lnTo>
                    <a:pt x="550390" y="0"/>
                  </a:lnTo>
                  <a:lnTo>
                    <a:pt x="550390" y="683328"/>
                  </a:lnTo>
                  <a:lnTo>
                    <a:pt x="0" y="683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9574" y="75176"/>
              <a:ext cx="3426178" cy="478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40"/>
                </a:lnSpc>
                <a:defRPr/>
              </a:pPr>
              <a:r>
                <a:rPr lang="en-MY" sz="2000" spc="82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50000">
                        <a:srgbClr val="002F31">
                          <a:alpha val="100000"/>
                        </a:srgbClr>
                      </a:gs>
                      <a:gs pos="100000">
                        <a:srgbClr val="00959A">
                          <a:alpha val="100000"/>
                        </a:srgbClr>
                      </a:gs>
                    </a:gsLst>
                    <a:lin ang="2700000"/>
                  </a:gradFill>
                  <a:latin typeface="Aptos"/>
                </a:rPr>
                <a:t>02-03-26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3452568" y="161232"/>
            <a:ext cx="3806732" cy="1350171"/>
          </a:xfrm>
          <a:custGeom>
            <a:avLst/>
            <a:gdLst/>
            <a:ahLst/>
            <a:cxnLst/>
            <a:rect l="l" t="t" r="r" b="b"/>
            <a:pathLst>
              <a:path w="3806732" h="1350171">
                <a:moveTo>
                  <a:pt x="0" y="0"/>
                </a:moveTo>
                <a:lnTo>
                  <a:pt x="3806732" y="0"/>
                </a:lnTo>
                <a:lnTo>
                  <a:pt x="3806732" y="1350171"/>
                </a:lnTo>
                <a:lnTo>
                  <a:pt x="0" y="1350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69CC0C1-CEE6-7AFD-F08C-9037DCAE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Week VI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59E3EB5-D08C-1B33-945D-C91DA725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7658100" cy="547688"/>
          </a:xfrm>
        </p:spPr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A546E35-A579-1253-4F8D-BE6DFA9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C87EB35ACF9448AB6AF0166C74B31C" ma:contentTypeVersion="20" ma:contentTypeDescription="Create a new document." ma:contentTypeScope="" ma:versionID="afd188c47451dba45a86e012c1481767">
  <xsd:schema xmlns:xsd="http://www.w3.org/2001/XMLSchema" xmlns:xs="http://www.w3.org/2001/XMLSchema" xmlns:p="http://schemas.microsoft.com/office/2006/metadata/properties" xmlns:ns1="http://schemas.microsoft.com/sharepoint/v3" xmlns:ns3="f604542f-3f98-4180-a530-dccd8eb96459" xmlns:ns4="161b1d0b-c5d9-4346-b7aa-7c23791df872" targetNamespace="http://schemas.microsoft.com/office/2006/metadata/properties" ma:root="true" ma:fieldsID="f8830e1d0cf709f132b06e9cca8a370a" ns1:_="" ns3:_="" ns4:_="">
    <xsd:import namespace="http://schemas.microsoft.com/sharepoint/v3"/>
    <xsd:import namespace="f604542f-3f98-4180-a530-dccd8eb96459"/>
    <xsd:import namespace="161b1d0b-c5d9-4346-b7aa-7c23791df8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04542f-3f98-4180-a530-dccd8eb964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1b1d0b-c5d9-4346-b7aa-7c23791df87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f604542f-3f98-4180-a530-dccd8eb9645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F07991-DBC0-402D-BD53-7E5C26CAE5A5}">
  <ds:schemaRefs>
    <ds:schemaRef ds:uri="161b1d0b-c5d9-4346-b7aa-7c23791df872"/>
    <ds:schemaRef ds:uri="f604542f-3f98-4180-a530-dccd8eb964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F8EABEC-D4DA-4635-9F5B-DEE1FFF379A2}">
  <ds:schemaRefs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61b1d0b-c5d9-4346-b7aa-7c23791df872"/>
    <ds:schemaRef ds:uri="http://schemas.microsoft.com/office/2006/documentManagement/types"/>
    <ds:schemaRef ds:uri="http://purl.org/dc/elements/1.1/"/>
    <ds:schemaRef ds:uri="f604542f-3f98-4180-a530-dccd8eb96459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59B6550-91B7-456B-A940-ECDA25AB84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770</TotalTime>
  <Words>1479</Words>
  <Application>Microsoft Macintosh PowerPoint</Application>
  <PresentationFormat>Custom</PresentationFormat>
  <Paragraphs>239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Wingdings</vt:lpstr>
      <vt:lpstr>Segoe UI</vt:lpstr>
      <vt:lpstr>Arial</vt:lpstr>
      <vt:lpstr>Calibri</vt:lpstr>
      <vt:lpstr>Museo Sans 300</vt:lpstr>
      <vt:lpstr>Times New Roman</vt:lpstr>
      <vt:lpstr>Aptos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 Slide Ver02</dc:title>
  <dc:creator>Nurul Fazilah Bt Esa (FSMC/UTP)</dc:creator>
  <cp:lastModifiedBy>Khan Reeyan Afzal</cp:lastModifiedBy>
  <cp:revision>267</cp:revision>
  <dcterms:created xsi:type="dcterms:W3CDTF">2006-08-16T00:00:00Z</dcterms:created>
  <dcterms:modified xsi:type="dcterms:W3CDTF">2026-06-26T00:16:33Z</dcterms:modified>
  <dc:identifier>DAG_MRG_x0E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0x0101000DC87EB35ACF9448AB6AF0166C74B31C</vt:lpwstr>
  </property>
</Properties>
</file>