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18"/>
  </p:notesMasterIdLst>
  <p:handoutMasterIdLst>
    <p:handoutMasterId r:id="rId19"/>
  </p:handoutMasterIdLst>
  <p:sldIdLst>
    <p:sldId id="268" r:id="rId5"/>
    <p:sldId id="371" r:id="rId6"/>
    <p:sldId id="276" r:id="rId7"/>
    <p:sldId id="367" r:id="rId8"/>
    <p:sldId id="257" r:id="rId9"/>
    <p:sldId id="365" r:id="rId10"/>
    <p:sldId id="369" r:id="rId11"/>
    <p:sldId id="373" r:id="rId12"/>
    <p:sldId id="370" r:id="rId13"/>
    <p:sldId id="383" r:id="rId14"/>
    <p:sldId id="384" r:id="rId15"/>
    <p:sldId id="282" r:id="rId16"/>
    <p:sldId id="270" r:id="rId17"/>
  </p:sldIdLst>
  <p:sldSz cx="18288000" cy="10287000"/>
  <p:notesSz cx="6858000" cy="9144000"/>
  <p:embeddedFontLst>
    <p:embeddedFont>
      <p:font typeface="Museo Sans 300" panose="02000000000000000000" charset="0"/>
      <p:regular r:id="rId20"/>
      <p:bold r:id="rId21"/>
      <p:italic r:id="rId22"/>
    </p:embeddedFont>
    <p:embeddedFont>
      <p:font typeface="Segoe UI" panose="020B0502040204020203"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E0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71" autoAdjust="0"/>
  </p:normalViewPr>
  <p:slideViewPr>
    <p:cSldViewPr snapToGrid="0">
      <p:cViewPr varScale="1">
        <p:scale>
          <a:sx n="36" d="100"/>
          <a:sy n="36" d="100"/>
        </p:scale>
        <p:origin x="27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21/5/2026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21/5/2026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7472-B57A-DFF6-0A43-599032CED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FCC552-30F0-1256-EC67-0E870BAC3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63616-1342-DE35-FF3B-1B7519158B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FB132F73-39FD-42B2-1796-E58A0C6FB2B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534943F-9067-C1CD-A905-2FC1FB1AD35A}"/>
              </a:ext>
            </a:extLst>
          </p:cNvPr>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89269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F81B-ECF4-BB8C-522E-73845160A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7BC0C-72CE-5613-37D1-A4FBDFB3A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0EEF3-C829-9F09-985B-67A215F673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a:extLst>
              <a:ext uri="{FF2B5EF4-FFF2-40B4-BE49-F238E27FC236}">
                <a16:creationId xmlns:a16="http://schemas.microsoft.com/office/drawing/2014/main" id="{21D861F0-D5FA-E53A-F7E4-0D700CBE9F0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996D872-3803-64D3-6ACC-1498C720C78D}"/>
              </a:ext>
            </a:extLst>
          </p:cNvPr>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3826528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FF86-11CF-B1DF-1C9B-D13C2D281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DBAA8-530D-57A7-B107-8EBD545CBD4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44A478A-7412-E62D-29D6-E0A856126D5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BB542AE-4A7B-01A1-A600-C4AE6C62C24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7AAF187-D08F-99E5-7D53-E3AA33607436}"/>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398917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C5BD5-3765-2D72-7C09-8621ED7C2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A4471-4AF1-D9BE-1D5E-0134F5BF898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22FFDC5-8CA2-BCC3-3572-52641053A18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9D10189-1D38-29D8-0F4E-E15897385F8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E576AF6-CCC2-BE0F-2C5C-72F51B0FEE29}"/>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2633285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AE2FF-86EE-7213-8736-6154896CC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5F44B-6670-0CF8-61AC-526275385DA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E854E85-1EEE-24B2-0075-1772A2C1F1F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82B9BE3-AC66-6909-9970-CF5C36D6F2F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7F33D50-E0EC-1FE1-390C-365BCAB12932}"/>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2645135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2BAAB-A44F-79D7-1A55-E221F4F53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54821-DE75-2521-73DE-49ED440321B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652C7A5-7D91-4A9A-BA8E-97879D29578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BDB63062-9C01-2602-28FE-9FEF2EFD103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F268E84-17A7-EF1E-7279-1892375D0182}"/>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2132418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A3B9D-D02F-4EE1-9554-FFD0B8E90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5B065-B453-9B72-28B0-03C95F466F0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2ED657D-A315-6A89-A350-3C1414F5DBE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ACC1667-D37C-25D7-E801-E5CCCAA1802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A411EB6-4DFC-8DB4-0D70-A5BDCABDE28B}"/>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2407901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103569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a:t>
            </a:r>
            <a:r>
              <a:rPr lang="en-US" sz="44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ARRAYS (2D)</a:t>
            </a:r>
          </a:p>
        </p:txBody>
      </p:sp>
      <p:sp>
        <p:nvSpPr>
          <p:cNvPr id="12" name="TextBox 12"/>
          <p:cNvSpPr txBox="1"/>
          <p:nvPr/>
        </p:nvSpPr>
        <p:spPr>
          <a:xfrm>
            <a:off x="8273946" y="2210080"/>
            <a:ext cx="7340807" cy="1046312"/>
          </a:xfrm>
          <a:prstGeom prst="rect">
            <a:avLst/>
          </a:prstGeom>
        </p:spPr>
        <p:txBody>
          <a:bodyPr wrap="square" lIns="0" tIns="0" rIns="0" bIns="0" rtlCol="0" anchor="t">
            <a:spAutoFit/>
          </a:bodyPr>
          <a:lstStyle/>
          <a:p>
            <a:pPr lvl="0" algn="ctr">
              <a:lnSpc>
                <a:spcPts val="4255"/>
              </a:lnSpc>
              <a:defRPr/>
            </a:pPr>
            <a:r>
              <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ALGORITHMS AND DATA STRUCTURES</a:t>
            </a:r>
            <a:endPar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Aptos"/>
            </a:endParaRPr>
          </a:p>
          <a:p>
            <a:pPr lvl="0" algn="ctr">
              <a:lnSpc>
                <a:spcPts val="4255"/>
              </a:lnSpc>
              <a:defRPr/>
            </a:pPr>
            <a:r>
              <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Aptos"/>
              </a:rPr>
              <a:t>TEB1113/TFB2023</a:t>
            </a:r>
            <a:endParaRPr lang="en-MY" sz="2799" spc="103"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14" name="TextBox 14"/>
          <p:cNvSpPr txBox="1"/>
          <p:nvPr/>
        </p:nvSpPr>
        <p:spPr>
          <a:xfrm>
            <a:off x="8527172" y="6957133"/>
            <a:ext cx="7337522" cy="381258"/>
          </a:xfrm>
          <a:prstGeom prst="rect">
            <a:avLst/>
          </a:prstGeom>
        </p:spPr>
        <p:txBody>
          <a:bodyPr wrap="square" lIns="0" tIns="0" rIns="0" bIns="0" rtlCol="0" anchor="t">
            <a:spAutoFit/>
          </a:bodyPr>
          <a:lstStyle/>
          <a:p>
            <a:pPr algn="ctr">
              <a:lnSpc>
                <a:spcPts val="3343"/>
              </a:lnSpc>
              <a:defRPr/>
            </a:pPr>
            <a:r>
              <a:rPr lang="en-MY" sz="2199"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FARAHIDA HANIM BT MAUSOR - DR (FSMC/UTP)</a:t>
            </a:r>
            <a:endPar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endParaRP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2"/>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7E1A74E1-A546-E488-26C8-703260A4C75C}"/>
              </a:ext>
            </a:extLst>
          </p:cNvPr>
          <p:cNvPicPr>
            <a:picLocks noChangeAspect="1"/>
          </p:cNvPicPr>
          <p:nvPr/>
        </p:nvPicPr>
        <p:blipFill>
          <a:blip r:embed="rId3">
            <a:extLst>
              <a:ext uri="{28A0092B-C50C-407E-A947-70E740481C1C}">
                <a14:useLocalDpi xmlns:a14="http://schemas.microsoft.com/office/drawing/2010/main" val="0"/>
              </a:ext>
            </a:extLst>
          </a:blip>
          <a:srcRect r="46457"/>
          <a:stretch>
            <a:fillRect/>
          </a:stretch>
        </p:blipFill>
        <p:spPr>
          <a:xfrm>
            <a:off x="0" y="0"/>
            <a:ext cx="6106886" cy="10286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A4E8-D0A1-A754-557F-0B65A4FF749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1C6C398-1942-0AD5-41B2-4089BDF999A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F96DF06-58C5-DAAD-1BDB-8FC07E68A72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3612DC9-D76F-AAAB-B268-C89CDFEE7332}"/>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RECAP FROM PREVIOUS LECTURE</a:t>
            </a:r>
          </a:p>
        </p:txBody>
      </p:sp>
      <p:sp>
        <p:nvSpPr>
          <p:cNvPr id="9" name="Date Placeholder 8">
            <a:extLst>
              <a:ext uri="{FF2B5EF4-FFF2-40B4-BE49-F238E27FC236}">
                <a16:creationId xmlns:a16="http://schemas.microsoft.com/office/drawing/2014/main" id="{1EE1773E-3923-46BF-AF44-31E5B84C74B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836CEDAF-3D5D-2E59-F65F-B7220C13132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60D1664-09D5-A89C-629B-01FC06CEB87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7DD0BF8-105F-6224-C810-DE29C5995211}"/>
              </a:ext>
            </a:extLst>
          </p:cNvPr>
          <p:cNvSpPr txBox="1"/>
          <p:nvPr/>
        </p:nvSpPr>
        <p:spPr>
          <a:xfrm>
            <a:off x="756447" y="1455366"/>
            <a:ext cx="16775106" cy="7272119"/>
          </a:xfrm>
          <a:prstGeom prst="rect">
            <a:avLst/>
          </a:prstGeom>
          <a:noFill/>
        </p:spPr>
        <p:txBody>
          <a:bodyPr wrap="square" rtlCol="0">
            <a:spAutoFit/>
          </a:bodyPr>
          <a:lstStyle/>
          <a:p>
            <a:pPr marL="514350" indent="-514350" algn="just">
              <a:lnSpc>
                <a:spcPct val="200000"/>
              </a:lnSpc>
              <a:buFontTx/>
              <a:buAutoNum type="arabicPeriod"/>
            </a:pPr>
            <a:r>
              <a:rPr lang="en-MY" sz="4800" dirty="0"/>
              <a:t>Data structures organize data in memory.</a:t>
            </a:r>
          </a:p>
          <a:p>
            <a:pPr marL="514350" indent="-514350" algn="just">
              <a:lnSpc>
                <a:spcPct val="200000"/>
              </a:lnSpc>
              <a:buFontTx/>
              <a:buAutoNum type="arabicPeriod"/>
            </a:pPr>
            <a:r>
              <a:rPr lang="en-MY" sz="4800" dirty="0"/>
              <a:t>Primitive data types store simple values.</a:t>
            </a:r>
          </a:p>
          <a:p>
            <a:pPr marL="514350" indent="-514350" algn="just">
              <a:lnSpc>
                <a:spcPct val="200000"/>
              </a:lnSpc>
              <a:buFontTx/>
              <a:buAutoNum type="arabicPeriod"/>
            </a:pPr>
            <a:r>
              <a:rPr lang="en-MY" sz="4800" dirty="0"/>
              <a:t>Non-primitive structures organize multiple values or relationships.</a:t>
            </a:r>
          </a:p>
          <a:p>
            <a:pPr marL="514350" indent="-514350" algn="just">
              <a:lnSpc>
                <a:spcPct val="200000"/>
              </a:lnSpc>
              <a:buFontTx/>
              <a:buAutoNum type="arabicPeriod"/>
            </a:pPr>
            <a:r>
              <a:rPr lang="en-US" sz="4800" dirty="0"/>
              <a:t>C++ </a:t>
            </a:r>
            <a:r>
              <a:rPr lang="en-US" sz="4800" b="1" i="1" dirty="0"/>
              <a:t>struct</a:t>
            </a:r>
            <a:r>
              <a:rPr lang="en-US" sz="4800" dirty="0"/>
              <a:t> can group different data types into one record.</a:t>
            </a:r>
          </a:p>
        </p:txBody>
      </p:sp>
    </p:spTree>
    <p:extLst>
      <p:ext uri="{BB962C8B-B14F-4D97-AF65-F5344CB8AC3E}">
        <p14:creationId xmlns:p14="http://schemas.microsoft.com/office/powerpoint/2010/main" val="32808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endParaRPr kumimoji="0" lang="en-US" sz="3200" b="1" i="0" u="none" strike="noStrike" kern="1200" cap="none" spc="147" normalizeH="0" baseline="0" noProof="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8175015-C56E-A18B-9965-887E7BA6AF14}"/>
              </a:ext>
            </a:extLst>
          </p:cNvPr>
          <p:cNvSpPr txBox="1"/>
          <p:nvPr/>
        </p:nvSpPr>
        <p:spPr>
          <a:xfrm>
            <a:off x="756447" y="1455366"/>
            <a:ext cx="16775106" cy="7272119"/>
          </a:xfrm>
          <a:prstGeom prst="rect">
            <a:avLst/>
          </a:prstGeom>
          <a:noFill/>
        </p:spPr>
        <p:txBody>
          <a:bodyPr wrap="square" rtlCol="0">
            <a:spAutoFit/>
          </a:bodyPr>
          <a:lstStyle/>
          <a:p>
            <a:pPr marL="514350" indent="-514350" algn="just">
              <a:lnSpc>
                <a:spcPct val="200000"/>
              </a:lnSpc>
              <a:buFontTx/>
              <a:buAutoNum type="arabicPeriod"/>
            </a:pPr>
            <a:r>
              <a:rPr lang="en-US" sz="4800" dirty="0"/>
              <a:t>Define arrays and explain their contiguous memory layout.</a:t>
            </a:r>
          </a:p>
          <a:p>
            <a:pPr marL="514350" indent="-514350" algn="just">
              <a:lnSpc>
                <a:spcPct val="200000"/>
              </a:lnSpc>
              <a:buFontTx/>
              <a:buAutoNum type="arabicPeriod"/>
            </a:pPr>
            <a:r>
              <a:rPr lang="en-US" sz="4800" dirty="0"/>
              <a:t>Access array elements using index positions and address calculation.</a:t>
            </a:r>
          </a:p>
          <a:p>
            <a:pPr marL="514350" indent="-514350" algn="just">
              <a:lnSpc>
                <a:spcPct val="200000"/>
              </a:lnSpc>
              <a:buFontTx/>
              <a:buAutoNum type="arabicPeriod"/>
            </a:pPr>
            <a:r>
              <a:rPr lang="en-US" sz="4800" dirty="0"/>
              <a:t>Implement 1D and 2D arrays in C++.</a:t>
            </a:r>
          </a:p>
          <a:p>
            <a:pPr marL="514350" indent="-514350" algn="just">
              <a:lnSpc>
                <a:spcPct val="200000"/>
              </a:lnSpc>
              <a:buFontTx/>
              <a:buAutoNum type="arabicPeriod"/>
            </a:pPr>
            <a:r>
              <a:rPr lang="en-US" sz="4800" dirty="0"/>
              <a:t>Solve basic matrix-based problems using nested loops.</a:t>
            </a:r>
            <a:endParaRPr lang="en-US" sz="4000" dirty="0"/>
          </a:p>
        </p:txBody>
      </p:sp>
    </p:spTree>
    <p:extLst>
      <p:ext uri="{BB962C8B-B14F-4D97-AF65-F5344CB8AC3E}">
        <p14:creationId xmlns:p14="http://schemas.microsoft.com/office/powerpoint/2010/main" val="3162996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F617-6662-C456-227D-3275C55C5D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F43934F-2864-661A-2BA0-DC5387E43B4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FBDD271-AED0-0592-6161-DA190BFBADB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372BB23-EF0F-750B-8106-7619BB6E6B1C}"/>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p>
        </p:txBody>
      </p:sp>
      <p:sp>
        <p:nvSpPr>
          <p:cNvPr id="9" name="Date Placeholder 8">
            <a:extLst>
              <a:ext uri="{FF2B5EF4-FFF2-40B4-BE49-F238E27FC236}">
                <a16:creationId xmlns:a16="http://schemas.microsoft.com/office/drawing/2014/main" id="{090AE56B-4BEA-5B7A-F78B-014938DB73F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F2CA9889-5D5F-2D1D-22C9-9D67842715D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351A66-EF48-9C85-4CCF-6277EE3A6C0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8A2FE96-C87E-A6ED-5539-84E36E5345F9}"/>
              </a:ext>
            </a:extLst>
          </p:cNvPr>
          <p:cNvSpPr txBox="1"/>
          <p:nvPr/>
        </p:nvSpPr>
        <p:spPr>
          <a:xfrm>
            <a:off x="756447" y="1455366"/>
            <a:ext cx="16775106" cy="7552389"/>
          </a:xfrm>
          <a:prstGeom prst="rect">
            <a:avLst/>
          </a:prstGeom>
          <a:noFill/>
        </p:spPr>
        <p:txBody>
          <a:bodyPr wrap="square" rtlCol="0">
            <a:spAutoFit/>
          </a:bodyPr>
          <a:lstStyle/>
          <a:p>
            <a:pPr marL="514350" indent="-514350">
              <a:lnSpc>
                <a:spcPct val="150000"/>
              </a:lnSpc>
              <a:buFontTx/>
              <a:buAutoNum type="arabicPeriod"/>
            </a:pPr>
            <a:r>
              <a:rPr lang="en-MY" sz="6600" dirty="0"/>
              <a:t>Array Basics</a:t>
            </a:r>
            <a:endParaRPr lang="en-US" sz="6600" dirty="0"/>
          </a:p>
          <a:p>
            <a:pPr marL="514350" indent="-514350">
              <a:lnSpc>
                <a:spcPct val="150000"/>
              </a:lnSpc>
              <a:buFontTx/>
              <a:buAutoNum type="arabicPeriod"/>
            </a:pPr>
            <a:r>
              <a:rPr lang="en-MY" sz="6600" dirty="0"/>
              <a:t>Memory Layout and Indexing</a:t>
            </a:r>
          </a:p>
          <a:p>
            <a:pPr marL="514350" indent="-514350">
              <a:lnSpc>
                <a:spcPct val="150000"/>
              </a:lnSpc>
              <a:buFontTx/>
              <a:buAutoNum type="arabicPeriod"/>
            </a:pPr>
            <a:r>
              <a:rPr lang="en-MY" sz="6600" dirty="0"/>
              <a:t>Why Arrays Are Useful</a:t>
            </a:r>
          </a:p>
          <a:p>
            <a:pPr>
              <a:lnSpc>
                <a:spcPct val="150000"/>
              </a:lnSpc>
            </a:pPr>
            <a:r>
              <a:rPr lang="en-US" sz="6600" dirty="0"/>
              <a:t>4. </a:t>
            </a:r>
            <a:r>
              <a:rPr lang="en-MY" sz="6600" dirty="0"/>
              <a:t>2D Arrays and Matrices</a:t>
            </a:r>
            <a:endParaRPr lang="en-US" sz="6600" dirty="0"/>
          </a:p>
          <a:p>
            <a:pPr>
              <a:lnSpc>
                <a:spcPct val="150000"/>
              </a:lnSpc>
            </a:pPr>
            <a:r>
              <a:rPr lang="en-US" sz="6600" dirty="0"/>
              <a:t>5. </a:t>
            </a:r>
            <a:r>
              <a:rPr lang="en-MY" sz="6600" dirty="0"/>
              <a:t>C++ Lab Practice</a:t>
            </a:r>
          </a:p>
        </p:txBody>
      </p:sp>
    </p:spTree>
    <p:extLst>
      <p:ext uri="{BB962C8B-B14F-4D97-AF65-F5344CB8AC3E}">
        <p14:creationId xmlns:p14="http://schemas.microsoft.com/office/powerpoint/2010/main" val="3502335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790474"/>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ARRAYS (2D)</a:t>
            </a:r>
          </a:p>
        </p:txBody>
      </p:sp>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1334276"/>
          </a:xfrm>
          <a:prstGeom prst="rect">
            <a:avLst/>
          </a:prstGeom>
        </p:spPr>
        <p:txBody>
          <a:bodyPr wrap="square" lIns="0" tIns="0" rIns="0" bIns="0" rtlCol="0" anchor="t">
            <a:spAutoFit/>
          </a:bodyPr>
          <a:lstStyle/>
          <a:p>
            <a:pPr lvl="0" algn="ctr">
              <a:lnSpc>
                <a:spcPct val="150000"/>
              </a:lnSpc>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pic>
        <p:nvPicPr>
          <p:cNvPr id="2" name="Picture 1">
            <a:extLst>
              <a:ext uri="{FF2B5EF4-FFF2-40B4-BE49-F238E27FC236}">
                <a16:creationId xmlns:a16="http://schemas.microsoft.com/office/drawing/2014/main" id="{9DDDCD67-EACE-1158-9CDF-D05D35C4980F}"/>
              </a:ext>
            </a:extLst>
          </p:cNvPr>
          <p:cNvPicPr>
            <a:picLocks noChangeAspect="1"/>
          </p:cNvPicPr>
          <p:nvPr/>
        </p:nvPicPr>
        <p:blipFill>
          <a:blip r:embed="rId3">
            <a:extLst>
              <a:ext uri="{28A0092B-C50C-407E-A947-70E740481C1C}">
                <a14:useLocalDpi xmlns:a14="http://schemas.microsoft.com/office/drawing/2010/main" val="0"/>
              </a:ext>
            </a:extLst>
          </a:blip>
          <a:srcRect l="-1280" t="501" r="33683" b="-501"/>
          <a:stretch>
            <a:fillRect/>
          </a:stretch>
        </p:blipFill>
        <p:spPr>
          <a:xfrm>
            <a:off x="7414943" y="0"/>
            <a:ext cx="10873057"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WHAT IS AN ARRAY?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22394E0-E2D1-C064-917A-689DA98B054B}"/>
              </a:ext>
            </a:extLst>
          </p:cNvPr>
          <p:cNvSpPr txBox="1"/>
          <p:nvPr/>
        </p:nvSpPr>
        <p:spPr>
          <a:xfrm>
            <a:off x="756447" y="2644758"/>
            <a:ext cx="16775106" cy="6446701"/>
          </a:xfrm>
          <a:prstGeom prst="rect">
            <a:avLst/>
          </a:prstGeom>
          <a:noFill/>
        </p:spPr>
        <p:txBody>
          <a:bodyPr wrap="square" rtlCol="0">
            <a:spAutoFit/>
          </a:bodyPr>
          <a:lstStyle/>
          <a:p>
            <a:pPr marL="514350" indent="-514350" algn="just">
              <a:lnSpc>
                <a:spcPct val="300000"/>
              </a:lnSpc>
              <a:buFont typeface="Wingdings" panose="05000000000000000000" pitchFamily="2" charset="2"/>
              <a:buChar char="§"/>
            </a:pPr>
            <a:r>
              <a:rPr lang="en-US" sz="3600" dirty="0"/>
              <a:t>Arrays are defined as a collection of similar data items of the same type.</a:t>
            </a:r>
          </a:p>
          <a:p>
            <a:pPr marL="514350" indent="-514350" algn="just">
              <a:lnSpc>
                <a:spcPct val="300000"/>
              </a:lnSpc>
              <a:buFont typeface="Wingdings" panose="05000000000000000000" pitchFamily="2" charset="2"/>
              <a:buChar char="§"/>
            </a:pPr>
            <a:r>
              <a:rPr lang="en-US" sz="3600" dirty="0"/>
              <a:t>Data items in an array are stored at contiguous memory locations.</a:t>
            </a:r>
          </a:p>
          <a:p>
            <a:pPr marL="514350" indent="-514350" algn="just">
              <a:lnSpc>
                <a:spcPct val="300000"/>
              </a:lnSpc>
              <a:buFont typeface="Wingdings" panose="05000000000000000000" pitchFamily="2" charset="2"/>
              <a:buChar char="§"/>
            </a:pPr>
            <a:r>
              <a:rPr lang="en-US" sz="3600" dirty="0"/>
              <a:t>Data elements can be randomly accessed by using their index number</a:t>
            </a:r>
          </a:p>
          <a:p>
            <a:pPr algn="ctr">
              <a:lnSpc>
                <a:spcPct val="300000"/>
              </a:lnSpc>
            </a:pPr>
            <a:r>
              <a:rPr lang="en-MY" sz="3600" b="1" dirty="0"/>
              <a:t>Store</a:t>
            </a:r>
            <a:r>
              <a:rPr lang="en-MY" sz="3600" dirty="0"/>
              <a:t> → </a:t>
            </a:r>
            <a:r>
              <a:rPr lang="en-MY" sz="3600" b="1" dirty="0"/>
              <a:t>Access</a:t>
            </a:r>
            <a:r>
              <a:rPr lang="en-MY" sz="3600" dirty="0"/>
              <a:t> → </a:t>
            </a:r>
            <a:r>
              <a:rPr lang="en-MY" sz="3600" b="1" dirty="0"/>
              <a:t>Process</a:t>
            </a:r>
            <a:endParaRPr lang="en-US" sz="3600" dirty="0"/>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E9087-7686-4286-548B-27ECB554C5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D2AF47-346B-27DA-401E-536E2FEE179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A80032B-142A-18E6-48AB-7ACFAA89BCA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C87E1F9-71C4-824E-F8CB-59E98F34D5DA}"/>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4363A301-C937-7477-E10F-97C1AEFCF0C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0F30D7B5-0D21-216A-1B3E-7BD9BDD96CE3}"/>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8FFDADF-B2C6-9256-FC5C-E901A2733C9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9AD2BC00-D3C2-9611-2463-F6B2D761E5D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1.2.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PROPERTIES OF AN ARRAY</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FCF77E8-9018-8D5D-8114-C6B7FA9B6C4B}"/>
              </a:ext>
            </a:extLst>
          </p:cNvPr>
          <p:cNvSpPr txBox="1"/>
          <p:nvPr/>
        </p:nvSpPr>
        <p:spPr>
          <a:xfrm>
            <a:off x="756447" y="2644758"/>
            <a:ext cx="16775106" cy="6654450"/>
          </a:xfrm>
          <a:prstGeom prst="rect">
            <a:avLst/>
          </a:prstGeom>
          <a:noFill/>
        </p:spPr>
        <p:txBody>
          <a:bodyPr wrap="square" rtlCol="0">
            <a:spAutoFit/>
          </a:bodyPr>
          <a:lstStyle/>
          <a:p>
            <a:pPr marL="514350" indent="-514350" algn="just">
              <a:lnSpc>
                <a:spcPct val="150000"/>
              </a:lnSpc>
              <a:buFont typeface="Wingdings" panose="05000000000000000000" pitchFamily="2" charset="2"/>
              <a:buChar char="§"/>
            </a:pPr>
            <a:r>
              <a:rPr lang="en-US" sz="3600" dirty="0"/>
              <a:t>Each element in an array is of the same data type and carries the same size.</a:t>
            </a:r>
          </a:p>
          <a:p>
            <a:pPr marL="514350" indent="-514350" algn="just">
              <a:lnSpc>
                <a:spcPct val="150000"/>
              </a:lnSpc>
              <a:buFont typeface="Wingdings" panose="05000000000000000000" pitchFamily="2" charset="2"/>
              <a:buChar char="§"/>
            </a:pPr>
            <a:endParaRPr lang="en-US" sz="3600" dirty="0"/>
          </a:p>
          <a:p>
            <a:pPr marL="514350" indent="-514350" algn="just">
              <a:lnSpc>
                <a:spcPct val="150000"/>
              </a:lnSpc>
              <a:buFont typeface="Wingdings" panose="05000000000000000000" pitchFamily="2" charset="2"/>
              <a:buChar char="§"/>
            </a:pPr>
            <a:r>
              <a:rPr lang="en-US" sz="3600" dirty="0"/>
              <a:t>Elements in the array are stored at contiguous memory locations from with the first element stored at the smallest memory location.</a:t>
            </a:r>
          </a:p>
          <a:p>
            <a:pPr marL="514350" indent="-514350" algn="just">
              <a:lnSpc>
                <a:spcPct val="150000"/>
              </a:lnSpc>
              <a:buFont typeface="Wingdings" panose="05000000000000000000" pitchFamily="2" charset="2"/>
              <a:buChar char="§"/>
            </a:pPr>
            <a:endParaRPr lang="en-US" sz="3600" dirty="0"/>
          </a:p>
          <a:p>
            <a:pPr marL="514350" indent="-514350" algn="just">
              <a:lnSpc>
                <a:spcPct val="150000"/>
              </a:lnSpc>
              <a:buFont typeface="Wingdings" panose="05000000000000000000" pitchFamily="2" charset="2"/>
              <a:buChar char="§"/>
            </a:pPr>
            <a:r>
              <a:rPr lang="en-US" sz="3600" dirty="0"/>
              <a:t>Elements of the array can be randomly accessed since we can calculate the address of each element of the array with the given base address and the size of the data element.</a:t>
            </a:r>
            <a:endParaRPr lang="en-PK" sz="3600" dirty="0"/>
          </a:p>
        </p:txBody>
      </p:sp>
    </p:spTree>
    <p:extLst>
      <p:ext uri="{BB962C8B-B14F-4D97-AF65-F5344CB8AC3E}">
        <p14:creationId xmlns:p14="http://schemas.microsoft.com/office/powerpoint/2010/main" val="414398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99CF-20C8-B7EB-FCF6-314B67C230F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2EFB2AD-F90F-53AF-2371-0F423537173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2BA2A68-062E-BD0A-7A9B-05D202689CF0}"/>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5687389-9455-72FD-8CE7-02C004832CA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D02C87F9-0D08-C1E6-67A3-EA942BC1B8C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3765FD64-DCF3-82D6-DDCD-11FFAD59679A}"/>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DE1A8E3-738A-9289-5707-11254747623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14183318-0A89-2D58-16D0-22E6057A2880}"/>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1.3.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1D vs 2D ARRAYS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7E3493-C8E6-B7EC-41A0-1C94AFD40339}"/>
              </a:ext>
            </a:extLst>
          </p:cNvPr>
          <p:cNvSpPr txBox="1"/>
          <p:nvPr/>
        </p:nvSpPr>
        <p:spPr>
          <a:xfrm>
            <a:off x="756447" y="2644758"/>
            <a:ext cx="16775106" cy="7439281"/>
          </a:xfrm>
          <a:prstGeom prst="rect">
            <a:avLst/>
          </a:prstGeom>
          <a:noFill/>
        </p:spPr>
        <p:txBody>
          <a:bodyPr wrap="square" rtlCol="0">
            <a:spAutoFit/>
          </a:bodyPr>
          <a:lstStyle/>
          <a:p>
            <a:pPr marL="514350" indent="-514350" algn="just">
              <a:lnSpc>
                <a:spcPct val="150000"/>
              </a:lnSpc>
              <a:buFont typeface="Wingdings" panose="05000000000000000000" pitchFamily="2" charset="2"/>
              <a:buChar char="§"/>
            </a:pPr>
            <a:r>
              <a:rPr lang="en-US" sz="3600" dirty="0"/>
              <a:t>Index:   0       1    	 2    	3     4</a:t>
            </a:r>
          </a:p>
          <a:p>
            <a:pPr marL="514350" indent="-514350" algn="just">
              <a:lnSpc>
                <a:spcPct val="150000"/>
              </a:lnSpc>
              <a:buFont typeface="Wingdings" panose="05000000000000000000" pitchFamily="2" charset="2"/>
              <a:buChar char="§"/>
            </a:pPr>
            <a:r>
              <a:rPr lang="en-US" sz="3600" dirty="0"/>
              <a:t>Value: [12] [25] [18] [30] [22]</a:t>
            </a:r>
            <a:endParaRPr lang="en-MY" sz="3600" dirty="0"/>
          </a:p>
          <a:p>
            <a:pPr>
              <a:lnSpc>
                <a:spcPct val="150000"/>
              </a:lnSpc>
            </a:pPr>
            <a:endParaRPr lang="en-MY" sz="1000" dirty="0"/>
          </a:p>
          <a:p>
            <a:pPr marL="514350" indent="-514350">
              <a:lnSpc>
                <a:spcPct val="150000"/>
              </a:lnSpc>
              <a:buFont typeface="Wingdings" panose="05000000000000000000" pitchFamily="2" charset="2"/>
              <a:buChar char="§"/>
            </a:pPr>
            <a:r>
              <a:rPr lang="en-US" sz="3600" dirty="0"/>
              <a:t>A </a:t>
            </a:r>
            <a:r>
              <a:rPr lang="en-US" sz="3600" b="1" dirty="0"/>
              <a:t>2D array</a:t>
            </a:r>
            <a:r>
              <a:rPr lang="en-US" sz="3600" dirty="0"/>
              <a:t> stores data in rows and columns. It is commonly used for tables, grids, and matrices.</a:t>
            </a:r>
            <a:endParaRPr lang="en-US" sz="3200" dirty="0"/>
          </a:p>
          <a:p>
            <a:pPr lvl="1" algn="ctr">
              <a:lnSpc>
                <a:spcPct val="150000"/>
              </a:lnSpc>
            </a:pPr>
            <a:r>
              <a:rPr lang="en-MY" sz="4000" dirty="0"/>
              <a:t>[1] [2] [3]</a:t>
            </a:r>
            <a:br>
              <a:rPr lang="en-MY" sz="4000" dirty="0"/>
            </a:br>
            <a:r>
              <a:rPr lang="en-MY" sz="4000" dirty="0"/>
              <a:t>[4] [5] [6]</a:t>
            </a:r>
            <a:br>
              <a:rPr lang="en-MY" sz="4000" dirty="0"/>
            </a:br>
            <a:r>
              <a:rPr lang="en-MY" sz="4000" dirty="0"/>
              <a:t>[7] [8] [9]</a:t>
            </a:r>
          </a:p>
          <a:p>
            <a:pPr marL="971550" lvl="1" indent="-514350">
              <a:lnSpc>
                <a:spcPct val="150000"/>
              </a:lnSpc>
              <a:buFont typeface="Wingdings" panose="05000000000000000000" pitchFamily="2" charset="2"/>
              <a:buChar char="§"/>
            </a:pPr>
            <a:endParaRPr lang="en-PK" sz="3600" dirty="0"/>
          </a:p>
        </p:txBody>
      </p:sp>
      <p:cxnSp>
        <p:nvCxnSpPr>
          <p:cNvPr id="8" name="Straight Arrow Connector 7">
            <a:extLst>
              <a:ext uri="{FF2B5EF4-FFF2-40B4-BE49-F238E27FC236}">
                <a16:creationId xmlns:a16="http://schemas.microsoft.com/office/drawing/2014/main" id="{8243AED0-0CBF-FD14-B3AF-72824975D110}"/>
              </a:ext>
            </a:extLst>
          </p:cNvPr>
          <p:cNvCxnSpPr>
            <a:cxnSpLocks/>
          </p:cNvCxnSpPr>
          <p:nvPr/>
        </p:nvCxnSpPr>
        <p:spPr>
          <a:xfrm>
            <a:off x="7827004" y="9024611"/>
            <a:ext cx="2969950" cy="0"/>
          </a:xfrm>
          <a:prstGeom prst="straightConnector1">
            <a:avLst/>
          </a:prstGeom>
          <a:ln w="603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94A79E18-A4FE-2C06-9B70-B34DB0C5D537}"/>
              </a:ext>
            </a:extLst>
          </p:cNvPr>
          <p:cNvCxnSpPr>
            <a:cxnSpLocks/>
          </p:cNvCxnSpPr>
          <p:nvPr/>
        </p:nvCxnSpPr>
        <p:spPr>
          <a:xfrm>
            <a:off x="8190419" y="6080776"/>
            <a:ext cx="0" cy="3378405"/>
          </a:xfrm>
          <a:prstGeom prst="straightConnector1">
            <a:avLst/>
          </a:prstGeom>
          <a:ln w="60325"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CFBD8764-DC49-2544-B588-113788F71565}"/>
              </a:ext>
            </a:extLst>
          </p:cNvPr>
          <p:cNvSpPr txBox="1"/>
          <p:nvPr/>
        </p:nvSpPr>
        <p:spPr>
          <a:xfrm>
            <a:off x="10768980" y="8819786"/>
            <a:ext cx="782778" cy="369332"/>
          </a:xfrm>
          <a:prstGeom prst="rect">
            <a:avLst/>
          </a:prstGeom>
          <a:noFill/>
        </p:spPr>
        <p:txBody>
          <a:bodyPr wrap="none" rtlCol="0">
            <a:spAutoFit/>
          </a:bodyPr>
          <a:lstStyle/>
          <a:p>
            <a:r>
              <a:rPr lang="en-US" b="1" dirty="0"/>
              <a:t>ROWS</a:t>
            </a:r>
            <a:endParaRPr lang="en-MY" b="1" dirty="0"/>
          </a:p>
        </p:txBody>
      </p:sp>
      <p:sp>
        <p:nvSpPr>
          <p:cNvPr id="17" name="TextBox 16">
            <a:extLst>
              <a:ext uri="{FF2B5EF4-FFF2-40B4-BE49-F238E27FC236}">
                <a16:creationId xmlns:a16="http://schemas.microsoft.com/office/drawing/2014/main" id="{B5EF444E-0098-8AAE-E376-1A4B213376AD}"/>
              </a:ext>
            </a:extLst>
          </p:cNvPr>
          <p:cNvSpPr txBox="1"/>
          <p:nvPr/>
        </p:nvSpPr>
        <p:spPr>
          <a:xfrm>
            <a:off x="7595432" y="5737845"/>
            <a:ext cx="1166410" cy="369332"/>
          </a:xfrm>
          <a:prstGeom prst="rect">
            <a:avLst/>
          </a:prstGeom>
          <a:noFill/>
        </p:spPr>
        <p:txBody>
          <a:bodyPr wrap="none" rtlCol="0">
            <a:spAutoFit/>
          </a:bodyPr>
          <a:lstStyle/>
          <a:p>
            <a:r>
              <a:rPr lang="en-US" b="1" dirty="0"/>
              <a:t>COLUMNS</a:t>
            </a:r>
            <a:endParaRPr lang="en-MY" b="1" dirty="0"/>
          </a:p>
        </p:txBody>
      </p:sp>
    </p:spTree>
    <p:extLst>
      <p:ext uri="{BB962C8B-B14F-4D97-AF65-F5344CB8AC3E}">
        <p14:creationId xmlns:p14="http://schemas.microsoft.com/office/powerpoint/2010/main" val="368445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fade">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AD1C-F79C-7312-7CD5-A3356E0668F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8C9578E-0A3A-DB22-1A91-0EB0C6F597C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C6C8DA8-1183-6237-12CA-6F55E24A4A0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3F0792E-60D3-5DA9-B7B9-0F74F5653636}"/>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1A5B390-F2F9-E884-7CBB-D017A13C4A0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9BB6146-AFCF-3A37-EE78-C047DD51CD3E}"/>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6AB07B5-E74E-50B0-9B76-9C5B00DFD66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5A422631-3BDC-34EF-02AD-C850A32E731F}"/>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1.4.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WHY ARRAYS ARE USEFUL?</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1F0E86B-BB4D-8D34-ECEF-E5194FCBBBC9}"/>
              </a:ext>
            </a:extLst>
          </p:cNvPr>
          <p:cNvSpPr txBox="1"/>
          <p:nvPr/>
        </p:nvSpPr>
        <p:spPr>
          <a:xfrm>
            <a:off x="756447" y="2644758"/>
            <a:ext cx="16775106" cy="4992457"/>
          </a:xfrm>
          <a:prstGeom prst="rect">
            <a:avLst/>
          </a:prstGeom>
          <a:noFill/>
        </p:spPr>
        <p:txBody>
          <a:bodyPr wrap="square" rtlCol="0">
            <a:spAutoFit/>
          </a:bodyPr>
          <a:lstStyle/>
          <a:p>
            <a:pPr marL="514350" indent="-514350" algn="just">
              <a:lnSpc>
                <a:spcPct val="150000"/>
              </a:lnSpc>
              <a:buFont typeface="Wingdings" panose="05000000000000000000" pitchFamily="2" charset="2"/>
              <a:buChar char="§"/>
            </a:pPr>
            <a:r>
              <a:rPr lang="en-US" sz="3600" dirty="0"/>
              <a:t>Sorting and searching for a value in an array are easier.</a:t>
            </a:r>
          </a:p>
          <a:p>
            <a:pPr marL="514350" indent="-514350" algn="just">
              <a:lnSpc>
                <a:spcPct val="150000"/>
              </a:lnSpc>
              <a:buFont typeface="Wingdings" panose="05000000000000000000" pitchFamily="2" charset="2"/>
              <a:buChar char="§"/>
            </a:pPr>
            <a:endParaRPr lang="en-US" sz="3600" dirty="0"/>
          </a:p>
          <a:p>
            <a:pPr marL="514350" indent="-514350" algn="just">
              <a:lnSpc>
                <a:spcPct val="150000"/>
              </a:lnSpc>
              <a:buFont typeface="Wingdings" panose="05000000000000000000" pitchFamily="2" charset="2"/>
              <a:buChar char="§"/>
            </a:pPr>
            <a:r>
              <a:rPr lang="en-US" sz="3600" dirty="0"/>
              <a:t>Arrays are best for processing multiple values quickly and easily</a:t>
            </a:r>
          </a:p>
          <a:p>
            <a:pPr marL="514350" indent="-514350" algn="just">
              <a:lnSpc>
                <a:spcPct val="150000"/>
              </a:lnSpc>
              <a:buFont typeface="Wingdings" panose="05000000000000000000" pitchFamily="2" charset="2"/>
              <a:buChar char="§"/>
            </a:pPr>
            <a:endParaRPr lang="en-US" sz="3600" dirty="0"/>
          </a:p>
          <a:p>
            <a:pPr marL="514350" indent="-514350" algn="just">
              <a:lnSpc>
                <a:spcPct val="150000"/>
              </a:lnSpc>
              <a:buFont typeface="Wingdings" panose="05000000000000000000" pitchFamily="2" charset="2"/>
              <a:buChar char="§"/>
            </a:pPr>
            <a:r>
              <a:rPr lang="en-US" sz="3600" dirty="0"/>
              <a:t>Arrays are good for storing multiple values in a single variable</a:t>
            </a:r>
          </a:p>
          <a:p>
            <a:pPr marL="514350" indent="-514350" algn="just">
              <a:lnSpc>
                <a:spcPct val="150000"/>
              </a:lnSpc>
              <a:buFont typeface="Wingdings" panose="05000000000000000000" pitchFamily="2" charset="2"/>
              <a:buChar char="§"/>
            </a:pPr>
            <a:endParaRPr lang="en-PK" sz="3600" dirty="0"/>
          </a:p>
        </p:txBody>
      </p:sp>
    </p:spTree>
    <p:extLst>
      <p:ext uri="{BB962C8B-B14F-4D97-AF65-F5344CB8AC3E}">
        <p14:creationId xmlns:p14="http://schemas.microsoft.com/office/powerpoint/2010/main" val="331344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03F0-00B2-007F-F68E-4143A533D6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A9EBCC6-62B0-331D-7E32-0023A0CB0B5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172A6CA-27F3-4F23-A900-BBE3F9BCF8C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C0BC8DB-DD3E-3EA8-EE26-36244FBBFE6C}"/>
              </a:ext>
            </a:extLst>
          </p:cNvPr>
          <p:cNvSpPr txBox="1"/>
          <p:nvPr/>
        </p:nvSpPr>
        <p:spPr>
          <a:xfrm>
            <a:off x="990600" y="300719"/>
            <a:ext cx="16540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SUMMARY</a:t>
            </a: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FA2B05DA-CA44-8C0D-5458-451307C4E22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C8609057-698A-A340-86ED-00F43C9E6FC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2E807D2-BF53-446A-AE68-B2D88F6748B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78A68226-0E89-EFD5-18B3-4A031057EDBB}"/>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TODAY’S KEY TAKEAWAYS: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0F5E492-16C0-8A83-B7C0-A71CBEEB995F}"/>
              </a:ext>
            </a:extLst>
          </p:cNvPr>
          <p:cNvSpPr txBox="1"/>
          <p:nvPr/>
        </p:nvSpPr>
        <p:spPr>
          <a:xfrm>
            <a:off x="756447" y="2644758"/>
            <a:ext cx="16775106" cy="5477205"/>
          </a:xfrm>
          <a:prstGeom prst="rect">
            <a:avLst/>
          </a:prstGeom>
          <a:noFill/>
        </p:spPr>
        <p:txBody>
          <a:bodyPr wrap="square" rtlCol="0">
            <a:spAutoFit/>
          </a:bodyPr>
          <a:lstStyle/>
          <a:p>
            <a:pPr marL="514350" indent="-514350" algn="just">
              <a:lnSpc>
                <a:spcPct val="200000"/>
              </a:lnSpc>
              <a:buFont typeface="+mj-lt"/>
              <a:buAutoNum type="arabicPeriod"/>
            </a:pPr>
            <a:r>
              <a:rPr lang="en-US" sz="3600" dirty="0"/>
              <a:t>Arrays store same-type elements in contiguous memory.</a:t>
            </a:r>
          </a:p>
          <a:p>
            <a:pPr marL="514350" indent="-514350" algn="just">
              <a:lnSpc>
                <a:spcPct val="200000"/>
              </a:lnSpc>
              <a:buFont typeface="+mj-lt"/>
              <a:buAutoNum type="arabicPeriod"/>
            </a:pPr>
            <a:r>
              <a:rPr lang="en-US" sz="3600" dirty="0"/>
              <a:t>Indexing allows direct access to elements.</a:t>
            </a:r>
          </a:p>
          <a:p>
            <a:pPr marL="514350" indent="-514350" algn="just">
              <a:lnSpc>
                <a:spcPct val="200000"/>
              </a:lnSpc>
              <a:buFont typeface="+mj-lt"/>
              <a:buAutoNum type="arabicPeriod"/>
            </a:pPr>
            <a:r>
              <a:rPr lang="en-US" sz="3600" dirty="0"/>
              <a:t>Address calculation depends on base address and element size.</a:t>
            </a:r>
          </a:p>
          <a:p>
            <a:pPr marL="514350" indent="-514350" algn="just">
              <a:lnSpc>
                <a:spcPct val="200000"/>
              </a:lnSpc>
              <a:buFont typeface="+mj-lt"/>
              <a:buAutoNum type="arabicPeriod"/>
            </a:pPr>
            <a:r>
              <a:rPr lang="en-US" sz="3600" dirty="0"/>
              <a:t>2D arrays represent data in rows and columns. </a:t>
            </a:r>
          </a:p>
          <a:p>
            <a:pPr marL="514350" indent="-514350" algn="just">
              <a:lnSpc>
                <a:spcPct val="200000"/>
              </a:lnSpc>
              <a:buFont typeface="+mj-lt"/>
              <a:buAutoNum type="arabicPeriod"/>
            </a:pPr>
            <a:r>
              <a:rPr lang="en-US" sz="3600" dirty="0"/>
              <a:t>Nested loops are used to process matrix-style data.</a:t>
            </a:r>
          </a:p>
        </p:txBody>
      </p:sp>
    </p:spTree>
    <p:extLst>
      <p:ext uri="{BB962C8B-B14F-4D97-AF65-F5344CB8AC3E}">
        <p14:creationId xmlns:p14="http://schemas.microsoft.com/office/powerpoint/2010/main" val="208650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3B709-FC3F-34AB-80C9-85C29F6E7CC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96CAF9-D180-AFCB-E69E-0CC01B9D8C0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E84F4BC-A485-F7AC-383E-480D031A22D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C000A2C-FD07-7DEE-60E6-BB05A228E0E3}"/>
              </a:ext>
            </a:extLst>
          </p:cNvPr>
          <p:cNvSpPr txBox="1"/>
          <p:nvPr/>
        </p:nvSpPr>
        <p:spPr>
          <a:xfrm>
            <a:off x="990600" y="300719"/>
            <a:ext cx="165409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LAB TASK</a:t>
            </a: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20CD82AB-E738-3F83-5042-08FF65950AC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761F56A1-8DA6-C4D8-1DDD-7E3BD734374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D412E09-CB2B-15BA-1522-8A2E1B2D76B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ACD8ABEA-27C9-3E94-D644-7CAE71FC2C3F}"/>
              </a:ext>
            </a:extLst>
          </p:cNvPr>
          <p:cNvSpPr txBox="1"/>
          <p:nvPr/>
        </p:nvSpPr>
        <p:spPr>
          <a:xfrm>
            <a:off x="756447" y="1805216"/>
            <a:ext cx="13188153"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CREATE A C++ PROGRAM USING STRUCT AND ARRAYS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41BF1F4-5FB7-5A36-36B2-19264929B514}"/>
              </a:ext>
            </a:extLst>
          </p:cNvPr>
          <p:cNvSpPr txBox="1"/>
          <p:nvPr/>
        </p:nvSpPr>
        <p:spPr>
          <a:xfrm>
            <a:off x="756447" y="2644758"/>
            <a:ext cx="16775106" cy="5536900"/>
          </a:xfrm>
          <a:prstGeom prst="rect">
            <a:avLst/>
          </a:prstGeom>
          <a:noFill/>
        </p:spPr>
        <p:txBody>
          <a:bodyPr wrap="square" rtlCol="0">
            <a:spAutoFit/>
          </a:bodyPr>
          <a:lstStyle/>
          <a:p>
            <a:pPr marL="742950" indent="-742950">
              <a:lnSpc>
                <a:spcPct val="150000"/>
              </a:lnSpc>
              <a:buFont typeface="Wingdings" panose="05000000000000000000" pitchFamily="2" charset="2"/>
              <a:buChar char="§"/>
            </a:pPr>
            <a:r>
              <a:rPr lang="en-US" sz="4000" dirty="0"/>
              <a:t>Your program should:</a:t>
            </a:r>
          </a:p>
          <a:p>
            <a:pPr marL="1200150" lvl="1" indent="-742950">
              <a:lnSpc>
                <a:spcPct val="150000"/>
              </a:lnSpc>
              <a:buFont typeface="+mj-lt"/>
              <a:buAutoNum type="arabicPeriod"/>
            </a:pPr>
            <a:r>
              <a:rPr lang="en-US" sz="4000" dirty="0"/>
              <a:t>Store at least 5 student records. </a:t>
            </a:r>
          </a:p>
          <a:p>
            <a:pPr marL="1200150" lvl="1" indent="-742950">
              <a:lnSpc>
                <a:spcPct val="150000"/>
              </a:lnSpc>
              <a:buFont typeface="+mj-lt"/>
              <a:buAutoNum type="arabicPeriod"/>
            </a:pPr>
            <a:r>
              <a:rPr lang="en-US" sz="4000" dirty="0"/>
              <a:t>Include student ID, name, age, course. </a:t>
            </a:r>
          </a:p>
          <a:p>
            <a:pPr marL="1200150" lvl="1" indent="-742950">
              <a:lnSpc>
                <a:spcPct val="150000"/>
              </a:lnSpc>
              <a:buFont typeface="+mj-lt"/>
              <a:buAutoNum type="arabicPeriod"/>
            </a:pPr>
            <a:r>
              <a:rPr lang="en-US" sz="4000" dirty="0"/>
              <a:t>Display all records. </a:t>
            </a:r>
          </a:p>
          <a:p>
            <a:pPr marL="1200150" lvl="1" indent="-742950">
              <a:lnSpc>
                <a:spcPct val="150000"/>
              </a:lnSpc>
              <a:buFont typeface="+mj-lt"/>
              <a:buAutoNum type="arabicPeriod"/>
            </a:pPr>
            <a:r>
              <a:rPr lang="en-US" sz="4000" dirty="0"/>
              <a:t>Search for a student by ID. </a:t>
            </a:r>
          </a:p>
          <a:p>
            <a:pPr marL="1200150" lvl="1" indent="-742950">
              <a:lnSpc>
                <a:spcPct val="150000"/>
              </a:lnSpc>
              <a:buFont typeface="+mj-lt"/>
              <a:buAutoNum type="arabicPeriod"/>
            </a:pPr>
            <a:r>
              <a:rPr lang="en-US" sz="4000" dirty="0"/>
              <a:t>Update one student record.</a:t>
            </a:r>
          </a:p>
        </p:txBody>
      </p:sp>
    </p:spTree>
    <p:extLst>
      <p:ext uri="{BB962C8B-B14F-4D97-AF65-F5344CB8AC3E}">
        <p14:creationId xmlns:p14="http://schemas.microsoft.com/office/powerpoint/2010/main" val="426539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E0EAC-D9A4-3943-D759-E510DE4EE56A}"/>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17DCC3AA-4404-5698-B199-B773E7A5B139}"/>
              </a:ext>
            </a:extLst>
          </p:cNvPr>
          <p:cNvSpPr>
            <a:spLocks noGrp="1"/>
          </p:cNvSpPr>
          <p:nvPr>
            <p:ph idx="1"/>
          </p:nvPr>
        </p:nvSpPr>
        <p:spPr>
          <a:xfrm>
            <a:off x="756447" y="1301009"/>
            <a:ext cx="16775105" cy="8338291"/>
          </a:xfrm>
        </p:spPr>
        <p:txBody>
          <a:bodyPr anchor="ctr">
            <a:normAutofit/>
          </a:bodyPr>
          <a:lstStyle/>
          <a:p>
            <a:pPr marL="0" indent="0" algn="ctr">
              <a:lnSpc>
                <a:spcPct val="150000"/>
              </a:lnSpc>
              <a:buNone/>
            </a:pPr>
            <a:r>
              <a:rPr lang="en-US" sz="7200" spc="-15" dirty="0">
                <a:latin typeface="Times New Roman" panose="02020603050405020304" pitchFamily="18" charset="0"/>
              </a:rPr>
              <a:t>Implementation of multi-dimensional arrays and problems related to them, like matrix multiplication, etc.</a:t>
            </a:r>
            <a:endParaRPr lang="en-PK" sz="7200" spc="-15" dirty="0">
              <a:latin typeface="Times New Roman" panose="02020603050405020304" pitchFamily="18" charset="0"/>
            </a:endParaRPr>
          </a:p>
          <a:p>
            <a:pPr marL="0" indent="0" algn="ctr">
              <a:lnSpc>
                <a:spcPct val="150000"/>
              </a:lnSpc>
              <a:buNone/>
            </a:pPr>
            <a:endParaRPr lang="en-PK" sz="6000" dirty="0">
              <a:latin typeface="Times New Roman" panose="02020603050405020304" pitchFamily="18" charset="0"/>
              <a:ea typeface="Times New Roman" panose="02020603050405020304" pitchFamily="18" charset="0"/>
            </a:endParaRPr>
          </a:p>
        </p:txBody>
      </p:sp>
      <p:sp>
        <p:nvSpPr>
          <p:cNvPr id="7" name="AutoShape 2">
            <a:extLst>
              <a:ext uri="{FF2B5EF4-FFF2-40B4-BE49-F238E27FC236}">
                <a16:creationId xmlns:a16="http://schemas.microsoft.com/office/drawing/2014/main" id="{26C219A5-D132-2A4B-2EC5-3E6688A595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AutoShape 3">
            <a:extLst>
              <a:ext uri="{FF2B5EF4-FFF2-40B4-BE49-F238E27FC236}">
                <a16:creationId xmlns:a16="http://schemas.microsoft.com/office/drawing/2014/main" id="{08AB55C1-546F-59BE-2240-3245040A048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1D718381-A77D-0BF6-CC1B-C3950B5CE1D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II</a:t>
            </a:r>
          </a:p>
        </p:txBody>
      </p:sp>
      <p:sp>
        <p:nvSpPr>
          <p:cNvPr id="10" name="Footer Placeholder 9">
            <a:extLst>
              <a:ext uri="{FF2B5EF4-FFF2-40B4-BE49-F238E27FC236}">
                <a16:creationId xmlns:a16="http://schemas.microsoft.com/office/drawing/2014/main" id="{9C7D22CD-2D58-59FF-E5A0-7296F342800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3BBE102-94B1-E599-28F9-46AE8E8C3AB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12</a:t>
            </a:fld>
            <a:endParaRPr lang="en-US">
              <a:latin typeface="Segoe UI" panose="020B0502040204020203" pitchFamily="34" charset="0"/>
              <a:cs typeface="Segoe UI" panose="020B0502040204020203" pitchFamily="34" charset="0"/>
            </a:endParaRPr>
          </a:p>
        </p:txBody>
      </p:sp>
      <p:sp>
        <p:nvSpPr>
          <p:cNvPr id="13" name="TextBox 6">
            <a:extLst>
              <a:ext uri="{FF2B5EF4-FFF2-40B4-BE49-F238E27FC236}">
                <a16:creationId xmlns:a16="http://schemas.microsoft.com/office/drawing/2014/main" id="{940D9715-153E-9CCA-AEA5-FEE1993D2B6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LAB TASK</a:t>
            </a:r>
          </a:p>
        </p:txBody>
      </p:sp>
      <p:sp>
        <p:nvSpPr>
          <p:cNvPr id="2" name="TextBox 1">
            <a:extLst>
              <a:ext uri="{FF2B5EF4-FFF2-40B4-BE49-F238E27FC236}">
                <a16:creationId xmlns:a16="http://schemas.microsoft.com/office/drawing/2014/main" id="{FDC3596F-7294-3906-43AE-095093609CE4}"/>
              </a:ext>
            </a:extLst>
          </p:cNvPr>
          <p:cNvSpPr txBox="1"/>
          <p:nvPr/>
        </p:nvSpPr>
        <p:spPr>
          <a:xfrm>
            <a:off x="990600" y="7746469"/>
            <a:ext cx="16540952" cy="646331"/>
          </a:xfrm>
          <a:prstGeom prst="rect">
            <a:avLst/>
          </a:prstGeom>
          <a:noFill/>
        </p:spPr>
        <p:txBody>
          <a:bodyPr wrap="square">
            <a:spAutoFit/>
          </a:bodyPr>
          <a:lstStyle/>
          <a:p>
            <a:pPr algn="just"/>
            <a:r>
              <a:rPr lang="en-PK" sz="3600" dirty="0">
                <a:solidFill>
                  <a:srgbClr val="00B050"/>
                </a:solidFill>
              </a:rPr>
              <a:t>https://www.geeksforgeeks.org/top-50-matrix-grid-coding-problems-for-interviews/</a:t>
            </a:r>
          </a:p>
        </p:txBody>
      </p:sp>
    </p:spTree>
    <p:extLst>
      <p:ext uri="{BB962C8B-B14F-4D97-AF65-F5344CB8AC3E}">
        <p14:creationId xmlns:p14="http://schemas.microsoft.com/office/powerpoint/2010/main" val="56455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4861220" y="5186521"/>
            <a:ext cx="7611594" cy="431465"/>
          </a:xfrm>
          <a:prstGeom prst="rect">
            <a:avLst/>
          </a:prstGeom>
        </p:spPr>
        <p:txBody>
          <a:bodyPr wrap="square"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FARAHIDA HANIM BT MAUSOR - DR (FSMC/UTP)</a:t>
            </a:r>
          </a:p>
        </p:txBody>
      </p:sp>
      <p:grpSp>
        <p:nvGrpSpPr>
          <p:cNvPr id="12" name="Group 12"/>
          <p:cNvGrpSpPr/>
          <p:nvPr/>
        </p:nvGrpSpPr>
        <p:grpSpPr>
          <a:xfrm>
            <a:off x="5509434" y="6611027"/>
            <a:ext cx="4897309" cy="425112"/>
            <a:chOff x="0" y="0"/>
            <a:chExt cx="6529743"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520169"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ea typeface="Aptos"/>
                  <a:cs typeface="Aptos"/>
                  <a:sym typeface="Aptos"/>
                </a:rPr>
                <a:t>farahida.mausor@utp.edu.my </a:t>
              </a:r>
              <a:endPar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4" y="75176"/>
              <a:ext cx="3426178" cy="478421"/>
            </a:xfrm>
            <a:prstGeom prst="rect">
              <a:avLst/>
            </a:prstGeom>
          </p:spPr>
          <p:txBody>
            <a:bodyPr lIns="0" tIns="0" rIns="0" bIns="0" rtlCol="0" anchor="t">
              <a:spAutoFit/>
            </a:bodyPr>
            <a:lstStyle/>
            <a:p>
              <a:pPr>
                <a:lnSpc>
                  <a:spcPts val="3040"/>
                </a:lnSpc>
                <a:defRPr/>
              </a:pPr>
              <a:r>
                <a:rPr lang="en-MY" sz="2000" spc="82" dirty="0">
                  <a:gradFill>
                    <a:gsLst>
                      <a:gs pos="0">
                        <a:srgbClr val="000000">
                          <a:alpha val="100000"/>
                        </a:srgbClr>
                      </a:gs>
                      <a:gs pos="50000">
                        <a:srgbClr val="002F31">
                          <a:alpha val="100000"/>
                        </a:srgbClr>
                      </a:gs>
                      <a:gs pos="100000">
                        <a:srgbClr val="00959A">
                          <a:alpha val="100000"/>
                        </a:srgbClr>
                      </a:gs>
                    </a:gsLst>
                    <a:lin ang="2700000"/>
                  </a:gradFill>
                  <a:latin typeface="Aptos"/>
                </a:rPr>
                <a:t>02-03-26</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4"/>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459B6550-91B7-456B-A940-ECDA25AB8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463</TotalTime>
  <Words>1098</Words>
  <Application>Microsoft Office PowerPoint</Application>
  <PresentationFormat>Custom</PresentationFormat>
  <Paragraphs>197</Paragraphs>
  <Slides>13</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Times New Roman</vt:lpstr>
      <vt:lpstr>Calibri</vt:lpstr>
      <vt:lpstr>Museo Sans 300</vt:lpstr>
      <vt:lpstr>Aptos</vt:lpstr>
      <vt:lpstr>Segoe UI</vt:lpstr>
      <vt:lpstr>Arial</vt:lpstr>
      <vt:lpstr>Calibri Light</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187</cp:revision>
  <dcterms:created xsi:type="dcterms:W3CDTF">2006-08-16T00:00:00Z</dcterms:created>
  <dcterms:modified xsi:type="dcterms:W3CDTF">2026-05-21T04:17:58Z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