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7" r:id="rId1"/>
  </p:sldMasterIdLst>
  <p:notesMasterIdLst>
    <p:notesMasterId r:id="rId11"/>
  </p:notesMasterIdLst>
  <p:sldIdLst>
    <p:sldId id="256" r:id="rId2"/>
    <p:sldId id="270" r:id="rId3"/>
    <p:sldId id="258" r:id="rId4"/>
    <p:sldId id="261" r:id="rId5"/>
    <p:sldId id="286" r:id="rId6"/>
    <p:sldId id="287" r:id="rId7"/>
    <p:sldId id="288" r:id="rId8"/>
    <p:sldId id="289" r:id="rId9"/>
    <p:sldId id="282"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2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972"/>
    <p:restoredTop sz="94636"/>
  </p:normalViewPr>
  <p:slideViewPr>
    <p:cSldViewPr snapToGrid="0">
      <p:cViewPr varScale="1">
        <p:scale>
          <a:sx n="139" d="100"/>
          <a:sy n="139" d="100"/>
        </p:scale>
        <p:origin x="608"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6689529-089E-6C4A-9D3C-D17D436A8580}" type="datetimeFigureOut">
              <a:rPr lang="en-PK" smtClean="0"/>
              <a:t>28/05/2025</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1B6B9A6-B2B1-534D-B588-971C6DF2020E}" type="slidenum">
              <a:rPr lang="en-PK" smtClean="0"/>
              <a:t>‹#›</a:t>
            </a:fld>
            <a:endParaRPr lang="en-PK"/>
          </a:p>
        </p:txBody>
      </p:sp>
    </p:spTree>
    <p:extLst>
      <p:ext uri="{BB962C8B-B14F-4D97-AF65-F5344CB8AC3E}">
        <p14:creationId xmlns:p14="http://schemas.microsoft.com/office/powerpoint/2010/main" val="6927065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61B6B9A6-B2B1-534D-B588-971C6DF2020E}" type="slidenum">
              <a:rPr lang="en-PK" smtClean="0"/>
              <a:t>3</a:t>
            </a:fld>
            <a:endParaRPr lang="en-PK"/>
          </a:p>
        </p:txBody>
      </p:sp>
    </p:spTree>
    <p:extLst>
      <p:ext uri="{BB962C8B-B14F-4D97-AF65-F5344CB8AC3E}">
        <p14:creationId xmlns:p14="http://schemas.microsoft.com/office/powerpoint/2010/main" val="344674212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tx2">
                  <a:lumMod val="5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GB"/>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smtClean="0"/>
              <a:t>5/28/25</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637273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5/28/25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6731216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GB"/>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5/28/25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6907538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5/28/25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9794213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GB"/>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5/28/25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8064060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5/28/25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055958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5/28/25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9584481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GB"/>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5/28/25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8645808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5/28/25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2874304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GB"/>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5/28/25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3055118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GB"/>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5/28/25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7911595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GB"/>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5/28/25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1556317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GB"/>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5/28/25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1693248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GB"/>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t>5/28/25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9812819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GB"/>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GB"/>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GB"/>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GB"/>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t>5/28/25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4127434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5/28/25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1264352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5/28/25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1341959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a:gradFill flip="none" rotWithShape="1">
            <a:gsLst>
              <a:gs pos="0">
                <a:schemeClr val="tx2"/>
              </a:gs>
              <a:gs pos="100000">
                <a:schemeClr val="tx2">
                  <a:lumMod val="50000"/>
                </a:schemeClr>
              </a:gs>
            </a:gsLst>
            <a:lin ang="5400000" scaled="0"/>
            <a:tileRect/>
          </a:gradFill>
        </p:grpSpPr>
        <p:grpSp>
          <p:nvGrpSpPr>
            <p:cNvPr id="9" name="Group 8"/>
            <p:cNvGrpSpPr/>
            <p:nvPr/>
          </p:nvGrpSpPr>
          <p:grpSpPr>
            <a:xfrm>
              <a:off x="-14288" y="0"/>
              <a:ext cx="1220788" cy="6858001"/>
              <a:chOff x="-14288" y="0"/>
              <a:chExt cx="1220788" cy="6858001"/>
            </a:xfrm>
            <a:grp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p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smtClean="0"/>
              <a:pPr/>
              <a:t>5/28/25</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736246617"/>
      </p:ext>
    </p:extLst>
  </p:cSld>
  <p:clrMap bg1="dk1" tx1="lt1" bg2="dk2" tx2="lt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 id="2147483700" r:id="rId13"/>
    <p:sldLayoutId id="2147483701" r:id="rId14"/>
    <p:sldLayoutId id="2147483702" r:id="rId15"/>
    <p:sldLayoutId id="2147483703" r:id="rId16"/>
    <p:sldLayoutId id="2147483704"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23" name="Rectangle 122">
            <a:extLst>
              <a:ext uri="{FF2B5EF4-FFF2-40B4-BE49-F238E27FC236}">
                <a16:creationId xmlns:a16="http://schemas.microsoft.com/office/drawing/2014/main" id="{7A070EAD-1DCD-4F3D-BA84-799B891A0E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D08075C-96CF-B9F5-0486-9F30AE741672}"/>
              </a:ext>
            </a:extLst>
          </p:cNvPr>
          <p:cNvSpPr>
            <a:spLocks noGrp="1"/>
          </p:cNvSpPr>
          <p:nvPr>
            <p:ph type="ctrTitle"/>
          </p:nvPr>
        </p:nvSpPr>
        <p:spPr>
          <a:xfrm>
            <a:off x="2671285" y="1816101"/>
            <a:ext cx="8578215" cy="1782760"/>
          </a:xfrm>
        </p:spPr>
        <p:txBody>
          <a:bodyPr>
            <a:normAutofit/>
          </a:bodyPr>
          <a:lstStyle/>
          <a:p>
            <a:pPr algn="ctr"/>
            <a:r>
              <a:rPr lang="en-MY" sz="4000" b="1" u="sng" dirty="0"/>
              <a:t>Algorithms and Data Structures</a:t>
            </a:r>
            <a:br>
              <a:rPr lang="en-MY" sz="4000" b="1" dirty="0"/>
            </a:br>
            <a:br>
              <a:rPr lang="en-MY" sz="4200" b="1" dirty="0"/>
            </a:br>
            <a:r>
              <a:rPr lang="en-MY" sz="2400" dirty="0"/>
              <a:t>TEB1113/TFB2023 - may 2025</a:t>
            </a:r>
            <a:endParaRPr lang="en-PK" sz="4200" dirty="0"/>
          </a:p>
        </p:txBody>
      </p:sp>
      <p:sp>
        <p:nvSpPr>
          <p:cNvPr id="3" name="Subtitle 2">
            <a:extLst>
              <a:ext uri="{FF2B5EF4-FFF2-40B4-BE49-F238E27FC236}">
                <a16:creationId xmlns:a16="http://schemas.microsoft.com/office/drawing/2014/main" id="{4460126B-6154-9A82-4A9D-539A8B36CF44}"/>
              </a:ext>
            </a:extLst>
          </p:cNvPr>
          <p:cNvSpPr>
            <a:spLocks noGrp="1"/>
          </p:cNvSpPr>
          <p:nvPr>
            <p:ph type="subTitle" idx="1"/>
          </p:nvPr>
        </p:nvSpPr>
        <p:spPr>
          <a:xfrm>
            <a:off x="3066574" y="4313237"/>
            <a:ext cx="7539989" cy="1108075"/>
          </a:xfrm>
        </p:spPr>
        <p:txBody>
          <a:bodyPr>
            <a:normAutofit/>
          </a:bodyPr>
          <a:lstStyle/>
          <a:p>
            <a:pPr algn="ctr"/>
            <a:r>
              <a:rPr lang="en-GB" sz="2400" b="1" dirty="0">
                <a:solidFill>
                  <a:schemeClr val="tx1"/>
                </a:solidFill>
              </a:rPr>
              <a:t>lecturer</a:t>
            </a:r>
            <a:r>
              <a:rPr lang="en-PK" sz="2400" b="1" dirty="0">
                <a:solidFill>
                  <a:schemeClr val="tx1"/>
                </a:solidFill>
              </a:rPr>
              <a:t>: </a:t>
            </a:r>
            <a:r>
              <a:rPr lang="en-PK" sz="2400" dirty="0">
                <a:solidFill>
                  <a:schemeClr val="tx1"/>
                </a:solidFill>
              </a:rPr>
              <a:t>DR. Shashi Bhushan</a:t>
            </a:r>
          </a:p>
          <a:p>
            <a:pPr algn="ctr"/>
            <a:r>
              <a:rPr lang="en-PK" sz="2400" b="1">
                <a:solidFill>
                  <a:schemeClr val="tx1"/>
                </a:solidFill>
              </a:rPr>
              <a:t>LAB TA</a:t>
            </a:r>
            <a:r>
              <a:rPr lang="en-PK" sz="2400" b="1" dirty="0">
                <a:solidFill>
                  <a:schemeClr val="tx1"/>
                </a:solidFill>
              </a:rPr>
              <a:t>: </a:t>
            </a:r>
            <a:r>
              <a:rPr lang="en-PK" sz="2400" dirty="0">
                <a:solidFill>
                  <a:schemeClr val="tx1"/>
                </a:solidFill>
              </a:rPr>
              <a:t>Reeyan afzal</a:t>
            </a:r>
          </a:p>
        </p:txBody>
      </p:sp>
      <p:grpSp>
        <p:nvGrpSpPr>
          <p:cNvPr id="125" name="Group 124">
            <a:extLst>
              <a:ext uri="{FF2B5EF4-FFF2-40B4-BE49-F238E27FC236}">
                <a16:creationId xmlns:a16="http://schemas.microsoft.com/office/drawing/2014/main" id="{DE471E13-6104-4637-8A8F-B545529B1D1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gradFill flip="none" rotWithShape="1">
            <a:gsLst>
              <a:gs pos="0">
                <a:schemeClr val="tx2">
                  <a:alpha val="60000"/>
                </a:schemeClr>
              </a:gs>
              <a:gs pos="100000">
                <a:schemeClr val="bg2">
                  <a:lumMod val="60000"/>
                  <a:lumOff val="40000"/>
                  <a:alpha val="80000"/>
                </a:schemeClr>
              </a:gs>
            </a:gsLst>
            <a:lin ang="5400000" scaled="0"/>
            <a:tileRect/>
          </a:gradFill>
        </p:grpSpPr>
        <p:sp>
          <p:nvSpPr>
            <p:cNvPr id="126" name="Rectangle 5">
              <a:extLst>
                <a:ext uri="{FF2B5EF4-FFF2-40B4-BE49-F238E27FC236}">
                  <a16:creationId xmlns:a16="http://schemas.microsoft.com/office/drawing/2014/main" id="{802F412D-6781-427D-AB79-09FD610CCE5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PK"/>
            </a:p>
          </p:txBody>
        </p:sp>
        <p:sp>
          <p:nvSpPr>
            <p:cNvPr id="127" name="Freeform 6">
              <a:extLst>
                <a:ext uri="{FF2B5EF4-FFF2-40B4-BE49-F238E27FC236}">
                  <a16:creationId xmlns:a16="http://schemas.microsoft.com/office/drawing/2014/main" id="{8471B962-D824-43CE-B5DD-704B305B285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28" name="Freeform 7">
              <a:extLst>
                <a:ext uri="{FF2B5EF4-FFF2-40B4-BE49-F238E27FC236}">
                  <a16:creationId xmlns:a16="http://schemas.microsoft.com/office/drawing/2014/main" id="{ED60EBD3-FA75-460B-AFBD-3F234A0CAA1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29" name="Rectangle 8">
              <a:extLst>
                <a:ext uri="{FF2B5EF4-FFF2-40B4-BE49-F238E27FC236}">
                  <a16:creationId xmlns:a16="http://schemas.microsoft.com/office/drawing/2014/main" id="{D0791244-FBF2-49D9-BDBC-E2E58C86B4DB}"/>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PK"/>
            </a:p>
          </p:txBody>
        </p:sp>
        <p:sp>
          <p:nvSpPr>
            <p:cNvPr id="130" name="Freeform 9">
              <a:extLst>
                <a:ext uri="{FF2B5EF4-FFF2-40B4-BE49-F238E27FC236}">
                  <a16:creationId xmlns:a16="http://schemas.microsoft.com/office/drawing/2014/main" id="{FEE4C4B1-195C-40F5-A78F-2EB7ED6E6FA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31" name="Freeform 10">
              <a:extLst>
                <a:ext uri="{FF2B5EF4-FFF2-40B4-BE49-F238E27FC236}">
                  <a16:creationId xmlns:a16="http://schemas.microsoft.com/office/drawing/2014/main" id="{22766AF8-3850-41E4-80D0-321D9A13D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32" name="Freeform 11">
              <a:extLst>
                <a:ext uri="{FF2B5EF4-FFF2-40B4-BE49-F238E27FC236}">
                  <a16:creationId xmlns:a16="http://schemas.microsoft.com/office/drawing/2014/main" id="{8834F8EE-AB04-42FE-AE7B-3E9C6ACA0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33" name="Freeform 12">
              <a:extLst>
                <a:ext uri="{FF2B5EF4-FFF2-40B4-BE49-F238E27FC236}">
                  <a16:creationId xmlns:a16="http://schemas.microsoft.com/office/drawing/2014/main" id="{C86BB534-4617-4275-908E-357CF2246C9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34" name="Freeform 13">
              <a:extLst>
                <a:ext uri="{FF2B5EF4-FFF2-40B4-BE49-F238E27FC236}">
                  <a16:creationId xmlns:a16="http://schemas.microsoft.com/office/drawing/2014/main" id="{B6DEB58B-8D28-4BE9-9CA9-F4B3A083BC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35" name="Freeform 14">
              <a:extLst>
                <a:ext uri="{FF2B5EF4-FFF2-40B4-BE49-F238E27FC236}">
                  <a16:creationId xmlns:a16="http://schemas.microsoft.com/office/drawing/2014/main" id="{25A772BC-4720-4EC2-AD61-A7B74E9151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36" name="Freeform 15">
              <a:extLst>
                <a:ext uri="{FF2B5EF4-FFF2-40B4-BE49-F238E27FC236}">
                  <a16:creationId xmlns:a16="http://schemas.microsoft.com/office/drawing/2014/main" id="{60D6B27E-FAC5-4267-80A9-DE4D2E02B80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37" name="Freeform 16">
              <a:extLst>
                <a:ext uri="{FF2B5EF4-FFF2-40B4-BE49-F238E27FC236}">
                  <a16:creationId xmlns:a16="http://schemas.microsoft.com/office/drawing/2014/main" id="{1F39FA83-D8C8-4CE3-9C62-10375FD041E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38" name="Freeform 17">
              <a:extLst>
                <a:ext uri="{FF2B5EF4-FFF2-40B4-BE49-F238E27FC236}">
                  <a16:creationId xmlns:a16="http://schemas.microsoft.com/office/drawing/2014/main" id="{E09B4CF3-A51F-4787-81FE-F5C79BA426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39" name="Freeform 18">
              <a:extLst>
                <a:ext uri="{FF2B5EF4-FFF2-40B4-BE49-F238E27FC236}">
                  <a16:creationId xmlns:a16="http://schemas.microsoft.com/office/drawing/2014/main" id="{6695CB35-74E4-43C0-89F5-9FDA59B3AC0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40" name="Freeform 19">
              <a:extLst>
                <a:ext uri="{FF2B5EF4-FFF2-40B4-BE49-F238E27FC236}">
                  <a16:creationId xmlns:a16="http://schemas.microsoft.com/office/drawing/2014/main" id="{945450CE-FB13-4C46-825F-5BB1917033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41" name="Freeform 20">
              <a:extLst>
                <a:ext uri="{FF2B5EF4-FFF2-40B4-BE49-F238E27FC236}">
                  <a16:creationId xmlns:a16="http://schemas.microsoft.com/office/drawing/2014/main" id="{E80AA0B2-7FE7-4B75-AC25-E0F6C0FE458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42" name="Freeform 21">
              <a:extLst>
                <a:ext uri="{FF2B5EF4-FFF2-40B4-BE49-F238E27FC236}">
                  <a16:creationId xmlns:a16="http://schemas.microsoft.com/office/drawing/2014/main" id="{2E81F7C1-AD8F-41A0-91A8-E05F66CB0ED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43" name="Freeform 22">
              <a:extLst>
                <a:ext uri="{FF2B5EF4-FFF2-40B4-BE49-F238E27FC236}">
                  <a16:creationId xmlns:a16="http://schemas.microsoft.com/office/drawing/2014/main" id="{F4E8A538-9FFA-4C76-BCE2-D54F56A115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44" name="Freeform 23">
              <a:extLst>
                <a:ext uri="{FF2B5EF4-FFF2-40B4-BE49-F238E27FC236}">
                  <a16:creationId xmlns:a16="http://schemas.microsoft.com/office/drawing/2014/main" id="{3C412824-3CBA-4E74-B2FD-936EA704869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45" name="Freeform 24">
              <a:extLst>
                <a:ext uri="{FF2B5EF4-FFF2-40B4-BE49-F238E27FC236}">
                  <a16:creationId xmlns:a16="http://schemas.microsoft.com/office/drawing/2014/main" id="{E28DC1F0-74FF-4D97-BD4D-FD42DE4AC6D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46" name="Freeform 25">
              <a:extLst>
                <a:ext uri="{FF2B5EF4-FFF2-40B4-BE49-F238E27FC236}">
                  <a16:creationId xmlns:a16="http://schemas.microsoft.com/office/drawing/2014/main" id="{77CEC4FA-6FD3-4ABF-BF98-94E7947A55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47" name="Freeform 26">
              <a:extLst>
                <a:ext uri="{FF2B5EF4-FFF2-40B4-BE49-F238E27FC236}">
                  <a16:creationId xmlns:a16="http://schemas.microsoft.com/office/drawing/2014/main" id="{D4E61DA7-BFA9-48AF-BD6F-EBB15C2359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48" name="Freeform 27">
              <a:extLst>
                <a:ext uri="{FF2B5EF4-FFF2-40B4-BE49-F238E27FC236}">
                  <a16:creationId xmlns:a16="http://schemas.microsoft.com/office/drawing/2014/main" id="{57164D6A-1DD9-43AE-878F-A413DC26FB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49" name="Freeform 28">
              <a:extLst>
                <a:ext uri="{FF2B5EF4-FFF2-40B4-BE49-F238E27FC236}">
                  <a16:creationId xmlns:a16="http://schemas.microsoft.com/office/drawing/2014/main" id="{4949EBA6-53D9-4F2D-91DB-EA7AE260F63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50" name="Freeform 29">
              <a:extLst>
                <a:ext uri="{FF2B5EF4-FFF2-40B4-BE49-F238E27FC236}">
                  <a16:creationId xmlns:a16="http://schemas.microsoft.com/office/drawing/2014/main" id="{0AFEA5FA-F759-441C-A0BC-7EDC79A672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51" name="Freeform 30">
              <a:extLst>
                <a:ext uri="{FF2B5EF4-FFF2-40B4-BE49-F238E27FC236}">
                  <a16:creationId xmlns:a16="http://schemas.microsoft.com/office/drawing/2014/main" id="{5B913AE0-5DC8-4244-8C26-ED97F834E33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52" name="Freeform 31">
              <a:extLst>
                <a:ext uri="{FF2B5EF4-FFF2-40B4-BE49-F238E27FC236}">
                  <a16:creationId xmlns:a16="http://schemas.microsoft.com/office/drawing/2014/main" id="{A87DB58A-25D2-46F1-85E3-06F964D016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53" name="Freeform 32">
              <a:extLst>
                <a:ext uri="{FF2B5EF4-FFF2-40B4-BE49-F238E27FC236}">
                  <a16:creationId xmlns:a16="http://schemas.microsoft.com/office/drawing/2014/main" id="{E7AE8209-F3E7-4ACA-98D0-90B282A147F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54" name="Rectangle 33">
              <a:extLst>
                <a:ext uri="{FF2B5EF4-FFF2-40B4-BE49-F238E27FC236}">
                  <a16:creationId xmlns:a16="http://schemas.microsoft.com/office/drawing/2014/main" id="{1CED7927-A7C7-444A-A8F3-6348852AEFB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PK"/>
            </a:p>
          </p:txBody>
        </p:sp>
        <p:sp>
          <p:nvSpPr>
            <p:cNvPr id="155" name="Freeform 34">
              <a:extLst>
                <a:ext uri="{FF2B5EF4-FFF2-40B4-BE49-F238E27FC236}">
                  <a16:creationId xmlns:a16="http://schemas.microsoft.com/office/drawing/2014/main" id="{08BEDF90-F9A6-4DE4-94B6-43E4160394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56" name="Freeform 35">
              <a:extLst>
                <a:ext uri="{FF2B5EF4-FFF2-40B4-BE49-F238E27FC236}">
                  <a16:creationId xmlns:a16="http://schemas.microsoft.com/office/drawing/2014/main" id="{36540D5F-1C77-438A-BF12-56455C4720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57" name="Freeform 36">
              <a:extLst>
                <a:ext uri="{FF2B5EF4-FFF2-40B4-BE49-F238E27FC236}">
                  <a16:creationId xmlns:a16="http://schemas.microsoft.com/office/drawing/2014/main" id="{52FC779A-BC55-40AC-8FFD-E014F8C051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58" name="Freeform 37">
              <a:extLst>
                <a:ext uri="{FF2B5EF4-FFF2-40B4-BE49-F238E27FC236}">
                  <a16:creationId xmlns:a16="http://schemas.microsoft.com/office/drawing/2014/main" id="{63E42DE5-DC0E-4043-8A35-20C53074A2B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59" name="Freeform 38">
              <a:extLst>
                <a:ext uri="{FF2B5EF4-FFF2-40B4-BE49-F238E27FC236}">
                  <a16:creationId xmlns:a16="http://schemas.microsoft.com/office/drawing/2014/main" id="{41581FA6-993A-4899-ADF1-0A83A6234E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60" name="Freeform 39">
              <a:extLst>
                <a:ext uri="{FF2B5EF4-FFF2-40B4-BE49-F238E27FC236}">
                  <a16:creationId xmlns:a16="http://schemas.microsoft.com/office/drawing/2014/main" id="{33C4FDB9-01D2-4CB0-BFED-216CAC7EB8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61" name="Freeform 40">
              <a:extLst>
                <a:ext uri="{FF2B5EF4-FFF2-40B4-BE49-F238E27FC236}">
                  <a16:creationId xmlns:a16="http://schemas.microsoft.com/office/drawing/2014/main" id="{34E715AB-2B68-41C4-A61F-02C413F242E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62" name="Freeform 41">
              <a:extLst>
                <a:ext uri="{FF2B5EF4-FFF2-40B4-BE49-F238E27FC236}">
                  <a16:creationId xmlns:a16="http://schemas.microsoft.com/office/drawing/2014/main" id="{D3861C35-D060-408D-9871-4DA2D0547B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63" name="Freeform 42">
              <a:extLst>
                <a:ext uri="{FF2B5EF4-FFF2-40B4-BE49-F238E27FC236}">
                  <a16:creationId xmlns:a16="http://schemas.microsoft.com/office/drawing/2014/main" id="{B4F4F38F-33FE-48A0-986D-FB771F18BE7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64" name="Freeform 43">
              <a:extLst>
                <a:ext uri="{FF2B5EF4-FFF2-40B4-BE49-F238E27FC236}">
                  <a16:creationId xmlns:a16="http://schemas.microsoft.com/office/drawing/2014/main" id="{50FCFC8E-2DC3-4F27-9E02-196830E78D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65" name="Freeform 44">
              <a:extLst>
                <a:ext uri="{FF2B5EF4-FFF2-40B4-BE49-F238E27FC236}">
                  <a16:creationId xmlns:a16="http://schemas.microsoft.com/office/drawing/2014/main" id="{3A6EE414-1500-4144-B453-BA950E5107E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66" name="Rectangle 45">
              <a:extLst>
                <a:ext uri="{FF2B5EF4-FFF2-40B4-BE49-F238E27FC236}">
                  <a16:creationId xmlns:a16="http://schemas.microsoft.com/office/drawing/2014/main" id="{0C1A9D8A-5515-4C84-AE17-A6D51243834B}"/>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PK"/>
            </a:p>
          </p:txBody>
        </p:sp>
        <p:sp>
          <p:nvSpPr>
            <p:cNvPr id="167" name="Freeform 46">
              <a:extLst>
                <a:ext uri="{FF2B5EF4-FFF2-40B4-BE49-F238E27FC236}">
                  <a16:creationId xmlns:a16="http://schemas.microsoft.com/office/drawing/2014/main" id="{E8E7C8C7-FE85-4C8F-960C-3748511E08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68" name="Freeform 47">
              <a:extLst>
                <a:ext uri="{FF2B5EF4-FFF2-40B4-BE49-F238E27FC236}">
                  <a16:creationId xmlns:a16="http://schemas.microsoft.com/office/drawing/2014/main" id="{33DF2ED7-F601-4A9F-AA50-822ED85D560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69" name="Freeform 48">
              <a:extLst>
                <a:ext uri="{FF2B5EF4-FFF2-40B4-BE49-F238E27FC236}">
                  <a16:creationId xmlns:a16="http://schemas.microsoft.com/office/drawing/2014/main" id="{FEDB3A05-6FDD-4E87-B800-8F99752444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70" name="Freeform 49">
              <a:extLst>
                <a:ext uri="{FF2B5EF4-FFF2-40B4-BE49-F238E27FC236}">
                  <a16:creationId xmlns:a16="http://schemas.microsoft.com/office/drawing/2014/main" id="{AD6225C0-E391-49D5-9A7B-57C5ED60E1A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71" name="Freeform 50">
              <a:extLst>
                <a:ext uri="{FF2B5EF4-FFF2-40B4-BE49-F238E27FC236}">
                  <a16:creationId xmlns:a16="http://schemas.microsoft.com/office/drawing/2014/main" id="{B814B458-45E5-451C-9CBD-027E3776A4E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72" name="Freeform 51">
              <a:extLst>
                <a:ext uri="{FF2B5EF4-FFF2-40B4-BE49-F238E27FC236}">
                  <a16:creationId xmlns:a16="http://schemas.microsoft.com/office/drawing/2014/main" id="{59167140-9A0D-4FE7-8E37-2CD6130116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73" name="Freeform 52">
              <a:extLst>
                <a:ext uri="{FF2B5EF4-FFF2-40B4-BE49-F238E27FC236}">
                  <a16:creationId xmlns:a16="http://schemas.microsoft.com/office/drawing/2014/main" id="{2D38B213-991B-495D-8886-04CAD44C79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74" name="Freeform 53">
              <a:extLst>
                <a:ext uri="{FF2B5EF4-FFF2-40B4-BE49-F238E27FC236}">
                  <a16:creationId xmlns:a16="http://schemas.microsoft.com/office/drawing/2014/main" id="{67C1C3DA-3972-4D98-9D9E-390461B288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75" name="Freeform 54">
              <a:extLst>
                <a:ext uri="{FF2B5EF4-FFF2-40B4-BE49-F238E27FC236}">
                  <a16:creationId xmlns:a16="http://schemas.microsoft.com/office/drawing/2014/main" id="{972F8941-61DB-48E1-B9C1-E732470563E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76" name="Freeform 55">
              <a:extLst>
                <a:ext uri="{FF2B5EF4-FFF2-40B4-BE49-F238E27FC236}">
                  <a16:creationId xmlns:a16="http://schemas.microsoft.com/office/drawing/2014/main" id="{857B495F-5C9B-435F-8D39-45CC57471F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77" name="Freeform 56">
              <a:extLst>
                <a:ext uri="{FF2B5EF4-FFF2-40B4-BE49-F238E27FC236}">
                  <a16:creationId xmlns:a16="http://schemas.microsoft.com/office/drawing/2014/main" id="{B607428B-B7C9-4017-84F8-19C9B2134A9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78" name="Freeform 57">
              <a:extLst>
                <a:ext uri="{FF2B5EF4-FFF2-40B4-BE49-F238E27FC236}">
                  <a16:creationId xmlns:a16="http://schemas.microsoft.com/office/drawing/2014/main" id="{A20C5139-2108-4F5E-B892-64F1D8605E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79" name="Freeform 58">
              <a:extLst>
                <a:ext uri="{FF2B5EF4-FFF2-40B4-BE49-F238E27FC236}">
                  <a16:creationId xmlns:a16="http://schemas.microsoft.com/office/drawing/2014/main" id="{C2A51623-F2F3-4584-93F5-598E56A5F4D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grpSp>
    </p:spTree>
    <p:extLst>
      <p:ext uri="{BB962C8B-B14F-4D97-AF65-F5344CB8AC3E}">
        <p14:creationId xmlns:p14="http://schemas.microsoft.com/office/powerpoint/2010/main" val="1146214124"/>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8000"/>
                <a:hueMod val="94000"/>
                <a:satMod val="148000"/>
                <a:lumMod val="150000"/>
              </a:schemeClr>
            </a:gs>
            <a:gs pos="100000">
              <a:schemeClr val="bg1">
                <a:shade val="92000"/>
                <a:hueMod val="104000"/>
                <a:satMod val="140000"/>
                <a:lumMod val="68000"/>
              </a:schemeClr>
            </a:gs>
          </a:gsLst>
          <a:lin ang="5040000" scaled="0"/>
        </a:gradFill>
        <a:effectLst/>
      </p:bgPr>
    </p:bg>
    <p:spTree>
      <p:nvGrpSpPr>
        <p:cNvPr id="1" name="">
          <a:extLst>
            <a:ext uri="{FF2B5EF4-FFF2-40B4-BE49-F238E27FC236}">
              <a16:creationId xmlns:a16="http://schemas.microsoft.com/office/drawing/2014/main" id="{32A46E1D-E3C1-2F92-F651-BB05727876A6}"/>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9BE10567-6165-46A7-867D-4690A16B46D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9" name="Rectangle 8">
              <a:extLst>
                <a:ext uri="{FF2B5EF4-FFF2-40B4-BE49-F238E27FC236}">
                  <a16:creationId xmlns:a16="http://schemas.microsoft.com/office/drawing/2014/main" id="{0F4DB1F4-429C-4C85-85D7-C4D81996D3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2">
              <a:extLst>
                <a:ext uri="{FF2B5EF4-FFF2-40B4-BE49-F238E27FC236}">
                  <a16:creationId xmlns:a16="http://schemas.microsoft.com/office/drawing/2014/main" id="{159C0DA6-71D9-4C96-A774-7FADF5E0A4C4}"/>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p14="http://schemas.microsoft.com/office/powerpoint/2010/main" xmlns:a16="http://schemas.microsoft.com/office/drawing/2014/main" xmlns="">
                  <a:solidFill>
                    <a:srgbClr val="FFFFFF"/>
                  </a:solidFill>
                </a14:hiddenFill>
              </a:ext>
            </a:extLst>
          </p:spPr>
        </p:pic>
      </p:grpSp>
      <p:sp>
        <p:nvSpPr>
          <p:cNvPr id="12" name="Round Diagonal Corner Rectangle 7">
            <a:extLst>
              <a:ext uri="{FF2B5EF4-FFF2-40B4-BE49-F238E27FC236}">
                <a16:creationId xmlns:a16="http://schemas.microsoft.com/office/drawing/2014/main" id="{4B24F6DB-F114-44A7-BB56-D401884E4E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82333" y="2235200"/>
            <a:ext cx="7027334" cy="2396067"/>
          </a:xfrm>
          <a:prstGeom prst="round2DiagRect">
            <a:avLst>
              <a:gd name="adj1" fmla="val 9246"/>
              <a:gd name="adj2" fmla="val 0"/>
            </a:avLst>
          </a:prstGeom>
          <a:solidFill>
            <a:srgbClr val="000000">
              <a:alpha val="80000"/>
            </a:srgbClr>
          </a:solidFill>
          <a:ln w="19050" cap="sq">
            <a:solidFill>
              <a:schemeClr val="tx2">
                <a:alpha val="60000"/>
              </a:schemeClr>
            </a:solidFill>
            <a:miter lim="800000"/>
          </a:ln>
          <a:effectLst>
            <a:outerShdw blurRad="889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4DB50ECD-225E-4F81-AF7B-706DD05F3BA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05895" y="2900097"/>
            <a:ext cx="10982062" cy="1211524"/>
            <a:chOff x="605895" y="2900097"/>
            <a:chExt cx="10982062" cy="1211524"/>
          </a:xfrm>
          <a:effectLst/>
        </p:grpSpPr>
        <p:sp>
          <p:nvSpPr>
            <p:cNvPr id="15" name="Freeform 32">
              <a:extLst>
                <a:ext uri="{FF2B5EF4-FFF2-40B4-BE49-F238E27FC236}">
                  <a16:creationId xmlns:a16="http://schemas.microsoft.com/office/drawing/2014/main" id="{CBC3B006-1357-4969-BC3D-CDD91E492B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flipV="1">
              <a:off x="9653587" y="3379784"/>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PK"/>
            </a:p>
          </p:txBody>
        </p:sp>
        <p:sp>
          <p:nvSpPr>
            <p:cNvPr id="16" name="Freeform 33">
              <a:extLst>
                <a:ext uri="{FF2B5EF4-FFF2-40B4-BE49-F238E27FC236}">
                  <a16:creationId xmlns:a16="http://schemas.microsoft.com/office/drawing/2014/main" id="{0D6E4F1D-B331-41B5-90EF-2236C1EE155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flipV="1">
              <a:off x="10078244" y="3310728"/>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PK"/>
            </a:p>
          </p:txBody>
        </p:sp>
        <p:sp>
          <p:nvSpPr>
            <p:cNvPr id="17" name="Freeform 34">
              <a:extLst>
                <a:ext uri="{FF2B5EF4-FFF2-40B4-BE49-F238E27FC236}">
                  <a16:creationId xmlns:a16="http://schemas.microsoft.com/office/drawing/2014/main" id="{54A60014-21DF-44E5-9137-43357188501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flipV="1">
              <a:off x="11146631" y="3574253"/>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PK"/>
            </a:p>
          </p:txBody>
        </p:sp>
        <p:sp>
          <p:nvSpPr>
            <p:cNvPr id="18" name="Freeform 37">
              <a:extLst>
                <a:ext uri="{FF2B5EF4-FFF2-40B4-BE49-F238E27FC236}">
                  <a16:creationId xmlns:a16="http://schemas.microsoft.com/office/drawing/2014/main" id="{40B768C0-B003-45F4-9A06-EA3509A90B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flipV="1">
              <a:off x="10230644" y="3034502"/>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PK"/>
            </a:p>
          </p:txBody>
        </p:sp>
        <p:sp>
          <p:nvSpPr>
            <p:cNvPr id="19" name="Freeform 35">
              <a:extLst>
                <a:ext uri="{FF2B5EF4-FFF2-40B4-BE49-F238E27FC236}">
                  <a16:creationId xmlns:a16="http://schemas.microsoft.com/office/drawing/2014/main" id="{5E479182-2054-4AD9-823D-81CFAD7F2C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a:off x="10034587" y="256275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PK"/>
            </a:p>
          </p:txBody>
        </p:sp>
        <p:sp>
          <p:nvSpPr>
            <p:cNvPr id="20" name="Freeform 36">
              <a:extLst>
                <a:ext uri="{FF2B5EF4-FFF2-40B4-BE49-F238E27FC236}">
                  <a16:creationId xmlns:a16="http://schemas.microsoft.com/office/drawing/2014/main" id="{A7D912CF-756A-41F1-8BF1-5BA7D1BD052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a:off x="10747375" y="3232679"/>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PK"/>
            </a:p>
          </p:txBody>
        </p:sp>
        <p:sp>
          <p:nvSpPr>
            <p:cNvPr id="21" name="Freeform 38">
              <a:extLst>
                <a:ext uri="{FF2B5EF4-FFF2-40B4-BE49-F238E27FC236}">
                  <a16:creationId xmlns:a16="http://schemas.microsoft.com/office/drawing/2014/main" id="{734B6F35-2160-44B1-AB00-F628C84B14F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a:off x="11399044" y="3095360"/>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PK"/>
            </a:p>
          </p:txBody>
        </p:sp>
        <p:sp>
          <p:nvSpPr>
            <p:cNvPr id="22" name="Freeform 39">
              <a:extLst>
                <a:ext uri="{FF2B5EF4-FFF2-40B4-BE49-F238E27FC236}">
                  <a16:creationId xmlns:a16="http://schemas.microsoft.com/office/drawing/2014/main" id="{D8657E76-4F63-44FE-86C5-54CA174FCB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a:off x="10353675" y="2153178"/>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PK"/>
            </a:p>
          </p:txBody>
        </p:sp>
        <p:sp>
          <p:nvSpPr>
            <p:cNvPr id="23" name="Freeform 40">
              <a:extLst>
                <a:ext uri="{FF2B5EF4-FFF2-40B4-BE49-F238E27FC236}">
                  <a16:creationId xmlns:a16="http://schemas.microsoft.com/office/drawing/2014/main" id="{482CEB8C-90E5-4152-8B52-A2881B98A3B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a:off x="9848850" y="330887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PK"/>
            </a:p>
          </p:txBody>
        </p:sp>
        <p:sp>
          <p:nvSpPr>
            <p:cNvPr id="24" name="Rectangle 41">
              <a:extLst>
                <a:ext uri="{FF2B5EF4-FFF2-40B4-BE49-F238E27FC236}">
                  <a16:creationId xmlns:a16="http://schemas.microsoft.com/office/drawing/2014/main" id="{85010FC2-BC4C-4692-876D-7FE363BFC63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rot="5400000">
              <a:off x="9721056" y="3284272"/>
              <a:ext cx="23813" cy="252413"/>
            </a:xfrm>
            <a:prstGeom prst="rect">
              <a:avLst/>
            </a:pr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PK"/>
            </a:p>
          </p:txBody>
        </p:sp>
        <p:sp>
          <p:nvSpPr>
            <p:cNvPr id="25" name="Freeform 32">
              <a:extLst>
                <a:ext uri="{FF2B5EF4-FFF2-40B4-BE49-F238E27FC236}">
                  <a16:creationId xmlns:a16="http://schemas.microsoft.com/office/drawing/2014/main" id="{714C1223-2B78-4715-9ACB-079A60D16D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flipV="1">
              <a:off x="2122751" y="3532184"/>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PK"/>
            </a:p>
          </p:txBody>
        </p:sp>
        <p:sp>
          <p:nvSpPr>
            <p:cNvPr id="26" name="Freeform 33">
              <a:extLst>
                <a:ext uri="{FF2B5EF4-FFF2-40B4-BE49-F238E27FC236}">
                  <a16:creationId xmlns:a16="http://schemas.microsoft.com/office/drawing/2014/main" id="{1D9109D3-C92A-410B-9B43-5F02B2D84EE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flipV="1">
              <a:off x="1958445" y="3463128"/>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PK"/>
            </a:p>
          </p:txBody>
        </p:sp>
        <p:sp>
          <p:nvSpPr>
            <p:cNvPr id="27" name="Freeform 34">
              <a:extLst>
                <a:ext uri="{FF2B5EF4-FFF2-40B4-BE49-F238E27FC236}">
                  <a16:creationId xmlns:a16="http://schemas.microsoft.com/office/drawing/2014/main" id="{EF5B327A-A1AE-42F3-815E-84F4AA2948C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flipV="1">
              <a:off x="858308" y="3726653"/>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PK"/>
            </a:p>
          </p:txBody>
        </p:sp>
        <p:sp>
          <p:nvSpPr>
            <p:cNvPr id="28" name="Freeform 37">
              <a:extLst>
                <a:ext uri="{FF2B5EF4-FFF2-40B4-BE49-F238E27FC236}">
                  <a16:creationId xmlns:a16="http://schemas.microsoft.com/office/drawing/2014/main" id="{77738BDE-751F-4D4C-B4C4-C9DF3EA291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flipV="1">
              <a:off x="1658407" y="3186902"/>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PK"/>
            </a:p>
          </p:txBody>
        </p:sp>
        <p:sp>
          <p:nvSpPr>
            <p:cNvPr id="29" name="Freeform 35">
              <a:extLst>
                <a:ext uri="{FF2B5EF4-FFF2-40B4-BE49-F238E27FC236}">
                  <a16:creationId xmlns:a16="http://schemas.microsoft.com/office/drawing/2014/main" id="{9C8C4AD6-72BF-490C-963C-97C7FD7E7E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a:off x="1860814" y="271515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PK"/>
            </a:p>
          </p:txBody>
        </p:sp>
        <p:sp>
          <p:nvSpPr>
            <p:cNvPr id="30" name="Freeform 36">
              <a:extLst>
                <a:ext uri="{FF2B5EF4-FFF2-40B4-BE49-F238E27FC236}">
                  <a16:creationId xmlns:a16="http://schemas.microsoft.com/office/drawing/2014/main" id="{94990E31-5AA8-4502-A963-CE1B539DAC4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a:off x="1289314" y="3385079"/>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PK"/>
            </a:p>
          </p:txBody>
        </p:sp>
        <p:sp>
          <p:nvSpPr>
            <p:cNvPr id="31" name="Freeform 38">
              <a:extLst>
                <a:ext uri="{FF2B5EF4-FFF2-40B4-BE49-F238E27FC236}">
                  <a16:creationId xmlns:a16="http://schemas.microsoft.com/office/drawing/2014/main" id="{9E703E9D-ED76-449C-A8C0-7A1E24B8B2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a:off x="605895" y="3247760"/>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PK"/>
            </a:p>
          </p:txBody>
        </p:sp>
        <p:sp>
          <p:nvSpPr>
            <p:cNvPr id="32" name="Freeform 39">
              <a:extLst>
                <a:ext uri="{FF2B5EF4-FFF2-40B4-BE49-F238E27FC236}">
                  <a16:creationId xmlns:a16="http://schemas.microsoft.com/office/drawing/2014/main" id="{C70A75E8-C815-4CCF-ABEE-83F19BFE05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a:off x="1532202" y="2305578"/>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PK"/>
            </a:p>
          </p:txBody>
        </p:sp>
        <p:sp>
          <p:nvSpPr>
            <p:cNvPr id="33" name="Freeform 40">
              <a:extLst>
                <a:ext uri="{FF2B5EF4-FFF2-40B4-BE49-F238E27FC236}">
                  <a16:creationId xmlns:a16="http://schemas.microsoft.com/office/drawing/2014/main" id="{E15638E1-6A92-4D31-A034-853A65A754E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a:off x="2154501" y="346127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PK"/>
            </a:p>
          </p:txBody>
        </p:sp>
        <p:sp>
          <p:nvSpPr>
            <p:cNvPr id="34" name="Rectangle 41">
              <a:extLst>
                <a:ext uri="{FF2B5EF4-FFF2-40B4-BE49-F238E27FC236}">
                  <a16:creationId xmlns:a16="http://schemas.microsoft.com/office/drawing/2014/main" id="{EA3E8D58-D52B-4300-8A50-5696430D1A6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rot="16200000" flipH="1">
              <a:off x="2448983" y="3436672"/>
              <a:ext cx="23813" cy="252413"/>
            </a:xfrm>
            <a:prstGeom prst="rect">
              <a:avLst/>
            </a:pr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PK"/>
            </a:p>
          </p:txBody>
        </p:sp>
      </p:grpSp>
      <p:sp>
        <p:nvSpPr>
          <p:cNvPr id="2" name="Title 1">
            <a:extLst>
              <a:ext uri="{FF2B5EF4-FFF2-40B4-BE49-F238E27FC236}">
                <a16:creationId xmlns:a16="http://schemas.microsoft.com/office/drawing/2014/main" id="{955F7143-8E3C-80DE-5CE3-62D66AA1CA6E}"/>
              </a:ext>
            </a:extLst>
          </p:cNvPr>
          <p:cNvSpPr>
            <a:spLocks noGrp="1"/>
          </p:cNvSpPr>
          <p:nvPr>
            <p:ph type="ctrTitle"/>
          </p:nvPr>
        </p:nvSpPr>
        <p:spPr>
          <a:xfrm>
            <a:off x="2667000" y="2714624"/>
            <a:ext cx="6858000" cy="1367896"/>
          </a:xfrm>
        </p:spPr>
        <p:txBody>
          <a:bodyPr>
            <a:noAutofit/>
          </a:bodyPr>
          <a:lstStyle/>
          <a:p>
            <a:pPr algn="ctr"/>
            <a:r>
              <a:rPr lang="en-MY" sz="3200" b="1" dirty="0">
                <a:solidFill>
                  <a:srgbClr val="FFFFFF"/>
                </a:solidFill>
              </a:rPr>
              <a:t>LAB – 8</a:t>
            </a:r>
            <a:br>
              <a:rPr lang="en-MY" sz="3200" b="1" dirty="0">
                <a:solidFill>
                  <a:srgbClr val="FFFFFF"/>
                </a:solidFill>
              </a:rPr>
            </a:br>
            <a:br>
              <a:rPr lang="en-MY" sz="3200" b="1" dirty="0">
                <a:solidFill>
                  <a:srgbClr val="FFFFFF"/>
                </a:solidFill>
              </a:rPr>
            </a:br>
            <a:r>
              <a:rPr lang="en-MY" sz="3200" b="1" dirty="0">
                <a:solidFill>
                  <a:srgbClr val="FFFFFF"/>
                </a:solidFill>
              </a:rPr>
              <a:t>trees - ii</a:t>
            </a:r>
            <a:endParaRPr lang="en-PK" sz="3200" dirty="0">
              <a:solidFill>
                <a:srgbClr val="FFFFFF"/>
              </a:solidFill>
            </a:endParaRPr>
          </a:p>
        </p:txBody>
      </p:sp>
    </p:spTree>
    <p:extLst>
      <p:ext uri="{BB962C8B-B14F-4D97-AF65-F5344CB8AC3E}">
        <p14:creationId xmlns:p14="http://schemas.microsoft.com/office/powerpoint/2010/main" val="14878255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AE433231-4B9B-AB58-C50B-D6F5EED715F8}"/>
            </a:ext>
          </a:extLst>
        </p:cNvPr>
        <p:cNvGrpSpPr/>
        <p:nvPr/>
      </p:nvGrpSpPr>
      <p:grpSpPr>
        <a:xfrm>
          <a:off x="0" y="0"/>
          <a:ext cx="0" cy="0"/>
          <a:chOff x="0" y="0"/>
          <a:chExt cx="0" cy="0"/>
        </a:xfrm>
      </p:grpSpPr>
      <p:sp useBgFill="1">
        <p:nvSpPr>
          <p:cNvPr id="50" name="Rectangle 49">
            <a:extLst>
              <a:ext uri="{FF2B5EF4-FFF2-40B4-BE49-F238E27FC236}">
                <a16:creationId xmlns:a16="http://schemas.microsoft.com/office/drawing/2014/main" id="{91E01204-9D6F-D989-ACF7-56ED1490BE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1" name="Group 50">
            <a:extLst>
              <a:ext uri="{FF2B5EF4-FFF2-40B4-BE49-F238E27FC236}">
                <a16:creationId xmlns:a16="http://schemas.microsoft.com/office/drawing/2014/main" id="{660E2A31-2EF4-7753-B61A-E321DE9428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gradFill flip="none" rotWithShape="1">
            <a:gsLst>
              <a:gs pos="0">
                <a:schemeClr val="tx2">
                  <a:alpha val="60000"/>
                </a:schemeClr>
              </a:gs>
              <a:gs pos="100000">
                <a:schemeClr val="bg2">
                  <a:lumMod val="60000"/>
                  <a:lumOff val="40000"/>
                  <a:alpha val="80000"/>
                </a:schemeClr>
              </a:gs>
            </a:gsLst>
            <a:lin ang="5400000" scaled="0"/>
            <a:tileRect/>
          </a:gradFill>
        </p:grpSpPr>
        <p:sp>
          <p:nvSpPr>
            <p:cNvPr id="52" name="Rectangle 5">
              <a:extLst>
                <a:ext uri="{FF2B5EF4-FFF2-40B4-BE49-F238E27FC236}">
                  <a16:creationId xmlns:a16="http://schemas.microsoft.com/office/drawing/2014/main" id="{A0B3BED0-C036-2B3C-CBCB-C58DD6AD5DE2}"/>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PK"/>
            </a:p>
          </p:txBody>
        </p:sp>
        <p:sp>
          <p:nvSpPr>
            <p:cNvPr id="53" name="Freeform 6">
              <a:extLst>
                <a:ext uri="{FF2B5EF4-FFF2-40B4-BE49-F238E27FC236}">
                  <a16:creationId xmlns:a16="http://schemas.microsoft.com/office/drawing/2014/main" id="{36A33668-F09C-E430-E587-623C99AF0D9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54" name="Freeform 7">
              <a:extLst>
                <a:ext uri="{FF2B5EF4-FFF2-40B4-BE49-F238E27FC236}">
                  <a16:creationId xmlns:a16="http://schemas.microsoft.com/office/drawing/2014/main" id="{75FA545D-5C29-0E68-5693-469FB3BE5C9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55" name="Freeform 8">
              <a:extLst>
                <a:ext uri="{FF2B5EF4-FFF2-40B4-BE49-F238E27FC236}">
                  <a16:creationId xmlns:a16="http://schemas.microsoft.com/office/drawing/2014/main" id="{FF50CDD2-B099-1678-793A-0706A2C75D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56" name="Freeform 9">
              <a:extLst>
                <a:ext uri="{FF2B5EF4-FFF2-40B4-BE49-F238E27FC236}">
                  <a16:creationId xmlns:a16="http://schemas.microsoft.com/office/drawing/2014/main" id="{04784818-94CA-D621-FBB6-6F20EB6D4B8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57" name="Freeform 10">
              <a:extLst>
                <a:ext uri="{FF2B5EF4-FFF2-40B4-BE49-F238E27FC236}">
                  <a16:creationId xmlns:a16="http://schemas.microsoft.com/office/drawing/2014/main" id="{7BA2DFBA-38BC-ABB4-A806-01AB5C3F9C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17" name="Freeform 11">
              <a:extLst>
                <a:ext uri="{FF2B5EF4-FFF2-40B4-BE49-F238E27FC236}">
                  <a16:creationId xmlns:a16="http://schemas.microsoft.com/office/drawing/2014/main" id="{EBC8788E-26E0-FA56-101C-7C57971C6D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58" name="Freeform 12">
              <a:extLst>
                <a:ext uri="{FF2B5EF4-FFF2-40B4-BE49-F238E27FC236}">
                  <a16:creationId xmlns:a16="http://schemas.microsoft.com/office/drawing/2014/main" id="{4ED205C7-CAD0-59C4-558F-D31F5313214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59" name="Freeform 13">
              <a:extLst>
                <a:ext uri="{FF2B5EF4-FFF2-40B4-BE49-F238E27FC236}">
                  <a16:creationId xmlns:a16="http://schemas.microsoft.com/office/drawing/2014/main" id="{D8D08DF9-B232-D0FA-467E-F2D53F82662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60" name="Freeform 14">
              <a:extLst>
                <a:ext uri="{FF2B5EF4-FFF2-40B4-BE49-F238E27FC236}">
                  <a16:creationId xmlns:a16="http://schemas.microsoft.com/office/drawing/2014/main" id="{DBED4CC3-E727-ABB4-DBFB-AC92A34C97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61" name="Freeform 15">
              <a:extLst>
                <a:ext uri="{FF2B5EF4-FFF2-40B4-BE49-F238E27FC236}">
                  <a16:creationId xmlns:a16="http://schemas.microsoft.com/office/drawing/2014/main" id="{EA4BC3A6-A074-8F06-E961-79434710029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62" name="Line 16">
              <a:extLst>
                <a:ext uri="{FF2B5EF4-FFF2-40B4-BE49-F238E27FC236}">
                  <a16:creationId xmlns:a16="http://schemas.microsoft.com/office/drawing/2014/main" id="{00B5CC85-2A92-8FDE-0C88-8272B3CD27C8}"/>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PK"/>
            </a:p>
          </p:txBody>
        </p:sp>
        <p:sp>
          <p:nvSpPr>
            <p:cNvPr id="23" name="Freeform 17">
              <a:extLst>
                <a:ext uri="{FF2B5EF4-FFF2-40B4-BE49-F238E27FC236}">
                  <a16:creationId xmlns:a16="http://schemas.microsoft.com/office/drawing/2014/main" id="{B49B96A8-67B1-2513-0F95-E3F5ED28C0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63" name="Freeform 18">
              <a:extLst>
                <a:ext uri="{FF2B5EF4-FFF2-40B4-BE49-F238E27FC236}">
                  <a16:creationId xmlns:a16="http://schemas.microsoft.com/office/drawing/2014/main" id="{E8FF8649-71EF-DB43-E488-15A5156F72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64" name="Freeform 19">
              <a:extLst>
                <a:ext uri="{FF2B5EF4-FFF2-40B4-BE49-F238E27FC236}">
                  <a16:creationId xmlns:a16="http://schemas.microsoft.com/office/drawing/2014/main" id="{0A380316-BE1D-BC11-BD34-FB1D61E4C6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65" name="Freeform 20">
              <a:extLst>
                <a:ext uri="{FF2B5EF4-FFF2-40B4-BE49-F238E27FC236}">
                  <a16:creationId xmlns:a16="http://schemas.microsoft.com/office/drawing/2014/main" id="{2A8B955F-C9E9-AE77-76B8-970C1400469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66" name="Rectangle 21">
              <a:extLst>
                <a:ext uri="{FF2B5EF4-FFF2-40B4-BE49-F238E27FC236}">
                  <a16:creationId xmlns:a16="http://schemas.microsoft.com/office/drawing/2014/main" id="{68EBE71B-07A7-7B01-8723-B2F2F505C1D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PK"/>
            </a:p>
          </p:txBody>
        </p:sp>
        <p:sp>
          <p:nvSpPr>
            <p:cNvPr id="67" name="Freeform 22">
              <a:extLst>
                <a:ext uri="{FF2B5EF4-FFF2-40B4-BE49-F238E27FC236}">
                  <a16:creationId xmlns:a16="http://schemas.microsoft.com/office/drawing/2014/main" id="{CE5D1CF5-DD3C-6BC4-FCAF-B78076A906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29" name="Freeform 23">
              <a:extLst>
                <a:ext uri="{FF2B5EF4-FFF2-40B4-BE49-F238E27FC236}">
                  <a16:creationId xmlns:a16="http://schemas.microsoft.com/office/drawing/2014/main" id="{837661A3-CD86-6834-028C-BA88B7F4C57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68" name="Freeform 24">
              <a:extLst>
                <a:ext uri="{FF2B5EF4-FFF2-40B4-BE49-F238E27FC236}">
                  <a16:creationId xmlns:a16="http://schemas.microsoft.com/office/drawing/2014/main" id="{FC68E5E3-FC67-AC66-246D-CD13D57364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69" name="Freeform 25">
              <a:extLst>
                <a:ext uri="{FF2B5EF4-FFF2-40B4-BE49-F238E27FC236}">
                  <a16:creationId xmlns:a16="http://schemas.microsoft.com/office/drawing/2014/main" id="{26DC1E49-99D6-7070-4124-B1DD81F587D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70" name="Freeform 26">
              <a:extLst>
                <a:ext uri="{FF2B5EF4-FFF2-40B4-BE49-F238E27FC236}">
                  <a16:creationId xmlns:a16="http://schemas.microsoft.com/office/drawing/2014/main" id="{75B0309F-72FA-D770-D65C-561BAB8398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71" name="Freeform 27">
              <a:extLst>
                <a:ext uri="{FF2B5EF4-FFF2-40B4-BE49-F238E27FC236}">
                  <a16:creationId xmlns:a16="http://schemas.microsoft.com/office/drawing/2014/main" id="{5A2F272B-D96C-CA9D-6318-9C9D2800BB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72" name="Freeform 28">
              <a:extLst>
                <a:ext uri="{FF2B5EF4-FFF2-40B4-BE49-F238E27FC236}">
                  <a16:creationId xmlns:a16="http://schemas.microsoft.com/office/drawing/2014/main" id="{BBA39DD8-1B0E-6CAE-A337-D03FD6FA76B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73" name="Freeform 29">
              <a:extLst>
                <a:ext uri="{FF2B5EF4-FFF2-40B4-BE49-F238E27FC236}">
                  <a16:creationId xmlns:a16="http://schemas.microsoft.com/office/drawing/2014/main" id="{ABF3A735-0DD2-3C86-4F18-A4B7CF8E906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74" name="Freeform 30">
              <a:extLst>
                <a:ext uri="{FF2B5EF4-FFF2-40B4-BE49-F238E27FC236}">
                  <a16:creationId xmlns:a16="http://schemas.microsoft.com/office/drawing/2014/main" id="{B547F847-F53B-AC0F-4A24-ECEE9C7BDE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37" name="Freeform 31">
              <a:extLst>
                <a:ext uri="{FF2B5EF4-FFF2-40B4-BE49-F238E27FC236}">
                  <a16:creationId xmlns:a16="http://schemas.microsoft.com/office/drawing/2014/main" id="{D80AF14A-B6B8-008E-E8C8-42F2A87DF88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grpSp>
      <p:sp>
        <p:nvSpPr>
          <p:cNvPr id="2" name="Title 1">
            <a:extLst>
              <a:ext uri="{FF2B5EF4-FFF2-40B4-BE49-F238E27FC236}">
                <a16:creationId xmlns:a16="http://schemas.microsoft.com/office/drawing/2014/main" id="{31887192-6BB2-47E1-D4CF-573D6CAD89E6}"/>
              </a:ext>
            </a:extLst>
          </p:cNvPr>
          <p:cNvSpPr>
            <a:spLocks noGrp="1"/>
          </p:cNvSpPr>
          <p:nvPr>
            <p:ph type="title"/>
          </p:nvPr>
        </p:nvSpPr>
        <p:spPr>
          <a:xfrm>
            <a:off x="4733925" y="594533"/>
            <a:ext cx="6858000" cy="1478570"/>
          </a:xfrm>
        </p:spPr>
        <p:txBody>
          <a:bodyPr>
            <a:normAutofit/>
          </a:bodyPr>
          <a:lstStyle/>
          <a:p>
            <a:pPr algn="ctr"/>
            <a:r>
              <a:rPr lang="en-US" b="1" u="sng" dirty="0"/>
              <a:t>Objectives for lab-8</a:t>
            </a:r>
            <a:endParaRPr lang="en-PK" dirty="0"/>
          </a:p>
        </p:txBody>
      </p:sp>
      <p:sp>
        <p:nvSpPr>
          <p:cNvPr id="3" name="Content Placeholder 2">
            <a:extLst>
              <a:ext uri="{FF2B5EF4-FFF2-40B4-BE49-F238E27FC236}">
                <a16:creationId xmlns:a16="http://schemas.microsoft.com/office/drawing/2014/main" id="{52974F72-A199-45AE-E00D-80D7062F8FCD}"/>
              </a:ext>
            </a:extLst>
          </p:cNvPr>
          <p:cNvSpPr>
            <a:spLocks noGrp="1"/>
          </p:cNvSpPr>
          <p:nvPr>
            <p:ph idx="1"/>
          </p:nvPr>
        </p:nvSpPr>
        <p:spPr>
          <a:xfrm>
            <a:off x="5667375" y="2249487"/>
            <a:ext cx="5692774" cy="4013980"/>
          </a:xfrm>
        </p:spPr>
        <p:txBody>
          <a:bodyPr>
            <a:normAutofit fontScale="85000" lnSpcReduction="20000"/>
          </a:bodyPr>
          <a:lstStyle/>
          <a:p>
            <a:pPr lvl="0" algn="just"/>
            <a:r>
              <a:rPr lang="en-US" dirty="0"/>
              <a:t>The students will learn about BST, heap, and B-tree data structures.</a:t>
            </a:r>
          </a:p>
          <a:p>
            <a:pPr lvl="0" algn="just"/>
            <a:endParaRPr lang="en-PK" dirty="0"/>
          </a:p>
          <a:p>
            <a:pPr lvl="0" algn="just"/>
            <a:r>
              <a:rPr lang="en-US" dirty="0"/>
              <a:t>The students will be able to implement and apply these data structures to solve various computational problems.</a:t>
            </a:r>
          </a:p>
          <a:p>
            <a:pPr lvl="0" algn="just"/>
            <a:endParaRPr lang="en-US" dirty="0"/>
          </a:p>
          <a:p>
            <a:pPr algn="just"/>
            <a:r>
              <a:rPr lang="en-US" dirty="0"/>
              <a:t>To understand the concept of binary search tree (BST), heap, and height-balancing trees like AVL and B-tree, and develop the ability to use those data structures to solve real-world problems.</a:t>
            </a:r>
            <a:endParaRPr lang="en-PK" dirty="0"/>
          </a:p>
          <a:p>
            <a:pPr lvl="0" algn="just"/>
            <a:endParaRPr lang="en-PK" dirty="0"/>
          </a:p>
        </p:txBody>
      </p:sp>
      <p:grpSp>
        <p:nvGrpSpPr>
          <p:cNvPr id="39" name="Group 38">
            <a:extLst>
              <a:ext uri="{FF2B5EF4-FFF2-40B4-BE49-F238E27FC236}">
                <a16:creationId xmlns:a16="http://schemas.microsoft.com/office/drawing/2014/main" id="{A7C6423F-08B9-CC5E-4AD8-EC008238ACE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gradFill flip="none" rotWithShape="1">
            <a:gsLst>
              <a:gs pos="0">
                <a:schemeClr val="tx2">
                  <a:alpha val="60000"/>
                </a:schemeClr>
              </a:gs>
              <a:gs pos="100000">
                <a:schemeClr val="bg2">
                  <a:lumMod val="60000"/>
                  <a:lumOff val="40000"/>
                  <a:alpha val="60000"/>
                </a:schemeClr>
              </a:gs>
            </a:gsLst>
            <a:lin ang="5400000" scaled="0"/>
            <a:tileRect/>
          </a:gradFill>
        </p:grpSpPr>
        <p:sp>
          <p:nvSpPr>
            <p:cNvPr id="75" name="Freeform 32">
              <a:extLst>
                <a:ext uri="{FF2B5EF4-FFF2-40B4-BE49-F238E27FC236}">
                  <a16:creationId xmlns:a16="http://schemas.microsoft.com/office/drawing/2014/main" id="{3AB5F2D8-A73C-3A1A-E74F-579D43A45E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41" name="Freeform 33">
              <a:extLst>
                <a:ext uri="{FF2B5EF4-FFF2-40B4-BE49-F238E27FC236}">
                  <a16:creationId xmlns:a16="http://schemas.microsoft.com/office/drawing/2014/main" id="{A34DBAD3-701C-D700-9758-73A3184B12D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42" name="Freeform 34">
              <a:extLst>
                <a:ext uri="{FF2B5EF4-FFF2-40B4-BE49-F238E27FC236}">
                  <a16:creationId xmlns:a16="http://schemas.microsoft.com/office/drawing/2014/main" id="{573D7B77-44FB-ACB9-255D-D3BC8EFAFAD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43" name="Freeform 35">
              <a:extLst>
                <a:ext uri="{FF2B5EF4-FFF2-40B4-BE49-F238E27FC236}">
                  <a16:creationId xmlns:a16="http://schemas.microsoft.com/office/drawing/2014/main" id="{50202ECB-5666-B6E9-A565-6722566950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44" name="Freeform 36">
              <a:extLst>
                <a:ext uri="{FF2B5EF4-FFF2-40B4-BE49-F238E27FC236}">
                  <a16:creationId xmlns:a16="http://schemas.microsoft.com/office/drawing/2014/main" id="{4EC62EB3-C89C-3108-FD9A-3BF06FC0EA1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45" name="Freeform 37">
              <a:extLst>
                <a:ext uri="{FF2B5EF4-FFF2-40B4-BE49-F238E27FC236}">
                  <a16:creationId xmlns:a16="http://schemas.microsoft.com/office/drawing/2014/main" id="{995408F3-BE88-7CA8-4993-0A1A6083B9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46" name="Freeform 38">
              <a:extLst>
                <a:ext uri="{FF2B5EF4-FFF2-40B4-BE49-F238E27FC236}">
                  <a16:creationId xmlns:a16="http://schemas.microsoft.com/office/drawing/2014/main" id="{21722397-1A0C-9116-4670-919733CAC07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47" name="Freeform 39">
              <a:extLst>
                <a:ext uri="{FF2B5EF4-FFF2-40B4-BE49-F238E27FC236}">
                  <a16:creationId xmlns:a16="http://schemas.microsoft.com/office/drawing/2014/main" id="{ECD9B675-5FB8-991A-4F89-58449B2187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48" name="Freeform 40">
              <a:extLst>
                <a:ext uri="{FF2B5EF4-FFF2-40B4-BE49-F238E27FC236}">
                  <a16:creationId xmlns:a16="http://schemas.microsoft.com/office/drawing/2014/main" id="{1432D68E-149E-C491-FEC5-4B9D417021B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49" name="Rectangle 41">
              <a:extLst>
                <a:ext uri="{FF2B5EF4-FFF2-40B4-BE49-F238E27FC236}">
                  <a16:creationId xmlns:a16="http://schemas.microsoft.com/office/drawing/2014/main" id="{DD294C30-2631-61C6-D5AF-50A7BB055764}"/>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PK"/>
            </a:p>
          </p:txBody>
        </p:sp>
      </p:grpSp>
      <p:pic>
        <p:nvPicPr>
          <p:cNvPr id="4" name="Image 0" descr="preencoded.png">
            <a:extLst>
              <a:ext uri="{FF2B5EF4-FFF2-40B4-BE49-F238E27FC236}">
                <a16:creationId xmlns:a16="http://schemas.microsoft.com/office/drawing/2014/main" id="{747DC7A5-D7ED-5085-A58E-5B6335AA09A5}"/>
              </a:ext>
            </a:extLst>
          </p:cNvPr>
          <p:cNvPicPr>
            <a:picLocks noChangeAspect="1"/>
          </p:cNvPicPr>
          <p:nvPr/>
        </p:nvPicPr>
        <p:blipFill>
          <a:blip r:embed="rId3"/>
          <a:stretch>
            <a:fillRect/>
          </a:stretch>
        </p:blipFill>
        <p:spPr>
          <a:xfrm>
            <a:off x="-14288" y="9525"/>
            <a:ext cx="5486400" cy="6853239"/>
          </a:xfrm>
          <a:prstGeom prst="rect">
            <a:avLst/>
          </a:prstGeom>
        </p:spPr>
      </p:pic>
    </p:spTree>
    <p:extLst>
      <p:ext uri="{BB962C8B-B14F-4D97-AF65-F5344CB8AC3E}">
        <p14:creationId xmlns:p14="http://schemas.microsoft.com/office/powerpoint/2010/main" val="13272537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dissolv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dissolv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a:extLst>
            <a:ext uri="{FF2B5EF4-FFF2-40B4-BE49-F238E27FC236}">
              <a16:creationId xmlns:a16="http://schemas.microsoft.com/office/drawing/2014/main" id="{C8092856-FAFE-9671-90A7-BBF4126180FD}"/>
            </a:ext>
          </a:extLst>
        </p:cNvPr>
        <p:cNvGrpSpPr/>
        <p:nvPr/>
      </p:nvGrpSpPr>
      <p:grpSpPr>
        <a:xfrm>
          <a:off x="0" y="0"/>
          <a:ext cx="0" cy="0"/>
          <a:chOff x="0" y="0"/>
          <a:chExt cx="0" cy="0"/>
        </a:xfrm>
      </p:grpSpPr>
      <p:sp useBgFill="1">
        <p:nvSpPr>
          <p:cNvPr id="125" name="Rectangle 124">
            <a:extLst>
              <a:ext uri="{FF2B5EF4-FFF2-40B4-BE49-F238E27FC236}">
                <a16:creationId xmlns:a16="http://schemas.microsoft.com/office/drawing/2014/main" id="{CC892AB0-7D6D-4FC9-9105-0CB4271618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6" name="Group 125">
            <a:extLst>
              <a:ext uri="{FF2B5EF4-FFF2-40B4-BE49-F238E27FC236}">
                <a16:creationId xmlns:a16="http://schemas.microsoft.com/office/drawing/2014/main" id="{807353E4-FA19-40CB-8AF8-3A8E6704BE0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72533" y="0"/>
            <a:ext cx="598488" cy="1981201"/>
            <a:chOff x="194733" y="0"/>
            <a:chExt cx="598488" cy="1981201"/>
          </a:xfrm>
        </p:grpSpPr>
        <p:sp>
          <p:nvSpPr>
            <p:cNvPr id="127" name="Freeform 35">
              <a:extLst>
                <a:ext uri="{FF2B5EF4-FFF2-40B4-BE49-F238E27FC236}">
                  <a16:creationId xmlns:a16="http://schemas.microsoft.com/office/drawing/2014/main" id="{697D009D-8E70-460A-BE57-321BB07641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85221" y="0"/>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PK"/>
            </a:p>
          </p:txBody>
        </p:sp>
        <p:sp>
          <p:nvSpPr>
            <p:cNvPr id="128" name="Freeform 36">
              <a:extLst>
                <a:ext uri="{FF2B5EF4-FFF2-40B4-BE49-F238E27FC236}">
                  <a16:creationId xmlns:a16="http://schemas.microsoft.com/office/drawing/2014/main" id="{D0001F35-F282-403E-8D08-0D204D851F7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526521" y="1141413"/>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PK"/>
            </a:p>
          </p:txBody>
        </p:sp>
        <p:sp>
          <p:nvSpPr>
            <p:cNvPr id="129" name="Freeform 38">
              <a:extLst>
                <a:ext uri="{FF2B5EF4-FFF2-40B4-BE49-F238E27FC236}">
                  <a16:creationId xmlns:a16="http://schemas.microsoft.com/office/drawing/2014/main" id="{3F8A69A2-2D15-40CD-8C14-A18643ABA57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9996" y="1792288"/>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30" name="Freeform 39">
              <a:extLst>
                <a:ext uri="{FF2B5EF4-FFF2-40B4-BE49-F238E27FC236}">
                  <a16:creationId xmlns:a16="http://schemas.microsoft.com/office/drawing/2014/main" id="{B665CA2A-9D55-4786-9343-EB46672627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194733" y="0"/>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PK"/>
            </a:p>
          </p:txBody>
        </p:sp>
        <p:sp>
          <p:nvSpPr>
            <p:cNvPr id="131" name="Freeform 40">
              <a:extLst>
                <a:ext uri="{FF2B5EF4-FFF2-40B4-BE49-F238E27FC236}">
                  <a16:creationId xmlns:a16="http://schemas.microsoft.com/office/drawing/2014/main" id="{CEE9BD85-96DF-4CDF-BC0F-C4E46062B3A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602721" y="24288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32" name="Rectangle 41">
              <a:extLst>
                <a:ext uri="{FF2B5EF4-FFF2-40B4-BE49-F238E27FC236}">
                  <a16:creationId xmlns:a16="http://schemas.microsoft.com/office/drawing/2014/main" id="{6BB6F5E5-6CA3-4B20-86A7-1174D6E71FBD}"/>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flipV="1">
              <a:off x="693208" y="0"/>
              <a:ext cx="23813" cy="252413"/>
            </a:xfrm>
            <a:prstGeom prst="rect">
              <a:avLst/>
            </a:prstGeom>
            <a:solidFill>
              <a:schemeClr val="tx2">
                <a:alpha val="80000"/>
              </a:schemeClr>
            </a:solidFill>
            <a:ln>
              <a:noFill/>
            </a:ln>
          </p:spPr>
          <p:txBody>
            <a:bodyPr/>
            <a:lstStyle/>
            <a:p>
              <a:endParaRPr lang="en-PK"/>
            </a:p>
          </p:txBody>
        </p:sp>
      </p:grpSp>
      <p:grpSp>
        <p:nvGrpSpPr>
          <p:cNvPr id="133" name="Group 132">
            <a:extLst>
              <a:ext uri="{FF2B5EF4-FFF2-40B4-BE49-F238E27FC236}">
                <a16:creationId xmlns:a16="http://schemas.microsoft.com/office/drawing/2014/main" id="{0328E69E-CE3D-4110-8BF7-AD3C0C10CB1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085512" y="0"/>
            <a:ext cx="650875" cy="1730375"/>
            <a:chOff x="11347978" y="0"/>
            <a:chExt cx="650875" cy="1730375"/>
          </a:xfrm>
        </p:grpSpPr>
        <p:sp>
          <p:nvSpPr>
            <p:cNvPr id="134" name="Freeform 32">
              <a:extLst>
                <a:ext uri="{FF2B5EF4-FFF2-40B4-BE49-F238E27FC236}">
                  <a16:creationId xmlns:a16="http://schemas.microsoft.com/office/drawing/2014/main" id="{30F84C80-9E12-4460-B88F-D03839F0C8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67041"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PK"/>
            </a:p>
          </p:txBody>
        </p:sp>
        <p:sp>
          <p:nvSpPr>
            <p:cNvPr id="135" name="Freeform 33">
              <a:extLst>
                <a:ext uri="{FF2B5EF4-FFF2-40B4-BE49-F238E27FC236}">
                  <a16:creationId xmlns:a16="http://schemas.microsoft.com/office/drawing/2014/main" id="{2F84C18C-5783-48FF-9DE0-FDA327CFC4F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47978"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PK"/>
            </a:p>
          </p:txBody>
        </p:sp>
        <p:sp>
          <p:nvSpPr>
            <p:cNvPr id="136" name="Freeform 34">
              <a:extLst>
                <a:ext uri="{FF2B5EF4-FFF2-40B4-BE49-F238E27FC236}">
                  <a16:creationId xmlns:a16="http://schemas.microsoft.com/office/drawing/2014/main" id="{08C6A855-346C-4589-9AD4-5E15BCBC7A2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4678"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37" name="Freeform 37">
              <a:extLst>
                <a:ext uri="{FF2B5EF4-FFF2-40B4-BE49-F238E27FC236}">
                  <a16:creationId xmlns:a16="http://schemas.microsoft.com/office/drawing/2014/main" id="{7E64BEE6-1157-421C-A02A-47639E4D9F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694053"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PK"/>
            </a:p>
          </p:txBody>
        </p:sp>
      </p:grpSp>
      <p:grpSp>
        <p:nvGrpSpPr>
          <p:cNvPr id="138" name="Group 137">
            <a:extLst>
              <a:ext uri="{FF2B5EF4-FFF2-40B4-BE49-F238E27FC236}">
                <a16:creationId xmlns:a16="http://schemas.microsoft.com/office/drawing/2014/main" id="{F64806C9-3599-45A7-BCFF-F762C54276F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440267" y="5118101"/>
            <a:ext cx="650875" cy="1730375"/>
            <a:chOff x="118533" y="5118101"/>
            <a:chExt cx="650875" cy="1730375"/>
          </a:xfrm>
        </p:grpSpPr>
        <p:sp>
          <p:nvSpPr>
            <p:cNvPr id="139" name="Freeform 32">
              <a:extLst>
                <a:ext uri="{FF2B5EF4-FFF2-40B4-BE49-F238E27FC236}">
                  <a16:creationId xmlns:a16="http://schemas.microsoft.com/office/drawing/2014/main" id="{41D6E755-9558-4CAA-8F56-469D231C35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37596" y="6335713"/>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PK"/>
            </a:p>
          </p:txBody>
        </p:sp>
        <p:sp>
          <p:nvSpPr>
            <p:cNvPr id="140" name="Freeform 33">
              <a:extLst>
                <a:ext uri="{FF2B5EF4-FFF2-40B4-BE49-F238E27FC236}">
                  <a16:creationId xmlns:a16="http://schemas.microsoft.com/office/drawing/2014/main" id="{8FCD41C4-606C-446C-8C81-6353C64424A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118533" y="622141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PK"/>
            </a:p>
          </p:txBody>
        </p:sp>
        <p:sp>
          <p:nvSpPr>
            <p:cNvPr id="141" name="Freeform 34">
              <a:extLst>
                <a:ext uri="{FF2B5EF4-FFF2-40B4-BE49-F238E27FC236}">
                  <a16:creationId xmlns:a16="http://schemas.microsoft.com/office/drawing/2014/main" id="{274CFBE4-CEA6-4C81-BB1E-83E1896771D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5233" y="5118101"/>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42" name="Freeform 37">
              <a:extLst>
                <a:ext uri="{FF2B5EF4-FFF2-40B4-BE49-F238E27FC236}">
                  <a16:creationId xmlns:a16="http://schemas.microsoft.com/office/drawing/2014/main" id="{24813D3D-7B30-42F2-9065-1B40F140C7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464608" y="5299075"/>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PK"/>
            </a:p>
          </p:txBody>
        </p:sp>
      </p:grpSp>
      <p:grpSp>
        <p:nvGrpSpPr>
          <p:cNvPr id="143" name="Group 142">
            <a:extLst>
              <a:ext uri="{FF2B5EF4-FFF2-40B4-BE49-F238E27FC236}">
                <a16:creationId xmlns:a16="http://schemas.microsoft.com/office/drawing/2014/main" id="{1287AC97-A8E8-4B45-A50A-3057A88B408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1229445" y="4867275"/>
            <a:ext cx="598488" cy="1981201"/>
            <a:chOff x="11424178" y="4867275"/>
            <a:chExt cx="598488" cy="1981201"/>
          </a:xfrm>
        </p:grpSpPr>
        <p:sp>
          <p:nvSpPr>
            <p:cNvPr id="144" name="Freeform 35">
              <a:extLst>
                <a:ext uri="{FF2B5EF4-FFF2-40B4-BE49-F238E27FC236}">
                  <a16:creationId xmlns:a16="http://schemas.microsoft.com/office/drawing/2014/main" id="{57D70AA8-D36C-4DF9-B7D7-4E2C9BEFD9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14666"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PK"/>
            </a:p>
          </p:txBody>
        </p:sp>
        <p:sp>
          <p:nvSpPr>
            <p:cNvPr id="145" name="Freeform 36">
              <a:extLst>
                <a:ext uri="{FF2B5EF4-FFF2-40B4-BE49-F238E27FC236}">
                  <a16:creationId xmlns:a16="http://schemas.microsoft.com/office/drawing/2014/main" id="{74D88556-8C5B-41AF-9FA0-92D2734708D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55966"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PK"/>
            </a:p>
          </p:txBody>
        </p:sp>
        <p:sp>
          <p:nvSpPr>
            <p:cNvPr id="146" name="Freeform 38">
              <a:extLst>
                <a:ext uri="{FF2B5EF4-FFF2-40B4-BE49-F238E27FC236}">
                  <a16:creationId xmlns:a16="http://schemas.microsoft.com/office/drawing/2014/main" id="{17E00558-8912-48C6-8202-D8A2D854B7D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9441"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47" name="Freeform 39">
              <a:extLst>
                <a:ext uri="{FF2B5EF4-FFF2-40B4-BE49-F238E27FC236}">
                  <a16:creationId xmlns:a16="http://schemas.microsoft.com/office/drawing/2014/main" id="{7E4C092A-90EF-4870-97FC-C2D97FD2CE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24178"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PK"/>
            </a:p>
          </p:txBody>
        </p:sp>
        <p:sp>
          <p:nvSpPr>
            <p:cNvPr id="148" name="Freeform 40">
              <a:extLst>
                <a:ext uri="{FF2B5EF4-FFF2-40B4-BE49-F238E27FC236}">
                  <a16:creationId xmlns:a16="http://schemas.microsoft.com/office/drawing/2014/main" id="{0C8C091A-4902-4B98-BB6B-AF6FA1174BB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32166"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49" name="Rectangle 41">
              <a:extLst>
                <a:ext uri="{FF2B5EF4-FFF2-40B4-BE49-F238E27FC236}">
                  <a16:creationId xmlns:a16="http://schemas.microsoft.com/office/drawing/2014/main" id="{50C57AA3-5B6E-4C49-9AE3-D130A25404A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22653" y="6596063"/>
              <a:ext cx="23813" cy="252413"/>
            </a:xfrm>
            <a:prstGeom prst="rect">
              <a:avLst/>
            </a:prstGeom>
            <a:solidFill>
              <a:schemeClr val="tx2">
                <a:alpha val="80000"/>
              </a:schemeClr>
            </a:solidFill>
            <a:ln>
              <a:noFill/>
            </a:ln>
          </p:spPr>
          <p:txBody>
            <a:bodyPr/>
            <a:lstStyle/>
            <a:p>
              <a:endParaRPr lang="en-PK"/>
            </a:p>
          </p:txBody>
        </p:sp>
      </p:grpSp>
      <p:sp>
        <p:nvSpPr>
          <p:cNvPr id="110" name="Rectangle 109">
            <a:extLst>
              <a:ext uri="{FF2B5EF4-FFF2-40B4-BE49-F238E27FC236}">
                <a16:creationId xmlns:a16="http://schemas.microsoft.com/office/drawing/2014/main" id="{6D29BE04-4454-4832-B83F-10D001BFF9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2" name="Round Diagonal Corner Rectangle 7">
            <a:extLst>
              <a:ext uri="{FF2B5EF4-FFF2-40B4-BE49-F238E27FC236}">
                <a16:creationId xmlns:a16="http://schemas.microsoft.com/office/drawing/2014/main" id="{98714CE9-3C2C-48E1-8B8F-CFB7735C43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2867" y="766234"/>
            <a:ext cx="10346266" cy="5325532"/>
          </a:xfrm>
          <a:prstGeom prst="round2DiagRect">
            <a:avLst>
              <a:gd name="adj1" fmla="val 4147"/>
              <a:gd name="adj2" fmla="val 0"/>
            </a:avLst>
          </a:prstGeom>
          <a:solidFill>
            <a:schemeClr val="bg2">
              <a:lumMod val="50000"/>
              <a:alpha val="80000"/>
            </a:schemeClr>
          </a:solidFill>
          <a:ln w="19050" cap="sq">
            <a:solidFill>
              <a:srgbClr val="FFFFFF">
                <a:alpha val="60000"/>
              </a:srgbClr>
            </a:solidFill>
            <a:miter lim="800000"/>
          </a:ln>
          <a:effectLst>
            <a:outerShdw blurRad="889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2382759-A4AA-965F-EE30-3D0C2FF38517}"/>
              </a:ext>
            </a:extLst>
          </p:cNvPr>
          <p:cNvSpPr>
            <a:spLocks noGrp="1"/>
          </p:cNvSpPr>
          <p:nvPr>
            <p:ph type="title"/>
          </p:nvPr>
        </p:nvSpPr>
        <p:spPr>
          <a:xfrm>
            <a:off x="1577445" y="1168078"/>
            <a:ext cx="9048219" cy="1092200"/>
          </a:xfrm>
        </p:spPr>
        <p:txBody>
          <a:bodyPr anchor="ctr">
            <a:normAutofit/>
          </a:bodyPr>
          <a:lstStyle/>
          <a:p>
            <a:pPr algn="ctr"/>
            <a:r>
              <a:rPr lang="en-US" b="1" u="sng" dirty="0"/>
              <a:t>binary search tree</a:t>
            </a:r>
            <a:endParaRPr lang="en-PK" dirty="0">
              <a:solidFill>
                <a:srgbClr val="FFFFFF"/>
              </a:solidFill>
            </a:endParaRPr>
          </a:p>
        </p:txBody>
      </p:sp>
      <p:sp>
        <p:nvSpPr>
          <p:cNvPr id="3" name="Content Placeholder 2">
            <a:extLst>
              <a:ext uri="{FF2B5EF4-FFF2-40B4-BE49-F238E27FC236}">
                <a16:creationId xmlns:a16="http://schemas.microsoft.com/office/drawing/2014/main" id="{3F0E4D17-C167-FD5B-6885-3061D97BB3FF}"/>
              </a:ext>
            </a:extLst>
          </p:cNvPr>
          <p:cNvSpPr>
            <a:spLocks noGrp="1"/>
          </p:cNvSpPr>
          <p:nvPr>
            <p:ph idx="1"/>
          </p:nvPr>
        </p:nvSpPr>
        <p:spPr>
          <a:xfrm>
            <a:off x="1298449" y="2260277"/>
            <a:ext cx="9585978" cy="3683323"/>
          </a:xfrm>
        </p:spPr>
        <p:txBody>
          <a:bodyPr anchor="ctr">
            <a:normAutofit fontScale="92500"/>
          </a:bodyPr>
          <a:lstStyle/>
          <a:p>
            <a:pPr algn="just"/>
            <a:r>
              <a:rPr lang="en-US" dirty="0"/>
              <a:t>A Binary search tree is a binary tree with some restrictions. </a:t>
            </a:r>
          </a:p>
          <a:p>
            <a:pPr algn="just"/>
            <a:endParaRPr lang="en-US" dirty="0"/>
          </a:p>
          <a:p>
            <a:pPr algn="just"/>
            <a:r>
              <a:rPr lang="en-US" dirty="0"/>
              <a:t>In the binary search tree, the value of the root node will be larger than any node in the left subtree and will be smaller than any node in the right subtree. </a:t>
            </a:r>
          </a:p>
          <a:p>
            <a:pPr algn="just"/>
            <a:endParaRPr lang="en-US" dirty="0"/>
          </a:p>
          <a:p>
            <a:pPr algn="just"/>
            <a:r>
              <a:rPr lang="en-US" dirty="0"/>
              <a:t>Because of this restriction searching time of an element will be reduced to 𝑂(𝑙𝑜𝑔𝑁).</a:t>
            </a:r>
            <a:endParaRPr lang="en-PK" dirty="0"/>
          </a:p>
        </p:txBody>
      </p:sp>
    </p:spTree>
    <p:extLst>
      <p:ext uri="{BB962C8B-B14F-4D97-AF65-F5344CB8AC3E}">
        <p14:creationId xmlns:p14="http://schemas.microsoft.com/office/powerpoint/2010/main" val="21248607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dissolv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dissolv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a:extLst>
            <a:ext uri="{FF2B5EF4-FFF2-40B4-BE49-F238E27FC236}">
              <a16:creationId xmlns:a16="http://schemas.microsoft.com/office/drawing/2014/main" id="{E6680E21-DEB9-5010-C7DB-9A63C2EA7D2D}"/>
            </a:ext>
          </a:extLst>
        </p:cNvPr>
        <p:cNvGrpSpPr/>
        <p:nvPr/>
      </p:nvGrpSpPr>
      <p:grpSpPr>
        <a:xfrm>
          <a:off x="0" y="0"/>
          <a:ext cx="0" cy="0"/>
          <a:chOff x="0" y="0"/>
          <a:chExt cx="0" cy="0"/>
        </a:xfrm>
      </p:grpSpPr>
      <p:sp useBgFill="1">
        <p:nvSpPr>
          <p:cNvPr id="125" name="Rectangle 124">
            <a:extLst>
              <a:ext uri="{FF2B5EF4-FFF2-40B4-BE49-F238E27FC236}">
                <a16:creationId xmlns:a16="http://schemas.microsoft.com/office/drawing/2014/main" id="{5D1C0975-F087-3FB9-8C5D-46E3E00D61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6" name="Group 125">
            <a:extLst>
              <a:ext uri="{FF2B5EF4-FFF2-40B4-BE49-F238E27FC236}">
                <a16:creationId xmlns:a16="http://schemas.microsoft.com/office/drawing/2014/main" id="{667756AA-B9F9-6650-6CA2-0EB88CD90B4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72533" y="0"/>
            <a:ext cx="598488" cy="1981201"/>
            <a:chOff x="194733" y="0"/>
            <a:chExt cx="598488" cy="1981201"/>
          </a:xfrm>
        </p:grpSpPr>
        <p:sp>
          <p:nvSpPr>
            <p:cNvPr id="127" name="Freeform 35">
              <a:extLst>
                <a:ext uri="{FF2B5EF4-FFF2-40B4-BE49-F238E27FC236}">
                  <a16:creationId xmlns:a16="http://schemas.microsoft.com/office/drawing/2014/main" id="{41CD6623-59C8-29BC-6BF5-B7B0385724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85221" y="0"/>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PK"/>
            </a:p>
          </p:txBody>
        </p:sp>
        <p:sp>
          <p:nvSpPr>
            <p:cNvPr id="128" name="Freeform 36">
              <a:extLst>
                <a:ext uri="{FF2B5EF4-FFF2-40B4-BE49-F238E27FC236}">
                  <a16:creationId xmlns:a16="http://schemas.microsoft.com/office/drawing/2014/main" id="{6411249A-2926-FF25-BA32-46208B5542F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526521" y="1141413"/>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PK"/>
            </a:p>
          </p:txBody>
        </p:sp>
        <p:sp>
          <p:nvSpPr>
            <p:cNvPr id="129" name="Freeform 38">
              <a:extLst>
                <a:ext uri="{FF2B5EF4-FFF2-40B4-BE49-F238E27FC236}">
                  <a16:creationId xmlns:a16="http://schemas.microsoft.com/office/drawing/2014/main" id="{C5A1E7A3-996B-808C-DDC1-9B4FCE7A0B1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9996" y="1792288"/>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30" name="Freeform 39">
              <a:extLst>
                <a:ext uri="{FF2B5EF4-FFF2-40B4-BE49-F238E27FC236}">
                  <a16:creationId xmlns:a16="http://schemas.microsoft.com/office/drawing/2014/main" id="{FE3ED36F-3097-80C3-87C0-7C44326E75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194733" y="0"/>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PK"/>
            </a:p>
          </p:txBody>
        </p:sp>
        <p:sp>
          <p:nvSpPr>
            <p:cNvPr id="131" name="Freeform 40">
              <a:extLst>
                <a:ext uri="{FF2B5EF4-FFF2-40B4-BE49-F238E27FC236}">
                  <a16:creationId xmlns:a16="http://schemas.microsoft.com/office/drawing/2014/main" id="{75847B33-A5ED-0A22-18F3-E00A70C2246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602721" y="24288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32" name="Rectangle 41">
              <a:extLst>
                <a:ext uri="{FF2B5EF4-FFF2-40B4-BE49-F238E27FC236}">
                  <a16:creationId xmlns:a16="http://schemas.microsoft.com/office/drawing/2014/main" id="{BE6A4EF0-D310-0B67-E599-67A04C2524F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flipV="1">
              <a:off x="693208" y="0"/>
              <a:ext cx="23813" cy="252413"/>
            </a:xfrm>
            <a:prstGeom prst="rect">
              <a:avLst/>
            </a:prstGeom>
            <a:solidFill>
              <a:schemeClr val="tx2">
                <a:alpha val="80000"/>
              </a:schemeClr>
            </a:solidFill>
            <a:ln>
              <a:noFill/>
            </a:ln>
          </p:spPr>
          <p:txBody>
            <a:bodyPr/>
            <a:lstStyle/>
            <a:p>
              <a:endParaRPr lang="en-PK"/>
            </a:p>
          </p:txBody>
        </p:sp>
      </p:grpSp>
      <p:grpSp>
        <p:nvGrpSpPr>
          <p:cNvPr id="133" name="Group 132">
            <a:extLst>
              <a:ext uri="{FF2B5EF4-FFF2-40B4-BE49-F238E27FC236}">
                <a16:creationId xmlns:a16="http://schemas.microsoft.com/office/drawing/2014/main" id="{0F123CE4-DEE9-B849-2ED4-555C5EC7E0D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085512" y="0"/>
            <a:ext cx="650875" cy="1730375"/>
            <a:chOff x="11347978" y="0"/>
            <a:chExt cx="650875" cy="1730375"/>
          </a:xfrm>
        </p:grpSpPr>
        <p:sp>
          <p:nvSpPr>
            <p:cNvPr id="134" name="Freeform 32">
              <a:extLst>
                <a:ext uri="{FF2B5EF4-FFF2-40B4-BE49-F238E27FC236}">
                  <a16:creationId xmlns:a16="http://schemas.microsoft.com/office/drawing/2014/main" id="{01C5A609-B85B-BBD1-E6F6-0201DF8C3E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67041"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PK"/>
            </a:p>
          </p:txBody>
        </p:sp>
        <p:sp>
          <p:nvSpPr>
            <p:cNvPr id="135" name="Freeform 33">
              <a:extLst>
                <a:ext uri="{FF2B5EF4-FFF2-40B4-BE49-F238E27FC236}">
                  <a16:creationId xmlns:a16="http://schemas.microsoft.com/office/drawing/2014/main" id="{53BE55DE-A8C7-0D5C-3B1A-12CD74281AD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47978"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PK"/>
            </a:p>
          </p:txBody>
        </p:sp>
        <p:sp>
          <p:nvSpPr>
            <p:cNvPr id="136" name="Freeform 34">
              <a:extLst>
                <a:ext uri="{FF2B5EF4-FFF2-40B4-BE49-F238E27FC236}">
                  <a16:creationId xmlns:a16="http://schemas.microsoft.com/office/drawing/2014/main" id="{80512688-4428-90D4-784B-D8E162B37DD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4678"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37" name="Freeform 37">
              <a:extLst>
                <a:ext uri="{FF2B5EF4-FFF2-40B4-BE49-F238E27FC236}">
                  <a16:creationId xmlns:a16="http://schemas.microsoft.com/office/drawing/2014/main" id="{F0AA7FDF-8F5D-DB30-618C-08077F5CB3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694053"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PK"/>
            </a:p>
          </p:txBody>
        </p:sp>
      </p:grpSp>
      <p:grpSp>
        <p:nvGrpSpPr>
          <p:cNvPr id="138" name="Group 137">
            <a:extLst>
              <a:ext uri="{FF2B5EF4-FFF2-40B4-BE49-F238E27FC236}">
                <a16:creationId xmlns:a16="http://schemas.microsoft.com/office/drawing/2014/main" id="{91B53EC6-07E4-F4F0-C984-CA40B28233A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440267" y="5118101"/>
            <a:ext cx="650875" cy="1730375"/>
            <a:chOff x="118533" y="5118101"/>
            <a:chExt cx="650875" cy="1730375"/>
          </a:xfrm>
        </p:grpSpPr>
        <p:sp>
          <p:nvSpPr>
            <p:cNvPr id="139" name="Freeform 32">
              <a:extLst>
                <a:ext uri="{FF2B5EF4-FFF2-40B4-BE49-F238E27FC236}">
                  <a16:creationId xmlns:a16="http://schemas.microsoft.com/office/drawing/2014/main" id="{B367BF94-E0CC-B8C3-471D-1109F4B194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37596" y="6335713"/>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PK"/>
            </a:p>
          </p:txBody>
        </p:sp>
        <p:sp>
          <p:nvSpPr>
            <p:cNvPr id="140" name="Freeform 33">
              <a:extLst>
                <a:ext uri="{FF2B5EF4-FFF2-40B4-BE49-F238E27FC236}">
                  <a16:creationId xmlns:a16="http://schemas.microsoft.com/office/drawing/2014/main" id="{4C40CB1B-E0A3-8C93-80C7-5E48775BEF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118533" y="622141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PK"/>
            </a:p>
          </p:txBody>
        </p:sp>
        <p:sp>
          <p:nvSpPr>
            <p:cNvPr id="141" name="Freeform 34">
              <a:extLst>
                <a:ext uri="{FF2B5EF4-FFF2-40B4-BE49-F238E27FC236}">
                  <a16:creationId xmlns:a16="http://schemas.microsoft.com/office/drawing/2014/main" id="{8A487BFD-834F-7464-FC81-FA50775570B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5233" y="5118101"/>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42" name="Freeform 37">
              <a:extLst>
                <a:ext uri="{FF2B5EF4-FFF2-40B4-BE49-F238E27FC236}">
                  <a16:creationId xmlns:a16="http://schemas.microsoft.com/office/drawing/2014/main" id="{44536087-AD21-24B3-5C4A-D9FC31CF83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464608" y="5299075"/>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PK"/>
            </a:p>
          </p:txBody>
        </p:sp>
      </p:grpSp>
      <p:grpSp>
        <p:nvGrpSpPr>
          <p:cNvPr id="143" name="Group 142">
            <a:extLst>
              <a:ext uri="{FF2B5EF4-FFF2-40B4-BE49-F238E27FC236}">
                <a16:creationId xmlns:a16="http://schemas.microsoft.com/office/drawing/2014/main" id="{F54F27AA-F7CC-15EC-77BA-008F683E9DA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1229445" y="4867275"/>
            <a:ext cx="598488" cy="1981201"/>
            <a:chOff x="11424178" y="4867275"/>
            <a:chExt cx="598488" cy="1981201"/>
          </a:xfrm>
        </p:grpSpPr>
        <p:sp>
          <p:nvSpPr>
            <p:cNvPr id="144" name="Freeform 35">
              <a:extLst>
                <a:ext uri="{FF2B5EF4-FFF2-40B4-BE49-F238E27FC236}">
                  <a16:creationId xmlns:a16="http://schemas.microsoft.com/office/drawing/2014/main" id="{C66513FB-F1E5-450F-D3AB-7C77A84859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14666"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PK"/>
            </a:p>
          </p:txBody>
        </p:sp>
        <p:sp>
          <p:nvSpPr>
            <p:cNvPr id="145" name="Freeform 36">
              <a:extLst>
                <a:ext uri="{FF2B5EF4-FFF2-40B4-BE49-F238E27FC236}">
                  <a16:creationId xmlns:a16="http://schemas.microsoft.com/office/drawing/2014/main" id="{5EEC1B21-271A-4458-C406-2D07AA71329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55966"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PK"/>
            </a:p>
          </p:txBody>
        </p:sp>
        <p:sp>
          <p:nvSpPr>
            <p:cNvPr id="146" name="Freeform 38">
              <a:extLst>
                <a:ext uri="{FF2B5EF4-FFF2-40B4-BE49-F238E27FC236}">
                  <a16:creationId xmlns:a16="http://schemas.microsoft.com/office/drawing/2014/main" id="{F840F58F-3D15-ED38-0E5D-455FFEE4E18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9441"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47" name="Freeform 39">
              <a:extLst>
                <a:ext uri="{FF2B5EF4-FFF2-40B4-BE49-F238E27FC236}">
                  <a16:creationId xmlns:a16="http://schemas.microsoft.com/office/drawing/2014/main" id="{97643EE6-DC28-CADE-A215-4FFC9F1291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24178"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PK"/>
            </a:p>
          </p:txBody>
        </p:sp>
        <p:sp>
          <p:nvSpPr>
            <p:cNvPr id="148" name="Freeform 40">
              <a:extLst>
                <a:ext uri="{FF2B5EF4-FFF2-40B4-BE49-F238E27FC236}">
                  <a16:creationId xmlns:a16="http://schemas.microsoft.com/office/drawing/2014/main" id="{368FB659-D5EE-71CC-7485-56F4C4A7C02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32166"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49" name="Rectangle 41">
              <a:extLst>
                <a:ext uri="{FF2B5EF4-FFF2-40B4-BE49-F238E27FC236}">
                  <a16:creationId xmlns:a16="http://schemas.microsoft.com/office/drawing/2014/main" id="{F8D7E6E6-407D-270E-0AA8-25544A5980F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22653" y="6596063"/>
              <a:ext cx="23813" cy="252413"/>
            </a:xfrm>
            <a:prstGeom prst="rect">
              <a:avLst/>
            </a:prstGeom>
            <a:solidFill>
              <a:schemeClr val="tx2">
                <a:alpha val="80000"/>
              </a:schemeClr>
            </a:solidFill>
            <a:ln>
              <a:noFill/>
            </a:ln>
          </p:spPr>
          <p:txBody>
            <a:bodyPr/>
            <a:lstStyle/>
            <a:p>
              <a:endParaRPr lang="en-PK"/>
            </a:p>
          </p:txBody>
        </p:sp>
      </p:grpSp>
      <p:sp>
        <p:nvSpPr>
          <p:cNvPr id="110" name="Rectangle 109">
            <a:extLst>
              <a:ext uri="{FF2B5EF4-FFF2-40B4-BE49-F238E27FC236}">
                <a16:creationId xmlns:a16="http://schemas.microsoft.com/office/drawing/2014/main" id="{840DC814-7727-DAB5-9128-342A2EC456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2" name="Round Diagonal Corner Rectangle 7">
            <a:extLst>
              <a:ext uri="{FF2B5EF4-FFF2-40B4-BE49-F238E27FC236}">
                <a16:creationId xmlns:a16="http://schemas.microsoft.com/office/drawing/2014/main" id="{3E5F7C93-5A2F-1DDC-2369-D8261B6B35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2867" y="766234"/>
            <a:ext cx="10346266" cy="5325532"/>
          </a:xfrm>
          <a:prstGeom prst="round2DiagRect">
            <a:avLst>
              <a:gd name="adj1" fmla="val 4147"/>
              <a:gd name="adj2" fmla="val 0"/>
            </a:avLst>
          </a:prstGeom>
          <a:solidFill>
            <a:schemeClr val="bg2">
              <a:lumMod val="50000"/>
              <a:alpha val="80000"/>
            </a:schemeClr>
          </a:solidFill>
          <a:ln w="19050" cap="sq">
            <a:solidFill>
              <a:srgbClr val="FFFFFF">
                <a:alpha val="60000"/>
              </a:srgbClr>
            </a:solidFill>
            <a:miter lim="800000"/>
          </a:ln>
          <a:effectLst>
            <a:outerShdw blurRad="889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CCE9105-120D-C237-ECE4-0DEE3D4E4478}"/>
              </a:ext>
            </a:extLst>
          </p:cNvPr>
          <p:cNvSpPr>
            <a:spLocks noGrp="1"/>
          </p:cNvSpPr>
          <p:nvPr>
            <p:ph type="title"/>
          </p:nvPr>
        </p:nvSpPr>
        <p:spPr>
          <a:xfrm>
            <a:off x="1577445" y="1168078"/>
            <a:ext cx="9048219" cy="1092200"/>
          </a:xfrm>
        </p:spPr>
        <p:txBody>
          <a:bodyPr anchor="ctr">
            <a:normAutofit/>
          </a:bodyPr>
          <a:lstStyle/>
          <a:p>
            <a:pPr algn="ctr"/>
            <a:r>
              <a:rPr lang="en-US" b="1" u="sng" dirty="0"/>
              <a:t>Almost complete binary tree</a:t>
            </a:r>
            <a:endParaRPr lang="en-PK" dirty="0">
              <a:solidFill>
                <a:srgbClr val="FFFFFF"/>
              </a:solidFill>
            </a:endParaRPr>
          </a:p>
        </p:txBody>
      </p:sp>
      <p:sp>
        <p:nvSpPr>
          <p:cNvPr id="3" name="Content Placeholder 2">
            <a:extLst>
              <a:ext uri="{FF2B5EF4-FFF2-40B4-BE49-F238E27FC236}">
                <a16:creationId xmlns:a16="http://schemas.microsoft.com/office/drawing/2014/main" id="{D3ECD4EB-8E99-6869-AF3D-5B2645ED1D66}"/>
              </a:ext>
            </a:extLst>
          </p:cNvPr>
          <p:cNvSpPr>
            <a:spLocks noGrp="1"/>
          </p:cNvSpPr>
          <p:nvPr>
            <p:ph idx="1"/>
          </p:nvPr>
        </p:nvSpPr>
        <p:spPr>
          <a:xfrm>
            <a:off x="1298449" y="1981201"/>
            <a:ext cx="9585978" cy="3962400"/>
          </a:xfrm>
        </p:spPr>
        <p:txBody>
          <a:bodyPr anchor="ctr">
            <a:normAutofit/>
          </a:bodyPr>
          <a:lstStyle/>
          <a:p>
            <a:pPr algn="just">
              <a:lnSpc>
                <a:spcPct val="200000"/>
              </a:lnSpc>
            </a:pPr>
            <a:r>
              <a:rPr lang="en-US" dirty="0"/>
              <a:t>An almost complete binary tree is a binary tree with some restriction in which all the levels are filled except possibly the last level, and the last level has all keys as far left as possible.</a:t>
            </a:r>
            <a:endParaRPr lang="en-PK" dirty="0"/>
          </a:p>
        </p:txBody>
      </p:sp>
    </p:spTree>
    <p:extLst>
      <p:ext uri="{BB962C8B-B14F-4D97-AF65-F5344CB8AC3E}">
        <p14:creationId xmlns:p14="http://schemas.microsoft.com/office/powerpoint/2010/main" val="762574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a:extLst>
            <a:ext uri="{FF2B5EF4-FFF2-40B4-BE49-F238E27FC236}">
              <a16:creationId xmlns:a16="http://schemas.microsoft.com/office/drawing/2014/main" id="{8DB72192-3590-6126-FD02-409C7BB691A9}"/>
            </a:ext>
          </a:extLst>
        </p:cNvPr>
        <p:cNvGrpSpPr/>
        <p:nvPr/>
      </p:nvGrpSpPr>
      <p:grpSpPr>
        <a:xfrm>
          <a:off x="0" y="0"/>
          <a:ext cx="0" cy="0"/>
          <a:chOff x="0" y="0"/>
          <a:chExt cx="0" cy="0"/>
        </a:xfrm>
      </p:grpSpPr>
      <p:sp useBgFill="1">
        <p:nvSpPr>
          <p:cNvPr id="125" name="Rectangle 124">
            <a:extLst>
              <a:ext uri="{FF2B5EF4-FFF2-40B4-BE49-F238E27FC236}">
                <a16:creationId xmlns:a16="http://schemas.microsoft.com/office/drawing/2014/main" id="{A105B653-39FF-9056-FFD1-C56C16BE71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6" name="Group 125">
            <a:extLst>
              <a:ext uri="{FF2B5EF4-FFF2-40B4-BE49-F238E27FC236}">
                <a16:creationId xmlns:a16="http://schemas.microsoft.com/office/drawing/2014/main" id="{A21E565A-EA37-236B-F93A-5D6A08FD4A0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72533" y="0"/>
            <a:ext cx="598488" cy="1981201"/>
            <a:chOff x="194733" y="0"/>
            <a:chExt cx="598488" cy="1981201"/>
          </a:xfrm>
        </p:grpSpPr>
        <p:sp>
          <p:nvSpPr>
            <p:cNvPr id="127" name="Freeform 35">
              <a:extLst>
                <a:ext uri="{FF2B5EF4-FFF2-40B4-BE49-F238E27FC236}">
                  <a16:creationId xmlns:a16="http://schemas.microsoft.com/office/drawing/2014/main" id="{0D7B37C0-0655-489C-13AF-892B675646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85221" y="0"/>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PK"/>
            </a:p>
          </p:txBody>
        </p:sp>
        <p:sp>
          <p:nvSpPr>
            <p:cNvPr id="128" name="Freeform 36">
              <a:extLst>
                <a:ext uri="{FF2B5EF4-FFF2-40B4-BE49-F238E27FC236}">
                  <a16:creationId xmlns:a16="http://schemas.microsoft.com/office/drawing/2014/main" id="{6F276102-6D4A-6D5C-E73A-077403B4848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526521" y="1141413"/>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PK"/>
            </a:p>
          </p:txBody>
        </p:sp>
        <p:sp>
          <p:nvSpPr>
            <p:cNvPr id="129" name="Freeform 38">
              <a:extLst>
                <a:ext uri="{FF2B5EF4-FFF2-40B4-BE49-F238E27FC236}">
                  <a16:creationId xmlns:a16="http://schemas.microsoft.com/office/drawing/2014/main" id="{17AE81B5-DA7D-9BBC-0921-B523A254972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9996" y="1792288"/>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30" name="Freeform 39">
              <a:extLst>
                <a:ext uri="{FF2B5EF4-FFF2-40B4-BE49-F238E27FC236}">
                  <a16:creationId xmlns:a16="http://schemas.microsoft.com/office/drawing/2014/main" id="{1BC459F0-920B-1289-7869-67F1B2C89E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194733" y="0"/>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PK"/>
            </a:p>
          </p:txBody>
        </p:sp>
        <p:sp>
          <p:nvSpPr>
            <p:cNvPr id="131" name="Freeform 40">
              <a:extLst>
                <a:ext uri="{FF2B5EF4-FFF2-40B4-BE49-F238E27FC236}">
                  <a16:creationId xmlns:a16="http://schemas.microsoft.com/office/drawing/2014/main" id="{728BB5C2-6FF4-09EB-F066-37D30547236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602721" y="24288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32" name="Rectangle 41">
              <a:extLst>
                <a:ext uri="{FF2B5EF4-FFF2-40B4-BE49-F238E27FC236}">
                  <a16:creationId xmlns:a16="http://schemas.microsoft.com/office/drawing/2014/main" id="{F92A7E03-CCEA-EA0F-341C-B490E1F6845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flipV="1">
              <a:off x="693208" y="0"/>
              <a:ext cx="23813" cy="252413"/>
            </a:xfrm>
            <a:prstGeom prst="rect">
              <a:avLst/>
            </a:prstGeom>
            <a:solidFill>
              <a:schemeClr val="tx2">
                <a:alpha val="80000"/>
              </a:schemeClr>
            </a:solidFill>
            <a:ln>
              <a:noFill/>
            </a:ln>
          </p:spPr>
          <p:txBody>
            <a:bodyPr/>
            <a:lstStyle/>
            <a:p>
              <a:endParaRPr lang="en-PK"/>
            </a:p>
          </p:txBody>
        </p:sp>
      </p:grpSp>
      <p:grpSp>
        <p:nvGrpSpPr>
          <p:cNvPr id="133" name="Group 132">
            <a:extLst>
              <a:ext uri="{FF2B5EF4-FFF2-40B4-BE49-F238E27FC236}">
                <a16:creationId xmlns:a16="http://schemas.microsoft.com/office/drawing/2014/main" id="{5CB736D7-E32E-679F-E1E2-8C154503F7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085512" y="0"/>
            <a:ext cx="650875" cy="1730375"/>
            <a:chOff x="11347978" y="0"/>
            <a:chExt cx="650875" cy="1730375"/>
          </a:xfrm>
        </p:grpSpPr>
        <p:sp>
          <p:nvSpPr>
            <p:cNvPr id="134" name="Freeform 32">
              <a:extLst>
                <a:ext uri="{FF2B5EF4-FFF2-40B4-BE49-F238E27FC236}">
                  <a16:creationId xmlns:a16="http://schemas.microsoft.com/office/drawing/2014/main" id="{5BADE100-7191-4669-7840-750DD49AF1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67041"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PK"/>
            </a:p>
          </p:txBody>
        </p:sp>
        <p:sp>
          <p:nvSpPr>
            <p:cNvPr id="135" name="Freeform 33">
              <a:extLst>
                <a:ext uri="{FF2B5EF4-FFF2-40B4-BE49-F238E27FC236}">
                  <a16:creationId xmlns:a16="http://schemas.microsoft.com/office/drawing/2014/main" id="{B86B2C0B-7335-C991-7720-6C4FDBCD170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47978"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PK"/>
            </a:p>
          </p:txBody>
        </p:sp>
        <p:sp>
          <p:nvSpPr>
            <p:cNvPr id="136" name="Freeform 34">
              <a:extLst>
                <a:ext uri="{FF2B5EF4-FFF2-40B4-BE49-F238E27FC236}">
                  <a16:creationId xmlns:a16="http://schemas.microsoft.com/office/drawing/2014/main" id="{06C3602B-E28F-9CA3-112F-41FFB5996D6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4678"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37" name="Freeform 37">
              <a:extLst>
                <a:ext uri="{FF2B5EF4-FFF2-40B4-BE49-F238E27FC236}">
                  <a16:creationId xmlns:a16="http://schemas.microsoft.com/office/drawing/2014/main" id="{F359669A-2D52-F717-911A-603531F2D8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694053"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PK"/>
            </a:p>
          </p:txBody>
        </p:sp>
      </p:grpSp>
      <p:grpSp>
        <p:nvGrpSpPr>
          <p:cNvPr id="138" name="Group 137">
            <a:extLst>
              <a:ext uri="{FF2B5EF4-FFF2-40B4-BE49-F238E27FC236}">
                <a16:creationId xmlns:a16="http://schemas.microsoft.com/office/drawing/2014/main" id="{B04ED4CC-DFE9-793B-8512-448B26BACE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440267" y="5118101"/>
            <a:ext cx="650875" cy="1730375"/>
            <a:chOff x="118533" y="5118101"/>
            <a:chExt cx="650875" cy="1730375"/>
          </a:xfrm>
        </p:grpSpPr>
        <p:sp>
          <p:nvSpPr>
            <p:cNvPr id="139" name="Freeform 32">
              <a:extLst>
                <a:ext uri="{FF2B5EF4-FFF2-40B4-BE49-F238E27FC236}">
                  <a16:creationId xmlns:a16="http://schemas.microsoft.com/office/drawing/2014/main" id="{E78374B7-13DE-6CC5-7530-8C5B45D5CF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37596" y="6335713"/>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PK"/>
            </a:p>
          </p:txBody>
        </p:sp>
        <p:sp>
          <p:nvSpPr>
            <p:cNvPr id="140" name="Freeform 33">
              <a:extLst>
                <a:ext uri="{FF2B5EF4-FFF2-40B4-BE49-F238E27FC236}">
                  <a16:creationId xmlns:a16="http://schemas.microsoft.com/office/drawing/2014/main" id="{E024F35D-B11B-90DD-0188-04599D2FACC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118533" y="622141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PK"/>
            </a:p>
          </p:txBody>
        </p:sp>
        <p:sp>
          <p:nvSpPr>
            <p:cNvPr id="141" name="Freeform 34">
              <a:extLst>
                <a:ext uri="{FF2B5EF4-FFF2-40B4-BE49-F238E27FC236}">
                  <a16:creationId xmlns:a16="http://schemas.microsoft.com/office/drawing/2014/main" id="{5563D708-1DC3-946C-4848-30A90AAEBCB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5233" y="5118101"/>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42" name="Freeform 37">
              <a:extLst>
                <a:ext uri="{FF2B5EF4-FFF2-40B4-BE49-F238E27FC236}">
                  <a16:creationId xmlns:a16="http://schemas.microsoft.com/office/drawing/2014/main" id="{B6BCB15D-3080-15C2-0E72-19EA2096BE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464608" y="5299075"/>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PK"/>
            </a:p>
          </p:txBody>
        </p:sp>
      </p:grpSp>
      <p:grpSp>
        <p:nvGrpSpPr>
          <p:cNvPr id="143" name="Group 142">
            <a:extLst>
              <a:ext uri="{FF2B5EF4-FFF2-40B4-BE49-F238E27FC236}">
                <a16:creationId xmlns:a16="http://schemas.microsoft.com/office/drawing/2014/main" id="{B58DA96C-7196-68C9-A893-F3ED01D65B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1229445" y="4867275"/>
            <a:ext cx="598488" cy="1981201"/>
            <a:chOff x="11424178" y="4867275"/>
            <a:chExt cx="598488" cy="1981201"/>
          </a:xfrm>
        </p:grpSpPr>
        <p:sp>
          <p:nvSpPr>
            <p:cNvPr id="144" name="Freeform 35">
              <a:extLst>
                <a:ext uri="{FF2B5EF4-FFF2-40B4-BE49-F238E27FC236}">
                  <a16:creationId xmlns:a16="http://schemas.microsoft.com/office/drawing/2014/main" id="{6B4F881F-1209-607E-EE4F-5E8860B8DF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14666"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PK"/>
            </a:p>
          </p:txBody>
        </p:sp>
        <p:sp>
          <p:nvSpPr>
            <p:cNvPr id="145" name="Freeform 36">
              <a:extLst>
                <a:ext uri="{FF2B5EF4-FFF2-40B4-BE49-F238E27FC236}">
                  <a16:creationId xmlns:a16="http://schemas.microsoft.com/office/drawing/2014/main" id="{CA45B689-90AB-0274-93C5-8900504F296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55966"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PK"/>
            </a:p>
          </p:txBody>
        </p:sp>
        <p:sp>
          <p:nvSpPr>
            <p:cNvPr id="146" name="Freeform 38">
              <a:extLst>
                <a:ext uri="{FF2B5EF4-FFF2-40B4-BE49-F238E27FC236}">
                  <a16:creationId xmlns:a16="http://schemas.microsoft.com/office/drawing/2014/main" id="{7705C743-5E67-F3D7-4282-51AD5D864BA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9441"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47" name="Freeform 39">
              <a:extLst>
                <a:ext uri="{FF2B5EF4-FFF2-40B4-BE49-F238E27FC236}">
                  <a16:creationId xmlns:a16="http://schemas.microsoft.com/office/drawing/2014/main" id="{D853E451-129D-F02A-E7FD-0C5531B596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24178"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PK"/>
            </a:p>
          </p:txBody>
        </p:sp>
        <p:sp>
          <p:nvSpPr>
            <p:cNvPr id="148" name="Freeform 40">
              <a:extLst>
                <a:ext uri="{FF2B5EF4-FFF2-40B4-BE49-F238E27FC236}">
                  <a16:creationId xmlns:a16="http://schemas.microsoft.com/office/drawing/2014/main" id="{0A1C437B-7DBE-CD85-1778-7C570AEB875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32166"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49" name="Rectangle 41">
              <a:extLst>
                <a:ext uri="{FF2B5EF4-FFF2-40B4-BE49-F238E27FC236}">
                  <a16:creationId xmlns:a16="http://schemas.microsoft.com/office/drawing/2014/main" id="{48C72B46-99C2-39E2-1F3A-F2F6D656B18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22653" y="6596063"/>
              <a:ext cx="23813" cy="252413"/>
            </a:xfrm>
            <a:prstGeom prst="rect">
              <a:avLst/>
            </a:prstGeom>
            <a:solidFill>
              <a:schemeClr val="tx2">
                <a:alpha val="80000"/>
              </a:schemeClr>
            </a:solidFill>
            <a:ln>
              <a:noFill/>
            </a:ln>
          </p:spPr>
          <p:txBody>
            <a:bodyPr/>
            <a:lstStyle/>
            <a:p>
              <a:endParaRPr lang="en-PK"/>
            </a:p>
          </p:txBody>
        </p:sp>
      </p:grpSp>
      <p:sp>
        <p:nvSpPr>
          <p:cNvPr id="110" name="Rectangle 109">
            <a:extLst>
              <a:ext uri="{FF2B5EF4-FFF2-40B4-BE49-F238E27FC236}">
                <a16:creationId xmlns:a16="http://schemas.microsoft.com/office/drawing/2014/main" id="{6F6A0263-BE16-9217-FD30-4248AC22DE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2" name="Round Diagonal Corner Rectangle 7">
            <a:extLst>
              <a:ext uri="{FF2B5EF4-FFF2-40B4-BE49-F238E27FC236}">
                <a16:creationId xmlns:a16="http://schemas.microsoft.com/office/drawing/2014/main" id="{92C14DEF-78B3-FE33-1DF4-80F46932F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2867" y="766234"/>
            <a:ext cx="10346266" cy="5325532"/>
          </a:xfrm>
          <a:prstGeom prst="round2DiagRect">
            <a:avLst>
              <a:gd name="adj1" fmla="val 4147"/>
              <a:gd name="adj2" fmla="val 0"/>
            </a:avLst>
          </a:prstGeom>
          <a:solidFill>
            <a:schemeClr val="bg2">
              <a:lumMod val="50000"/>
              <a:alpha val="80000"/>
            </a:schemeClr>
          </a:solidFill>
          <a:ln w="19050" cap="sq">
            <a:solidFill>
              <a:srgbClr val="FFFFFF">
                <a:alpha val="60000"/>
              </a:srgbClr>
            </a:solidFill>
            <a:miter lim="800000"/>
          </a:ln>
          <a:effectLst>
            <a:outerShdw blurRad="889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7D4AE24-C613-77EC-450A-468935C19F86}"/>
              </a:ext>
            </a:extLst>
          </p:cNvPr>
          <p:cNvSpPr>
            <a:spLocks noGrp="1"/>
          </p:cNvSpPr>
          <p:nvPr>
            <p:ph type="title"/>
          </p:nvPr>
        </p:nvSpPr>
        <p:spPr>
          <a:xfrm>
            <a:off x="1577445" y="1168078"/>
            <a:ext cx="9048219" cy="1092200"/>
          </a:xfrm>
        </p:spPr>
        <p:txBody>
          <a:bodyPr anchor="ctr">
            <a:normAutofit/>
          </a:bodyPr>
          <a:lstStyle/>
          <a:p>
            <a:pPr algn="ctr"/>
            <a:r>
              <a:rPr lang="en-US" b="1" u="sng" dirty="0"/>
              <a:t>heap</a:t>
            </a:r>
            <a:endParaRPr lang="en-PK" dirty="0">
              <a:solidFill>
                <a:srgbClr val="FFFFFF"/>
              </a:solidFill>
            </a:endParaRPr>
          </a:p>
        </p:txBody>
      </p:sp>
      <p:sp>
        <p:nvSpPr>
          <p:cNvPr id="3" name="Content Placeholder 2">
            <a:extLst>
              <a:ext uri="{FF2B5EF4-FFF2-40B4-BE49-F238E27FC236}">
                <a16:creationId xmlns:a16="http://schemas.microsoft.com/office/drawing/2014/main" id="{27C66F3E-AF99-229E-B84F-F693C7FDF447}"/>
              </a:ext>
            </a:extLst>
          </p:cNvPr>
          <p:cNvSpPr>
            <a:spLocks noGrp="1"/>
          </p:cNvSpPr>
          <p:nvPr>
            <p:ph idx="1"/>
          </p:nvPr>
        </p:nvSpPr>
        <p:spPr>
          <a:xfrm>
            <a:off x="1298449" y="2260277"/>
            <a:ext cx="9585978" cy="3683323"/>
          </a:xfrm>
        </p:spPr>
        <p:txBody>
          <a:bodyPr anchor="ctr">
            <a:normAutofit fontScale="92500" lnSpcReduction="20000"/>
          </a:bodyPr>
          <a:lstStyle/>
          <a:p>
            <a:pPr algn="just"/>
            <a:r>
              <a:rPr lang="en-US" sz="2000" b="1" dirty="0"/>
              <a:t>Heap: </a:t>
            </a:r>
            <a:r>
              <a:rPr lang="en-US" sz="2000" dirty="0"/>
              <a:t>A Heap is a special Tree-based data structure in which the tree is a complete binary tree. Heaps are of two types, i.e., Max-Heap and Min-Heap.</a:t>
            </a:r>
          </a:p>
          <a:p>
            <a:pPr algn="just"/>
            <a:endParaRPr lang="en-PK" sz="2000" dirty="0"/>
          </a:p>
          <a:p>
            <a:pPr algn="just"/>
            <a:r>
              <a:rPr lang="en-US" sz="2000" b="1" dirty="0"/>
              <a:t>Max-Heap: </a:t>
            </a:r>
            <a:r>
              <a:rPr lang="en-US" sz="2000" dirty="0"/>
              <a:t>In a Max-Heap, the key present at the root node must be maximum among the keys present at all of its children. The same property must be recursively true for all sub-trees in that Binary Tree.</a:t>
            </a:r>
          </a:p>
          <a:p>
            <a:pPr algn="just"/>
            <a:endParaRPr lang="en-PK" sz="2000" dirty="0"/>
          </a:p>
          <a:p>
            <a:pPr algn="just"/>
            <a:r>
              <a:rPr lang="en-US" sz="2000" b="1" dirty="0"/>
              <a:t>Min-Heap: </a:t>
            </a:r>
            <a:r>
              <a:rPr lang="en-US" sz="2000" dirty="0"/>
              <a:t>In a Min-Heap, the key present at the root node must be minimum among the keys present at all of its children. The same property must be recursively true for all sub-trees in that Binary Tree.</a:t>
            </a:r>
            <a:endParaRPr lang="en-PK" sz="2000" dirty="0"/>
          </a:p>
        </p:txBody>
      </p:sp>
    </p:spTree>
    <p:extLst>
      <p:ext uri="{BB962C8B-B14F-4D97-AF65-F5344CB8AC3E}">
        <p14:creationId xmlns:p14="http://schemas.microsoft.com/office/powerpoint/2010/main" val="1131873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dissolv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dissolv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a:extLst>
            <a:ext uri="{FF2B5EF4-FFF2-40B4-BE49-F238E27FC236}">
              <a16:creationId xmlns:a16="http://schemas.microsoft.com/office/drawing/2014/main" id="{89E8B3CD-3366-F968-96C3-F29D1C198A52}"/>
            </a:ext>
          </a:extLst>
        </p:cNvPr>
        <p:cNvGrpSpPr/>
        <p:nvPr/>
      </p:nvGrpSpPr>
      <p:grpSpPr>
        <a:xfrm>
          <a:off x="0" y="0"/>
          <a:ext cx="0" cy="0"/>
          <a:chOff x="0" y="0"/>
          <a:chExt cx="0" cy="0"/>
        </a:xfrm>
      </p:grpSpPr>
      <p:sp useBgFill="1">
        <p:nvSpPr>
          <p:cNvPr id="125" name="Rectangle 124">
            <a:extLst>
              <a:ext uri="{FF2B5EF4-FFF2-40B4-BE49-F238E27FC236}">
                <a16:creationId xmlns:a16="http://schemas.microsoft.com/office/drawing/2014/main" id="{33BE9753-9B6B-A086-060E-6F7E463183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6" name="Group 125">
            <a:extLst>
              <a:ext uri="{FF2B5EF4-FFF2-40B4-BE49-F238E27FC236}">
                <a16:creationId xmlns:a16="http://schemas.microsoft.com/office/drawing/2014/main" id="{EF52DDBD-483A-EF4B-D59E-7A7CA52D61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72533" y="0"/>
            <a:ext cx="598488" cy="1981201"/>
            <a:chOff x="194733" y="0"/>
            <a:chExt cx="598488" cy="1981201"/>
          </a:xfrm>
        </p:grpSpPr>
        <p:sp>
          <p:nvSpPr>
            <p:cNvPr id="127" name="Freeform 35">
              <a:extLst>
                <a:ext uri="{FF2B5EF4-FFF2-40B4-BE49-F238E27FC236}">
                  <a16:creationId xmlns:a16="http://schemas.microsoft.com/office/drawing/2014/main" id="{AD16DDBD-B438-692B-8BD6-B1B465031D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85221" y="0"/>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PK"/>
            </a:p>
          </p:txBody>
        </p:sp>
        <p:sp>
          <p:nvSpPr>
            <p:cNvPr id="128" name="Freeform 36">
              <a:extLst>
                <a:ext uri="{FF2B5EF4-FFF2-40B4-BE49-F238E27FC236}">
                  <a16:creationId xmlns:a16="http://schemas.microsoft.com/office/drawing/2014/main" id="{78F764EB-A957-7539-FFF5-4465695B390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526521" y="1141413"/>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PK"/>
            </a:p>
          </p:txBody>
        </p:sp>
        <p:sp>
          <p:nvSpPr>
            <p:cNvPr id="129" name="Freeform 38">
              <a:extLst>
                <a:ext uri="{FF2B5EF4-FFF2-40B4-BE49-F238E27FC236}">
                  <a16:creationId xmlns:a16="http://schemas.microsoft.com/office/drawing/2014/main" id="{D4F856EB-5637-4290-D4C1-C4B1ABAECA1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9996" y="1792288"/>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30" name="Freeform 39">
              <a:extLst>
                <a:ext uri="{FF2B5EF4-FFF2-40B4-BE49-F238E27FC236}">
                  <a16:creationId xmlns:a16="http://schemas.microsoft.com/office/drawing/2014/main" id="{AB748C92-1752-6BAD-4181-A32E840B9E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194733" y="0"/>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PK"/>
            </a:p>
          </p:txBody>
        </p:sp>
        <p:sp>
          <p:nvSpPr>
            <p:cNvPr id="131" name="Freeform 40">
              <a:extLst>
                <a:ext uri="{FF2B5EF4-FFF2-40B4-BE49-F238E27FC236}">
                  <a16:creationId xmlns:a16="http://schemas.microsoft.com/office/drawing/2014/main" id="{0D249E57-3BBD-1BE2-2313-1438897046B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602721" y="24288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32" name="Rectangle 41">
              <a:extLst>
                <a:ext uri="{FF2B5EF4-FFF2-40B4-BE49-F238E27FC236}">
                  <a16:creationId xmlns:a16="http://schemas.microsoft.com/office/drawing/2014/main" id="{8693F422-3A75-41C8-F5F3-FC384F6EBE7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flipV="1">
              <a:off x="693208" y="0"/>
              <a:ext cx="23813" cy="252413"/>
            </a:xfrm>
            <a:prstGeom prst="rect">
              <a:avLst/>
            </a:prstGeom>
            <a:solidFill>
              <a:schemeClr val="tx2">
                <a:alpha val="80000"/>
              </a:schemeClr>
            </a:solidFill>
            <a:ln>
              <a:noFill/>
            </a:ln>
          </p:spPr>
          <p:txBody>
            <a:bodyPr/>
            <a:lstStyle/>
            <a:p>
              <a:endParaRPr lang="en-PK"/>
            </a:p>
          </p:txBody>
        </p:sp>
      </p:grpSp>
      <p:grpSp>
        <p:nvGrpSpPr>
          <p:cNvPr id="133" name="Group 132">
            <a:extLst>
              <a:ext uri="{FF2B5EF4-FFF2-40B4-BE49-F238E27FC236}">
                <a16:creationId xmlns:a16="http://schemas.microsoft.com/office/drawing/2014/main" id="{07E63C3B-1758-FDF6-E5F8-B22AF86B58C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085512" y="0"/>
            <a:ext cx="650875" cy="1730375"/>
            <a:chOff x="11347978" y="0"/>
            <a:chExt cx="650875" cy="1730375"/>
          </a:xfrm>
        </p:grpSpPr>
        <p:sp>
          <p:nvSpPr>
            <p:cNvPr id="134" name="Freeform 32">
              <a:extLst>
                <a:ext uri="{FF2B5EF4-FFF2-40B4-BE49-F238E27FC236}">
                  <a16:creationId xmlns:a16="http://schemas.microsoft.com/office/drawing/2014/main" id="{8AD6D7AF-8DD6-CF95-1467-1298ED7AB6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67041"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PK"/>
            </a:p>
          </p:txBody>
        </p:sp>
        <p:sp>
          <p:nvSpPr>
            <p:cNvPr id="135" name="Freeform 33">
              <a:extLst>
                <a:ext uri="{FF2B5EF4-FFF2-40B4-BE49-F238E27FC236}">
                  <a16:creationId xmlns:a16="http://schemas.microsoft.com/office/drawing/2014/main" id="{CA1296A8-D4F1-3E1B-850B-32581FBD381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47978"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PK"/>
            </a:p>
          </p:txBody>
        </p:sp>
        <p:sp>
          <p:nvSpPr>
            <p:cNvPr id="136" name="Freeform 34">
              <a:extLst>
                <a:ext uri="{FF2B5EF4-FFF2-40B4-BE49-F238E27FC236}">
                  <a16:creationId xmlns:a16="http://schemas.microsoft.com/office/drawing/2014/main" id="{EBB87A46-7B81-DCB5-D4A7-A90C1942030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4678"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37" name="Freeform 37">
              <a:extLst>
                <a:ext uri="{FF2B5EF4-FFF2-40B4-BE49-F238E27FC236}">
                  <a16:creationId xmlns:a16="http://schemas.microsoft.com/office/drawing/2014/main" id="{D2A1FEEC-B65A-7205-F3D8-614513E186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694053"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PK"/>
            </a:p>
          </p:txBody>
        </p:sp>
      </p:grpSp>
      <p:grpSp>
        <p:nvGrpSpPr>
          <p:cNvPr id="138" name="Group 137">
            <a:extLst>
              <a:ext uri="{FF2B5EF4-FFF2-40B4-BE49-F238E27FC236}">
                <a16:creationId xmlns:a16="http://schemas.microsoft.com/office/drawing/2014/main" id="{02E9A9D1-711B-01DF-737F-624D3279149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440267" y="5118101"/>
            <a:ext cx="650875" cy="1730375"/>
            <a:chOff x="118533" y="5118101"/>
            <a:chExt cx="650875" cy="1730375"/>
          </a:xfrm>
        </p:grpSpPr>
        <p:sp>
          <p:nvSpPr>
            <p:cNvPr id="139" name="Freeform 32">
              <a:extLst>
                <a:ext uri="{FF2B5EF4-FFF2-40B4-BE49-F238E27FC236}">
                  <a16:creationId xmlns:a16="http://schemas.microsoft.com/office/drawing/2014/main" id="{57FE5167-0206-69D7-A2B4-C38D2239E0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37596" y="6335713"/>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PK"/>
            </a:p>
          </p:txBody>
        </p:sp>
        <p:sp>
          <p:nvSpPr>
            <p:cNvPr id="140" name="Freeform 33">
              <a:extLst>
                <a:ext uri="{FF2B5EF4-FFF2-40B4-BE49-F238E27FC236}">
                  <a16:creationId xmlns:a16="http://schemas.microsoft.com/office/drawing/2014/main" id="{4D8E2E6C-0E33-C914-3D42-BDB7439E881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118533" y="622141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PK"/>
            </a:p>
          </p:txBody>
        </p:sp>
        <p:sp>
          <p:nvSpPr>
            <p:cNvPr id="141" name="Freeform 34">
              <a:extLst>
                <a:ext uri="{FF2B5EF4-FFF2-40B4-BE49-F238E27FC236}">
                  <a16:creationId xmlns:a16="http://schemas.microsoft.com/office/drawing/2014/main" id="{87FA0907-0774-DCBB-F6BF-9CB95EE4BFA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5233" y="5118101"/>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42" name="Freeform 37">
              <a:extLst>
                <a:ext uri="{FF2B5EF4-FFF2-40B4-BE49-F238E27FC236}">
                  <a16:creationId xmlns:a16="http://schemas.microsoft.com/office/drawing/2014/main" id="{4D73254F-D85A-7881-0A07-601AE14DAB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464608" y="5299075"/>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PK"/>
            </a:p>
          </p:txBody>
        </p:sp>
      </p:grpSp>
      <p:grpSp>
        <p:nvGrpSpPr>
          <p:cNvPr id="143" name="Group 142">
            <a:extLst>
              <a:ext uri="{FF2B5EF4-FFF2-40B4-BE49-F238E27FC236}">
                <a16:creationId xmlns:a16="http://schemas.microsoft.com/office/drawing/2014/main" id="{F29B9313-57AA-EA6A-771A-77B2A43E1A8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1229445" y="4867275"/>
            <a:ext cx="598488" cy="1981201"/>
            <a:chOff x="11424178" y="4867275"/>
            <a:chExt cx="598488" cy="1981201"/>
          </a:xfrm>
        </p:grpSpPr>
        <p:sp>
          <p:nvSpPr>
            <p:cNvPr id="144" name="Freeform 35">
              <a:extLst>
                <a:ext uri="{FF2B5EF4-FFF2-40B4-BE49-F238E27FC236}">
                  <a16:creationId xmlns:a16="http://schemas.microsoft.com/office/drawing/2014/main" id="{C13E63EE-5C0C-77FA-D498-E056864234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14666"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PK"/>
            </a:p>
          </p:txBody>
        </p:sp>
        <p:sp>
          <p:nvSpPr>
            <p:cNvPr id="145" name="Freeform 36">
              <a:extLst>
                <a:ext uri="{FF2B5EF4-FFF2-40B4-BE49-F238E27FC236}">
                  <a16:creationId xmlns:a16="http://schemas.microsoft.com/office/drawing/2014/main" id="{A3AE398C-BE17-935F-FC22-5C1EC4E39BF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55966"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PK"/>
            </a:p>
          </p:txBody>
        </p:sp>
        <p:sp>
          <p:nvSpPr>
            <p:cNvPr id="146" name="Freeform 38">
              <a:extLst>
                <a:ext uri="{FF2B5EF4-FFF2-40B4-BE49-F238E27FC236}">
                  <a16:creationId xmlns:a16="http://schemas.microsoft.com/office/drawing/2014/main" id="{3F8299E6-9CE3-6A58-3A39-42F7791AA6D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9441"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47" name="Freeform 39">
              <a:extLst>
                <a:ext uri="{FF2B5EF4-FFF2-40B4-BE49-F238E27FC236}">
                  <a16:creationId xmlns:a16="http://schemas.microsoft.com/office/drawing/2014/main" id="{D9134985-C62F-FC0F-1477-1EC8611964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24178"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PK"/>
            </a:p>
          </p:txBody>
        </p:sp>
        <p:sp>
          <p:nvSpPr>
            <p:cNvPr id="148" name="Freeform 40">
              <a:extLst>
                <a:ext uri="{FF2B5EF4-FFF2-40B4-BE49-F238E27FC236}">
                  <a16:creationId xmlns:a16="http://schemas.microsoft.com/office/drawing/2014/main" id="{B39EB8B6-6561-5CFD-3E3D-8A1A1AC2186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32166"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49" name="Rectangle 41">
              <a:extLst>
                <a:ext uri="{FF2B5EF4-FFF2-40B4-BE49-F238E27FC236}">
                  <a16:creationId xmlns:a16="http://schemas.microsoft.com/office/drawing/2014/main" id="{BB7FA625-D25A-909A-4302-D2C0D528501D}"/>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22653" y="6596063"/>
              <a:ext cx="23813" cy="252413"/>
            </a:xfrm>
            <a:prstGeom prst="rect">
              <a:avLst/>
            </a:prstGeom>
            <a:solidFill>
              <a:schemeClr val="tx2">
                <a:alpha val="80000"/>
              </a:schemeClr>
            </a:solidFill>
            <a:ln>
              <a:noFill/>
            </a:ln>
          </p:spPr>
          <p:txBody>
            <a:bodyPr/>
            <a:lstStyle/>
            <a:p>
              <a:endParaRPr lang="en-PK"/>
            </a:p>
          </p:txBody>
        </p:sp>
      </p:grpSp>
      <p:sp>
        <p:nvSpPr>
          <p:cNvPr id="110" name="Rectangle 109">
            <a:extLst>
              <a:ext uri="{FF2B5EF4-FFF2-40B4-BE49-F238E27FC236}">
                <a16:creationId xmlns:a16="http://schemas.microsoft.com/office/drawing/2014/main" id="{33999991-C368-0AD5-D06F-AA18960A85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2" name="Round Diagonal Corner Rectangle 7">
            <a:extLst>
              <a:ext uri="{FF2B5EF4-FFF2-40B4-BE49-F238E27FC236}">
                <a16:creationId xmlns:a16="http://schemas.microsoft.com/office/drawing/2014/main" id="{5CB72002-A555-C5E1-0A74-328F44068D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2867" y="766234"/>
            <a:ext cx="10346266" cy="5325532"/>
          </a:xfrm>
          <a:prstGeom prst="round2DiagRect">
            <a:avLst>
              <a:gd name="adj1" fmla="val 4147"/>
              <a:gd name="adj2" fmla="val 0"/>
            </a:avLst>
          </a:prstGeom>
          <a:solidFill>
            <a:schemeClr val="bg2">
              <a:lumMod val="50000"/>
              <a:alpha val="80000"/>
            </a:schemeClr>
          </a:solidFill>
          <a:ln w="19050" cap="sq">
            <a:solidFill>
              <a:srgbClr val="FFFFFF">
                <a:alpha val="60000"/>
              </a:srgbClr>
            </a:solidFill>
            <a:miter lim="800000"/>
          </a:ln>
          <a:effectLst>
            <a:outerShdw blurRad="889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6A72073-34CD-0BA2-5179-3CD387AAC1DD}"/>
              </a:ext>
            </a:extLst>
          </p:cNvPr>
          <p:cNvSpPr>
            <a:spLocks noGrp="1"/>
          </p:cNvSpPr>
          <p:nvPr>
            <p:ph type="title"/>
          </p:nvPr>
        </p:nvSpPr>
        <p:spPr>
          <a:xfrm>
            <a:off x="1577445" y="1168078"/>
            <a:ext cx="9048219" cy="1092200"/>
          </a:xfrm>
        </p:spPr>
        <p:txBody>
          <a:bodyPr anchor="ctr">
            <a:normAutofit/>
          </a:bodyPr>
          <a:lstStyle/>
          <a:p>
            <a:pPr algn="ctr"/>
            <a:r>
              <a:rPr lang="en-US" b="1" u="sng" dirty="0"/>
              <a:t>Height balancing tree</a:t>
            </a:r>
            <a:endParaRPr lang="en-PK" dirty="0">
              <a:solidFill>
                <a:srgbClr val="FFFFFF"/>
              </a:solidFill>
            </a:endParaRPr>
          </a:p>
        </p:txBody>
      </p:sp>
      <p:sp>
        <p:nvSpPr>
          <p:cNvPr id="3" name="Content Placeholder 2">
            <a:extLst>
              <a:ext uri="{FF2B5EF4-FFF2-40B4-BE49-F238E27FC236}">
                <a16:creationId xmlns:a16="http://schemas.microsoft.com/office/drawing/2014/main" id="{1800DC61-7B94-0D5B-BC2B-D38AF122B131}"/>
              </a:ext>
            </a:extLst>
          </p:cNvPr>
          <p:cNvSpPr>
            <a:spLocks noGrp="1"/>
          </p:cNvSpPr>
          <p:nvPr>
            <p:ph idx="1"/>
          </p:nvPr>
        </p:nvSpPr>
        <p:spPr>
          <a:xfrm>
            <a:off x="1298449" y="2260277"/>
            <a:ext cx="9585978" cy="3683323"/>
          </a:xfrm>
        </p:spPr>
        <p:txBody>
          <a:bodyPr anchor="ctr">
            <a:normAutofit fontScale="92500" lnSpcReduction="10000"/>
          </a:bodyPr>
          <a:lstStyle/>
          <a:p>
            <a:pPr algn="just"/>
            <a:r>
              <a:rPr lang="en-US" sz="2000" dirty="0"/>
              <a:t>Height-balancing tree means the difference of the height of the left subtree and the height of the right subtree of any node is not more than 1. </a:t>
            </a:r>
          </a:p>
          <a:p>
            <a:pPr algn="just"/>
            <a:endParaRPr lang="en-US" sz="2000" dirty="0"/>
          </a:p>
          <a:p>
            <a:pPr algn="just"/>
            <a:r>
              <a:rPr lang="en-US" sz="2000" dirty="0"/>
              <a:t>While inserting elements in a height-balancing tree for any node, if the height difference of the left and right subtrees exceeds 1, then appropriate action will immediately be taken to balance the height. </a:t>
            </a:r>
          </a:p>
          <a:p>
            <a:pPr algn="just"/>
            <a:endParaRPr lang="en-US" sz="2000" dirty="0"/>
          </a:p>
          <a:p>
            <a:pPr algn="just"/>
            <a:r>
              <a:rPr lang="en-US" sz="2000" dirty="0"/>
              <a:t>The advantage of height-balancing trees is that, in the worst case, also searching for an element will take 𝑂(𝑙𝑜𝑔𝑁) time. AVL tree and B-Tree an examples of height-balancing trees.</a:t>
            </a:r>
            <a:endParaRPr lang="en-PK" sz="2000" dirty="0"/>
          </a:p>
        </p:txBody>
      </p:sp>
    </p:spTree>
    <p:extLst>
      <p:ext uri="{BB962C8B-B14F-4D97-AF65-F5344CB8AC3E}">
        <p14:creationId xmlns:p14="http://schemas.microsoft.com/office/powerpoint/2010/main" val="2401834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dissolv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dissolv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a:extLst>
            <a:ext uri="{FF2B5EF4-FFF2-40B4-BE49-F238E27FC236}">
              <a16:creationId xmlns:a16="http://schemas.microsoft.com/office/drawing/2014/main" id="{680CC837-7341-4B2A-F3F0-66322B78381E}"/>
            </a:ext>
          </a:extLst>
        </p:cNvPr>
        <p:cNvGrpSpPr/>
        <p:nvPr/>
      </p:nvGrpSpPr>
      <p:grpSpPr>
        <a:xfrm>
          <a:off x="0" y="0"/>
          <a:ext cx="0" cy="0"/>
          <a:chOff x="0" y="0"/>
          <a:chExt cx="0" cy="0"/>
        </a:xfrm>
      </p:grpSpPr>
      <p:sp useBgFill="1">
        <p:nvSpPr>
          <p:cNvPr id="125" name="Rectangle 124">
            <a:extLst>
              <a:ext uri="{FF2B5EF4-FFF2-40B4-BE49-F238E27FC236}">
                <a16:creationId xmlns:a16="http://schemas.microsoft.com/office/drawing/2014/main" id="{DD06CE34-0088-6522-BAD3-4F302995CE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6" name="Group 125">
            <a:extLst>
              <a:ext uri="{FF2B5EF4-FFF2-40B4-BE49-F238E27FC236}">
                <a16:creationId xmlns:a16="http://schemas.microsoft.com/office/drawing/2014/main" id="{250BEC70-41DF-DCBC-6973-5F0DCD85D66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72533" y="0"/>
            <a:ext cx="598488" cy="1981201"/>
            <a:chOff x="194733" y="0"/>
            <a:chExt cx="598488" cy="1981201"/>
          </a:xfrm>
        </p:grpSpPr>
        <p:sp>
          <p:nvSpPr>
            <p:cNvPr id="127" name="Freeform 35">
              <a:extLst>
                <a:ext uri="{FF2B5EF4-FFF2-40B4-BE49-F238E27FC236}">
                  <a16:creationId xmlns:a16="http://schemas.microsoft.com/office/drawing/2014/main" id="{7314197E-7825-BD11-82CE-D92A3F8D6A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85221" y="0"/>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PK"/>
            </a:p>
          </p:txBody>
        </p:sp>
        <p:sp>
          <p:nvSpPr>
            <p:cNvPr id="128" name="Freeform 36">
              <a:extLst>
                <a:ext uri="{FF2B5EF4-FFF2-40B4-BE49-F238E27FC236}">
                  <a16:creationId xmlns:a16="http://schemas.microsoft.com/office/drawing/2014/main" id="{4A215193-D251-7F61-F74F-3E12F4B9070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526521" y="1141413"/>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PK"/>
            </a:p>
          </p:txBody>
        </p:sp>
        <p:sp>
          <p:nvSpPr>
            <p:cNvPr id="129" name="Freeform 38">
              <a:extLst>
                <a:ext uri="{FF2B5EF4-FFF2-40B4-BE49-F238E27FC236}">
                  <a16:creationId xmlns:a16="http://schemas.microsoft.com/office/drawing/2014/main" id="{5A6D33D1-1A2A-18A5-B9BC-F1365AAA133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9996" y="1792288"/>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30" name="Freeform 39">
              <a:extLst>
                <a:ext uri="{FF2B5EF4-FFF2-40B4-BE49-F238E27FC236}">
                  <a16:creationId xmlns:a16="http://schemas.microsoft.com/office/drawing/2014/main" id="{05385C90-74E7-37E0-F608-46BA5CBECA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194733" y="0"/>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PK"/>
            </a:p>
          </p:txBody>
        </p:sp>
        <p:sp>
          <p:nvSpPr>
            <p:cNvPr id="131" name="Freeform 40">
              <a:extLst>
                <a:ext uri="{FF2B5EF4-FFF2-40B4-BE49-F238E27FC236}">
                  <a16:creationId xmlns:a16="http://schemas.microsoft.com/office/drawing/2014/main" id="{4FD6CC10-33DA-5245-634D-900426ADF2A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602721" y="24288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32" name="Rectangle 41">
              <a:extLst>
                <a:ext uri="{FF2B5EF4-FFF2-40B4-BE49-F238E27FC236}">
                  <a16:creationId xmlns:a16="http://schemas.microsoft.com/office/drawing/2014/main" id="{F5F46118-19E7-F8ED-4442-46BD9AA154A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flipV="1">
              <a:off x="693208" y="0"/>
              <a:ext cx="23813" cy="252413"/>
            </a:xfrm>
            <a:prstGeom prst="rect">
              <a:avLst/>
            </a:prstGeom>
            <a:solidFill>
              <a:schemeClr val="tx2">
                <a:alpha val="80000"/>
              </a:schemeClr>
            </a:solidFill>
            <a:ln>
              <a:noFill/>
            </a:ln>
          </p:spPr>
          <p:txBody>
            <a:bodyPr/>
            <a:lstStyle/>
            <a:p>
              <a:endParaRPr lang="en-PK"/>
            </a:p>
          </p:txBody>
        </p:sp>
      </p:grpSp>
      <p:grpSp>
        <p:nvGrpSpPr>
          <p:cNvPr id="133" name="Group 132">
            <a:extLst>
              <a:ext uri="{FF2B5EF4-FFF2-40B4-BE49-F238E27FC236}">
                <a16:creationId xmlns:a16="http://schemas.microsoft.com/office/drawing/2014/main" id="{107FD97E-FA03-69DE-0015-3DBEC097CD0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085512" y="0"/>
            <a:ext cx="650875" cy="1730375"/>
            <a:chOff x="11347978" y="0"/>
            <a:chExt cx="650875" cy="1730375"/>
          </a:xfrm>
        </p:grpSpPr>
        <p:sp>
          <p:nvSpPr>
            <p:cNvPr id="134" name="Freeform 32">
              <a:extLst>
                <a:ext uri="{FF2B5EF4-FFF2-40B4-BE49-F238E27FC236}">
                  <a16:creationId xmlns:a16="http://schemas.microsoft.com/office/drawing/2014/main" id="{5507E7FF-1897-359E-B42C-9E1ED7FDC1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67041"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PK"/>
            </a:p>
          </p:txBody>
        </p:sp>
        <p:sp>
          <p:nvSpPr>
            <p:cNvPr id="135" name="Freeform 33">
              <a:extLst>
                <a:ext uri="{FF2B5EF4-FFF2-40B4-BE49-F238E27FC236}">
                  <a16:creationId xmlns:a16="http://schemas.microsoft.com/office/drawing/2014/main" id="{2F9BBED5-9E69-2896-632B-F262C83BD11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47978"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PK"/>
            </a:p>
          </p:txBody>
        </p:sp>
        <p:sp>
          <p:nvSpPr>
            <p:cNvPr id="136" name="Freeform 34">
              <a:extLst>
                <a:ext uri="{FF2B5EF4-FFF2-40B4-BE49-F238E27FC236}">
                  <a16:creationId xmlns:a16="http://schemas.microsoft.com/office/drawing/2014/main" id="{38F8A112-4F45-EFB3-B0D1-B51E70BF12E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4678"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37" name="Freeform 37">
              <a:extLst>
                <a:ext uri="{FF2B5EF4-FFF2-40B4-BE49-F238E27FC236}">
                  <a16:creationId xmlns:a16="http://schemas.microsoft.com/office/drawing/2014/main" id="{30168C2A-0DD0-D82C-F3AD-819EA8A5D3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694053"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PK"/>
            </a:p>
          </p:txBody>
        </p:sp>
      </p:grpSp>
      <p:grpSp>
        <p:nvGrpSpPr>
          <p:cNvPr id="138" name="Group 137">
            <a:extLst>
              <a:ext uri="{FF2B5EF4-FFF2-40B4-BE49-F238E27FC236}">
                <a16:creationId xmlns:a16="http://schemas.microsoft.com/office/drawing/2014/main" id="{64F91956-F138-9045-9318-21B0D915C57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440267" y="5118101"/>
            <a:ext cx="650875" cy="1730375"/>
            <a:chOff x="118533" y="5118101"/>
            <a:chExt cx="650875" cy="1730375"/>
          </a:xfrm>
        </p:grpSpPr>
        <p:sp>
          <p:nvSpPr>
            <p:cNvPr id="139" name="Freeform 32">
              <a:extLst>
                <a:ext uri="{FF2B5EF4-FFF2-40B4-BE49-F238E27FC236}">
                  <a16:creationId xmlns:a16="http://schemas.microsoft.com/office/drawing/2014/main" id="{28285633-A786-B1F2-A95B-3477626235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37596" y="6335713"/>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PK"/>
            </a:p>
          </p:txBody>
        </p:sp>
        <p:sp>
          <p:nvSpPr>
            <p:cNvPr id="140" name="Freeform 33">
              <a:extLst>
                <a:ext uri="{FF2B5EF4-FFF2-40B4-BE49-F238E27FC236}">
                  <a16:creationId xmlns:a16="http://schemas.microsoft.com/office/drawing/2014/main" id="{C1FF5946-C344-98A8-FF38-0E897C9AAB9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118533" y="622141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PK"/>
            </a:p>
          </p:txBody>
        </p:sp>
        <p:sp>
          <p:nvSpPr>
            <p:cNvPr id="141" name="Freeform 34">
              <a:extLst>
                <a:ext uri="{FF2B5EF4-FFF2-40B4-BE49-F238E27FC236}">
                  <a16:creationId xmlns:a16="http://schemas.microsoft.com/office/drawing/2014/main" id="{F1FA53B2-9C75-2228-2BAB-6397014D092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5233" y="5118101"/>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42" name="Freeform 37">
              <a:extLst>
                <a:ext uri="{FF2B5EF4-FFF2-40B4-BE49-F238E27FC236}">
                  <a16:creationId xmlns:a16="http://schemas.microsoft.com/office/drawing/2014/main" id="{66CA664C-205D-DA6A-9082-626742856E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464608" y="5299075"/>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PK"/>
            </a:p>
          </p:txBody>
        </p:sp>
      </p:grpSp>
      <p:grpSp>
        <p:nvGrpSpPr>
          <p:cNvPr id="143" name="Group 142">
            <a:extLst>
              <a:ext uri="{FF2B5EF4-FFF2-40B4-BE49-F238E27FC236}">
                <a16:creationId xmlns:a16="http://schemas.microsoft.com/office/drawing/2014/main" id="{9C99202D-53FB-1DC7-D617-FF4C85609F3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1229445" y="4867275"/>
            <a:ext cx="598488" cy="1981201"/>
            <a:chOff x="11424178" y="4867275"/>
            <a:chExt cx="598488" cy="1981201"/>
          </a:xfrm>
        </p:grpSpPr>
        <p:sp>
          <p:nvSpPr>
            <p:cNvPr id="144" name="Freeform 35">
              <a:extLst>
                <a:ext uri="{FF2B5EF4-FFF2-40B4-BE49-F238E27FC236}">
                  <a16:creationId xmlns:a16="http://schemas.microsoft.com/office/drawing/2014/main" id="{DDF49A74-AEA6-A224-7416-43B5474D82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14666"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PK"/>
            </a:p>
          </p:txBody>
        </p:sp>
        <p:sp>
          <p:nvSpPr>
            <p:cNvPr id="145" name="Freeform 36">
              <a:extLst>
                <a:ext uri="{FF2B5EF4-FFF2-40B4-BE49-F238E27FC236}">
                  <a16:creationId xmlns:a16="http://schemas.microsoft.com/office/drawing/2014/main" id="{CCB33944-97C1-7956-3C5C-102FF26A544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55966"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PK"/>
            </a:p>
          </p:txBody>
        </p:sp>
        <p:sp>
          <p:nvSpPr>
            <p:cNvPr id="146" name="Freeform 38">
              <a:extLst>
                <a:ext uri="{FF2B5EF4-FFF2-40B4-BE49-F238E27FC236}">
                  <a16:creationId xmlns:a16="http://schemas.microsoft.com/office/drawing/2014/main" id="{AE90F728-69DF-62E7-2FD6-D43913472F2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9441"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47" name="Freeform 39">
              <a:extLst>
                <a:ext uri="{FF2B5EF4-FFF2-40B4-BE49-F238E27FC236}">
                  <a16:creationId xmlns:a16="http://schemas.microsoft.com/office/drawing/2014/main" id="{5BADF2D3-10E7-100E-4D2E-AD6BD8024E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24178"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PK"/>
            </a:p>
          </p:txBody>
        </p:sp>
        <p:sp>
          <p:nvSpPr>
            <p:cNvPr id="148" name="Freeform 40">
              <a:extLst>
                <a:ext uri="{FF2B5EF4-FFF2-40B4-BE49-F238E27FC236}">
                  <a16:creationId xmlns:a16="http://schemas.microsoft.com/office/drawing/2014/main" id="{B6054137-BD21-ACA4-58F0-089C6D9A0A0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32166"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49" name="Rectangle 41">
              <a:extLst>
                <a:ext uri="{FF2B5EF4-FFF2-40B4-BE49-F238E27FC236}">
                  <a16:creationId xmlns:a16="http://schemas.microsoft.com/office/drawing/2014/main" id="{DE4AB2CA-90D7-E847-2CA9-7812062C57E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22653" y="6596063"/>
              <a:ext cx="23813" cy="252413"/>
            </a:xfrm>
            <a:prstGeom prst="rect">
              <a:avLst/>
            </a:prstGeom>
            <a:solidFill>
              <a:schemeClr val="tx2">
                <a:alpha val="80000"/>
              </a:schemeClr>
            </a:solidFill>
            <a:ln>
              <a:noFill/>
            </a:ln>
          </p:spPr>
          <p:txBody>
            <a:bodyPr/>
            <a:lstStyle/>
            <a:p>
              <a:endParaRPr lang="en-PK"/>
            </a:p>
          </p:txBody>
        </p:sp>
      </p:grpSp>
      <p:sp>
        <p:nvSpPr>
          <p:cNvPr id="110" name="Rectangle 109">
            <a:extLst>
              <a:ext uri="{FF2B5EF4-FFF2-40B4-BE49-F238E27FC236}">
                <a16:creationId xmlns:a16="http://schemas.microsoft.com/office/drawing/2014/main" id="{2A17492A-0CD3-E5F4-2F88-EA5627ACA7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2" name="Round Diagonal Corner Rectangle 7">
            <a:extLst>
              <a:ext uri="{FF2B5EF4-FFF2-40B4-BE49-F238E27FC236}">
                <a16:creationId xmlns:a16="http://schemas.microsoft.com/office/drawing/2014/main" id="{71C8D780-7718-0AD1-2C56-32D0B0FE40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2867" y="766234"/>
            <a:ext cx="10346266" cy="5325532"/>
          </a:xfrm>
          <a:prstGeom prst="round2DiagRect">
            <a:avLst>
              <a:gd name="adj1" fmla="val 4147"/>
              <a:gd name="adj2" fmla="val 0"/>
            </a:avLst>
          </a:prstGeom>
          <a:solidFill>
            <a:schemeClr val="bg2">
              <a:lumMod val="50000"/>
              <a:alpha val="80000"/>
            </a:schemeClr>
          </a:solidFill>
          <a:ln w="19050" cap="sq">
            <a:solidFill>
              <a:srgbClr val="FFFFFF">
                <a:alpha val="60000"/>
              </a:srgbClr>
            </a:solidFill>
            <a:miter lim="800000"/>
          </a:ln>
          <a:effectLst>
            <a:outerShdw blurRad="889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B468871-CA58-0824-A8C5-FF142C5DBD06}"/>
              </a:ext>
            </a:extLst>
          </p:cNvPr>
          <p:cNvSpPr>
            <a:spLocks noGrp="1"/>
          </p:cNvSpPr>
          <p:nvPr>
            <p:ph type="title"/>
          </p:nvPr>
        </p:nvSpPr>
        <p:spPr>
          <a:xfrm>
            <a:off x="1577445" y="1168078"/>
            <a:ext cx="9048219" cy="1092200"/>
          </a:xfrm>
        </p:spPr>
        <p:txBody>
          <a:bodyPr anchor="ctr">
            <a:normAutofit/>
          </a:bodyPr>
          <a:lstStyle/>
          <a:p>
            <a:pPr algn="ctr"/>
            <a:r>
              <a:rPr lang="en-US" b="1" u="sng" dirty="0"/>
              <a:t>Height balancing tree</a:t>
            </a:r>
            <a:endParaRPr lang="en-PK" dirty="0">
              <a:solidFill>
                <a:srgbClr val="FFFFFF"/>
              </a:solidFill>
            </a:endParaRPr>
          </a:p>
        </p:txBody>
      </p:sp>
      <p:pic>
        <p:nvPicPr>
          <p:cNvPr id="6" name="Image 55">
            <a:extLst>
              <a:ext uri="{FF2B5EF4-FFF2-40B4-BE49-F238E27FC236}">
                <a16:creationId xmlns:a16="http://schemas.microsoft.com/office/drawing/2014/main" id="{6195489D-E8A9-D5AF-E8B4-56149624D9D7}"/>
              </a:ext>
            </a:extLst>
          </p:cNvPr>
          <p:cNvPicPr>
            <a:picLocks/>
          </p:cNvPicPr>
          <p:nvPr/>
        </p:nvPicPr>
        <p:blipFill>
          <a:blip r:embed="rId3" cstate="print"/>
          <a:stretch>
            <a:fillRect/>
          </a:stretch>
        </p:blipFill>
        <p:spPr>
          <a:xfrm>
            <a:off x="3624550" y="2594711"/>
            <a:ext cx="1995297" cy="2763710"/>
          </a:xfrm>
          <a:prstGeom prst="rect">
            <a:avLst/>
          </a:prstGeom>
        </p:spPr>
      </p:pic>
      <p:pic>
        <p:nvPicPr>
          <p:cNvPr id="7" name="Image 56">
            <a:extLst>
              <a:ext uri="{FF2B5EF4-FFF2-40B4-BE49-F238E27FC236}">
                <a16:creationId xmlns:a16="http://schemas.microsoft.com/office/drawing/2014/main" id="{C29846AA-AF6A-CDA9-3204-0523CA8B6AA0}"/>
              </a:ext>
            </a:extLst>
          </p:cNvPr>
          <p:cNvPicPr>
            <a:picLocks/>
          </p:cNvPicPr>
          <p:nvPr/>
        </p:nvPicPr>
        <p:blipFill>
          <a:blip r:embed="rId4" cstate="print"/>
          <a:stretch>
            <a:fillRect/>
          </a:stretch>
        </p:blipFill>
        <p:spPr>
          <a:xfrm>
            <a:off x="6572155" y="2594711"/>
            <a:ext cx="1993980" cy="2763710"/>
          </a:xfrm>
          <a:prstGeom prst="rect">
            <a:avLst/>
          </a:prstGeom>
        </p:spPr>
      </p:pic>
    </p:spTree>
    <p:extLst>
      <p:ext uri="{BB962C8B-B14F-4D97-AF65-F5344CB8AC3E}">
        <p14:creationId xmlns:p14="http://schemas.microsoft.com/office/powerpoint/2010/main" val="32892333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a:extLst>
            <a:ext uri="{FF2B5EF4-FFF2-40B4-BE49-F238E27FC236}">
              <a16:creationId xmlns:a16="http://schemas.microsoft.com/office/drawing/2014/main" id="{762E0EAC-D9A4-3943-D759-E510DE4EE56A}"/>
            </a:ext>
          </a:extLst>
        </p:cNvPr>
        <p:cNvGrpSpPr/>
        <p:nvPr/>
      </p:nvGrpSpPr>
      <p:grpSpPr>
        <a:xfrm>
          <a:off x="0" y="0"/>
          <a:ext cx="0" cy="0"/>
          <a:chOff x="0" y="0"/>
          <a:chExt cx="0" cy="0"/>
        </a:xfrm>
      </p:grpSpPr>
      <p:sp useBgFill="1">
        <p:nvSpPr>
          <p:cNvPr id="80" name="Rectangle 79">
            <a:extLst>
              <a:ext uri="{FF2B5EF4-FFF2-40B4-BE49-F238E27FC236}">
                <a16:creationId xmlns:a16="http://schemas.microsoft.com/office/drawing/2014/main" id="{4E63A8FC-8920-F54D-E6F8-60A2317547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2" name="Group 81">
            <a:extLst>
              <a:ext uri="{FF2B5EF4-FFF2-40B4-BE49-F238E27FC236}">
                <a16:creationId xmlns:a16="http://schemas.microsoft.com/office/drawing/2014/main" id="{1B0E008A-38EC-9D3F-D904-C92AAE1BB8A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72533" y="0"/>
            <a:ext cx="598488" cy="1981201"/>
            <a:chOff x="194733" y="0"/>
            <a:chExt cx="598488" cy="1981201"/>
          </a:xfrm>
        </p:grpSpPr>
        <p:sp>
          <p:nvSpPr>
            <p:cNvPr id="83" name="Freeform 35">
              <a:extLst>
                <a:ext uri="{FF2B5EF4-FFF2-40B4-BE49-F238E27FC236}">
                  <a16:creationId xmlns:a16="http://schemas.microsoft.com/office/drawing/2014/main" id="{C546FAB2-C185-2731-0CE9-BC5613A41D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85221" y="0"/>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PK"/>
            </a:p>
          </p:txBody>
        </p:sp>
        <p:sp>
          <p:nvSpPr>
            <p:cNvPr id="84" name="Freeform 36">
              <a:extLst>
                <a:ext uri="{FF2B5EF4-FFF2-40B4-BE49-F238E27FC236}">
                  <a16:creationId xmlns:a16="http://schemas.microsoft.com/office/drawing/2014/main" id="{A9518736-1CA3-2D50-BBB6-9AFF665C4C9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526521" y="1141413"/>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PK"/>
            </a:p>
          </p:txBody>
        </p:sp>
        <p:sp>
          <p:nvSpPr>
            <p:cNvPr id="85" name="Freeform 38">
              <a:extLst>
                <a:ext uri="{FF2B5EF4-FFF2-40B4-BE49-F238E27FC236}">
                  <a16:creationId xmlns:a16="http://schemas.microsoft.com/office/drawing/2014/main" id="{22BC30F3-4BF4-9F5A-8D6E-D9F3C61C707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9996" y="1792288"/>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86" name="Freeform 39">
              <a:extLst>
                <a:ext uri="{FF2B5EF4-FFF2-40B4-BE49-F238E27FC236}">
                  <a16:creationId xmlns:a16="http://schemas.microsoft.com/office/drawing/2014/main" id="{79BB2B59-F1DF-9E52-6CE3-34CE0EF680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194733" y="0"/>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PK"/>
            </a:p>
          </p:txBody>
        </p:sp>
        <p:sp>
          <p:nvSpPr>
            <p:cNvPr id="87" name="Freeform 40">
              <a:extLst>
                <a:ext uri="{FF2B5EF4-FFF2-40B4-BE49-F238E27FC236}">
                  <a16:creationId xmlns:a16="http://schemas.microsoft.com/office/drawing/2014/main" id="{8865C487-FBE9-E4C6-5225-5E8E728EC3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602721" y="24288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88" name="Rectangle 41">
              <a:extLst>
                <a:ext uri="{FF2B5EF4-FFF2-40B4-BE49-F238E27FC236}">
                  <a16:creationId xmlns:a16="http://schemas.microsoft.com/office/drawing/2014/main" id="{7816092B-F075-2A17-352D-1E714B9A769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flipV="1">
              <a:off x="693208" y="0"/>
              <a:ext cx="23813" cy="252413"/>
            </a:xfrm>
            <a:prstGeom prst="rect">
              <a:avLst/>
            </a:prstGeom>
            <a:solidFill>
              <a:schemeClr val="tx2">
                <a:alpha val="80000"/>
              </a:schemeClr>
            </a:solidFill>
            <a:ln>
              <a:noFill/>
            </a:ln>
          </p:spPr>
          <p:txBody>
            <a:bodyPr/>
            <a:lstStyle/>
            <a:p>
              <a:endParaRPr lang="en-PK"/>
            </a:p>
          </p:txBody>
        </p:sp>
      </p:grpSp>
      <p:grpSp>
        <p:nvGrpSpPr>
          <p:cNvPr id="90" name="Group 89">
            <a:extLst>
              <a:ext uri="{FF2B5EF4-FFF2-40B4-BE49-F238E27FC236}">
                <a16:creationId xmlns:a16="http://schemas.microsoft.com/office/drawing/2014/main" id="{3C6BD63F-EE17-3681-4C1C-5B13AFD12EA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085512" y="0"/>
            <a:ext cx="650875" cy="1730375"/>
            <a:chOff x="11347978" y="0"/>
            <a:chExt cx="650875" cy="1730375"/>
          </a:xfrm>
        </p:grpSpPr>
        <p:sp>
          <p:nvSpPr>
            <p:cNvPr id="91" name="Freeform 32">
              <a:extLst>
                <a:ext uri="{FF2B5EF4-FFF2-40B4-BE49-F238E27FC236}">
                  <a16:creationId xmlns:a16="http://schemas.microsoft.com/office/drawing/2014/main" id="{E0C32DEA-1B8B-F58E-7FDA-9A2EAFE7C1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67041"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PK"/>
            </a:p>
          </p:txBody>
        </p:sp>
        <p:sp>
          <p:nvSpPr>
            <p:cNvPr id="92" name="Freeform 33">
              <a:extLst>
                <a:ext uri="{FF2B5EF4-FFF2-40B4-BE49-F238E27FC236}">
                  <a16:creationId xmlns:a16="http://schemas.microsoft.com/office/drawing/2014/main" id="{4468D505-CA63-982E-6870-42C8E82C216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47978"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PK"/>
            </a:p>
          </p:txBody>
        </p:sp>
        <p:sp>
          <p:nvSpPr>
            <p:cNvPr id="93" name="Freeform 34">
              <a:extLst>
                <a:ext uri="{FF2B5EF4-FFF2-40B4-BE49-F238E27FC236}">
                  <a16:creationId xmlns:a16="http://schemas.microsoft.com/office/drawing/2014/main" id="{054D9C9C-262D-4D6E-D251-89FFD1A8764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4678"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94" name="Freeform 37">
              <a:extLst>
                <a:ext uri="{FF2B5EF4-FFF2-40B4-BE49-F238E27FC236}">
                  <a16:creationId xmlns:a16="http://schemas.microsoft.com/office/drawing/2014/main" id="{9DC7DE0F-71BC-49B8-4572-3A4150AA1C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694053"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PK"/>
            </a:p>
          </p:txBody>
        </p:sp>
      </p:grpSp>
      <p:grpSp>
        <p:nvGrpSpPr>
          <p:cNvPr id="96" name="Group 95">
            <a:extLst>
              <a:ext uri="{FF2B5EF4-FFF2-40B4-BE49-F238E27FC236}">
                <a16:creationId xmlns:a16="http://schemas.microsoft.com/office/drawing/2014/main" id="{CDAA6E03-8B9A-D44E-662C-2F0C090A88B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440267" y="5118101"/>
            <a:ext cx="650875" cy="1730375"/>
            <a:chOff x="118533" y="5118101"/>
            <a:chExt cx="650875" cy="1730375"/>
          </a:xfrm>
        </p:grpSpPr>
        <p:sp>
          <p:nvSpPr>
            <p:cNvPr id="97" name="Freeform 32">
              <a:extLst>
                <a:ext uri="{FF2B5EF4-FFF2-40B4-BE49-F238E27FC236}">
                  <a16:creationId xmlns:a16="http://schemas.microsoft.com/office/drawing/2014/main" id="{BD678F65-B6AC-FEE1-E639-F1F8D210EA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37596" y="6335713"/>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PK"/>
            </a:p>
          </p:txBody>
        </p:sp>
        <p:sp>
          <p:nvSpPr>
            <p:cNvPr id="98" name="Freeform 33">
              <a:extLst>
                <a:ext uri="{FF2B5EF4-FFF2-40B4-BE49-F238E27FC236}">
                  <a16:creationId xmlns:a16="http://schemas.microsoft.com/office/drawing/2014/main" id="{78830A76-063E-3281-58BD-571A0CC49A1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118533" y="622141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PK"/>
            </a:p>
          </p:txBody>
        </p:sp>
        <p:sp>
          <p:nvSpPr>
            <p:cNvPr id="99" name="Freeform 34">
              <a:extLst>
                <a:ext uri="{FF2B5EF4-FFF2-40B4-BE49-F238E27FC236}">
                  <a16:creationId xmlns:a16="http://schemas.microsoft.com/office/drawing/2014/main" id="{1409A92B-AD0D-ED4D-D57E-9E891369DA8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5233" y="5118101"/>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00" name="Freeform 37">
              <a:extLst>
                <a:ext uri="{FF2B5EF4-FFF2-40B4-BE49-F238E27FC236}">
                  <a16:creationId xmlns:a16="http://schemas.microsoft.com/office/drawing/2014/main" id="{D31EEE4F-7C3F-EA80-1191-86F8A205B8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464608" y="5299075"/>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PK"/>
            </a:p>
          </p:txBody>
        </p:sp>
      </p:grpSp>
      <p:grpSp>
        <p:nvGrpSpPr>
          <p:cNvPr id="102" name="Group 101">
            <a:extLst>
              <a:ext uri="{FF2B5EF4-FFF2-40B4-BE49-F238E27FC236}">
                <a16:creationId xmlns:a16="http://schemas.microsoft.com/office/drawing/2014/main" id="{4E8120ED-40D9-AA0A-4230-C7A711FCDB3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1229445" y="4867275"/>
            <a:ext cx="598488" cy="1981201"/>
            <a:chOff x="11424178" y="4867275"/>
            <a:chExt cx="598488" cy="1981201"/>
          </a:xfrm>
        </p:grpSpPr>
        <p:sp>
          <p:nvSpPr>
            <p:cNvPr id="103" name="Freeform 35">
              <a:extLst>
                <a:ext uri="{FF2B5EF4-FFF2-40B4-BE49-F238E27FC236}">
                  <a16:creationId xmlns:a16="http://schemas.microsoft.com/office/drawing/2014/main" id="{23F9A224-58DC-3ADA-FCFC-040A38200C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14666"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PK"/>
            </a:p>
          </p:txBody>
        </p:sp>
        <p:sp>
          <p:nvSpPr>
            <p:cNvPr id="104" name="Freeform 36">
              <a:extLst>
                <a:ext uri="{FF2B5EF4-FFF2-40B4-BE49-F238E27FC236}">
                  <a16:creationId xmlns:a16="http://schemas.microsoft.com/office/drawing/2014/main" id="{D843FC86-EF27-02E2-162B-E436A20C759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55966"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PK"/>
            </a:p>
          </p:txBody>
        </p:sp>
        <p:sp>
          <p:nvSpPr>
            <p:cNvPr id="105" name="Freeform 38">
              <a:extLst>
                <a:ext uri="{FF2B5EF4-FFF2-40B4-BE49-F238E27FC236}">
                  <a16:creationId xmlns:a16="http://schemas.microsoft.com/office/drawing/2014/main" id="{4AC2A121-3BF7-554B-9571-4B034B54ED5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9441"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06" name="Freeform 39">
              <a:extLst>
                <a:ext uri="{FF2B5EF4-FFF2-40B4-BE49-F238E27FC236}">
                  <a16:creationId xmlns:a16="http://schemas.microsoft.com/office/drawing/2014/main" id="{97798BA7-49EF-749C-E7AD-4832D3A91F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24178"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PK"/>
            </a:p>
          </p:txBody>
        </p:sp>
        <p:sp>
          <p:nvSpPr>
            <p:cNvPr id="107" name="Freeform 40">
              <a:extLst>
                <a:ext uri="{FF2B5EF4-FFF2-40B4-BE49-F238E27FC236}">
                  <a16:creationId xmlns:a16="http://schemas.microsoft.com/office/drawing/2014/main" id="{E02C15F8-C37E-31C8-6DF6-2AC1456306F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32166"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08" name="Rectangle 41">
              <a:extLst>
                <a:ext uri="{FF2B5EF4-FFF2-40B4-BE49-F238E27FC236}">
                  <a16:creationId xmlns:a16="http://schemas.microsoft.com/office/drawing/2014/main" id="{8C99BE8F-7A2E-828D-AA73-B15DB4E226B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22653" y="6596063"/>
              <a:ext cx="23813" cy="252413"/>
            </a:xfrm>
            <a:prstGeom prst="rect">
              <a:avLst/>
            </a:prstGeom>
            <a:solidFill>
              <a:schemeClr val="tx2">
                <a:alpha val="80000"/>
              </a:schemeClr>
            </a:solidFill>
            <a:ln>
              <a:noFill/>
            </a:ln>
          </p:spPr>
          <p:txBody>
            <a:bodyPr/>
            <a:lstStyle/>
            <a:p>
              <a:endParaRPr lang="en-PK"/>
            </a:p>
          </p:txBody>
        </p:sp>
      </p:grpSp>
      <p:sp>
        <p:nvSpPr>
          <p:cNvPr id="110" name="Rectangle 109">
            <a:extLst>
              <a:ext uri="{FF2B5EF4-FFF2-40B4-BE49-F238E27FC236}">
                <a16:creationId xmlns:a16="http://schemas.microsoft.com/office/drawing/2014/main" id="{9CAC2520-76EF-28E5-70DC-94591359CD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2" name="Round Diagonal Corner Rectangle 7">
            <a:extLst>
              <a:ext uri="{FF2B5EF4-FFF2-40B4-BE49-F238E27FC236}">
                <a16:creationId xmlns:a16="http://schemas.microsoft.com/office/drawing/2014/main" id="{7129F3BF-E019-DCC7-6267-FA26231A04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2867" y="766234"/>
            <a:ext cx="10346266" cy="5325532"/>
          </a:xfrm>
          <a:prstGeom prst="round2DiagRect">
            <a:avLst>
              <a:gd name="adj1" fmla="val 4147"/>
              <a:gd name="adj2" fmla="val 0"/>
            </a:avLst>
          </a:prstGeom>
          <a:solidFill>
            <a:schemeClr val="bg2">
              <a:lumMod val="50000"/>
              <a:alpha val="80000"/>
            </a:schemeClr>
          </a:solidFill>
          <a:ln w="19050" cap="sq">
            <a:solidFill>
              <a:srgbClr val="FFFFFF">
                <a:alpha val="60000"/>
              </a:srgbClr>
            </a:solidFill>
            <a:miter lim="800000"/>
          </a:ln>
          <a:effectLst>
            <a:outerShdw blurRad="889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53A3ACC-F136-F1EB-5974-424B8FB5E13E}"/>
              </a:ext>
            </a:extLst>
          </p:cNvPr>
          <p:cNvSpPr>
            <a:spLocks noGrp="1"/>
          </p:cNvSpPr>
          <p:nvPr>
            <p:ph type="title"/>
          </p:nvPr>
        </p:nvSpPr>
        <p:spPr>
          <a:xfrm>
            <a:off x="1577445" y="1168078"/>
            <a:ext cx="9048219" cy="1092200"/>
          </a:xfrm>
        </p:spPr>
        <p:txBody>
          <a:bodyPr anchor="ctr">
            <a:normAutofit/>
          </a:bodyPr>
          <a:lstStyle/>
          <a:p>
            <a:pPr algn="ctr"/>
            <a:r>
              <a:rPr lang="en-US" b="1" u="sng" dirty="0"/>
              <a:t>Lab-task</a:t>
            </a:r>
            <a:endParaRPr lang="en-PK" dirty="0">
              <a:solidFill>
                <a:srgbClr val="FFFFFF"/>
              </a:solidFill>
            </a:endParaRPr>
          </a:p>
        </p:txBody>
      </p:sp>
      <p:sp>
        <p:nvSpPr>
          <p:cNvPr id="6" name="Content Placeholder 2">
            <a:extLst>
              <a:ext uri="{FF2B5EF4-FFF2-40B4-BE49-F238E27FC236}">
                <a16:creationId xmlns:a16="http://schemas.microsoft.com/office/drawing/2014/main" id="{17DCC3AA-4404-5698-B199-B773E7A5B139}"/>
              </a:ext>
            </a:extLst>
          </p:cNvPr>
          <p:cNvSpPr>
            <a:spLocks noGrp="1"/>
          </p:cNvSpPr>
          <p:nvPr>
            <p:ph idx="1"/>
          </p:nvPr>
        </p:nvSpPr>
        <p:spPr>
          <a:xfrm>
            <a:off x="1507596" y="2260278"/>
            <a:ext cx="9048218" cy="3655890"/>
          </a:xfrm>
        </p:spPr>
        <p:txBody>
          <a:bodyPr anchor="ctr">
            <a:normAutofit/>
          </a:bodyPr>
          <a:lstStyle/>
          <a:p>
            <a:pPr lvl="0"/>
            <a:r>
              <a:rPr lang="en-US" dirty="0"/>
              <a:t>Creation of Max-Heap and Min-Heap.</a:t>
            </a:r>
            <a:endParaRPr lang="en-PK" dirty="0"/>
          </a:p>
          <a:p>
            <a:pPr lvl="0"/>
            <a:r>
              <a:rPr lang="en-US" dirty="0"/>
              <a:t>Insertion and deletion of elements in a heap.</a:t>
            </a:r>
            <a:endParaRPr lang="en-PK" dirty="0"/>
          </a:p>
          <a:p>
            <a:pPr lvl="0"/>
            <a:r>
              <a:rPr lang="en-US" dirty="0"/>
              <a:t>Problems on a binary search tree.</a:t>
            </a:r>
            <a:endParaRPr lang="en-PK" dirty="0"/>
          </a:p>
          <a:p>
            <a:pPr lvl="0"/>
            <a:r>
              <a:rPr lang="en-US" dirty="0"/>
              <a:t>Problems with B-Tree creation.</a:t>
            </a:r>
            <a:endParaRPr lang="en-PK" dirty="0"/>
          </a:p>
          <a:p>
            <a:pPr lvl="0"/>
            <a:r>
              <a:rPr lang="en-US" dirty="0"/>
              <a:t>Problems with adding elements in a B-Tree.</a:t>
            </a:r>
            <a:endParaRPr lang="en-PK" dirty="0"/>
          </a:p>
          <a:p>
            <a:pPr lvl="0"/>
            <a:r>
              <a:rPr lang="en-US" dirty="0"/>
              <a:t>Problems in removing elements from a B-Tree.</a:t>
            </a:r>
            <a:endParaRPr lang="en-PK" dirty="0"/>
          </a:p>
        </p:txBody>
      </p:sp>
    </p:spTree>
    <p:extLst>
      <p:ext uri="{BB962C8B-B14F-4D97-AF65-F5344CB8AC3E}">
        <p14:creationId xmlns:p14="http://schemas.microsoft.com/office/powerpoint/2010/main" val="5645534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Gre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142578CA-DEC9-49C3-80AF-C113973CC9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Circuit</Template>
  <TotalTime>1070</TotalTime>
  <Words>477</Words>
  <Application>Microsoft Macintosh PowerPoint</Application>
  <PresentationFormat>Widescreen</PresentationFormat>
  <Paragraphs>39</Paragraphs>
  <Slides>9</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Arial</vt:lpstr>
      <vt:lpstr>Tw Cen MT</vt:lpstr>
      <vt:lpstr>Circuit</vt:lpstr>
      <vt:lpstr>Algorithms and Data Structures  TEB1113/TFB2023 - may 2025</vt:lpstr>
      <vt:lpstr>LAB – 8  trees - ii</vt:lpstr>
      <vt:lpstr>Objectives for lab-8</vt:lpstr>
      <vt:lpstr>binary search tree</vt:lpstr>
      <vt:lpstr>Almost complete binary tree</vt:lpstr>
      <vt:lpstr>heap</vt:lpstr>
      <vt:lpstr>Height balancing tree</vt:lpstr>
      <vt:lpstr>Height balancing tree</vt:lpstr>
      <vt:lpstr>Lab-task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Khan Reeyan Afzal</dc:creator>
  <cp:lastModifiedBy>Khan Reeyan Afzal</cp:lastModifiedBy>
  <cp:revision>194</cp:revision>
  <dcterms:created xsi:type="dcterms:W3CDTF">2025-05-20T03:20:14Z</dcterms:created>
  <dcterms:modified xsi:type="dcterms:W3CDTF">2025-05-28T03:46:40Z</dcterms:modified>
</cp:coreProperties>
</file>