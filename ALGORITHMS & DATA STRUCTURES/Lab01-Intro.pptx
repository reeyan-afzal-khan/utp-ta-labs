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10287000" cx="18288000"/>
  <p:notesSz cx="6858000" cy="9144000"/>
  <p:embeddedFontLst>
    <p:embeddedFont>
      <p:font typeface="Quattrocento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iUp7vf9BahnwAQ1CID0bN1V9pI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AC81FF-4A43-4ED6-8212-DB8C5D9AB0DC}">
  <a:tblStyle styleId="{1FAC81FF-4A43-4ED6-8212-DB8C5D9AB0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QuattrocentoSans-bold.fntdata"/><Relationship Id="rId10" Type="http://schemas.openxmlformats.org/officeDocument/2006/relationships/slide" Target="slides/slide4.xml"/><Relationship Id="rId32" Type="http://schemas.openxmlformats.org/officeDocument/2006/relationships/font" Target="fonts/QuattrocentoSans-regular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boldItalic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MY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Outcomes Slide</a:t>
            </a:r>
            <a:endParaRPr sz="1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2–4 lecture-level learning outcomes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measurable action verbs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explicitly to Course Learning Outcomes (CLOs)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MY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Outcomes Slide</a:t>
            </a:r>
            <a:endParaRPr sz="1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2–4 lecture-level learning outcomes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measurable action verbs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explicitly to Course Learning Outcomes (CLOs)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Engagement and Activity Slides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Note: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at least one engagement element where appropriate: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Think–Pair–Share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 task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✔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Poll or reflection question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Suggested duration: 3–5 minutes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MY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shall align with learning outcomes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" type="body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/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" type="subTitle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8" name="Google Shape;28;p29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/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" type="body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0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0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body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2" type="body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47" name="Google Shape;47;p32"/>
          <p:cNvSpPr txBox="1"/>
          <p:nvPr>
            <p:ph idx="2" type="body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3" type="body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49" name="Google Shape;49;p32"/>
          <p:cNvSpPr txBox="1"/>
          <p:nvPr>
            <p:ph idx="4" type="body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3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334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953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2pPr>
            <a:lvl3pPr indent="-4572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191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indent="-4191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indent="-4191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indent="-4191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indent="-4191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indent="-4191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5880497" y="-1884758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10700147" y="2934892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2699146" y="-894158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"/>
          <p:cNvCxnSpPr/>
          <p:nvPr/>
        </p:nvCxnSpPr>
        <p:spPr>
          <a:xfrm>
            <a:off x="6106887" y="1511403"/>
            <a:ext cx="11424666" cy="5204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>
            <a:off x="6106887" y="9410700"/>
            <a:ext cx="1142466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" name="Google Shape;90;p1"/>
          <p:cNvGrpSpPr/>
          <p:nvPr/>
        </p:nvGrpSpPr>
        <p:grpSpPr>
          <a:xfrm>
            <a:off x="7426192" y="1714219"/>
            <a:ext cx="9036316" cy="1981481"/>
            <a:chOff x="0" y="-38100"/>
            <a:chExt cx="2337006" cy="330255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2337006" cy="292155"/>
            </a:xfrm>
            <a:custGeom>
              <a:rect b="b" l="l" r="r" t="t"/>
              <a:pathLst>
                <a:path extrusionOk="0" h="292155" w="2337006">
                  <a:moveTo>
                    <a:pt x="0" y="0"/>
                  </a:moveTo>
                  <a:lnTo>
                    <a:pt x="2337006" y="0"/>
                  </a:lnTo>
                  <a:lnTo>
                    <a:pt x="2337006" y="292155"/>
                  </a:lnTo>
                  <a:lnTo>
                    <a:pt x="0" y="292155"/>
                  </a:lnTo>
                  <a:close/>
                </a:path>
              </a:pathLst>
            </a:custGeom>
            <a:noFill/>
            <a:ln cap="sq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2337006" cy="330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05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1" y="0"/>
            <a:ext cx="6106886" cy="10286998"/>
            <a:chOff x="-10330" y="-104775"/>
            <a:chExt cx="1377733" cy="2182730"/>
          </a:xfrm>
        </p:grpSpPr>
        <p:sp>
          <p:nvSpPr>
            <p:cNvPr id="94" name="Google Shape;94;p1"/>
            <p:cNvSpPr/>
            <p:nvPr/>
          </p:nvSpPr>
          <p:spPr>
            <a:xfrm>
              <a:off x="-10330" y="-104775"/>
              <a:ext cx="1377733" cy="2182730"/>
            </a:xfrm>
            <a:custGeom>
              <a:rect b="b" l="l" r="r" t="t"/>
              <a:pathLst>
                <a:path extrusionOk="0" h="2091166" w="1282673">
                  <a:moveTo>
                    <a:pt x="0" y="0"/>
                  </a:moveTo>
                  <a:lnTo>
                    <a:pt x="1282673" y="0"/>
                  </a:lnTo>
                  <a:lnTo>
                    <a:pt x="1282673" y="2091166"/>
                  </a:lnTo>
                  <a:lnTo>
                    <a:pt x="0" y="2091166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104775"/>
              <a:ext cx="1282673" cy="1906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99"/>
                <a:buFont typeface="Arial"/>
                <a:buNone/>
              </a:pPr>
              <a:r>
                <a:rPr b="0" i="0" lang="en-MY" sz="3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Insert relevant picture related to the topic</a:t>
              </a:r>
              <a:endParaRPr/>
            </a:p>
            <a:p>
              <a:pPr indent="0" lvl="0" marL="0" marR="0" rtl="0" algn="ctr">
                <a:lnSpc>
                  <a:spcPct val="15201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99"/>
                <a:buFont typeface="Calibri"/>
                <a:buNone/>
              </a:pPr>
              <a:r>
                <a:t/>
              </a:r>
              <a:endParaRPr b="0" i="0" sz="3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6468506" y="4249467"/>
            <a:ext cx="11424666" cy="1652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Quattrocento Sans"/>
              <a:buNone/>
            </a:pPr>
            <a:r>
              <a:rPr b="1" i="0" lang="en-MY" sz="44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 b="0" i="1" sz="4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Quattrocento Sans"/>
              <a:buNone/>
            </a:pPr>
            <a:r>
              <a:rPr b="1" i="0" lang="en-MY" sz="44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TO DATA STRUCTURE</a:t>
            </a:r>
            <a:endParaRPr b="1" i="0" sz="4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8273946" y="2210080"/>
            <a:ext cx="7340807" cy="104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2799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ALGORITHMS AND DATA STRUCTURES</a:t>
            </a:r>
            <a:endParaRPr b="0" i="0" sz="2799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5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2799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TEB1113/TFB2023</a:t>
            </a:r>
            <a:endParaRPr b="0" i="0" sz="2799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527172" y="6957133"/>
            <a:ext cx="7337522" cy="381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2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2199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FARAHIDA HANIM BT MAUSOR - DR (FSMC/UTP)</a:t>
            </a:r>
            <a:endParaRPr b="0" i="1" sz="2199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085066" y="7789617"/>
            <a:ext cx="8221734" cy="124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/>
              <a:buNone/>
            </a:pPr>
            <a:r>
              <a:rPr b="0" i="0" lang="en-MY" sz="2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BACHELOR OF XXXXXX</a:t>
            </a:r>
            <a:endParaRPr/>
          </a:p>
          <a:p>
            <a:pPr indent="0" lvl="0" marL="0" marR="0" rtl="0" algn="ctr">
              <a:lnSpc>
                <a:spcPct val="151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/>
              <a:buNone/>
            </a:pPr>
            <a:r>
              <a:rPr b="0" i="0" lang="en-MY" sz="2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DEPARTMENT OF COMPUTING</a:t>
            </a:r>
            <a:endParaRPr/>
          </a:p>
          <a:p>
            <a:pPr indent="0" lvl="0" marL="0" marR="0" rtl="0" algn="ctr">
              <a:lnSpc>
                <a:spcPct val="1519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/>
              <a:buNone/>
            </a:pPr>
            <a:r>
              <a:rPr b="0" i="0" lang="en-MY" sz="2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FACULTY OF SCIENCE, MANAGEMENT &amp; COMPUTING 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6629400" y="9582308"/>
            <a:ext cx="10629900" cy="553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749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MY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2026 INSTITUTE OF TECHNOLOGY PETRONAS SDN BHD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3749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MY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rights reserved. No part of this document may be reproduced, stored in a retrieval system or transmitted in any form or by any means (electronic, mechanical, photocopying, recording or otherwise) without the permission of the copyright owner.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13864" y="272259"/>
            <a:ext cx="2617689" cy="114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 b="0" l="0" r="46457" t="0"/>
          <a:stretch/>
        </p:blipFill>
        <p:spPr>
          <a:xfrm>
            <a:off x="0" y="0"/>
            <a:ext cx="6106886" cy="10286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2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2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2"/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Quattrocento Sans"/>
              <a:buNone/>
            </a:pPr>
            <a:r>
              <a:rPr b="1" i="0" lang="en-MY" sz="3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LEARNING OUTCOMES</a:t>
            </a:r>
            <a:endParaRPr b="1" i="0" sz="32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" name="Google Shape;112;p2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113" name="Google Shape;113;p2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114" name="Google Shape;114;p2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56447" y="1455366"/>
            <a:ext cx="16775106" cy="7996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AutoNum type="arabicPeriod"/>
            </a:pPr>
            <a:r>
              <a:rPr b="0" i="0" lang="en-MY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Classify data structures into primitive and non-primitive types.</a:t>
            </a:r>
            <a:endParaRPr/>
          </a:p>
          <a:p>
            <a:pPr indent="-514350" lvl="0" marL="5143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AutoNum type="arabicPeriod"/>
            </a:pPr>
            <a:r>
              <a:rPr b="0" i="0" lang="en-MY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Differentiate linear and non-linear data structures using examples. </a:t>
            </a:r>
            <a:endParaRPr/>
          </a:p>
          <a:p>
            <a:pPr indent="-514350" lvl="0" marL="5143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AutoNum type="arabicPeriod"/>
            </a:pPr>
            <a:r>
              <a:rPr b="0" i="0" lang="en-MY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basic operations such as traversal, insertion, searching, sorting, and deletion.</a:t>
            </a:r>
            <a:endParaRPr/>
          </a:p>
          <a:p>
            <a:pPr indent="-514350" lvl="0" marL="5143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AutoNum type="arabicPeriod"/>
            </a:pPr>
            <a:r>
              <a:rPr b="0" i="0" lang="en-MY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C++ </a:t>
            </a:r>
            <a:r>
              <a:rPr b="0" i="1" lang="en-MY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b="0" i="0" lang="en-MY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pointers, and arrays to design a simple record-based application.</a:t>
            </a:r>
            <a:r>
              <a:rPr b="0" i="0" lang="en-MY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Google Shape;122;p3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3"/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3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TOPICS</a:t>
            </a:r>
            <a:endParaRPr/>
          </a:p>
        </p:txBody>
      </p:sp>
      <p:sp>
        <p:nvSpPr>
          <p:cNvPr id="125" name="Google Shape;125;p3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126" name="Google Shape;126;p3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127" name="Google Shape;127;p3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756447" y="1455366"/>
            <a:ext cx="16775106" cy="755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AutoNum type="arabicPeriod"/>
            </a:pPr>
            <a:r>
              <a:rPr b="0" i="0" lang="en-MY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Data Structure? 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AutoNum type="arabicPeriod"/>
            </a:pPr>
            <a:r>
              <a:rPr b="0" i="0" lang="en-MY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Primitive Data Structures 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AutoNum type="arabicPeriod"/>
            </a:pPr>
            <a:r>
              <a:rPr b="0" i="0" lang="en-MY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Non-Primitive Data Structures </a:t>
            </a:r>
            <a:endParaRPr/>
          </a:p>
          <a:p>
            <a:pPr indent="-857250" lvl="1" marL="1314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Noto Sans Symbols"/>
              <a:buChar char="▪"/>
            </a:pPr>
            <a:r>
              <a:rPr b="0" i="0" lang="en-MY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vs Non-Linear Structures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MY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C++ Practical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902113" y="0"/>
            <a:ext cx="6256973" cy="1649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75">
            <a:spAutoFit/>
          </a:bodyPr>
          <a:lstStyle/>
          <a:p>
            <a:pPr indent="0" lvl="0" marL="0" marR="0" rtl="0" algn="ctr">
              <a:lnSpc>
                <a:spcPct val="16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40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TO DATA STRUCTURE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316056" y="4076531"/>
            <a:ext cx="7098887" cy="1334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66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</a:t>
            </a:r>
            <a:endParaRPr b="1" i="0" sz="66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3">
            <a:alphaModFix/>
          </a:blip>
          <a:srcRect b="-501" l="-1280" r="33683" t="501"/>
          <a:stretch/>
        </p:blipFill>
        <p:spPr>
          <a:xfrm>
            <a:off x="7414943" y="0"/>
            <a:ext cx="10873057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5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5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3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</a:t>
            </a:r>
            <a:endParaRPr b="1" i="0" sz="32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7" name="Google Shape;147;p5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148" name="Google Shape;148;p5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149" name="Google Shape;149;p5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32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1.1. DEFINITION OF DATA STRUCTURES</a:t>
            </a:r>
            <a:endParaRPr b="1" i="0" sz="32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descr="Statistics" id="151" name="Google Shape;151;p5"/>
          <p:cNvSpPr/>
          <p:nvPr/>
        </p:nvSpPr>
        <p:spPr>
          <a:xfrm>
            <a:off x="3267885" y="2943481"/>
            <a:ext cx="3658510" cy="3547826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base" id="152" name="Google Shape;152;p5"/>
          <p:cNvSpPr/>
          <p:nvPr/>
        </p:nvSpPr>
        <p:spPr>
          <a:xfrm>
            <a:off x="11482562" y="2823166"/>
            <a:ext cx="3658510" cy="3547826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1283128" y="5901158"/>
            <a:ext cx="7628023" cy="203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</a:t>
            </a:r>
            <a:endParaRPr/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 of raw facts and figures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9144001" y="5901158"/>
            <a:ext cx="8387552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STRUCTURE</a:t>
            </a:r>
            <a:endParaRPr/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way to organize, store, and relate data in memory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6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6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6"/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</a:t>
            </a:r>
            <a:endParaRPr/>
          </a:p>
        </p:txBody>
      </p:sp>
      <p:sp>
        <p:nvSpPr>
          <p:cNvPr id="164" name="Google Shape;164;p6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165" name="Google Shape;165;p6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166" name="Google Shape;166;p6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756447" y="1608990"/>
            <a:ext cx="16775106" cy="6050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oto Sans Symbols"/>
              <a:buChar char="▪"/>
            </a:pPr>
            <a:r>
              <a:rPr lang="en-MY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structures affect the design of both the structural and functional aspects of a program.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= Algorithm + Data Structure</a:t>
            </a:r>
            <a:endParaRPr/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54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But what is an Algorithm?</a:t>
            </a:r>
            <a:endParaRPr b="1" sz="54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7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7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7"/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</a:t>
            </a:r>
            <a:endParaRPr b="1" i="0" sz="32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7" name="Google Shape;177;p7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178" name="Google Shape;178;p7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179" name="Google Shape;179;p7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1.2. CLASSIFICATION OF DATA STRUCTURE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756447" y="2644758"/>
            <a:ext cx="16775106" cy="4132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▪"/>
            </a:pPr>
            <a:r>
              <a:rPr lang="en-MY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Structures are normally divided into two broad categories.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40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Primitive Data Structure</a:t>
            </a:r>
            <a:endParaRPr/>
          </a:p>
          <a:p>
            <a:pPr indent="0" lvl="1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MY" sz="40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Non-Primitive Data Structure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8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8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8"/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 OF DATA STRUCTURE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8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192" name="Google Shape;192;p8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193" name="Google Shape;193;p8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447" y="1301008"/>
            <a:ext cx="16775106" cy="8294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/>
        </p:nvSpPr>
        <p:spPr>
          <a:xfrm>
            <a:off x="902113" y="0"/>
            <a:ext cx="6256973" cy="1649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75">
            <a:spAutoFit/>
          </a:bodyPr>
          <a:lstStyle/>
          <a:p>
            <a:pPr indent="0" lvl="0" marL="0" marR="0" rtl="0" algn="ctr">
              <a:lnSpc>
                <a:spcPct val="16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40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TO DATA STRUCTURE</a:t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316056" y="4076531"/>
            <a:ext cx="7098887" cy="2857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6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Primitive Data Structures</a:t>
            </a:r>
            <a:endParaRPr/>
          </a:p>
        </p:txBody>
      </p:sp>
      <p:pic>
        <p:nvPicPr>
          <p:cNvPr id="203" name="Google Shape;203;p9"/>
          <p:cNvPicPr preferRelativeResize="0"/>
          <p:nvPr/>
        </p:nvPicPr>
        <p:blipFill rotWithShape="1">
          <a:blip r:embed="rId3">
            <a:alphaModFix/>
          </a:blip>
          <a:srcRect b="-501" l="-1280" r="33683" t="501"/>
          <a:stretch/>
        </p:blipFill>
        <p:spPr>
          <a:xfrm>
            <a:off x="7414943" y="0"/>
            <a:ext cx="10873057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10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10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0"/>
          <p:cNvSpPr txBox="1"/>
          <p:nvPr/>
        </p:nvSpPr>
        <p:spPr>
          <a:xfrm>
            <a:off x="990600" y="300719"/>
            <a:ext cx="9356377" cy="634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PRIMITIVE DATA STRUCTURES</a:t>
            </a:r>
            <a:endParaRPr/>
          </a:p>
        </p:txBody>
      </p:sp>
      <p:sp>
        <p:nvSpPr>
          <p:cNvPr id="213" name="Google Shape;213;p10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214" name="Google Shape;214;p10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215" name="Google Shape;215;p10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2.1. DEFINITION AND EXAMPLES 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756447" y="2644758"/>
            <a:ext cx="16775106" cy="5848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basic structures that are directly operated upon by the machine instructions.</a:t>
            </a:r>
            <a:endParaRPr/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structures that are directly manipulated by machine-level instructions are known as primitive data structures.</a:t>
            </a:r>
            <a:endParaRPr/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Integer, Floating-Point number, Character Constants, String Constants, Pointers, etc., fall in this category. 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11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1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1"/>
          <p:cNvSpPr txBox="1"/>
          <p:nvPr/>
        </p:nvSpPr>
        <p:spPr>
          <a:xfrm>
            <a:off x="990600" y="300719"/>
            <a:ext cx="9356377" cy="634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PRIMITIVE DATA STRUCTURES</a:t>
            </a:r>
            <a:endParaRPr/>
          </a:p>
        </p:txBody>
      </p:sp>
      <p:sp>
        <p:nvSpPr>
          <p:cNvPr id="227" name="Google Shape;227;p11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228" name="Google Shape;228;p11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229" name="Google Shape;229;p11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2.2. COMMON OPERATIONS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756447" y="2644758"/>
            <a:ext cx="16775106" cy="5750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commonly used operations on Data Structures are broadly categorized into the following types: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1" marL="10287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b="0" i="0" lang="en-MY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/>
          </a:p>
          <a:p>
            <a:pPr indent="-571500" lvl="1" marL="10287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b="0" i="0" lang="en-MY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endParaRPr/>
          </a:p>
          <a:p>
            <a:pPr indent="-571500" lvl="1" marL="10287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b="0" i="0" lang="en-MY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Updating</a:t>
            </a:r>
            <a:endParaRPr/>
          </a:p>
          <a:p>
            <a:pPr indent="-571500" lvl="1" marL="10287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b="0" i="0" lang="en-MY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Destroy or Delete</a:t>
            </a:r>
            <a:endParaRPr b="1" i="0" sz="32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 txBox="1"/>
          <p:nvPr/>
        </p:nvSpPr>
        <p:spPr>
          <a:xfrm>
            <a:off x="902113" y="0"/>
            <a:ext cx="6256973" cy="1649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75">
            <a:spAutoFit/>
          </a:bodyPr>
          <a:lstStyle/>
          <a:p>
            <a:pPr indent="0" lvl="0" marL="0" marR="0" rtl="0" algn="ctr">
              <a:lnSpc>
                <a:spcPct val="16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40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TO DATA STRUCTURE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316056" y="4076531"/>
            <a:ext cx="7098887" cy="2857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6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Non-Primitive Data Structures</a:t>
            </a:r>
            <a:endParaRPr/>
          </a:p>
        </p:txBody>
      </p:sp>
      <p:pic>
        <p:nvPicPr>
          <p:cNvPr id="240" name="Google Shape;240;p12"/>
          <p:cNvPicPr preferRelativeResize="0"/>
          <p:nvPr/>
        </p:nvPicPr>
        <p:blipFill rotWithShape="1">
          <a:blip r:embed="rId3">
            <a:alphaModFix/>
          </a:blip>
          <a:srcRect b="-501" l="-1280" r="33683" t="501"/>
          <a:stretch/>
        </p:blipFill>
        <p:spPr>
          <a:xfrm>
            <a:off x="7414943" y="0"/>
            <a:ext cx="10873057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13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13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3"/>
          <p:cNvSpPr txBox="1"/>
          <p:nvPr/>
        </p:nvSpPr>
        <p:spPr>
          <a:xfrm>
            <a:off x="990600" y="300719"/>
            <a:ext cx="9356377" cy="634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NON-PRIMITIVE DATA STRUCTURES</a:t>
            </a:r>
            <a:endParaRPr/>
          </a:p>
        </p:txBody>
      </p:sp>
      <p:sp>
        <p:nvSpPr>
          <p:cNvPr id="250" name="Google Shape;250;p13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251" name="Google Shape;251;p13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252" name="Google Shape;252;p13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3.1. DEFINITION AND EXAMPLES 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756447" y="2644758"/>
            <a:ext cx="16775106" cy="609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more sophisticated Data Structures.</a:t>
            </a:r>
            <a:endParaRPr/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Structures that are derived from the primitive Data Structures are called Non-Primitive Data Structures.</a:t>
            </a:r>
            <a:endParaRPr/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non-primitive data structures emphasize on structuring of a group of homogenous (same type) or heterogeneous (different type) data items.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" name="Google Shape;261;p14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14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4"/>
          <p:cNvSpPr txBox="1"/>
          <p:nvPr/>
        </p:nvSpPr>
        <p:spPr>
          <a:xfrm>
            <a:off x="990600" y="300719"/>
            <a:ext cx="9356377" cy="634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NON-PRIMITIVE DATA STRUCTURES</a:t>
            </a:r>
            <a:endParaRPr/>
          </a:p>
        </p:txBody>
      </p:sp>
      <p:sp>
        <p:nvSpPr>
          <p:cNvPr id="264" name="Google Shape;264;p14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265" name="Google Shape;265;p14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266" name="Google Shape;266;p14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3.2. LINEAR DATA STRUCTURES: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756447" y="2644758"/>
            <a:ext cx="16775106" cy="6400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Data Structures are a kind of Data Structure that has homogeneous elements.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Structure in which elements are in a sequence and form a linear series.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Data Structures are very easy to implement, since the memory of the computer is also organized linearly.</a:t>
            </a:r>
            <a:endParaRPr/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commonly used Linear Data Structures are </a:t>
            </a: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Stack, Queue, and Linked Lists.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15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15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5"/>
          <p:cNvSpPr txBox="1"/>
          <p:nvPr/>
        </p:nvSpPr>
        <p:spPr>
          <a:xfrm>
            <a:off x="990600" y="300719"/>
            <a:ext cx="9356377" cy="634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NON-PRIMITIVE DATA STRUCTURES</a:t>
            </a:r>
            <a:endParaRPr/>
          </a:p>
        </p:txBody>
      </p:sp>
      <p:sp>
        <p:nvSpPr>
          <p:cNvPr id="278" name="Google Shape;278;p15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279" name="Google Shape;279;p15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280" name="Google Shape;280;p15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3.3. NON-LINEAR DATA STRUCTURES: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756447" y="2644758"/>
            <a:ext cx="16775106" cy="678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MY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Non-Linear Data Structure is a Data Structure in which a data item is connected to several other data items.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MY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Non-linear Data Structure may exhibit either a hierarchical relationship or a parent-child relationship.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MY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elements are not arranged in a sequential structure.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MY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different non-linear Data Structures are </a:t>
            </a: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trees and graphs.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" name="Google Shape;289;p16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16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6"/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NON-PRIMITIVE DATA STRUCTURES</a:t>
            </a:r>
            <a:endParaRPr/>
          </a:p>
        </p:txBody>
      </p:sp>
      <p:sp>
        <p:nvSpPr>
          <p:cNvPr id="292" name="Google Shape;292;p16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293" name="Google Shape;293;p16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294" name="Google Shape;294;p16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3.4. COMMON OPERATIONS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756447" y="2644758"/>
            <a:ext cx="16775106" cy="676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commonly used operations on Data Structures are broadly categorized into the following types:</a:t>
            </a:r>
            <a:endParaRPr/>
          </a:p>
          <a:p>
            <a:pPr indent="-4572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MY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Traversal</a:t>
            </a:r>
            <a:endParaRPr/>
          </a:p>
          <a:p>
            <a:pPr indent="-4572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MY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</a:t>
            </a:r>
            <a:endParaRPr/>
          </a:p>
          <a:p>
            <a:pPr indent="-4572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MY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endParaRPr/>
          </a:p>
          <a:p>
            <a:pPr indent="-4572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MY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Searching</a:t>
            </a:r>
            <a:endParaRPr/>
          </a:p>
          <a:p>
            <a:pPr indent="-4572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MY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Sorting</a:t>
            </a:r>
            <a:endParaRPr/>
          </a:p>
          <a:p>
            <a:pPr indent="-4572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MY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Merging</a:t>
            </a:r>
            <a:endParaRPr/>
          </a:p>
          <a:p>
            <a:pPr indent="-4572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b="0" i="0" lang="en-MY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Destroy or Delete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/>
        </p:nvSpPr>
        <p:spPr>
          <a:xfrm>
            <a:off x="902113" y="0"/>
            <a:ext cx="6256973" cy="1649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075">
            <a:spAutoFit/>
          </a:bodyPr>
          <a:lstStyle/>
          <a:p>
            <a:pPr indent="0" lvl="0" marL="0" marR="0" rtl="0" algn="ctr">
              <a:lnSpc>
                <a:spcPct val="16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40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TO DATA STRUCTURE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316056" y="3948621"/>
            <a:ext cx="7098887" cy="2389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Difference between</a:t>
            </a:r>
            <a:br>
              <a:rPr b="1" lang="en-MY" sz="3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MY" sz="3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Primitive and Non-Primitive Data Structures</a:t>
            </a:r>
            <a:endParaRPr b="1" sz="36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05" name="Google Shape;305;p17"/>
          <p:cNvPicPr preferRelativeResize="0"/>
          <p:nvPr/>
        </p:nvPicPr>
        <p:blipFill rotWithShape="1">
          <a:blip r:embed="rId3">
            <a:alphaModFix/>
          </a:blip>
          <a:srcRect b="-501" l="-1280" r="33683" t="501"/>
          <a:stretch/>
        </p:blipFill>
        <p:spPr>
          <a:xfrm>
            <a:off x="7414943" y="0"/>
            <a:ext cx="10873057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2" name="Google Shape;312;p18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8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8"/>
          <p:cNvSpPr txBox="1"/>
          <p:nvPr/>
        </p:nvSpPr>
        <p:spPr>
          <a:xfrm>
            <a:off x="990600" y="300719"/>
            <a:ext cx="16120542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DIFFERENCE BETWEEN PRIMITIVE AND NON-PRIMITIVE DATA STRUCTURES</a:t>
            </a:r>
            <a:endParaRPr/>
          </a:p>
        </p:txBody>
      </p:sp>
      <p:sp>
        <p:nvSpPr>
          <p:cNvPr id="315" name="Google Shape;315;p18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316" name="Google Shape;316;p18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317" name="Google Shape;317;p18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318" name="Google Shape;318;p18"/>
          <p:cNvGraphicFramePr/>
          <p:nvPr/>
        </p:nvGraphicFramePr>
        <p:xfrm>
          <a:off x="1257300" y="15919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{1FAC81FF-4A43-4ED6-8212-DB8C5D9AB0DC}</a:tableStyleId>
              </a:tblPr>
              <a:tblGrid>
                <a:gridCol w="5257800"/>
                <a:gridCol w="5257800"/>
                <a:gridCol w="5257800"/>
              </a:tblGrid>
              <a:tr h="128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Quattrocento Sans"/>
                        <a:buNone/>
                      </a:pPr>
                      <a:r>
                        <a:rPr b="1" lang="en-MY" sz="32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Quattrocento Sans"/>
                        <a:buNone/>
                      </a:pPr>
                      <a:r>
                        <a:rPr b="1" lang="en-MY" sz="32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PRIMITIVE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Quattrocento Sans"/>
                        <a:buNone/>
                      </a:pPr>
                      <a:r>
                        <a:rPr b="1" lang="en-MY" sz="32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NON-PRIMITIVE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28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MY" sz="2700" u="none" cap="none" strike="noStrike"/>
                        <a:t>Meaning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Basic built-in type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Built using primitive types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28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MY" sz="2700" u="none" cap="none" strike="noStrike"/>
                        <a:t>Examples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int, float, char, pointer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array, linked list, tree, graph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28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MY" sz="2700" u="none" cap="none" strike="noStrike"/>
                        <a:t>Structure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Simple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Can store relationships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28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MY" sz="2700" u="none" cap="none" strike="noStrike"/>
                        <a:t>Memory use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Usually fixed/simple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Can be static or dynamic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28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b="1" lang="en-MY" sz="2700" u="none" cap="none" strike="noStrike"/>
                        <a:t>Use case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Single value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700"/>
                        <a:buFont typeface="Calibri"/>
                        <a:buNone/>
                      </a:pPr>
                      <a:r>
                        <a:rPr lang="en-MY" sz="2700" u="none" cap="none" strike="noStrike"/>
                        <a:t>Grouped or connected data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9"/>
          <p:cNvGrpSpPr/>
          <p:nvPr/>
        </p:nvGrpSpPr>
        <p:grpSpPr>
          <a:xfrm>
            <a:off x="1456627" y="3021738"/>
            <a:ext cx="15540103" cy="4831268"/>
            <a:chOff x="700180" y="1764438"/>
            <a:chExt cx="15540103" cy="4831268"/>
          </a:xfrm>
        </p:grpSpPr>
        <p:sp>
          <p:nvSpPr>
            <p:cNvPr id="326" name="Google Shape;326;p19"/>
            <p:cNvSpPr/>
            <p:nvPr/>
          </p:nvSpPr>
          <p:spPr>
            <a:xfrm>
              <a:off x="1975860" y="1764438"/>
              <a:ext cx="2087476" cy="20874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700180" y="4576719"/>
              <a:ext cx="4638837" cy="2018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 txBox="1"/>
            <p:nvPr/>
          </p:nvSpPr>
          <p:spPr>
            <a:xfrm>
              <a:off x="700180" y="4576719"/>
              <a:ext cx="4638837" cy="2018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Quattrocento Sans"/>
                <a:buNone/>
              </a:pPr>
              <a:r>
                <a:rPr b="1" lang="en-MY" sz="3200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CORRECTNESS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12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lang="en-MY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Data Structure implementation should implement its interface correctly.</a:t>
              </a:r>
              <a:endParaRPr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426493" y="1764438"/>
              <a:ext cx="2087476" cy="20874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6150813" y="4576719"/>
              <a:ext cx="4638837" cy="2018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 txBox="1"/>
            <p:nvPr/>
          </p:nvSpPr>
          <p:spPr>
            <a:xfrm>
              <a:off x="6150813" y="4576719"/>
              <a:ext cx="4638837" cy="2018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Quattrocento Sans"/>
                <a:buNone/>
              </a:pPr>
              <a:r>
                <a:rPr b="1" lang="en-MY" sz="3200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TIME COMPLEXITY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12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lang="en-MY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running time or the execution time of the operations of </a:t>
              </a:r>
              <a:r>
                <a:rPr b="1" lang="en-MY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Data Structure </a:t>
              </a:r>
              <a:r>
                <a:rPr lang="en-MY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must be as small as possible.</a:t>
              </a:r>
              <a:endParaRPr/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12877127" y="1764438"/>
              <a:ext cx="2087476" cy="20874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11601446" y="4576719"/>
              <a:ext cx="4638837" cy="2018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9"/>
            <p:cNvSpPr txBox="1"/>
            <p:nvPr/>
          </p:nvSpPr>
          <p:spPr>
            <a:xfrm>
              <a:off x="11601446" y="4576719"/>
              <a:ext cx="4638837" cy="20189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Quattrocento Sans"/>
                <a:buNone/>
              </a:pPr>
              <a:r>
                <a:rPr b="1" lang="en-MY" sz="3200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SPACE COMPLEXITY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12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lang="en-MY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 usage of data structure operations should be as little as possible.</a:t>
              </a:r>
              <a:endParaRPr/>
            </a:p>
          </p:txBody>
        </p:sp>
      </p:grpSp>
      <p:cxnSp>
        <p:nvCxnSpPr>
          <p:cNvPr id="335" name="Google Shape;335;p19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9"/>
          <p:cNvSpPr txBox="1"/>
          <p:nvPr/>
        </p:nvSpPr>
        <p:spPr>
          <a:xfrm>
            <a:off x="990600" y="300719"/>
            <a:ext cx="16120542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CHARACTERISTICS OF DATA STRUCTURE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37" name="Google Shape;337;p19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9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339" name="Google Shape;339;p19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340" name="Google Shape;340;p19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7" name="Google Shape;347;p20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20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20"/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EXAMPLE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0" name="Google Shape;350;p20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351" name="Google Shape;351;p20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352" name="Google Shape;352;p20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3" name="Google Shape;353;p20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4.1. WHAT IS A STRUCT?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4" name="Google Shape;354;p20"/>
          <p:cNvSpPr txBox="1"/>
          <p:nvPr/>
        </p:nvSpPr>
        <p:spPr>
          <a:xfrm>
            <a:off x="756447" y="2644758"/>
            <a:ext cx="16775106" cy="4365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structure is a user-defined data type in C/C++. </a:t>
            </a:r>
            <a:endParaRPr/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structure creates a data type that can be used to group items of different types into a single type. </a:t>
            </a:r>
            <a:endParaRPr/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▪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s𝑡𝑟𝑢𝑐𝑡 keyword is used to create a structure.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 txBox="1"/>
          <p:nvPr>
            <p:ph idx="1" type="body"/>
          </p:nvPr>
        </p:nvSpPr>
        <p:spPr>
          <a:xfrm>
            <a:off x="756447" y="1828801"/>
            <a:ext cx="16775106" cy="7100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MY" sz="4400"/>
              <a:t>Let’s talk about Structures [struct] (in the language of C++)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</a:pPr>
            <a:r>
              <a:t/>
            </a:r>
            <a:endParaRPr/>
          </a:p>
          <a:p>
            <a:pPr indent="0" lvl="1" marL="6858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350"/>
              <a:buNone/>
            </a:pPr>
            <a:r>
              <a:rPr lang="en-MY" sz="4350"/>
              <a:t>𝑠𝑡𝑟𝑢𝑐𝑡 𝑠𝑡𝑟𝑢𝑐𝑡𝑢𝑟𝑒_𝑛𝑎𝑚𝑒</a:t>
            </a:r>
            <a:endParaRPr sz="4350"/>
          </a:p>
          <a:p>
            <a:pPr indent="0" lvl="1" marL="6858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350"/>
              <a:buNone/>
            </a:pPr>
            <a:r>
              <a:rPr lang="en-MY" sz="4350"/>
              <a:t>{</a:t>
            </a:r>
            <a:endParaRPr sz="4350"/>
          </a:p>
          <a:p>
            <a:pPr indent="0" lvl="2" marL="13716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</a:pPr>
            <a:r>
              <a:rPr lang="en-MY" sz="3900"/>
              <a:t>𝑑𝑎𝑡𝑎_𝑡𝑦𝑝𝑒 𝑚𝑒𝑚𝑏𝑒𝑟1;</a:t>
            </a:r>
            <a:endParaRPr sz="3900"/>
          </a:p>
          <a:p>
            <a:pPr indent="0" lvl="2" marL="13716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</a:pPr>
            <a:r>
              <a:rPr lang="en-MY" sz="3900"/>
              <a:t>𝑑𝑎𝑡𝑎_𝑡𝑦𝑝𝑒 𝑚𝑒𝑚𝑏𝑒𝑟2;</a:t>
            </a:r>
            <a:endParaRPr sz="3900"/>
          </a:p>
          <a:p>
            <a:pPr indent="0" lvl="2" marL="13716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</a:pPr>
            <a:r>
              <a:rPr lang="en-MY" sz="3900"/>
              <a:t>. . .</a:t>
            </a:r>
            <a:endParaRPr sz="3900"/>
          </a:p>
          <a:p>
            <a:pPr indent="0" lvl="2" marL="13716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</a:pPr>
            <a:r>
              <a:rPr lang="en-MY" sz="3900"/>
              <a:t>𝑑𝑎𝑡𝑎_𝑡𝑦𝑝𝑒 𝑚𝑒𝑚𝑒𝑏𝑒𝑟𝑁;</a:t>
            </a:r>
            <a:endParaRPr sz="3900"/>
          </a:p>
          <a:p>
            <a:pPr indent="0" lvl="1" marL="6858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350"/>
              <a:buNone/>
            </a:pPr>
            <a:r>
              <a:rPr lang="en-MY" sz="4350"/>
              <a:t>};</a:t>
            </a:r>
            <a:endParaRPr sz="435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</a:pPr>
            <a:r>
              <a:t/>
            </a:r>
            <a:endParaRPr/>
          </a:p>
        </p:txBody>
      </p:sp>
      <p:cxnSp>
        <p:nvCxnSpPr>
          <p:cNvPr id="360" name="Google Shape;360;p21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1"/>
          <p:cNvSpPr txBox="1"/>
          <p:nvPr/>
        </p:nvSpPr>
        <p:spPr>
          <a:xfrm>
            <a:off x="990600" y="300719"/>
            <a:ext cx="16120542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EXAMPLE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62" name="Google Shape;362;p21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21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364" name="Google Shape;364;p21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365" name="Google Shape;365;p21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447" y="1424354"/>
            <a:ext cx="16775106" cy="81930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p22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22"/>
          <p:cNvSpPr txBox="1"/>
          <p:nvPr/>
        </p:nvSpPr>
        <p:spPr>
          <a:xfrm>
            <a:off x="990600" y="300719"/>
            <a:ext cx="16120542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EXAMPLE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75" name="Google Shape;375;p22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22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377" name="Google Shape;377;p22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378" name="Google Shape;378;p22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5" name="Google Shape;385;p23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23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23"/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SUMMARY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8" name="Google Shape;388;p23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389" name="Google Shape;389;p23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390" name="Google Shape;390;p23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1" name="Google Shape;391;p23"/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TODAY’S KEY TAKEAWAYS: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2" name="Google Shape;392;p23"/>
          <p:cNvSpPr txBox="1"/>
          <p:nvPr/>
        </p:nvSpPr>
        <p:spPr>
          <a:xfrm>
            <a:off x="756447" y="2644758"/>
            <a:ext cx="16775106" cy="54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structures organize data for efficient use. </a:t>
            </a:r>
            <a:endParaRPr/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Primitive structures store basic values. </a:t>
            </a:r>
            <a:endParaRPr/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Non-primitive structures organize groups or relationships. </a:t>
            </a:r>
            <a:endParaRPr/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structures follow a sequence; non-linear structures form relationships. </a:t>
            </a:r>
            <a:endParaRPr/>
          </a:p>
          <a:p>
            <a:pPr indent="-514350" lvl="0" marL="5143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 </a:t>
            </a:r>
            <a:r>
              <a:rPr lang="en-MY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lang="en-MY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helps group different data types into one record.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9" name="Google Shape;399;p24"/>
          <p:cNvCxnSpPr/>
          <p:nvPr/>
        </p:nvCxnSpPr>
        <p:spPr>
          <a:xfrm>
            <a:off x="756447" y="1257300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24"/>
          <p:cNvCxnSpPr/>
          <p:nvPr/>
        </p:nvCxnSpPr>
        <p:spPr>
          <a:xfrm flipH="1" rot="10800000">
            <a:off x="756447" y="9617446"/>
            <a:ext cx="16775106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24"/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 TASK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2" name="Google Shape;402;p24"/>
          <p:cNvSpPr txBox="1"/>
          <p:nvPr>
            <p:ph idx="10" type="dt"/>
          </p:nvPr>
        </p:nvSpPr>
        <p:spPr>
          <a:xfrm>
            <a:off x="633495" y="961744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Week I</a:t>
            </a:r>
            <a:endParaRPr/>
          </a:p>
        </p:txBody>
      </p:sp>
      <p:sp>
        <p:nvSpPr>
          <p:cNvPr id="403" name="Google Shape;403;p24"/>
          <p:cNvSpPr txBox="1"/>
          <p:nvPr>
            <p:ph idx="11" type="ftr"/>
          </p:nvPr>
        </p:nvSpPr>
        <p:spPr>
          <a:xfrm>
            <a:off x="5668788" y="9617446"/>
            <a:ext cx="82758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For educational use only. Not to be distributed or shared without permission.</a:t>
            </a:r>
            <a:endParaRPr/>
          </a:p>
        </p:txBody>
      </p:sp>
      <p:sp>
        <p:nvSpPr>
          <p:cNvPr id="404" name="Google Shape;404;p24"/>
          <p:cNvSpPr txBox="1"/>
          <p:nvPr>
            <p:ph idx="12" type="sldNum"/>
          </p:nvPr>
        </p:nvSpPr>
        <p:spPr>
          <a:xfrm>
            <a:off x="14329840" y="9617446"/>
            <a:ext cx="2781302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5" name="Google Shape;405;p24"/>
          <p:cNvSpPr txBox="1"/>
          <p:nvPr/>
        </p:nvSpPr>
        <p:spPr>
          <a:xfrm>
            <a:off x="756447" y="1805216"/>
            <a:ext cx="13188153" cy="6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3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A C++ PROGRAM USING STRUCT AND ARRAYS</a:t>
            </a:r>
            <a:endParaRPr b="1" sz="32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6" name="Google Shape;406;p24"/>
          <p:cNvSpPr txBox="1"/>
          <p:nvPr/>
        </p:nvSpPr>
        <p:spPr>
          <a:xfrm>
            <a:off x="756447" y="2644758"/>
            <a:ext cx="16775106" cy="5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▪"/>
            </a:pPr>
            <a:r>
              <a:rPr lang="en-MY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program should:</a:t>
            </a:r>
            <a:endParaRPr/>
          </a:p>
          <a:p>
            <a:pPr indent="-742950" lvl="1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AutoNum type="arabicPeriod"/>
            </a:pPr>
            <a:r>
              <a:rPr b="0" i="0" lang="en-MY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at least 5 student records. </a:t>
            </a:r>
            <a:endParaRPr/>
          </a:p>
          <a:p>
            <a:pPr indent="-742950" lvl="1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AutoNum type="arabicPeriod"/>
            </a:pPr>
            <a:r>
              <a:rPr b="0" i="0" lang="en-MY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student ID, name, age, course. </a:t>
            </a:r>
            <a:endParaRPr/>
          </a:p>
          <a:p>
            <a:pPr indent="-742950" lvl="1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AutoNum type="arabicPeriod"/>
            </a:pPr>
            <a:r>
              <a:rPr b="0" i="0" lang="en-MY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all records. </a:t>
            </a:r>
            <a:endParaRPr/>
          </a:p>
          <a:p>
            <a:pPr indent="-742950" lvl="1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AutoNum type="arabicPeriod"/>
            </a:pPr>
            <a:r>
              <a:rPr b="0" i="0" lang="en-MY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for a student by ID. </a:t>
            </a:r>
            <a:endParaRPr/>
          </a:p>
          <a:p>
            <a:pPr indent="-742950" lvl="1" marL="12001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AutoNum type="arabicPeriod"/>
            </a:pPr>
            <a:r>
              <a:rPr b="0" i="0" lang="en-MY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one student record.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1" name="Google Shape;411;p25"/>
          <p:cNvCxnSpPr/>
          <p:nvPr/>
        </p:nvCxnSpPr>
        <p:spPr>
          <a:xfrm>
            <a:off x="756447" y="1563443"/>
            <a:ext cx="16775106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25"/>
          <p:cNvCxnSpPr/>
          <p:nvPr/>
        </p:nvCxnSpPr>
        <p:spPr>
          <a:xfrm flipH="1" rot="10800000">
            <a:off x="1028700" y="9534526"/>
            <a:ext cx="16502853" cy="21854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3" name="Google Shape;413;p25"/>
          <p:cNvGrpSpPr/>
          <p:nvPr/>
        </p:nvGrpSpPr>
        <p:grpSpPr>
          <a:xfrm>
            <a:off x="4648200" y="4646824"/>
            <a:ext cx="8037635" cy="3634042"/>
            <a:chOff x="0" y="-38100"/>
            <a:chExt cx="2337006" cy="1056627"/>
          </a:xfrm>
        </p:grpSpPr>
        <p:sp>
          <p:nvSpPr>
            <p:cNvPr id="414" name="Google Shape;414;p25"/>
            <p:cNvSpPr/>
            <p:nvPr/>
          </p:nvSpPr>
          <p:spPr>
            <a:xfrm>
              <a:off x="0" y="0"/>
              <a:ext cx="2337006" cy="1018527"/>
            </a:xfrm>
            <a:custGeom>
              <a:rect b="b" l="l" r="r" t="t"/>
              <a:pathLst>
                <a:path extrusionOk="0" h="1018527" w="2337006">
                  <a:moveTo>
                    <a:pt x="0" y="0"/>
                  </a:moveTo>
                  <a:lnTo>
                    <a:pt x="2337006" y="0"/>
                  </a:lnTo>
                  <a:lnTo>
                    <a:pt x="2337006" y="1018527"/>
                  </a:lnTo>
                  <a:lnTo>
                    <a:pt x="0" y="1018527"/>
                  </a:lnTo>
                  <a:close/>
                </a:path>
              </a:pathLst>
            </a:custGeom>
            <a:noFill/>
            <a:ln cap="sq" cmpd="sng" w="381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5"/>
            <p:cNvSpPr txBox="1"/>
            <p:nvPr/>
          </p:nvSpPr>
          <p:spPr>
            <a:xfrm>
              <a:off x="0" y="-38100"/>
              <a:ext cx="2337006" cy="1056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205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25"/>
          <p:cNvSpPr txBox="1"/>
          <p:nvPr/>
        </p:nvSpPr>
        <p:spPr>
          <a:xfrm>
            <a:off x="3042298" y="3005254"/>
            <a:ext cx="10822028" cy="1371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2006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7799"/>
              <a:buFont typeface="Quattrocento Sans"/>
              <a:buNone/>
            </a:pPr>
            <a:r>
              <a:rPr b="1" i="0" lang="en-MY" sz="7799" u="none" cap="none" strike="noStrike">
                <a:solidFill>
                  <a:srgbClr val="2E7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5614211" y="5660960"/>
            <a:ext cx="5678202" cy="396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2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MY" sz="2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COMPUTING</a:t>
            </a:r>
            <a:endParaRPr/>
          </a:p>
        </p:txBody>
      </p:sp>
      <p:sp>
        <p:nvSpPr>
          <p:cNvPr id="418" name="Google Shape;418;p25"/>
          <p:cNvSpPr txBox="1"/>
          <p:nvPr/>
        </p:nvSpPr>
        <p:spPr>
          <a:xfrm>
            <a:off x="4861220" y="5186521"/>
            <a:ext cx="7611594" cy="43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2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FARAHIDA HANIM BT MAUSOR - DR (FSMC/UTP)</a:t>
            </a:r>
            <a:endParaRPr/>
          </a:p>
        </p:txBody>
      </p:sp>
      <p:grpSp>
        <p:nvGrpSpPr>
          <p:cNvPr id="419" name="Google Shape;419;p25"/>
          <p:cNvGrpSpPr/>
          <p:nvPr/>
        </p:nvGrpSpPr>
        <p:grpSpPr>
          <a:xfrm>
            <a:off x="5509434" y="6611027"/>
            <a:ext cx="4897309" cy="425112"/>
            <a:chOff x="0" y="0"/>
            <a:chExt cx="6529743" cy="566816"/>
          </a:xfrm>
        </p:grpSpPr>
        <p:sp>
          <p:nvSpPr>
            <p:cNvPr id="420" name="Google Shape;420;p25"/>
            <p:cNvSpPr/>
            <p:nvPr/>
          </p:nvSpPr>
          <p:spPr>
            <a:xfrm>
              <a:off x="0" y="0"/>
              <a:ext cx="577647" cy="566816"/>
            </a:xfrm>
            <a:custGeom>
              <a:rect b="b" l="l" r="r" t="t"/>
              <a:pathLst>
                <a:path extrusionOk="0" h="566816" w="577647">
                  <a:moveTo>
                    <a:pt x="0" y="0"/>
                  </a:moveTo>
                  <a:lnTo>
                    <a:pt x="577647" y="0"/>
                  </a:lnTo>
                  <a:lnTo>
                    <a:pt x="577647" y="566816"/>
                  </a:lnTo>
                  <a:lnTo>
                    <a:pt x="0" y="566816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5"/>
            <p:cNvSpPr txBox="1"/>
            <p:nvPr/>
          </p:nvSpPr>
          <p:spPr>
            <a:xfrm>
              <a:off x="1009574" y="58111"/>
              <a:ext cx="5520169" cy="479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farahida.mausor@utp.edu.my 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" name="Google Shape;422;p25"/>
          <p:cNvGrpSpPr/>
          <p:nvPr/>
        </p:nvGrpSpPr>
        <p:grpSpPr>
          <a:xfrm>
            <a:off x="5509434" y="7391229"/>
            <a:ext cx="3326815" cy="512496"/>
            <a:chOff x="0" y="0"/>
            <a:chExt cx="4435752" cy="683328"/>
          </a:xfrm>
        </p:grpSpPr>
        <p:sp>
          <p:nvSpPr>
            <p:cNvPr id="423" name="Google Shape;423;p25"/>
            <p:cNvSpPr/>
            <p:nvPr/>
          </p:nvSpPr>
          <p:spPr>
            <a:xfrm>
              <a:off x="0" y="0"/>
              <a:ext cx="550390" cy="683328"/>
            </a:xfrm>
            <a:custGeom>
              <a:rect b="b" l="l" r="r" t="t"/>
              <a:pathLst>
                <a:path extrusionOk="0" h="683328" w="550390">
                  <a:moveTo>
                    <a:pt x="0" y="0"/>
                  </a:moveTo>
                  <a:lnTo>
                    <a:pt x="550390" y="0"/>
                  </a:lnTo>
                  <a:lnTo>
                    <a:pt x="550390" y="683328"/>
                  </a:lnTo>
                  <a:lnTo>
                    <a:pt x="0" y="68332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5"/>
            <p:cNvSpPr txBox="1"/>
            <p:nvPr/>
          </p:nvSpPr>
          <p:spPr>
            <a:xfrm>
              <a:off x="1009574" y="75176"/>
              <a:ext cx="3426178" cy="4784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02-03-26</a:t>
              </a:r>
              <a:endParaRPr/>
            </a:p>
          </p:txBody>
        </p:sp>
      </p:grpSp>
      <p:sp>
        <p:nvSpPr>
          <p:cNvPr id="425" name="Google Shape;425;p25"/>
          <p:cNvSpPr/>
          <p:nvPr/>
        </p:nvSpPr>
        <p:spPr>
          <a:xfrm>
            <a:off x="13452568" y="161232"/>
            <a:ext cx="3806732" cy="1350171"/>
          </a:xfrm>
          <a:custGeom>
            <a:rect b="b" l="l" r="r" t="t"/>
            <a:pathLst>
              <a:path extrusionOk="0" h="1350171" w="3806732">
                <a:moveTo>
                  <a:pt x="0" y="0"/>
                </a:moveTo>
                <a:lnTo>
                  <a:pt x="3806732" y="0"/>
                </a:lnTo>
                <a:lnTo>
                  <a:pt x="3806732" y="1350171"/>
                </a:lnTo>
                <a:lnTo>
                  <a:pt x="0" y="13501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Week I</a:t>
            </a:r>
            <a:endParaRPr/>
          </a:p>
        </p:txBody>
      </p:sp>
      <p:sp>
        <p:nvSpPr>
          <p:cNvPr id="427" name="Google Shape;427;p25"/>
          <p:cNvSpPr txBox="1"/>
          <p:nvPr>
            <p:ph idx="11" type="ftr"/>
          </p:nvPr>
        </p:nvSpPr>
        <p:spPr>
          <a:xfrm>
            <a:off x="6057900" y="9534526"/>
            <a:ext cx="76581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For educational use only. Not to be distributed or shared without permission.</a:t>
            </a:r>
            <a:endParaRPr/>
          </a:p>
        </p:txBody>
      </p:sp>
      <p:sp>
        <p:nvSpPr>
          <p:cNvPr id="428" name="Google Shape;428;p25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Nurul Fazilah Bt Esa (FSMC/UTP)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0x0101000DC87EB35ACF9448AB6AF0166C74B31C</vt:lpwstr>
  </property>
</Properties>
</file>